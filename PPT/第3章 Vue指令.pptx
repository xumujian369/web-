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61" r:id="rId3"/>
    <p:sldId id="289" r:id="rId4"/>
    <p:sldId id="257" r:id="rId5"/>
    <p:sldId id="409" r:id="rId6"/>
    <p:sldId id="410" r:id="rId7"/>
    <p:sldId id="412" r:id="rId8"/>
    <p:sldId id="368" r:id="rId9"/>
    <p:sldId id="452" r:id="rId10"/>
    <p:sldId id="431" r:id="rId11"/>
    <p:sldId id="453" r:id="rId12"/>
    <p:sldId id="432" r:id="rId13"/>
    <p:sldId id="369" r:id="rId14"/>
    <p:sldId id="433" r:id="rId15"/>
    <p:sldId id="434" r:id="rId16"/>
    <p:sldId id="454" r:id="rId18"/>
    <p:sldId id="455" r:id="rId19"/>
    <p:sldId id="456" r:id="rId20"/>
    <p:sldId id="457" r:id="rId21"/>
    <p:sldId id="458" r:id="rId22"/>
    <p:sldId id="459" r:id="rId23"/>
    <p:sldId id="460" r:id="rId24"/>
    <p:sldId id="362" r:id="rId25"/>
    <p:sldId id="461" r:id="rId26"/>
    <p:sldId id="462" r:id="rId27"/>
    <p:sldId id="486" r:id="rId28"/>
    <p:sldId id="463" r:id="rId29"/>
    <p:sldId id="464" r:id="rId30"/>
    <p:sldId id="465" r:id="rId31"/>
    <p:sldId id="466" r:id="rId32"/>
    <p:sldId id="467" r:id="rId33"/>
    <p:sldId id="468" r:id="rId34"/>
    <p:sldId id="469" r:id="rId35"/>
    <p:sldId id="355" r:id="rId36"/>
    <p:sldId id="471" r:id="rId37"/>
    <p:sldId id="473" r:id="rId38"/>
    <p:sldId id="397" r:id="rId39"/>
    <p:sldId id="474" r:id="rId40"/>
    <p:sldId id="475" r:id="rId41"/>
    <p:sldId id="488" r:id="rId42"/>
    <p:sldId id="366" r:id="rId43"/>
    <p:sldId id="476" r:id="rId44"/>
    <p:sldId id="373" r:id="rId45"/>
  </p:sldIdLst>
  <p:sldSz cx="12192000" cy="6858000"/>
  <p:notesSz cx="6858000" cy="9144000"/>
  <p:custDataLst>
    <p:tags r:id="rId50"/>
  </p:custDataLst>
  <p:defaultTextStyle>
    <a:defPPr>
      <a:defRPr lang="zh-CN"/>
    </a:defPPr>
    <a:lvl1pPr marL="0" lvl="0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7" userDrawn="1">
          <p15:clr>
            <a:srgbClr val="A4A3A4"/>
          </p15:clr>
        </p15:guide>
        <p15:guide id="2" orient="horz" pos="2501" userDrawn="1">
          <p15:clr>
            <a:srgbClr val="A4A3A4"/>
          </p15:clr>
        </p15:guide>
        <p15:guide id="3" orient="horz" pos="2020" userDrawn="1">
          <p15:clr>
            <a:srgbClr val="A4A3A4"/>
          </p15:clr>
        </p15:guide>
        <p15:guide id="4" orient="horz" pos="845" userDrawn="1">
          <p15:clr>
            <a:srgbClr val="A4A3A4"/>
          </p15:clr>
        </p15:guide>
        <p15:guide id="5" pos="4064" userDrawn="1">
          <p15:clr>
            <a:srgbClr val="A4A3A4"/>
          </p15:clr>
        </p15:guide>
        <p15:guide id="6" pos="522" userDrawn="1">
          <p15:clr>
            <a:srgbClr val="A4A3A4"/>
          </p15:clr>
        </p15:guide>
        <p15:guide id="7" pos="111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zq" initials="lzq" lastIdx="3" clrIdx="0"/>
  <p:cmAuthor id="2" name="zrd" initials="W用" lastIdx="12" clrIdx="1"/>
  <p:cmAuthor id="3" name="wangzhe" initials="wz" lastIdx="4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ADF1"/>
    <a:srgbClr val="EDECB2"/>
    <a:srgbClr val="0099FF"/>
    <a:srgbClr val="FFFFCC"/>
    <a:srgbClr val="659B68"/>
    <a:srgbClr val="AAE66E"/>
    <a:srgbClr val="99FF33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8"/>
    <p:restoredTop sz="94585"/>
  </p:normalViewPr>
  <p:slideViewPr>
    <p:cSldViewPr showGuides="1">
      <p:cViewPr varScale="1">
        <p:scale>
          <a:sx n="87" d="100"/>
          <a:sy n="87" d="100"/>
        </p:scale>
        <p:origin x="384" y="56"/>
      </p:cViewPr>
      <p:guideLst>
        <p:guide orient="horz" pos="2147"/>
        <p:guide orient="horz" pos="2501"/>
        <p:guide orient="horz" pos="2020"/>
        <p:guide orient="horz" pos="845"/>
        <p:guide pos="4064"/>
        <p:guide pos="522"/>
        <p:guide pos="11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0" Type="http://schemas.openxmlformats.org/officeDocument/2006/relationships/tags" Target="tags/tag23.xml"/><Relationship Id="rId5" Type="http://schemas.openxmlformats.org/officeDocument/2006/relationships/slide" Target="slides/slide3.xml"/><Relationship Id="rId49" Type="http://schemas.openxmlformats.org/officeDocument/2006/relationships/commentAuthors" Target="commentAuthors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9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en-US" altLang="zh-CN" sz="1200" b="0" dirty="0"/>
            </a:fld>
            <a:endParaRPr lang="en-US" altLang="zh-CN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1800" y="1268413"/>
            <a:ext cx="5450417" cy="4911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5417" y="1268413"/>
            <a:ext cx="5452533" cy="4911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32333" y="260350"/>
            <a:ext cx="2832100" cy="59197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31800" y="260350"/>
            <a:ext cx="8297333" cy="59197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9784" y="260350"/>
            <a:ext cx="6724649" cy="6540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5450417" cy="4911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5417" y="1268413"/>
            <a:ext cx="5452533" cy="4911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文本占位符 2"/>
          <p:cNvSpPr>
            <a:spLocks noGrp="1"/>
          </p:cNvSpPr>
          <p:nvPr>
            <p:ph type="body" idx="1"/>
          </p:nvPr>
        </p:nvSpPr>
        <p:spPr>
          <a:xfrm>
            <a:off x="431800" y="1268413"/>
            <a:ext cx="11106151" cy="49117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7" name="标题占位符 1"/>
          <p:cNvSpPr>
            <a:spLocks noGrp="1"/>
          </p:cNvSpPr>
          <p:nvPr>
            <p:ph type="title"/>
          </p:nvPr>
        </p:nvSpPr>
        <p:spPr>
          <a:xfrm>
            <a:off x="5039784" y="260350"/>
            <a:ext cx="6724649" cy="65405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en-US" altLang="zh-CN" dirty="0"/>
              <a:t>Photoshop</a:t>
            </a:r>
            <a:r>
              <a:rPr lang="zh-CN" altLang="en-US" dirty="0"/>
              <a:t>与</a:t>
            </a:r>
            <a:r>
              <a:rPr lang="en-US" altLang="zh-CN" dirty="0"/>
              <a:t>Flash</a:t>
            </a:r>
            <a:endParaRPr lang="en-US" altLang="zh-CN" dirty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fontAlgn="auto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435" y="262186"/>
            <a:ext cx="1707423" cy="6522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5pPr>
      <a:lvl6pPr marL="457200"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6pPr>
      <a:lvl7pPr marL="914400"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7pPr>
      <a:lvl8pPr marL="1371600"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8pPr>
      <a:lvl9pPr marL="1828800"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p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u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hyperlink" Target="../vuejs&#35838;&#31243;&#28304;&#30721;&#31034;&#20363;/&#35838;&#31243;&#31034;&#20363;/ch03/&#12304;&#20363;3-1&#12305;%20&#28436;&#31034;v-if%20&#25193;&#23637;1.html" TargetMode="External"/><Relationship Id="rId1" Type="http://schemas.openxmlformats.org/officeDocument/2006/relationships/hyperlink" Target="../vuejs&#35838;&#31243;&#28304;&#30721;&#31034;&#20363;/&#35838;&#31243;&#31034;&#20363;/ch01/&#12304;&#20363;1-2&#12305;&#25968;&#25454;&#25346;&#36733;&#21040;DOM.html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hyperlink" Target="../vuejs&#35838;&#31243;&#28304;&#30721;&#31034;&#20363;/&#35838;&#31243;&#31034;&#20363;/ch03/&#12304;&#20363;3-1&#12305;%20&#28436;&#31034;v-if%20&#25193;&#23637;2.html" TargetMode="External"/><Relationship Id="rId1" Type="http://schemas.openxmlformats.org/officeDocument/2006/relationships/hyperlink" Target="../vuejs&#35838;&#31243;&#28304;&#30721;&#31034;&#20363;/&#35838;&#31243;&#31034;&#20363;/ch01/&#12304;&#20363;1-2&#12305;&#25968;&#25454;&#25346;&#36733;&#21040;DOM.html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hyperlink" Target="../vuejs&#35838;&#31243;&#28304;&#30721;&#31034;&#20363;/&#35838;&#31243;&#31034;&#20363;/ch03/&#12304;&#20363;3-7&#12305;&#28436;&#31034;v-show.html" TargetMode="External"/><Relationship Id="rId1" Type="http://schemas.openxmlformats.org/officeDocument/2006/relationships/hyperlink" Target="../vuejs&#35838;&#31243;&#28304;&#30721;&#31034;&#20363;/&#35838;&#31243;&#31034;&#20363;/ch01/&#12304;&#20363;1-2&#12305;&#25968;&#25454;&#25346;&#36733;&#21040;DOM.html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microsoft.com/office/2007/relationships/hdphoto" Target="../media/image9.wdp"/><Relationship Id="rId3" Type="http://schemas.openxmlformats.org/officeDocument/2006/relationships/image" Target="../media/image8.png"/><Relationship Id="rId2" Type="http://schemas.microsoft.com/office/2007/relationships/hdphoto" Target="../media/image7.wdp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microsoft.com/office/2007/relationships/hdphoto" Target="../media/image9.wdp"/><Relationship Id="rId3" Type="http://schemas.openxmlformats.org/officeDocument/2006/relationships/image" Target="../media/image8.png"/><Relationship Id="rId2" Type="http://schemas.microsoft.com/office/2007/relationships/hdphoto" Target="../media/image7.wdp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microsoft.com/office/2007/relationships/hdphoto" Target="../media/image9.wdp"/><Relationship Id="rId3" Type="http://schemas.openxmlformats.org/officeDocument/2006/relationships/image" Target="../media/image8.png"/><Relationship Id="rId2" Type="http://schemas.microsoft.com/office/2007/relationships/hdphoto" Target="../media/image7.wdp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22.xml"/><Relationship Id="rId16" Type="http://schemas.openxmlformats.org/officeDocument/2006/relationships/tags" Target="../tags/tag21.xml"/><Relationship Id="rId15" Type="http://schemas.openxmlformats.org/officeDocument/2006/relationships/tags" Target="../tags/tag20.xml"/><Relationship Id="rId14" Type="http://schemas.openxmlformats.org/officeDocument/2006/relationships/tags" Target="../tags/tag19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4.png"/><Relationship Id="rId6" Type="http://schemas.openxmlformats.org/officeDocument/2006/relationships/hyperlink" Target="../vuejs&#35838;&#31243;&#28304;&#30721;&#31034;&#20363;/&#35838;&#31243;&#31034;&#20363;/ch03/v-for.html" TargetMode="External"/><Relationship Id="rId5" Type="http://schemas.openxmlformats.org/officeDocument/2006/relationships/image" Target="../media/image13.png"/><Relationship Id="rId4" Type="http://schemas.microsoft.com/office/2007/relationships/hdphoto" Target="../media/image9.wdp"/><Relationship Id="rId3" Type="http://schemas.openxmlformats.org/officeDocument/2006/relationships/image" Target="../media/image8.png"/><Relationship Id="rId2" Type="http://schemas.microsoft.com/office/2007/relationships/hdphoto" Target="../media/image7.wdp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../vuejs&#35838;&#31243;&#28304;&#30721;&#31034;&#20363;/&#35838;&#31243;&#31034;&#20363;/ch03/&#12304;&#20363;3-3&#12305;&#28436;&#31034;&#36845;&#20195;&#23545;&#35937;.html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../vuejs&#35838;&#31243;&#28304;&#30721;&#31034;&#20363;/&#35838;&#31243;&#31034;&#20363;/ch03/for-template1.html" TargetMode="Externa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hyperlink" Target="..\vuejs&#35838;&#31243;&#28304;&#30721;&#31034;&#20363;\&#35838;&#31243;&#31034;&#20363;\ch03\&#12304;&#20363;3-6-0&#12305;%20&#24341;&#20363;&#28436;&#31034;v-on.html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hyperlink" Target="../vuejs&#35838;&#31243;&#28304;&#30721;&#31034;&#20363;/&#35838;&#31243;&#31034;&#20363;/ch03/&#12304;&#20363;3-6&#12305;%20&#28436;&#31034;v-on&#32465;&#23450;&#20107;&#20214;.html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hyperlink" Target="../vuejs&#35838;&#31243;&#28304;&#30721;&#31034;&#20363;/&#35838;&#31243;&#31034;&#20363;/ch03/&#12304;&#20363;3-12&#12305;v-bind&#23545;&#35937;&#35821;&#27861;&#32465;&#23450;class.html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../vuejs&#35838;&#31243;&#28304;&#30721;&#31034;&#20363;/&#35838;&#31243;&#31034;&#20363;/ch03/&#12304;&#20363;3-14&#12305;&#28436;&#31034;&#34920;&#21333;&#36755;&#20837;&#32465;&#23450;.html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../vuejs&#35838;&#31243;&#28304;&#30721;&#31034;&#20363;/&#35838;&#31243;&#31034;&#20363;/ch03/&#12304;&#20363;3-16&#12305;&#32508;&#21512;&#26696;&#20363;&#28436;&#31034;&#31649;&#29702;&#24453;&#21150;&#39033;.html" TargetMode="Externa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/>
          </p:cNvSpPr>
          <p:nvPr/>
        </p:nvSpPr>
        <p:spPr>
          <a:xfrm>
            <a:off x="1465580" y="2303463"/>
            <a:ext cx="6551613" cy="8636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4572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9144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13716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18288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algn="ctr"/>
            <a:r>
              <a:rPr lang="en-US" altLang="zh-CN" sz="4000" b="1" dirty="0">
                <a:ea typeface="+mj-lt"/>
                <a:cs typeface="+mj-lt"/>
                <a:sym typeface="+mn-ea"/>
              </a:rPr>
              <a:t>  </a:t>
            </a:r>
            <a:r>
              <a:rPr lang="zh-CN" altLang="en-US" sz="4000" dirty="0">
                <a:ea typeface="+mj-lt"/>
                <a:cs typeface="+mj-lt"/>
                <a:sym typeface="+mn-ea"/>
              </a:rPr>
              <a:t>第</a:t>
            </a:r>
            <a:r>
              <a:rPr lang="en-US" altLang="zh-CN" sz="4000" dirty="0">
                <a:ea typeface="+mj-lt"/>
                <a:cs typeface="+mj-lt"/>
                <a:sym typeface="+mn-ea"/>
              </a:rPr>
              <a:t>3</a:t>
            </a:r>
            <a:r>
              <a:rPr lang="zh-CN" altLang="en-US" sz="4000" dirty="0">
                <a:ea typeface="+mj-lt"/>
                <a:cs typeface="+mj-lt"/>
                <a:sym typeface="+mn-ea"/>
              </a:rPr>
              <a:t>章 </a:t>
            </a:r>
            <a:r>
              <a:rPr sz="4000" dirty="0">
                <a:ea typeface="+mj-lt"/>
                <a:cs typeface="+mj-lt"/>
                <a:sym typeface="+mn-ea"/>
              </a:rPr>
              <a:t>Vue</a:t>
            </a:r>
            <a:r>
              <a:rPr lang="zh-CN" sz="4000" dirty="0">
                <a:ea typeface="+mj-lt"/>
                <a:cs typeface="+mj-lt"/>
                <a:sym typeface="+mn-ea"/>
              </a:rPr>
              <a:t>指令</a:t>
            </a:r>
            <a:endParaRPr sz="4000" b="1" dirty="0">
              <a:ea typeface="+mj-lt"/>
              <a:cs typeface="+mj-lt"/>
            </a:endParaRPr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5394643" y="207010"/>
            <a:ext cx="5043487" cy="654050"/>
          </a:xfrm>
        </p:spPr>
        <p:txBody>
          <a:bodyPr vert="horz" wrap="square" lIns="91440" tIns="45720" rIns="91440" bIns="45720" anchor="ctr"/>
          <a:lstStyle/>
          <a:p>
            <a:r>
              <a:rPr lang="en-US" altLang="zh-CN" sz="3600" dirty="0">
                <a:sym typeface="+mn-ea"/>
              </a:rPr>
              <a:t> </a:t>
            </a:r>
            <a:r>
              <a:rPr lang="zh-CN" altLang="en-US" sz="3600" dirty="0">
                <a:sym typeface="+mn-ea"/>
              </a:rPr>
              <a:t>课程目标</a:t>
            </a:r>
            <a:endParaRPr lang="zh-CN" altLang="en-US" sz="3600" dirty="0">
              <a:sym typeface="+mn-ea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idx="1"/>
          </p:nvPr>
        </p:nvSpPr>
        <p:spPr>
          <a:xfrm>
            <a:off x="2208213" y="1341438"/>
            <a:ext cx="8229600" cy="4525962"/>
          </a:xfrm>
        </p:spPr>
        <p:txBody>
          <a:bodyPr vert="horz" wrap="square" lIns="91440" tIns="45720" rIns="91440" bIns="45720" anchor="t"/>
          <a:lstStyle/>
          <a:p>
            <a:pPr latinLnBrk="0">
              <a:lnSpc>
                <a:spcPct val="150000"/>
              </a:lnSpc>
              <a:spcBef>
                <a:spcPts val="0"/>
              </a:spcBef>
            </a:pPr>
            <a:r>
              <a:rPr lang="en-US" dirty="0" err="1">
                <a:cs typeface="+mn-lt"/>
              </a:rPr>
              <a:t>v</a:t>
            </a:r>
            <a:r>
              <a:rPr dirty="0" err="1">
                <a:cs typeface="+mn-lt"/>
              </a:rPr>
              <a:t>ue</a:t>
            </a:r>
            <a:r>
              <a:rPr dirty="0">
                <a:cs typeface="+mn-lt"/>
              </a:rPr>
              <a:t> </a:t>
            </a:r>
            <a:r>
              <a:rPr dirty="0" err="1">
                <a:cs typeface="+mn-lt"/>
              </a:rPr>
              <a:t>指令</a:t>
            </a:r>
            <a:r>
              <a:rPr lang="zh-CN" altLang="en-US" dirty="0">
                <a:cs typeface="+mn-lt"/>
              </a:rPr>
              <a:t>的定义</a:t>
            </a:r>
            <a:endParaRPr dirty="0">
              <a:cs typeface="+mn-lt"/>
            </a:endParaRPr>
          </a:p>
          <a:p>
            <a:pPr latinLnBrk="0">
              <a:lnSpc>
                <a:spcPct val="150000"/>
              </a:lnSpc>
              <a:spcBef>
                <a:spcPts val="0"/>
              </a:spcBef>
            </a:pPr>
            <a:r>
              <a:rPr dirty="0">
                <a:cs typeface="+mn-lt"/>
              </a:rPr>
              <a:t>v-if与v-show</a:t>
            </a:r>
            <a:r>
              <a:rPr dirty="0" err="1">
                <a:cs typeface="+mn-lt"/>
              </a:rPr>
              <a:t>的区别</a:t>
            </a:r>
            <a:endParaRPr dirty="0">
              <a:cs typeface="+mn-lt"/>
            </a:endParaRPr>
          </a:p>
          <a:p>
            <a:pPr latinLnBrk="0">
              <a:lnSpc>
                <a:spcPct val="150000"/>
              </a:lnSpc>
              <a:spcBef>
                <a:spcPts val="0"/>
              </a:spcBef>
            </a:pPr>
            <a:r>
              <a:rPr dirty="0">
                <a:cs typeface="+mn-lt"/>
              </a:rPr>
              <a:t>使用数组表达式绑定 class </a:t>
            </a:r>
            <a:r>
              <a:rPr dirty="0" err="1">
                <a:cs typeface="+mn-lt"/>
              </a:rPr>
              <a:t>属性</a:t>
            </a:r>
            <a:endParaRPr dirty="0">
              <a:cs typeface="+mn-lt"/>
            </a:endParaRPr>
          </a:p>
          <a:p>
            <a:pPr latinLnBrk="0">
              <a:lnSpc>
                <a:spcPct val="150000"/>
              </a:lnSpc>
              <a:spcBef>
                <a:spcPts val="0"/>
              </a:spcBef>
            </a:pPr>
            <a:r>
              <a:rPr dirty="0">
                <a:cs typeface="+mn-lt"/>
              </a:rPr>
              <a:t>使用 v-model </a:t>
            </a:r>
            <a:r>
              <a:rPr dirty="0" err="1">
                <a:cs typeface="+mn-lt"/>
              </a:rPr>
              <a:t>绑定表单元素</a:t>
            </a:r>
            <a:endParaRPr dirty="0">
              <a:cs typeface="+mn-lt"/>
            </a:endParaRPr>
          </a:p>
          <a:p>
            <a:pPr latinLnBrk="0">
              <a:lnSpc>
                <a:spcPct val="150000"/>
              </a:lnSpc>
              <a:spcBef>
                <a:spcPts val="0"/>
              </a:spcBef>
            </a:pPr>
            <a:r>
              <a:rPr lang="en-US" dirty="0" err="1">
                <a:cs typeface="+mn-lt"/>
              </a:rPr>
              <a:t>v</a:t>
            </a:r>
            <a:r>
              <a:rPr dirty="0" err="1">
                <a:cs typeface="+mn-lt"/>
              </a:rPr>
              <a:t>ue</a:t>
            </a:r>
            <a:r>
              <a:rPr dirty="0">
                <a:cs typeface="+mn-lt"/>
              </a:rPr>
              <a:t> </a:t>
            </a:r>
            <a:r>
              <a:rPr dirty="0" err="1">
                <a:cs typeface="+mn-lt"/>
              </a:rPr>
              <a:t>示例实现</a:t>
            </a:r>
            <a:r>
              <a:rPr lang="zh-CN" altLang="en-US" dirty="0">
                <a:cs typeface="+mn-lt"/>
              </a:rPr>
              <a:t>的</a:t>
            </a:r>
            <a:r>
              <a:rPr dirty="0" err="1">
                <a:cs typeface="+mn-lt"/>
              </a:rPr>
              <a:t>任务展示</a:t>
            </a:r>
            <a:endParaRPr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5394643" y="260350"/>
            <a:ext cx="5043487" cy="654050"/>
          </a:xfrm>
        </p:spPr>
        <p:txBody>
          <a:bodyPr vert="horz" wrap="square" lIns="91440" tIns="45720" rIns="91440" bIns="45720" anchor="ctr"/>
          <a:lstStyle/>
          <a:p>
            <a:r>
              <a:rPr lang="zh-CN" altLang="en-US" sz="3600" dirty="0">
                <a:sym typeface="+mn-ea"/>
              </a:rPr>
              <a:t>课程内容</a:t>
            </a:r>
            <a:endParaRPr lang="zh-CN" altLang="en-US" sz="3600" dirty="0">
              <a:sym typeface="+mn-ea"/>
            </a:endParaRPr>
          </a:p>
        </p:txBody>
      </p:sp>
      <p:sp>
        <p:nvSpPr>
          <p:cNvPr id="34819" name="Rectangle 3"/>
          <p:cNvSpPr>
            <a:spLocks noGrp="1"/>
          </p:cNvSpPr>
          <p:nvPr>
            <p:ph idx="1"/>
          </p:nvPr>
        </p:nvSpPr>
        <p:spPr>
          <a:xfrm>
            <a:off x="2208530" y="1748790"/>
            <a:ext cx="8229600" cy="4118610"/>
          </a:xfrm>
        </p:spPr>
        <p:txBody>
          <a:bodyPr vert="horz" wrap="square" lIns="91440" tIns="45720" rIns="91440" bIns="45720" anchor="t"/>
          <a:lstStyle/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cs typeface="+mn-lt"/>
              </a:rPr>
              <a:t>v</a:t>
            </a:r>
            <a:r>
              <a:rPr dirty="0" err="1">
                <a:cs typeface="+mn-lt"/>
              </a:rPr>
              <a:t>ue</a:t>
            </a:r>
            <a:r>
              <a:rPr lang="zh-CN" dirty="0">
                <a:cs typeface="+mn-lt"/>
              </a:rPr>
              <a:t>指令</a:t>
            </a:r>
            <a:r>
              <a:rPr lang="en-US" altLang="zh-CN" dirty="0">
                <a:cs typeface="+mn-lt"/>
              </a:rPr>
              <a:t>v-if</a:t>
            </a:r>
            <a:r>
              <a:rPr lang="zh-CN" altLang="en-US" dirty="0">
                <a:cs typeface="+mn-lt"/>
              </a:rPr>
              <a:t>、</a:t>
            </a:r>
            <a:r>
              <a:rPr lang="en-US" altLang="zh-CN" dirty="0">
                <a:cs typeface="+mn-lt"/>
              </a:rPr>
              <a:t>v-for</a:t>
            </a:r>
            <a:r>
              <a:rPr lang="zh-CN" altLang="en-US" dirty="0">
                <a:cs typeface="+mn-lt"/>
              </a:rPr>
              <a:t>、</a:t>
            </a:r>
            <a:r>
              <a:rPr lang="en-US" altLang="zh-CN" dirty="0">
                <a:cs typeface="+mn-lt"/>
              </a:rPr>
              <a:t>v-show</a:t>
            </a:r>
            <a:endParaRPr lang="en-US" altLang="zh-CN" dirty="0">
              <a:cs typeface="+mn-lt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cs typeface="+mn-lt"/>
              </a:rPr>
              <a:t>vue指令v-bind</a:t>
            </a:r>
            <a:r>
              <a:rPr lang="zh-CN" altLang="en-US" dirty="0">
                <a:cs typeface="+mn-lt"/>
              </a:rPr>
              <a:t>、</a:t>
            </a:r>
            <a:r>
              <a:rPr lang="en-US" altLang="zh-CN" dirty="0">
                <a:cs typeface="+mn-lt"/>
              </a:rPr>
              <a:t>v-on</a:t>
            </a:r>
            <a:endParaRPr lang="en-US" dirty="0">
              <a:cs typeface="+mn-lt"/>
            </a:endParaRPr>
          </a:p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cs typeface="+mn-lt"/>
              </a:rPr>
              <a:t>vue指令v-model</a:t>
            </a:r>
            <a:endParaRPr lang="en-US" dirty="0">
              <a:cs typeface="+mn-lt"/>
            </a:endParaRPr>
          </a:p>
          <a:p>
            <a:pPr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cs typeface="+mn-lt"/>
              </a:rPr>
              <a:t>综合案例</a:t>
            </a:r>
            <a:endParaRPr dirty="0">
              <a:cs typeface="+mn-lt"/>
            </a:endParaRPr>
          </a:p>
          <a:p>
            <a:pPr marL="0" indent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cs typeface="+mn-lt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5394643" y="260350"/>
            <a:ext cx="5043487" cy="654050"/>
          </a:xfrm>
        </p:spPr>
        <p:txBody>
          <a:bodyPr vert="horz" wrap="square" lIns="91440" tIns="45720" rIns="91440" bIns="45720" anchor="ctr"/>
          <a:lstStyle/>
          <a:p>
            <a:r>
              <a:rPr lang="en-US" altLang="zh-CN" sz="3600" dirty="0">
                <a:sym typeface="+mn-ea"/>
              </a:rPr>
              <a:t>Vue</a:t>
            </a:r>
            <a:r>
              <a:rPr lang="zh-CN" altLang="en-US" sz="3600" dirty="0">
                <a:sym typeface="+mn-ea"/>
              </a:rPr>
              <a:t>指令</a:t>
            </a:r>
            <a:endParaRPr lang="zh-CN" altLang="en-US" sz="3600" dirty="0">
              <a:sym typeface="+mn-ea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内容占位符 5"/>
          <p:cNvSpPr>
            <a:spLocks noGrp="1"/>
          </p:cNvSpPr>
          <p:nvPr/>
        </p:nvSpPr>
        <p:spPr>
          <a:xfrm>
            <a:off x="1559560" y="1956435"/>
            <a:ext cx="8868410" cy="798195"/>
          </a:xfrm>
          <a:prstGeom prst="rect">
            <a:avLst/>
          </a:prstGeom>
        </p:spPr>
        <p:txBody>
          <a:bodyPr vert="horz" lIns="121917" tIns="60958" rIns="121917" bIns="60958" rtlCol="0">
            <a:normAutofit fontScale="77500"/>
          </a:bodyPr>
          <a:lstStyle/>
          <a:p>
            <a:pPr indent="0">
              <a:lnSpc>
                <a:spcPct val="132000"/>
              </a:lnSpc>
              <a:spcBef>
                <a:spcPct val="20000"/>
              </a:spcBef>
              <a:buClr>
                <a:srgbClr val="00B050"/>
              </a:buClr>
              <a:buSzPct val="100000"/>
              <a:buNone/>
            </a:pPr>
            <a:r>
              <a:rPr sz="2000">
                <a:solidFill>
                  <a:schemeClr val="tx1">
                    <a:lumMod val="75000"/>
                    <a:lumOff val="25000"/>
                  </a:schemeClr>
                </a:solidFill>
              </a:rPr>
              <a:t>Vue中的指令（Directive）是带有</a:t>
            </a:r>
            <a:r>
              <a:rPr sz="2000">
                <a:solidFill>
                  <a:srgbClr val="0070C0"/>
                </a:solidFill>
              </a:rPr>
              <a:t>v-前缀</a:t>
            </a:r>
            <a:r>
              <a:rPr sz="2000">
                <a:solidFill>
                  <a:schemeClr val="tx1">
                    <a:lumMod val="75000"/>
                    <a:lumOff val="25000"/>
                  </a:schemeClr>
                </a:solidFill>
              </a:rPr>
              <a:t>的特殊属性，指令属性的值预期是单个JavaScript表达式。指令的作用是当表达式的值改变时，将其产生的连带影响响应式地作用于DOM。</a:t>
            </a:r>
            <a:endParaRPr sz="2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内容占位符 5"/>
          <p:cNvSpPr>
            <a:spLocks noGrp="1"/>
          </p:cNvSpPr>
          <p:nvPr/>
        </p:nvSpPr>
        <p:spPr>
          <a:xfrm>
            <a:off x="1559388" y="1268871"/>
            <a:ext cx="9707072" cy="538893"/>
          </a:xfrm>
          <a:prstGeom prst="rect">
            <a:avLst/>
          </a:prstGeom>
        </p:spPr>
        <p:txBody>
          <a:bodyPr vert="horz" lIns="121917" tIns="60958" rIns="121917" bIns="60958" rtlCol="0">
            <a:noAutofit/>
          </a:bodyPr>
          <a:lstStyle>
            <a:lvl1pPr marL="0" indent="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None/>
              <a:defRPr sz="2000" b="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  <a:buClr>
                <a:srgbClr val="92D050"/>
              </a:buClr>
            </a:pPr>
            <a:r>
              <a:rPr dirty="0"/>
              <a:t>什么是指令</a:t>
            </a:r>
            <a:endParaRPr dirty="0"/>
          </a:p>
        </p:txBody>
      </p:sp>
      <p:cxnSp>
        <p:nvCxnSpPr>
          <p:cNvPr id="39" name="直接连接符 38"/>
          <p:cNvCxnSpPr/>
          <p:nvPr/>
        </p:nvCxnSpPr>
        <p:spPr>
          <a:xfrm>
            <a:off x="1559388" y="1822278"/>
            <a:ext cx="9001125" cy="2222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内容占位符 5"/>
          <p:cNvSpPr>
            <a:spLocks noGrp="1"/>
          </p:cNvSpPr>
          <p:nvPr/>
        </p:nvSpPr>
        <p:spPr>
          <a:xfrm>
            <a:off x="1559560" y="4197350"/>
            <a:ext cx="5991860" cy="842010"/>
          </a:xfrm>
          <a:prstGeom prst="rect">
            <a:avLst/>
          </a:prstGeom>
        </p:spPr>
        <p:txBody>
          <a:bodyPr vert="horz" lIns="121917" tIns="60958" rIns="121917" bIns="60958" rtlCol="0">
            <a:normAutofit fontScale="72500" lnSpcReduction="20000"/>
          </a:bodyPr>
          <a:lstStyle/>
          <a:p>
            <a:pPr indent="0">
              <a:lnSpc>
                <a:spcPct val="132000"/>
              </a:lnSpc>
              <a:spcBef>
                <a:spcPct val="20000"/>
              </a:spcBef>
              <a:buClr>
                <a:srgbClr val="00B050"/>
              </a:buClr>
              <a:buSzPct val="100000"/>
              <a:buNone/>
            </a:pPr>
            <a:r>
              <a:rPr sz="2000">
                <a:solidFill>
                  <a:schemeClr val="tx1">
                    <a:lumMod val="75000"/>
                    <a:lumOff val="25000"/>
                  </a:schemeClr>
                </a:solidFill>
              </a:rPr>
              <a:t>一些Vue指令能够接收一个“参数”，在指令名称之后以冒号表示。</a:t>
            </a:r>
            <a:endParaRPr sz="20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0">
              <a:lnSpc>
                <a:spcPct val="132000"/>
              </a:lnSpc>
              <a:spcBef>
                <a:spcPct val="20000"/>
              </a:spcBef>
              <a:buClr>
                <a:srgbClr val="00B050"/>
              </a:buClr>
              <a:buSzPct val="100000"/>
              <a:buNone/>
            </a:pPr>
            <a:r>
              <a:rPr sz="2000">
                <a:solidFill>
                  <a:schemeClr val="tx1">
                    <a:lumMod val="75000"/>
                    <a:lumOff val="25000"/>
                  </a:schemeClr>
                </a:solidFill>
              </a:rPr>
              <a:t>例如，v-bind指令可以用于响应式地更新HTML属性：</a:t>
            </a:r>
            <a:endParaRPr sz="2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4" name="内容占位符 5"/>
          <p:cNvSpPr>
            <a:spLocks noGrp="1"/>
          </p:cNvSpPr>
          <p:nvPr/>
        </p:nvSpPr>
        <p:spPr>
          <a:xfrm>
            <a:off x="1559388" y="3509786"/>
            <a:ext cx="9707072" cy="538893"/>
          </a:xfrm>
          <a:prstGeom prst="rect">
            <a:avLst/>
          </a:prstGeom>
        </p:spPr>
        <p:txBody>
          <a:bodyPr vert="horz" lIns="121917" tIns="60958" rIns="121917" bIns="60958" rtlCol="0">
            <a:noAutofit/>
          </a:bodyPr>
          <a:lstStyle>
            <a:lvl1pPr marL="0" indent="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None/>
              <a:defRPr sz="2000" b="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  <a:buClr>
                <a:srgbClr val="92D050"/>
              </a:buClr>
            </a:pPr>
            <a:r>
              <a:rPr dirty="0"/>
              <a:t>指令的参数</a:t>
            </a:r>
            <a:endParaRPr dirty="0"/>
          </a:p>
        </p:txBody>
      </p:sp>
      <p:cxnSp>
        <p:nvCxnSpPr>
          <p:cNvPr id="45" name="直接连接符 44"/>
          <p:cNvCxnSpPr/>
          <p:nvPr/>
        </p:nvCxnSpPr>
        <p:spPr>
          <a:xfrm>
            <a:off x="1559388" y="4063193"/>
            <a:ext cx="8928735" cy="1333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内容占位符 5"/>
          <p:cNvSpPr>
            <a:spLocks noGrp="1"/>
          </p:cNvSpPr>
          <p:nvPr/>
        </p:nvSpPr>
        <p:spPr>
          <a:xfrm>
            <a:off x="1775460" y="5750560"/>
            <a:ext cx="3742055" cy="842010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indent="0">
              <a:lnSpc>
                <a:spcPct val="132000"/>
              </a:lnSpc>
              <a:spcBef>
                <a:spcPct val="20000"/>
              </a:spcBef>
              <a:buClr>
                <a:srgbClr val="00B050"/>
              </a:buClr>
              <a:buSzPct val="100000"/>
              <a:buNone/>
            </a:pPr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</a:rPr>
              <a:t>另一个例子是v-on指令，它用于监听DOM事件：</a:t>
            </a:r>
            <a:endParaRPr sz="1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644650" y="2807335"/>
            <a:ext cx="5158105" cy="55372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noAutofit/>
          </a:bodyPr>
          <a:lstStyle/>
          <a:p>
            <a:pPr lvl="1">
              <a:lnSpc>
                <a:spcPct val="150000"/>
              </a:lnSpc>
            </a:pPr>
            <a:r>
              <a:rPr lang="en-US" altLang="zh-CN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&lt;p 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v-if="seen"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&gt;现在你看到我了&lt;/p&gt;</a:t>
            </a:r>
            <a:endParaRPr altLang="zh-CN" dirty="0"/>
          </a:p>
          <a:p>
            <a:pPr lvl="1">
              <a:lnSpc>
                <a:spcPct val="150000"/>
              </a:lnSpc>
            </a:pPr>
            <a:endParaRPr lang="fr-FR" altLang="zh-CN" sz="18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lvl="1">
              <a:lnSpc>
                <a:spcPct val="150000"/>
              </a:lnSpc>
            </a:pPr>
            <a:endParaRPr lang="zh-CN" altLang="en-US" sz="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76095" y="5012690"/>
            <a:ext cx="5158105" cy="55372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&lt;a v-bind: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href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="url"&gt;…&lt;/a&gt;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94960" y="5875655"/>
            <a:ext cx="5013960" cy="558800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&lt;a v-on: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click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="doSomething"&gt;…&lt;/a&gt;</a:t>
            </a:r>
            <a:endParaRPr lang="en-US" altLang="zh-CN" sz="18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5394643" y="260350"/>
            <a:ext cx="5043487" cy="654050"/>
          </a:xfrm>
        </p:spPr>
        <p:txBody>
          <a:bodyPr vert="horz" wrap="square" lIns="91440" tIns="45720" rIns="91440" bIns="45720" anchor="ctr"/>
          <a:lstStyle/>
          <a:p>
            <a:r>
              <a:rPr lang="en-US" altLang="zh-CN" sz="3600" dirty="0">
                <a:sym typeface="+mn-ea"/>
              </a:rPr>
              <a:t>Vue</a:t>
            </a:r>
            <a:r>
              <a:rPr lang="zh-CN" altLang="en-US" sz="3600" dirty="0">
                <a:sym typeface="+mn-ea"/>
              </a:rPr>
              <a:t>指令</a:t>
            </a:r>
            <a:endParaRPr lang="zh-CN" altLang="en-US" sz="3600" dirty="0">
              <a:sym typeface="+mn-ea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内容占位符 5"/>
          <p:cNvSpPr>
            <a:spLocks noGrp="1"/>
          </p:cNvSpPr>
          <p:nvPr/>
        </p:nvSpPr>
        <p:spPr>
          <a:xfrm>
            <a:off x="2287905" y="2306955"/>
            <a:ext cx="8178800" cy="1427480"/>
          </a:xfrm>
          <a:prstGeom prst="rect">
            <a:avLst/>
          </a:prstGeom>
        </p:spPr>
        <p:txBody>
          <a:bodyPr vert="horz" lIns="121917" tIns="60958" rIns="121917" bIns="60958" rtlCol="0">
            <a:normAutofit lnSpcReduction="10000"/>
          </a:bodyPr>
          <a:lstStyle/>
          <a:p>
            <a:pPr indent="0" algn="l">
              <a:lnSpc>
                <a:spcPct val="132000"/>
              </a:lnSpc>
              <a:spcBef>
                <a:spcPct val="20000"/>
              </a:spcBef>
              <a:buClr>
                <a:srgbClr val="00B050"/>
              </a:buClr>
              <a:buSzPct val="100000"/>
              <a:buNone/>
            </a:pPr>
            <a:r>
              <a:rPr 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内容渲染指令：用于渲染DOM元素的文本内容。常用的内容渲染指令包括</a:t>
            </a:r>
            <a:endParaRPr lang="zh-CN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0" algn="l">
              <a:lnSpc>
                <a:spcPct val="132000"/>
              </a:lnSpc>
              <a:spcBef>
                <a:spcPct val="20000"/>
              </a:spcBef>
              <a:buClr>
                <a:srgbClr val="00B050"/>
              </a:buClr>
              <a:buSzPct val="100000"/>
              <a:buNone/>
            </a:pPr>
            <a:r>
              <a:rPr lang="zh-CN" altLang="en-US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v-text</a:t>
            </a:r>
            <a:r>
              <a:rPr 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：类似于DOM的innerText属性，用于更新元素的文本内容。</a:t>
            </a:r>
            <a:endParaRPr lang="zh-CN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0" algn="l">
              <a:lnSpc>
                <a:spcPct val="132000"/>
              </a:lnSpc>
              <a:spcBef>
                <a:spcPct val="20000"/>
              </a:spcBef>
              <a:buClr>
                <a:srgbClr val="00B050"/>
              </a:buClr>
              <a:buSzPct val="100000"/>
              <a:buNone/>
            </a:pPr>
            <a:r>
              <a:rPr lang="zh-CN" altLang="en-US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v-html</a:t>
            </a:r>
            <a:r>
              <a:rPr 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：类似于DOM的innerHTML属性，用于输出真正的HTML。</a:t>
            </a:r>
            <a:endParaRPr lang="zh-CN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0">
              <a:lnSpc>
                <a:spcPct val="132000"/>
              </a:lnSpc>
              <a:spcBef>
                <a:spcPct val="20000"/>
              </a:spcBef>
              <a:buClr>
                <a:srgbClr val="00B050"/>
              </a:buClr>
              <a:buSzPct val="100000"/>
              <a:buNone/>
            </a:pPr>
            <a:endParaRPr lang="zh-CN" sz="20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0">
              <a:lnSpc>
                <a:spcPct val="132000"/>
              </a:lnSpc>
              <a:spcBef>
                <a:spcPct val="20000"/>
              </a:spcBef>
              <a:buClr>
                <a:srgbClr val="00B050"/>
              </a:buClr>
              <a:buSzPct val="100000"/>
              <a:buNone/>
            </a:pPr>
            <a:endParaRPr lang="zh-CN" sz="2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内容占位符 5"/>
          <p:cNvSpPr>
            <a:spLocks noGrp="1"/>
          </p:cNvSpPr>
          <p:nvPr/>
        </p:nvSpPr>
        <p:spPr>
          <a:xfrm>
            <a:off x="2279478" y="1413016"/>
            <a:ext cx="9707072" cy="538893"/>
          </a:xfrm>
          <a:prstGeom prst="rect">
            <a:avLst/>
          </a:prstGeom>
        </p:spPr>
        <p:txBody>
          <a:bodyPr vert="horz" lIns="121917" tIns="60958" rIns="121917" bIns="60958" rtlCol="0">
            <a:noAutofit/>
          </a:bodyPr>
          <a:lstStyle>
            <a:lvl1pPr marL="0" indent="0" algn="l" defTabSz="1219835" rtl="0" eaLnBrk="1" latinLnBrk="0" hangingPunct="1">
              <a:lnSpc>
                <a:spcPct val="12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None/>
              <a:defRPr sz="2000" b="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  <a:buClr>
                <a:srgbClr val="92D050"/>
              </a:buClr>
            </a:pPr>
            <a:r>
              <a:rPr dirty="0"/>
              <a:t>Vue中的指令按照不同的用途可以分为以下几大类：</a:t>
            </a:r>
            <a:endParaRPr dirty="0"/>
          </a:p>
        </p:txBody>
      </p:sp>
      <p:cxnSp>
        <p:nvCxnSpPr>
          <p:cNvPr id="39" name="直接连接符 38"/>
          <p:cNvCxnSpPr/>
          <p:nvPr/>
        </p:nvCxnSpPr>
        <p:spPr>
          <a:xfrm flipV="1">
            <a:off x="2287733" y="2132793"/>
            <a:ext cx="8201025" cy="4000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2227408" y="4004773"/>
            <a:ext cx="8261350" cy="368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组合 52"/>
          <p:cNvGrpSpPr/>
          <p:nvPr/>
        </p:nvGrpSpPr>
        <p:grpSpPr>
          <a:xfrm>
            <a:off x="1708613" y="2441336"/>
            <a:ext cx="570865" cy="625047"/>
            <a:chOff x="6242320" y="1105886"/>
            <a:chExt cx="570567" cy="625048"/>
          </a:xfrm>
        </p:grpSpPr>
        <p:sp>
          <p:nvSpPr>
            <p:cNvPr id="54" name="TextBox 6"/>
            <p:cNvSpPr txBox="1"/>
            <p:nvPr/>
          </p:nvSpPr>
          <p:spPr>
            <a:xfrm>
              <a:off x="6327224" y="1105886"/>
              <a:ext cx="448425" cy="49212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3200" dirty="0">
                  <a:solidFill>
                    <a:srgbClr val="FF9900"/>
                  </a:solidFill>
                  <a:latin typeface="Impact" panose="020B0806030902050204" pitchFamily="34" charset="0"/>
                  <a:ea typeface="微软雅黑" panose="020B0503020204020204" charset="-122"/>
                </a:rPr>
                <a:t>01</a:t>
              </a:r>
              <a:endParaRPr lang="zh-CN" altLang="en-US" sz="3200" dirty="0">
                <a:solidFill>
                  <a:srgbClr val="FF99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5" name="文本框 22"/>
            <p:cNvSpPr txBox="1"/>
            <p:nvPr/>
          </p:nvSpPr>
          <p:spPr>
            <a:xfrm>
              <a:off x="6242320" y="1516939"/>
              <a:ext cx="570567" cy="213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800" b="1" dirty="0">
                  <a:solidFill>
                    <a:srgbClr val="818181"/>
                  </a:solidFill>
                  <a:latin typeface="Leelawadee" panose="020B0502040204020203" pitchFamily="34" charset="-34"/>
                  <a:cs typeface="Leelawadee" panose="020B0502040204020203" pitchFamily="34" charset="-34"/>
                </a:rPr>
                <a:t>OPTION</a:t>
              </a:r>
              <a:endParaRPr lang="zh-CN" altLang="en-US" sz="800" b="1" dirty="0">
                <a:solidFill>
                  <a:srgbClr val="818181"/>
                </a:solidFill>
                <a:latin typeface="Leelawadee" panose="020B0502040204020203" pitchFamily="34" charset="-34"/>
                <a:cs typeface="Leelawadee" panose="020B0502040204020203" pitchFamily="34" charset="-34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1708613" y="4348876"/>
            <a:ext cx="570865" cy="625047"/>
            <a:chOff x="6242320" y="1105886"/>
            <a:chExt cx="570567" cy="625048"/>
          </a:xfrm>
        </p:grpSpPr>
        <p:sp>
          <p:nvSpPr>
            <p:cNvPr id="57" name="TextBox 6"/>
            <p:cNvSpPr txBox="1"/>
            <p:nvPr/>
          </p:nvSpPr>
          <p:spPr>
            <a:xfrm>
              <a:off x="6327224" y="1105886"/>
              <a:ext cx="448425" cy="49212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3200" dirty="0">
                  <a:solidFill>
                    <a:schemeClr val="accent5"/>
                  </a:solidFill>
                  <a:latin typeface="Impact" panose="020B0806030902050204" pitchFamily="34" charset="0"/>
                  <a:ea typeface="微软雅黑" panose="020B0503020204020204" charset="-122"/>
                </a:rPr>
                <a:t>02</a:t>
              </a:r>
              <a:endParaRPr lang="en-US" altLang="zh-CN" sz="3200" dirty="0">
                <a:solidFill>
                  <a:schemeClr val="accent5"/>
                </a:solidFill>
                <a:latin typeface="Impact" panose="020B0806030902050204" pitchFamily="34" charset="0"/>
                <a:ea typeface="微软雅黑" panose="020B0503020204020204" charset="-122"/>
              </a:endParaRPr>
            </a:p>
          </p:txBody>
        </p:sp>
        <p:sp>
          <p:nvSpPr>
            <p:cNvPr id="58" name="文本框 22"/>
            <p:cNvSpPr txBox="1"/>
            <p:nvPr/>
          </p:nvSpPr>
          <p:spPr>
            <a:xfrm>
              <a:off x="6242320" y="1516939"/>
              <a:ext cx="570567" cy="213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800" b="1" dirty="0">
                  <a:solidFill>
                    <a:srgbClr val="818181"/>
                  </a:solidFill>
                  <a:latin typeface="Leelawadee" panose="020B0502040204020203" pitchFamily="34" charset="-34"/>
                  <a:cs typeface="Leelawadee" panose="020B0502040204020203" pitchFamily="34" charset="-34"/>
                </a:rPr>
                <a:t>OPTION</a:t>
              </a:r>
              <a:endParaRPr lang="zh-CN" altLang="en-US" sz="800" b="1" dirty="0">
                <a:solidFill>
                  <a:srgbClr val="818181"/>
                </a:solidFill>
                <a:latin typeface="Leelawadee" panose="020B0502040204020203" pitchFamily="34" charset="-34"/>
                <a:cs typeface="Leelawadee" panose="020B0502040204020203" pitchFamily="34" charset="-34"/>
              </a:endParaRPr>
            </a:p>
          </p:txBody>
        </p:sp>
      </p:grpSp>
      <p:sp>
        <p:nvSpPr>
          <p:cNvPr id="3" name="内容占位符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227580" y="4536440"/>
            <a:ext cx="8209915" cy="1427480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indent="0" algn="l">
              <a:lnSpc>
                <a:spcPct val="132000"/>
              </a:lnSpc>
              <a:spcBef>
                <a:spcPct val="20000"/>
              </a:spcBef>
              <a:buClr>
                <a:srgbClr val="00B050"/>
              </a:buClr>
              <a:buSzPct val="100000"/>
              <a:buNone/>
            </a:pPr>
            <a:r>
              <a:rPr 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事件绑定指令：用于为元素绑定事件监听器。</a:t>
            </a:r>
            <a:endParaRPr lang="zh-CN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0" algn="l">
              <a:lnSpc>
                <a:spcPct val="132000"/>
              </a:lnSpc>
              <a:spcBef>
                <a:spcPct val="20000"/>
              </a:spcBef>
              <a:buClr>
                <a:srgbClr val="00B050"/>
              </a:buClr>
              <a:buSzPct val="100000"/>
              <a:buNone/>
            </a:pPr>
            <a:r>
              <a:rPr lang="zh-CN" altLang="en-US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v-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on</a:t>
            </a:r>
            <a:r>
              <a:rPr 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：监听DOM事件，并在触发时执行一些JavaScript代码。可以绑定到元素上，如点击、输入等事件。</a:t>
            </a:r>
            <a:endParaRPr lang="zh-CN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0">
              <a:lnSpc>
                <a:spcPct val="132000"/>
              </a:lnSpc>
              <a:spcBef>
                <a:spcPct val="20000"/>
              </a:spcBef>
              <a:buClr>
                <a:srgbClr val="00B050"/>
              </a:buClr>
              <a:buSzPct val="100000"/>
              <a:buNone/>
            </a:pPr>
            <a:endParaRPr lang="zh-CN" sz="20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0">
              <a:lnSpc>
                <a:spcPct val="132000"/>
              </a:lnSpc>
              <a:spcBef>
                <a:spcPct val="20000"/>
              </a:spcBef>
              <a:buClr>
                <a:srgbClr val="00B050"/>
              </a:buClr>
              <a:buSzPct val="100000"/>
              <a:buNone/>
            </a:pPr>
            <a:endParaRPr lang="zh-CN" sz="2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5394643" y="260350"/>
            <a:ext cx="5043487" cy="654050"/>
          </a:xfrm>
        </p:spPr>
        <p:txBody>
          <a:bodyPr vert="horz" wrap="square" lIns="91440" tIns="45720" rIns="91440" bIns="45720" anchor="ctr"/>
          <a:lstStyle/>
          <a:p>
            <a:r>
              <a:rPr lang="en-US" altLang="zh-CN" sz="3600" dirty="0">
                <a:sym typeface="+mn-ea"/>
              </a:rPr>
              <a:t>Vue</a:t>
            </a:r>
            <a:r>
              <a:rPr lang="zh-CN" altLang="en-US" sz="3600" dirty="0">
                <a:sym typeface="+mn-ea"/>
              </a:rPr>
              <a:t>指令</a:t>
            </a:r>
            <a:endParaRPr lang="zh-CN" altLang="en-US" sz="3600" dirty="0">
              <a:sym typeface="+mn-ea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cxnSp>
        <p:nvCxnSpPr>
          <p:cNvPr id="45" name="直接连接符 44"/>
          <p:cNvCxnSpPr/>
          <p:nvPr>
            <p:custDataLst>
              <p:tags r:id="rId1"/>
            </p:custDataLst>
          </p:nvPr>
        </p:nvCxnSpPr>
        <p:spPr>
          <a:xfrm>
            <a:off x="2158828" y="3569798"/>
            <a:ext cx="8401685" cy="254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>
            <p:custDataLst>
              <p:tags r:id="rId2"/>
            </p:custDataLst>
          </p:nvPr>
        </p:nvGrpSpPr>
        <p:grpSpPr>
          <a:xfrm>
            <a:off x="1605743" y="1954291"/>
            <a:ext cx="570865" cy="625047"/>
            <a:chOff x="6242320" y="1105886"/>
            <a:chExt cx="570567" cy="625048"/>
          </a:xfrm>
        </p:grpSpPr>
        <p:sp>
          <p:nvSpPr>
            <p:cNvPr id="12" name="TextBox 6"/>
            <p:cNvSpPr txBox="1"/>
            <p:nvPr>
              <p:custDataLst>
                <p:tags r:id="rId3"/>
              </p:custDataLst>
            </p:nvPr>
          </p:nvSpPr>
          <p:spPr>
            <a:xfrm>
              <a:off x="6327224" y="1105886"/>
              <a:ext cx="448425" cy="49212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3200" dirty="0">
                  <a:solidFill>
                    <a:srgbClr val="FF9900"/>
                  </a:solidFill>
                  <a:latin typeface="Impact" panose="020B0806030902050204" pitchFamily="34" charset="0"/>
                  <a:ea typeface="微软雅黑" panose="020B0503020204020204" charset="-122"/>
                </a:rPr>
                <a:t>03</a:t>
              </a:r>
              <a:endParaRPr lang="zh-CN" altLang="en-US" sz="3200" dirty="0">
                <a:solidFill>
                  <a:srgbClr val="FF99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文本框 22"/>
            <p:cNvSpPr txBox="1"/>
            <p:nvPr>
              <p:custDataLst>
                <p:tags r:id="rId4"/>
              </p:custDataLst>
            </p:nvPr>
          </p:nvSpPr>
          <p:spPr>
            <a:xfrm>
              <a:off x="6242320" y="1516939"/>
              <a:ext cx="570567" cy="213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800" b="1" dirty="0">
                  <a:solidFill>
                    <a:srgbClr val="818181"/>
                  </a:solidFill>
                  <a:latin typeface="Leelawadee" panose="020B0502040204020203" pitchFamily="34" charset="-34"/>
                  <a:cs typeface="Leelawadee" panose="020B0502040204020203" pitchFamily="34" charset="-34"/>
                </a:rPr>
                <a:t>OPTION</a:t>
              </a:r>
              <a:endParaRPr lang="zh-CN" altLang="en-US" sz="800" b="1" dirty="0">
                <a:solidFill>
                  <a:srgbClr val="818181"/>
                </a:solidFill>
                <a:latin typeface="Leelawadee" panose="020B0502040204020203" pitchFamily="34" charset="-34"/>
                <a:cs typeface="Leelawadee" panose="020B0502040204020203" pitchFamily="34" charset="-34"/>
              </a:endParaRPr>
            </a:p>
          </p:txBody>
        </p:sp>
      </p:grpSp>
      <p:grpSp>
        <p:nvGrpSpPr>
          <p:cNvPr id="25" name="组合 24"/>
          <p:cNvGrpSpPr/>
          <p:nvPr>
            <p:custDataLst>
              <p:tags r:id="rId5"/>
            </p:custDataLst>
          </p:nvPr>
        </p:nvGrpSpPr>
        <p:grpSpPr>
          <a:xfrm>
            <a:off x="1631778" y="4436506"/>
            <a:ext cx="570865" cy="659337"/>
            <a:chOff x="6294363" y="1764382"/>
            <a:chExt cx="570567" cy="659338"/>
          </a:xfrm>
        </p:grpSpPr>
        <p:sp>
          <p:nvSpPr>
            <p:cNvPr id="26" name="TextBox 6"/>
            <p:cNvSpPr txBox="1"/>
            <p:nvPr>
              <p:custDataLst>
                <p:tags r:id="rId6"/>
              </p:custDataLst>
            </p:nvPr>
          </p:nvSpPr>
          <p:spPr>
            <a:xfrm>
              <a:off x="6353245" y="1764382"/>
              <a:ext cx="448425" cy="49212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3200" dirty="0">
                  <a:solidFill>
                    <a:schemeClr val="accent5"/>
                  </a:solidFill>
                  <a:latin typeface="Impact" panose="020B0806030902050204" pitchFamily="34" charset="0"/>
                  <a:ea typeface="微软雅黑" panose="020B0503020204020204" charset="-122"/>
                </a:rPr>
                <a:t>04</a:t>
              </a:r>
              <a:endParaRPr lang="en-US" altLang="zh-CN" sz="3200" dirty="0">
                <a:solidFill>
                  <a:schemeClr val="accent5"/>
                </a:solidFill>
                <a:latin typeface="Impact" panose="020B0806030902050204" pitchFamily="34" charset="0"/>
                <a:ea typeface="微软雅黑" panose="020B0503020204020204" charset="-122"/>
              </a:endParaRPr>
            </a:p>
          </p:txBody>
        </p:sp>
        <p:sp>
          <p:nvSpPr>
            <p:cNvPr id="27" name="文本框 22"/>
            <p:cNvSpPr txBox="1"/>
            <p:nvPr>
              <p:custDataLst>
                <p:tags r:id="rId7"/>
              </p:custDataLst>
            </p:nvPr>
          </p:nvSpPr>
          <p:spPr>
            <a:xfrm>
              <a:off x="6294363" y="2209725"/>
              <a:ext cx="570567" cy="213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800" b="1" dirty="0">
                  <a:solidFill>
                    <a:srgbClr val="818181"/>
                  </a:solidFill>
                  <a:latin typeface="Leelawadee" panose="020B0502040204020203" pitchFamily="34" charset="-34"/>
                  <a:cs typeface="Leelawadee" panose="020B0502040204020203" pitchFamily="34" charset="-34"/>
                </a:rPr>
                <a:t>OPTION</a:t>
              </a:r>
              <a:endParaRPr lang="zh-CN" altLang="en-US" sz="800" b="1" dirty="0">
                <a:solidFill>
                  <a:srgbClr val="818181"/>
                </a:solidFill>
                <a:latin typeface="Leelawadee" panose="020B0502040204020203" pitchFamily="34" charset="-34"/>
                <a:cs typeface="Leelawadee" panose="020B0502040204020203" pitchFamily="34" charset="-34"/>
              </a:endParaRPr>
            </a:p>
          </p:txBody>
        </p:sp>
      </p:grpSp>
      <p:sp>
        <p:nvSpPr>
          <p:cNvPr id="3" name="内容占位符 5"/>
          <p:cNvSpPr>
            <a:spLocks noGrp="1"/>
          </p:cNvSpPr>
          <p:nvPr/>
        </p:nvSpPr>
        <p:spPr>
          <a:xfrm>
            <a:off x="2279650" y="1466850"/>
            <a:ext cx="8213090" cy="1600835"/>
          </a:xfrm>
          <a:prstGeom prst="rect">
            <a:avLst/>
          </a:prstGeom>
        </p:spPr>
        <p:txBody>
          <a:bodyPr vert="horz" lIns="121917" tIns="60958" rIns="121917" bIns="60958" rtlCol="0">
            <a:normAutofit fontScale="90000" lnSpcReduction="10000"/>
          </a:bodyPr>
          <a:lstStyle/>
          <a:p>
            <a:pPr indent="0" algn="l">
              <a:lnSpc>
                <a:spcPct val="132000"/>
              </a:lnSpc>
              <a:spcBef>
                <a:spcPct val="20000"/>
              </a:spcBef>
              <a:buClr>
                <a:srgbClr val="00B050"/>
              </a:buClr>
              <a:buSzPct val="100000"/>
              <a:buNone/>
            </a:pPr>
            <a:r>
              <a:rPr lang="zh-CN" sz="2000">
                <a:solidFill>
                  <a:schemeClr val="tx1">
                    <a:lumMod val="75000"/>
                    <a:lumOff val="25000"/>
                  </a:schemeClr>
                </a:solidFill>
              </a:rPr>
              <a:t>条件渲染指令：用于根据表达式的真假值来有条件地渲染元素。这类指令包括：</a:t>
            </a:r>
            <a:endParaRPr lang="zh-CN" sz="20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0" algn="l">
              <a:lnSpc>
                <a:spcPct val="132000"/>
              </a:lnSpc>
              <a:spcBef>
                <a:spcPct val="20000"/>
              </a:spcBef>
              <a:buClr>
                <a:srgbClr val="00B050"/>
              </a:buClr>
              <a:buSzPct val="100000"/>
              <a:buNone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v-if</a:t>
            </a:r>
            <a:r>
              <a:rPr lang="zh-CN" sz="2000">
                <a:solidFill>
                  <a:schemeClr val="tx1">
                    <a:lumMod val="75000"/>
                    <a:lumOff val="25000"/>
                  </a:schemeClr>
                </a:solidFill>
              </a:rPr>
              <a:t>：根据表达式的真假值来渲染元素。如果条件为假，则不会渲染该元素及其子元素，也不会占用DOM位置。</a:t>
            </a:r>
            <a:endParaRPr lang="zh-CN" sz="20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0" algn="l">
              <a:lnSpc>
                <a:spcPct val="132000"/>
              </a:lnSpc>
              <a:spcBef>
                <a:spcPct val="20000"/>
              </a:spcBef>
              <a:buClr>
                <a:srgbClr val="00B050"/>
              </a:buClr>
              <a:buSzPct val="100000"/>
              <a:buNone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v-show</a:t>
            </a:r>
            <a:r>
              <a:rPr lang="zh-CN" sz="2000">
                <a:solidFill>
                  <a:schemeClr val="tx1">
                    <a:lumMod val="75000"/>
                    <a:lumOff val="25000"/>
                  </a:schemeClr>
                </a:solidFill>
              </a:rPr>
              <a:t>：根据表达式的真假值来控制元素的显示与隐藏。</a:t>
            </a:r>
            <a:endParaRPr lang="zh-CN" sz="20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0">
              <a:lnSpc>
                <a:spcPct val="132000"/>
              </a:lnSpc>
              <a:spcBef>
                <a:spcPct val="20000"/>
              </a:spcBef>
              <a:buClr>
                <a:srgbClr val="00B050"/>
              </a:buClr>
              <a:buSzPct val="100000"/>
              <a:buNone/>
            </a:pPr>
            <a:endParaRPr lang="zh-CN" sz="20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0">
              <a:lnSpc>
                <a:spcPct val="132000"/>
              </a:lnSpc>
              <a:spcBef>
                <a:spcPct val="20000"/>
              </a:spcBef>
              <a:buClr>
                <a:srgbClr val="00B050"/>
              </a:buClr>
              <a:buSzPct val="100000"/>
              <a:buNone/>
            </a:pPr>
            <a:endParaRPr lang="zh-CN" sz="2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内容占位符 5"/>
          <p:cNvSpPr>
            <a:spLocks noGrp="1"/>
          </p:cNvSpPr>
          <p:nvPr/>
        </p:nvSpPr>
        <p:spPr>
          <a:xfrm>
            <a:off x="2185035" y="4189095"/>
            <a:ext cx="8116570" cy="1600835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indent="0" algn="l">
              <a:lnSpc>
                <a:spcPct val="132000"/>
              </a:lnSpc>
              <a:spcBef>
                <a:spcPct val="20000"/>
              </a:spcBef>
              <a:buClr>
                <a:srgbClr val="00B050"/>
              </a:buClr>
              <a:buSzPct val="100000"/>
              <a:buNone/>
            </a:pPr>
            <a:r>
              <a:rPr lang="zh-CN" sz="2000">
                <a:solidFill>
                  <a:schemeClr val="tx1">
                    <a:lumMod val="75000"/>
                    <a:lumOff val="25000"/>
                  </a:schemeClr>
                </a:solidFill>
              </a:rPr>
              <a:t>列表渲染指令：主要用于基于一个数组来渲染一个列表</a:t>
            </a:r>
            <a:endParaRPr lang="zh-CN" sz="20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0" algn="l">
              <a:lnSpc>
                <a:spcPct val="132000"/>
              </a:lnSpc>
              <a:spcBef>
                <a:spcPct val="20000"/>
              </a:spcBef>
              <a:buClr>
                <a:srgbClr val="00B050"/>
              </a:buClr>
              <a:buSzPct val="100000"/>
              <a:buNone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v-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for</a:t>
            </a:r>
            <a:r>
              <a:rPr lang="zh-CN" sz="2000">
                <a:solidFill>
                  <a:schemeClr val="tx1">
                    <a:lumMod val="75000"/>
                    <a:lumOff val="25000"/>
                  </a:schemeClr>
                </a:solidFill>
              </a:rPr>
              <a:t>：基于一个数组来渲染一个列表。可以使用v-for指令来遍历数组或对象，并为每个元素生成一个模板。</a:t>
            </a:r>
            <a:endParaRPr lang="zh-CN" sz="20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0">
              <a:lnSpc>
                <a:spcPct val="132000"/>
              </a:lnSpc>
              <a:spcBef>
                <a:spcPct val="20000"/>
              </a:spcBef>
              <a:buClr>
                <a:srgbClr val="00B050"/>
              </a:buClr>
              <a:buSzPct val="100000"/>
              <a:buNone/>
            </a:pPr>
            <a:endParaRPr lang="zh-CN" sz="20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0">
              <a:lnSpc>
                <a:spcPct val="132000"/>
              </a:lnSpc>
              <a:spcBef>
                <a:spcPct val="20000"/>
              </a:spcBef>
              <a:buClr>
                <a:srgbClr val="00B050"/>
              </a:buClr>
              <a:buSzPct val="100000"/>
              <a:buNone/>
            </a:pPr>
            <a:endParaRPr lang="zh-CN" sz="2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56040" y="116632"/>
            <a:ext cx="4035301" cy="654050"/>
          </a:xfrm>
        </p:spPr>
        <p:txBody>
          <a:bodyPr/>
          <a:lstStyle/>
          <a:p>
            <a:r>
              <a:rPr lang="zh-CN" altLang="en-US" sz="3600" dirty="0"/>
              <a:t>指令修饰符</a:t>
            </a:r>
            <a:endParaRPr lang="zh-CN" altLang="en-US" sz="36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847215" y="1340485"/>
            <a:ext cx="8553450" cy="4911725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cs typeface="+mn-lt"/>
              </a:rPr>
              <a:t>定义</a:t>
            </a:r>
            <a:endParaRPr lang="zh-CN" altLang="en-US" dirty="0">
              <a:cs typeface="+mn-l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dirty="0">
                <a:cs typeface="+mn-lt"/>
              </a:rPr>
              <a:t>在Vue中，指令修饰符（Modifiers）是特殊的后缀，指示指令应该以某种特殊方式绑定。它们用于</a:t>
            </a:r>
            <a:r>
              <a:rPr lang="en-US" altLang="zh-CN" sz="2800" dirty="0">
                <a:solidFill>
                  <a:srgbClr val="0070C0"/>
                </a:solidFill>
                <a:cs typeface="+mn-lt"/>
              </a:rPr>
              <a:t>改变一个指令的默认行为</a:t>
            </a:r>
            <a:r>
              <a:rPr lang="en-US" altLang="zh-CN" sz="2800" dirty="0">
                <a:cs typeface="+mn-lt"/>
              </a:rPr>
              <a:t>。</a:t>
            </a:r>
            <a:endParaRPr lang="en-US" altLang="zh-CN" sz="2800" dirty="0">
              <a:cs typeface="+mn-l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800" dirty="0">
              <a:cs typeface="+mn-l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dirty="0">
                <a:cs typeface="+mn-lt"/>
              </a:rPr>
              <a:t>Vue 2中一些常用的带有修饰符的指令包括v-model、v-on，但并非所有指令都支持修饰符。</a:t>
            </a:r>
            <a:endParaRPr lang="en-US" altLang="zh-CN" sz="2800" dirty="0">
              <a:cs typeface="+mn-l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800" b="1" kern="1200" dirty="0">
              <a:cs typeface="+mn-lt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56040" y="116632"/>
            <a:ext cx="4035301" cy="654050"/>
          </a:xfrm>
        </p:spPr>
        <p:txBody>
          <a:bodyPr/>
          <a:lstStyle/>
          <a:p>
            <a:r>
              <a:rPr lang="zh-CN" altLang="en-US" sz="3600" dirty="0"/>
              <a:t>指令修饰符</a:t>
            </a:r>
            <a:endParaRPr lang="zh-CN" altLang="en-US" sz="36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847215" y="1340485"/>
            <a:ext cx="8553450" cy="4911725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cs typeface="+mn-lt"/>
              </a:rPr>
              <a:t>常见修饰符</a:t>
            </a:r>
            <a:endParaRPr lang="zh-CN" altLang="en-US" dirty="0">
              <a:cs typeface="+mn-lt"/>
            </a:endParaRPr>
          </a:p>
          <a:p>
            <a:pPr mar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2000" dirty="0">
                <a:cs typeface="+mn-lt"/>
                <a:sym typeface="+mn-ea"/>
              </a:rPr>
              <a:t>1. v-model 修饰符</a:t>
            </a:r>
            <a:endParaRPr lang="en-US" altLang="zh-CN" sz="2000" dirty="0">
              <a:cs typeface="+mn-lt"/>
            </a:endParaRPr>
          </a:p>
          <a:p>
            <a:pPr mar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2000" dirty="0">
                <a:cs typeface="+mn-lt"/>
                <a:sym typeface="+mn-ea"/>
              </a:rPr>
              <a:t>.number：自动将用户的输入值转为数值类型。</a:t>
            </a:r>
            <a:endParaRPr lang="en-US" altLang="zh-CN" sz="2000" dirty="0">
              <a:cs typeface="+mn-lt"/>
            </a:endParaRPr>
          </a:p>
          <a:p>
            <a:pPr mar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sz="2000" dirty="0">
                <a:cs typeface="+mn-lt"/>
                <a:sym typeface="+mn-ea"/>
              </a:rPr>
              <a:t>.trim：自动过滤用户输入的首尾空白字符</a:t>
            </a:r>
            <a:endParaRPr lang="en-US" altLang="zh-CN" sz="2000" dirty="0">
              <a:cs typeface="+mn-l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dirty="0">
              <a:cs typeface="+mn-l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cs typeface="+mn-lt"/>
              </a:rPr>
              <a:t>2. v-on 或 @ 修饰符</a:t>
            </a:r>
            <a:endParaRPr lang="en-US" altLang="zh-CN" sz="2000" dirty="0">
              <a:cs typeface="+mn-l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cs typeface="+mn-lt"/>
              </a:rPr>
              <a:t>.prevent：阻止</a:t>
            </a:r>
            <a:r>
              <a:rPr lang="zh-CN" altLang="en-US" sz="2000" dirty="0">
                <a:cs typeface="+mn-lt"/>
              </a:rPr>
              <a:t>事件</a:t>
            </a:r>
            <a:r>
              <a:rPr lang="en-US" altLang="zh-CN" sz="2000" dirty="0">
                <a:cs typeface="+mn-lt"/>
              </a:rPr>
              <a:t>默认行为。</a:t>
            </a:r>
            <a:endParaRPr lang="en-US" altLang="zh-CN" sz="2000" dirty="0">
              <a:cs typeface="+mn-l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cs typeface="+mn-lt"/>
              </a:rPr>
              <a:t>.once：事件只触发一次。</a:t>
            </a:r>
            <a:endParaRPr lang="en-US" altLang="zh-CN" sz="2000" dirty="0">
              <a:cs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215" y="4225925"/>
            <a:ext cx="4621530" cy="7512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120" y="4977130"/>
            <a:ext cx="4619625" cy="8128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135" y="1772920"/>
            <a:ext cx="4499610" cy="167576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56040" y="116632"/>
            <a:ext cx="4035301" cy="654050"/>
          </a:xfrm>
        </p:spPr>
        <p:txBody>
          <a:bodyPr/>
          <a:lstStyle/>
          <a:p>
            <a:r>
              <a:rPr lang="en-US" altLang="zh-CN" sz="3600" dirty="0"/>
              <a:t>v-if</a:t>
            </a:r>
            <a:r>
              <a:rPr lang="zh-CN" altLang="en-US" sz="3600" dirty="0"/>
              <a:t>详解</a:t>
            </a:r>
            <a:endParaRPr lang="zh-CN" altLang="en-US" sz="3600" dirty="0"/>
          </a:p>
        </p:txBody>
      </p:sp>
      <p:sp>
        <p:nvSpPr>
          <p:cNvPr id="5" name="矩形 4"/>
          <p:cNvSpPr/>
          <p:nvPr/>
        </p:nvSpPr>
        <p:spPr>
          <a:xfrm>
            <a:off x="1703070" y="1701165"/>
            <a:ext cx="2677795" cy="72644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1. v-if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1631315" y="2853055"/>
            <a:ext cx="8782050" cy="3255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400" b="0" kern="0" dirty="0">
                <a:latin typeface="+mn-lt"/>
                <a:ea typeface="+mn-ea"/>
                <a:cs typeface="+mn-lt"/>
              </a:rPr>
              <a:t>v-if是根据</a:t>
            </a:r>
            <a:r>
              <a:rPr lang="zh-CN" altLang="en-US" sz="2400" b="0" kern="0" dirty="0">
                <a:solidFill>
                  <a:srgbClr val="0070C0"/>
                </a:solidFill>
                <a:latin typeface="+mn-lt"/>
                <a:ea typeface="+mn-ea"/>
                <a:cs typeface="+mn-lt"/>
              </a:rPr>
              <a:t>布尔值</a:t>
            </a:r>
            <a:r>
              <a:rPr lang="zh-CN" altLang="en-US" sz="2400" b="0" kern="0" dirty="0">
                <a:latin typeface="+mn-lt"/>
                <a:ea typeface="+mn-ea"/>
                <a:cs typeface="+mn-lt"/>
              </a:rPr>
              <a:t>切换元素的显示或隐藏状态，本质是通过操作DOM元素来切换显示状态。</a:t>
            </a:r>
            <a:endParaRPr lang="zh-CN" altLang="en-US" sz="2400" b="0" kern="0" dirty="0">
              <a:latin typeface="+mn-lt"/>
              <a:ea typeface="+mn-ea"/>
              <a:cs typeface="+mn-lt"/>
            </a:endParaRPr>
          </a:p>
          <a:p>
            <a:pPr algn="just">
              <a:lnSpc>
                <a:spcPct val="150000"/>
              </a:lnSpc>
            </a:pPr>
            <a:endParaRPr lang="zh-CN" altLang="en-US" sz="2400" b="0" kern="0" dirty="0">
              <a:latin typeface="+mn-lt"/>
              <a:ea typeface="+mn-ea"/>
              <a:cs typeface="+mn-lt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0" kern="0" dirty="0">
                <a:latin typeface="+mn-lt"/>
                <a:ea typeface="+mn-ea"/>
                <a:cs typeface="+mn-lt"/>
              </a:rPr>
              <a:t>当给定的值为</a:t>
            </a:r>
            <a:r>
              <a:rPr lang="zh-CN" altLang="en-US" sz="2400" b="0" kern="0" dirty="0">
                <a:solidFill>
                  <a:srgbClr val="0070C0"/>
                </a:solidFill>
                <a:latin typeface="+mn-lt"/>
                <a:ea typeface="+mn-ea"/>
                <a:cs typeface="+mn-lt"/>
              </a:rPr>
              <a:t>true</a:t>
            </a:r>
            <a:r>
              <a:rPr lang="zh-CN" altLang="en-US" sz="2400" b="0" kern="0" dirty="0">
                <a:latin typeface="+mn-lt"/>
                <a:ea typeface="+mn-ea"/>
                <a:cs typeface="+mn-lt"/>
              </a:rPr>
              <a:t>时，元素存在于DOM树中；</a:t>
            </a:r>
            <a:endParaRPr lang="zh-CN" altLang="en-US" sz="2400" b="0" kern="0" dirty="0">
              <a:latin typeface="+mn-lt"/>
              <a:ea typeface="+mn-ea"/>
              <a:cs typeface="+mn-lt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0" kern="0" dirty="0">
                <a:latin typeface="+mn-lt"/>
                <a:ea typeface="+mn-ea"/>
                <a:cs typeface="+mn-lt"/>
              </a:rPr>
              <a:t>当给定的值为</a:t>
            </a:r>
            <a:r>
              <a:rPr lang="zh-CN" altLang="en-US" sz="2400" b="0" kern="0" dirty="0">
                <a:solidFill>
                  <a:srgbClr val="0070C0"/>
                </a:solidFill>
                <a:latin typeface="+mn-lt"/>
                <a:ea typeface="+mn-ea"/>
                <a:cs typeface="+mn-lt"/>
              </a:rPr>
              <a:t>false</a:t>
            </a:r>
            <a:r>
              <a:rPr lang="zh-CN" altLang="en-US" sz="2400" b="0" kern="0" dirty="0">
                <a:latin typeface="+mn-lt"/>
                <a:ea typeface="+mn-ea"/>
                <a:cs typeface="+mn-lt"/>
              </a:rPr>
              <a:t>时，元素从DOM树中移除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2135560" y="953344"/>
            <a:ext cx="8352928" cy="5904656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800" b="1" kern="1200" dirty="0">
              <a:latin typeface="+mj-lt"/>
            </a:endParaRPr>
          </a:p>
        </p:txBody>
      </p:sp>
      <p:sp>
        <p:nvSpPr>
          <p:cNvPr id="4" name="文本框 3">
            <a:hlinkClick r:id="rId1" action="ppaction://hlinkfile"/>
          </p:cNvPr>
          <p:cNvSpPr txBox="1"/>
          <p:nvPr/>
        </p:nvSpPr>
        <p:spPr>
          <a:xfrm>
            <a:off x="9264650" y="4652645"/>
            <a:ext cx="1139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hlinkClick r:id="rId2" action="ppaction://hlinkfile"/>
              </a:rPr>
              <a:t>运行</a:t>
            </a:r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6311895" y="188387"/>
            <a:ext cx="4035301" cy="65405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4572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9144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13716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18288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r>
              <a:rPr lang="en-US" altLang="zh-CN" sz="3600" dirty="0"/>
              <a:t>v-if</a:t>
            </a:r>
            <a:r>
              <a:rPr lang="zh-CN" altLang="en-US" sz="3600" dirty="0"/>
              <a:t>详解</a:t>
            </a:r>
            <a:endParaRPr lang="zh-CN" altLang="en-US" sz="3600" dirty="0"/>
          </a:p>
        </p:txBody>
      </p:sp>
      <p:sp>
        <p:nvSpPr>
          <p:cNvPr id="8" name="AutoShape 3"/>
          <p:cNvSpPr/>
          <p:nvPr/>
        </p:nvSpPr>
        <p:spPr>
          <a:xfrm>
            <a:off x="1776095" y="1052830"/>
            <a:ext cx="7416800" cy="5417185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noAutofit/>
          </a:bodyPr>
          <a:lstStyle/>
          <a:p>
            <a:pPr algn="l"/>
            <a:r>
              <a:rPr lang="en-US" altLang="zh-CN" sz="2000" b="0" dirty="0">
                <a:latin typeface="+mn-lt"/>
                <a:cs typeface="+mn-lt"/>
              </a:rPr>
              <a:t>&lt;div id="app"&gt;</a:t>
            </a:r>
            <a:endParaRPr lang="en-US" altLang="zh-CN" sz="2000" b="0" dirty="0">
              <a:latin typeface="+mn-lt"/>
              <a:cs typeface="+mn-lt"/>
            </a:endParaRPr>
          </a:p>
          <a:p>
            <a:pPr algn="l"/>
            <a:r>
              <a:rPr lang="en-US" altLang="zh-CN" sz="2000" b="0" dirty="0">
                <a:latin typeface="+mn-lt"/>
                <a:cs typeface="+mn-lt"/>
              </a:rPr>
              <a:t>	&lt;div v-if="notice"&gt;</a:t>
            </a:r>
            <a:endParaRPr lang="en-US" altLang="zh-CN" sz="2000" b="0" dirty="0">
              <a:latin typeface="+mn-lt"/>
              <a:cs typeface="+mn-lt"/>
            </a:endParaRPr>
          </a:p>
          <a:p>
            <a:pPr algn="l"/>
            <a:r>
              <a:rPr lang="en-US" altLang="zh-CN" sz="2000" b="0" dirty="0">
                <a:latin typeface="+mn-lt"/>
                <a:cs typeface="+mn-lt"/>
              </a:rPr>
              <a:t>		&lt;h1&gt;通知&lt;/h1&gt;</a:t>
            </a:r>
            <a:endParaRPr lang="en-US" altLang="zh-CN" sz="2000" b="0" dirty="0">
              <a:latin typeface="+mn-lt"/>
              <a:cs typeface="+mn-lt"/>
            </a:endParaRPr>
          </a:p>
          <a:p>
            <a:pPr algn="l"/>
            <a:r>
              <a:rPr lang="en-US" altLang="zh-CN" sz="2000" b="0" dirty="0">
                <a:latin typeface="+mn-lt"/>
                <a:cs typeface="+mn-lt"/>
              </a:rPr>
              <a:t>		&lt;p&gt;限时免费活动&lt;/p&gt;</a:t>
            </a:r>
            <a:endParaRPr lang="en-US" altLang="zh-CN" sz="2000" b="0" dirty="0">
              <a:latin typeface="+mn-lt"/>
              <a:cs typeface="+mn-lt"/>
            </a:endParaRPr>
          </a:p>
          <a:p>
            <a:pPr algn="l"/>
            <a:r>
              <a:rPr lang="en-US" altLang="zh-CN" sz="2000" b="0" dirty="0">
                <a:latin typeface="+mn-lt"/>
                <a:cs typeface="+mn-lt"/>
              </a:rPr>
              <a:t>	&lt;/div&gt;</a:t>
            </a:r>
            <a:endParaRPr lang="en-US" altLang="zh-CN" sz="2000" b="0" dirty="0">
              <a:latin typeface="+mn-lt"/>
              <a:cs typeface="+mn-lt"/>
            </a:endParaRPr>
          </a:p>
          <a:p>
            <a:pPr algn="l"/>
            <a:r>
              <a:rPr lang="en-US" altLang="zh-CN" sz="2000" b="0" dirty="0">
                <a:latin typeface="+mn-lt"/>
                <a:cs typeface="+mn-lt"/>
              </a:rPr>
              <a:t>	&lt;div v-if="hide"&gt;</a:t>
            </a:r>
            <a:endParaRPr lang="en-US" altLang="zh-CN" sz="2000" b="0" dirty="0">
              <a:latin typeface="+mn-lt"/>
              <a:cs typeface="+mn-lt"/>
            </a:endParaRPr>
          </a:p>
          <a:p>
            <a:pPr algn="l"/>
            <a:r>
              <a:rPr lang="en-US" altLang="zh-CN" sz="2000" b="0" dirty="0">
                <a:latin typeface="+mn-lt"/>
                <a:cs typeface="+mn-lt"/>
              </a:rPr>
              <a:t>		&lt;p&gt;全场店庆5折起&lt;/p&gt;</a:t>
            </a:r>
            <a:endParaRPr lang="en-US" altLang="zh-CN" sz="2000" b="0" dirty="0">
              <a:latin typeface="+mn-lt"/>
              <a:cs typeface="+mn-lt"/>
            </a:endParaRPr>
          </a:p>
          <a:p>
            <a:pPr algn="l"/>
            <a:r>
              <a:rPr lang="en-US" altLang="zh-CN" sz="2000" b="0" dirty="0">
                <a:latin typeface="+mn-lt"/>
                <a:cs typeface="+mn-lt"/>
              </a:rPr>
              <a:t>	&lt;/div&gt;</a:t>
            </a:r>
            <a:endParaRPr lang="en-US" altLang="zh-CN" sz="2000" b="0" dirty="0">
              <a:latin typeface="+mn-lt"/>
              <a:cs typeface="+mn-lt"/>
            </a:endParaRPr>
          </a:p>
          <a:p>
            <a:pPr algn="l"/>
            <a:r>
              <a:rPr lang="en-US" altLang="zh-CN" sz="2000" b="0" dirty="0">
                <a:latin typeface="+mn-lt"/>
                <a:cs typeface="+mn-lt"/>
              </a:rPr>
              <a:t>&lt;/div&gt;</a:t>
            </a:r>
            <a:endParaRPr lang="en-US" altLang="zh-CN" sz="2000" b="0" dirty="0">
              <a:latin typeface="+mn-lt"/>
              <a:cs typeface="+mn-lt"/>
            </a:endParaRPr>
          </a:p>
          <a:p>
            <a:pPr algn="l"/>
            <a:r>
              <a:rPr lang="en-US" altLang="zh-CN" sz="2000" b="0" dirty="0">
                <a:latin typeface="+mn-lt"/>
                <a:cs typeface="+mn-lt"/>
              </a:rPr>
              <a:t>&lt;script src="../js/vue.js"&gt;&lt;/script&gt;</a:t>
            </a:r>
            <a:endParaRPr lang="en-US" altLang="zh-CN" sz="2000" b="0" dirty="0">
              <a:latin typeface="+mn-lt"/>
              <a:cs typeface="+mn-lt"/>
            </a:endParaRPr>
          </a:p>
          <a:p>
            <a:pPr algn="l"/>
            <a:r>
              <a:rPr lang="en-US" altLang="zh-CN" sz="2000" b="0" dirty="0">
                <a:latin typeface="+mn-lt"/>
                <a:cs typeface="+mn-lt"/>
              </a:rPr>
              <a:t>&lt;script&gt;</a:t>
            </a:r>
            <a:endParaRPr lang="en-US" altLang="zh-CN" sz="2000" b="0" dirty="0">
              <a:latin typeface="+mn-lt"/>
              <a:cs typeface="+mn-lt"/>
            </a:endParaRPr>
          </a:p>
          <a:p>
            <a:pPr algn="l"/>
            <a:r>
              <a:rPr lang="en-US" altLang="zh-CN" sz="2000" b="0" dirty="0">
                <a:latin typeface="+mn-lt"/>
                <a:cs typeface="+mn-lt"/>
              </a:rPr>
              <a:t>	new Vue({</a:t>
            </a:r>
            <a:endParaRPr lang="en-US" altLang="zh-CN" sz="2000" b="0" dirty="0">
              <a:latin typeface="+mn-lt"/>
              <a:cs typeface="+mn-lt"/>
            </a:endParaRPr>
          </a:p>
          <a:p>
            <a:pPr algn="l"/>
            <a:r>
              <a:rPr lang="en-US" altLang="zh-CN" sz="2000" b="0" dirty="0">
                <a:latin typeface="+mn-lt"/>
                <a:cs typeface="+mn-lt"/>
              </a:rPr>
              <a:t>		el:"#app",</a:t>
            </a:r>
            <a:endParaRPr lang="en-US" altLang="zh-CN" sz="2000" b="0" dirty="0">
              <a:latin typeface="+mn-lt"/>
              <a:cs typeface="+mn-lt"/>
            </a:endParaRPr>
          </a:p>
          <a:p>
            <a:pPr algn="l"/>
            <a:r>
              <a:rPr lang="en-US" altLang="zh-CN" sz="2000" b="0" dirty="0">
                <a:latin typeface="+mn-lt"/>
                <a:cs typeface="+mn-lt"/>
              </a:rPr>
              <a:t>		data:{</a:t>
            </a:r>
            <a:endParaRPr lang="en-US" altLang="zh-CN" sz="2000" b="0" dirty="0">
              <a:latin typeface="+mn-lt"/>
              <a:cs typeface="+mn-lt"/>
            </a:endParaRPr>
          </a:p>
          <a:p>
            <a:pPr algn="l"/>
            <a:r>
              <a:rPr lang="en-US" altLang="zh-CN" sz="2000" b="0" dirty="0">
                <a:latin typeface="+mn-lt"/>
                <a:cs typeface="+mn-lt"/>
              </a:rPr>
              <a:t>		        notice:true</a:t>
            </a:r>
            <a:r>
              <a:rPr lang="zh-CN" altLang="en-US" sz="2000" b="0" dirty="0">
                <a:latin typeface="+mn-lt"/>
                <a:cs typeface="+mn-lt"/>
              </a:rPr>
              <a:t>，</a:t>
            </a:r>
            <a:endParaRPr lang="zh-CN" altLang="en-US" sz="2000" b="0" dirty="0">
              <a:latin typeface="+mn-lt"/>
              <a:cs typeface="+mn-lt"/>
            </a:endParaRPr>
          </a:p>
          <a:p>
            <a:pPr marL="1828800" lvl="4" indent="457200" algn="l"/>
            <a:r>
              <a:rPr lang="en-US" altLang="zh-CN" sz="2000" b="0" dirty="0">
                <a:latin typeface="+mn-lt"/>
                <a:cs typeface="+mn-lt"/>
              </a:rPr>
              <a:t>hide:false     </a:t>
            </a:r>
            <a:endParaRPr lang="en-US" altLang="zh-CN" sz="2000" b="0" dirty="0">
              <a:latin typeface="+mn-lt"/>
              <a:cs typeface="+mn-lt"/>
            </a:endParaRPr>
          </a:p>
          <a:p>
            <a:pPr marL="1828800" lvl="4" indent="457200" algn="l"/>
            <a:r>
              <a:rPr lang="en-US" altLang="zh-CN" sz="2000" b="0" dirty="0">
                <a:latin typeface="+mn-lt"/>
                <a:cs typeface="+mn-lt"/>
              </a:rPr>
              <a:t>}})</a:t>
            </a:r>
            <a:br>
              <a:rPr lang="en-US" altLang="zh-CN" dirty="0"/>
            </a:b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56040" y="116632"/>
            <a:ext cx="4035301" cy="654050"/>
          </a:xfrm>
        </p:spPr>
        <p:txBody>
          <a:bodyPr/>
          <a:lstStyle/>
          <a:p>
            <a:r>
              <a:rPr lang="en-US" altLang="zh-CN" sz="3600" dirty="0"/>
              <a:t>v-if</a:t>
            </a:r>
            <a:r>
              <a:rPr lang="zh-CN" altLang="en-US" sz="3600" dirty="0"/>
              <a:t>详解</a:t>
            </a:r>
            <a:endParaRPr lang="zh-CN" altLang="en-US" sz="3600" dirty="0"/>
          </a:p>
        </p:txBody>
      </p:sp>
      <p:grpSp>
        <p:nvGrpSpPr>
          <p:cNvPr id="3" name="组合 2"/>
          <p:cNvGrpSpPr/>
          <p:nvPr/>
        </p:nvGrpSpPr>
        <p:grpSpPr>
          <a:xfrm>
            <a:off x="3359785" y="1974215"/>
            <a:ext cx="6092190" cy="967740"/>
            <a:chOff x="2655457" y="2246012"/>
            <a:chExt cx="6963152" cy="1440000"/>
          </a:xfrm>
        </p:grpSpPr>
        <p:sp>
          <p:nvSpPr>
            <p:cNvPr id="9" name="Rectangle 58"/>
            <p:cNvSpPr>
              <a:spLocks noChangeArrowheads="1"/>
            </p:cNvSpPr>
            <p:nvPr/>
          </p:nvSpPr>
          <p:spPr bwMode="auto">
            <a:xfrm rot="2700000">
              <a:off x="3737952" y="2246012"/>
              <a:ext cx="1440000" cy="1440000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sz="1600" ker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" name="Rectangle 58"/>
            <p:cNvSpPr>
              <a:spLocks noChangeArrowheads="1"/>
            </p:cNvSpPr>
            <p:nvPr/>
          </p:nvSpPr>
          <p:spPr bwMode="auto">
            <a:xfrm rot="2700000">
              <a:off x="5376000" y="2246012"/>
              <a:ext cx="1440000" cy="1440000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sz="1600" ker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Rectangle 58"/>
            <p:cNvSpPr>
              <a:spLocks noChangeArrowheads="1"/>
            </p:cNvSpPr>
            <p:nvPr/>
          </p:nvSpPr>
          <p:spPr bwMode="auto">
            <a:xfrm rot="2700000">
              <a:off x="7084003" y="2246012"/>
              <a:ext cx="1440000" cy="1440000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sz="1600" ker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Freeform 28"/>
            <p:cNvSpPr>
              <a:spLocks noEditPoints="1"/>
            </p:cNvSpPr>
            <p:nvPr/>
          </p:nvSpPr>
          <p:spPr bwMode="auto">
            <a:xfrm>
              <a:off x="5723670" y="2607118"/>
              <a:ext cx="721832" cy="688172"/>
            </a:xfrm>
            <a:custGeom>
              <a:avLst/>
              <a:gdLst>
                <a:gd name="T0" fmla="*/ 188 w 490"/>
                <a:gd name="T1" fmla="*/ 199 h 467"/>
                <a:gd name="T2" fmla="*/ 162 w 490"/>
                <a:gd name="T3" fmla="*/ 123 h 467"/>
                <a:gd name="T4" fmla="*/ 162 w 490"/>
                <a:gd name="T5" fmla="*/ 117 h 467"/>
                <a:gd name="T6" fmla="*/ 329 w 490"/>
                <a:gd name="T7" fmla="*/ 117 h 467"/>
                <a:gd name="T8" fmla="*/ 329 w 490"/>
                <a:gd name="T9" fmla="*/ 123 h 467"/>
                <a:gd name="T10" fmla="*/ 303 w 490"/>
                <a:gd name="T11" fmla="*/ 199 h 467"/>
                <a:gd name="T12" fmla="*/ 391 w 490"/>
                <a:gd name="T13" fmla="*/ 244 h 467"/>
                <a:gd name="T14" fmla="*/ 445 w 490"/>
                <a:gd name="T15" fmla="*/ 172 h 467"/>
                <a:gd name="T16" fmla="*/ 445 w 490"/>
                <a:gd name="T17" fmla="*/ 172 h 467"/>
                <a:gd name="T18" fmla="*/ 407 w 490"/>
                <a:gd name="T19" fmla="*/ 94 h 467"/>
                <a:gd name="T20" fmla="*/ 375 w 490"/>
                <a:gd name="T21" fmla="*/ 93 h 467"/>
                <a:gd name="T22" fmla="*/ 337 w 490"/>
                <a:gd name="T23" fmla="*/ 172 h 467"/>
                <a:gd name="T24" fmla="*/ 337 w 490"/>
                <a:gd name="T25" fmla="*/ 172 h 467"/>
                <a:gd name="T26" fmla="*/ 391 w 490"/>
                <a:gd name="T27" fmla="*/ 244 h 467"/>
                <a:gd name="T28" fmla="*/ 344 w 490"/>
                <a:gd name="T29" fmla="*/ 173 h 467"/>
                <a:gd name="T30" fmla="*/ 349 w 490"/>
                <a:gd name="T31" fmla="*/ 148 h 467"/>
                <a:gd name="T32" fmla="*/ 430 w 490"/>
                <a:gd name="T33" fmla="*/ 134 h 467"/>
                <a:gd name="T34" fmla="*/ 434 w 490"/>
                <a:gd name="T35" fmla="*/ 160 h 467"/>
                <a:gd name="T36" fmla="*/ 422 w 490"/>
                <a:gd name="T37" fmla="*/ 217 h 467"/>
                <a:gd name="T38" fmla="*/ 360 w 490"/>
                <a:gd name="T39" fmla="*/ 217 h 467"/>
                <a:gd name="T40" fmla="*/ 137 w 490"/>
                <a:gd name="T41" fmla="*/ 221 h 467"/>
                <a:gd name="T42" fmla="*/ 154 w 490"/>
                <a:gd name="T43" fmla="*/ 172 h 467"/>
                <a:gd name="T44" fmla="*/ 154 w 490"/>
                <a:gd name="T45" fmla="*/ 168 h 467"/>
                <a:gd name="T46" fmla="*/ 99 w 490"/>
                <a:gd name="T47" fmla="*/ 92 h 467"/>
                <a:gd name="T48" fmla="*/ 46 w 490"/>
                <a:gd name="T49" fmla="*/ 168 h 467"/>
                <a:gd name="T50" fmla="*/ 46 w 490"/>
                <a:gd name="T51" fmla="*/ 172 h 467"/>
                <a:gd name="T52" fmla="*/ 62 w 490"/>
                <a:gd name="T53" fmla="*/ 221 h 467"/>
                <a:gd name="T54" fmla="*/ 68 w 490"/>
                <a:gd name="T55" fmla="*/ 217 h 467"/>
                <a:gd name="T56" fmla="*/ 56 w 490"/>
                <a:gd name="T57" fmla="*/ 160 h 467"/>
                <a:gd name="T58" fmla="*/ 61 w 490"/>
                <a:gd name="T59" fmla="*/ 134 h 467"/>
                <a:gd name="T60" fmla="*/ 142 w 490"/>
                <a:gd name="T61" fmla="*/ 148 h 467"/>
                <a:gd name="T62" fmla="*/ 146 w 490"/>
                <a:gd name="T63" fmla="*/ 173 h 467"/>
                <a:gd name="T64" fmla="*/ 100 w 490"/>
                <a:gd name="T65" fmla="*/ 237 h 467"/>
                <a:gd name="T66" fmla="*/ 262 w 490"/>
                <a:gd name="T67" fmla="*/ 291 h 467"/>
                <a:gd name="T68" fmla="*/ 252 w 490"/>
                <a:gd name="T69" fmla="*/ 313 h 467"/>
                <a:gd name="T70" fmla="*/ 314 w 490"/>
                <a:gd name="T71" fmla="*/ 264 h 467"/>
                <a:gd name="T72" fmla="*/ 402 w 490"/>
                <a:gd name="T73" fmla="*/ 437 h 467"/>
                <a:gd name="T74" fmla="*/ 119 w 490"/>
                <a:gd name="T75" fmla="*/ 467 h 467"/>
                <a:gd name="T76" fmla="*/ 88 w 490"/>
                <a:gd name="T77" fmla="*/ 334 h 467"/>
                <a:gd name="T78" fmla="*/ 231 w 490"/>
                <a:gd name="T79" fmla="*/ 413 h 467"/>
                <a:gd name="T80" fmla="*/ 238 w 490"/>
                <a:gd name="T81" fmla="*/ 308 h 467"/>
                <a:gd name="T82" fmla="*/ 229 w 490"/>
                <a:gd name="T83" fmla="*/ 288 h 467"/>
                <a:gd name="T84" fmla="*/ 259 w 490"/>
                <a:gd name="T85" fmla="*/ 286 h 467"/>
                <a:gd name="T86" fmla="*/ 262 w 490"/>
                <a:gd name="T87" fmla="*/ 291 h 467"/>
                <a:gd name="T88" fmla="*/ 490 w 490"/>
                <a:gd name="T89" fmla="*/ 305 h 467"/>
                <a:gd name="T90" fmla="*/ 412 w 490"/>
                <a:gd name="T91" fmla="*/ 312 h 467"/>
                <a:gd name="T92" fmla="*/ 416 w 490"/>
                <a:gd name="T93" fmla="*/ 388 h 467"/>
                <a:gd name="T94" fmla="*/ 490 w 490"/>
                <a:gd name="T95" fmla="*/ 371 h 467"/>
                <a:gd name="T96" fmla="*/ 16 w 490"/>
                <a:gd name="T97" fmla="*/ 388 h 467"/>
                <a:gd name="T98" fmla="*/ 74 w 490"/>
                <a:gd name="T99" fmla="*/ 334 h 467"/>
                <a:gd name="T100" fmla="*/ 139 w 490"/>
                <a:gd name="T101" fmla="*/ 260 h 467"/>
                <a:gd name="T102" fmla="*/ 0 w 490"/>
                <a:gd name="T103" fmla="*/ 371 h 467"/>
                <a:gd name="T104" fmla="*/ 245 w 490"/>
                <a:gd name="T105" fmla="*/ 223 h 467"/>
                <a:gd name="T106" fmla="*/ 317 w 490"/>
                <a:gd name="T107" fmla="*/ 124 h 467"/>
                <a:gd name="T108" fmla="*/ 310 w 490"/>
                <a:gd name="T109" fmla="*/ 85 h 467"/>
                <a:gd name="T110" fmla="*/ 274 w 490"/>
                <a:gd name="T111" fmla="*/ 61 h 467"/>
                <a:gd name="T112" fmla="*/ 216 w 490"/>
                <a:gd name="T113" fmla="*/ 61 h 467"/>
                <a:gd name="T114" fmla="*/ 185 w 490"/>
                <a:gd name="T115" fmla="*/ 64 h 467"/>
                <a:gd name="T116" fmla="*/ 178 w 490"/>
                <a:gd name="T117" fmla="*/ 105 h 467"/>
                <a:gd name="T118" fmla="*/ 197 w 490"/>
                <a:gd name="T119" fmla="*/ 192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90" h="467">
                  <a:moveTo>
                    <a:pt x="245" y="235"/>
                  </a:moveTo>
                  <a:cubicBezTo>
                    <a:pt x="224" y="235"/>
                    <a:pt x="203" y="220"/>
                    <a:pt x="188" y="199"/>
                  </a:cubicBezTo>
                  <a:cubicBezTo>
                    <a:pt x="172" y="178"/>
                    <a:pt x="162" y="150"/>
                    <a:pt x="162" y="123"/>
                  </a:cubicBezTo>
                  <a:cubicBezTo>
                    <a:pt x="162" y="123"/>
                    <a:pt x="162" y="123"/>
                    <a:pt x="162" y="123"/>
                  </a:cubicBezTo>
                  <a:cubicBezTo>
                    <a:pt x="162" y="122"/>
                    <a:pt x="162" y="122"/>
                    <a:pt x="162" y="122"/>
                  </a:cubicBezTo>
                  <a:cubicBezTo>
                    <a:pt x="162" y="121"/>
                    <a:pt x="162" y="119"/>
                    <a:pt x="162" y="117"/>
                  </a:cubicBezTo>
                  <a:cubicBezTo>
                    <a:pt x="162" y="52"/>
                    <a:pt x="151" y="0"/>
                    <a:pt x="245" y="0"/>
                  </a:cubicBezTo>
                  <a:cubicBezTo>
                    <a:pt x="340" y="0"/>
                    <a:pt x="329" y="52"/>
                    <a:pt x="329" y="117"/>
                  </a:cubicBezTo>
                  <a:cubicBezTo>
                    <a:pt x="329" y="119"/>
                    <a:pt x="329" y="121"/>
                    <a:pt x="329" y="122"/>
                  </a:cubicBezTo>
                  <a:cubicBezTo>
                    <a:pt x="329" y="123"/>
                    <a:pt x="329" y="123"/>
                    <a:pt x="329" y="123"/>
                  </a:cubicBezTo>
                  <a:cubicBezTo>
                    <a:pt x="329" y="123"/>
                    <a:pt x="329" y="123"/>
                    <a:pt x="329" y="123"/>
                  </a:cubicBezTo>
                  <a:cubicBezTo>
                    <a:pt x="329" y="150"/>
                    <a:pt x="318" y="178"/>
                    <a:pt x="303" y="199"/>
                  </a:cubicBezTo>
                  <a:cubicBezTo>
                    <a:pt x="287" y="220"/>
                    <a:pt x="266" y="235"/>
                    <a:pt x="245" y="235"/>
                  </a:cubicBezTo>
                  <a:close/>
                  <a:moveTo>
                    <a:pt x="391" y="244"/>
                  </a:moveTo>
                  <a:cubicBezTo>
                    <a:pt x="404" y="244"/>
                    <a:pt x="418" y="235"/>
                    <a:pt x="428" y="221"/>
                  </a:cubicBezTo>
                  <a:cubicBezTo>
                    <a:pt x="438" y="208"/>
                    <a:pt x="445" y="190"/>
                    <a:pt x="445" y="172"/>
                  </a:cubicBezTo>
                  <a:cubicBezTo>
                    <a:pt x="445" y="172"/>
                    <a:pt x="445" y="172"/>
                    <a:pt x="445" y="172"/>
                  </a:cubicBezTo>
                  <a:cubicBezTo>
                    <a:pt x="445" y="172"/>
                    <a:pt x="445" y="172"/>
                    <a:pt x="445" y="172"/>
                  </a:cubicBezTo>
                  <a:cubicBezTo>
                    <a:pt x="445" y="170"/>
                    <a:pt x="445" y="169"/>
                    <a:pt x="445" y="168"/>
                  </a:cubicBezTo>
                  <a:cubicBezTo>
                    <a:pt x="445" y="131"/>
                    <a:pt x="451" y="99"/>
                    <a:pt x="407" y="94"/>
                  </a:cubicBezTo>
                  <a:cubicBezTo>
                    <a:pt x="402" y="93"/>
                    <a:pt x="397" y="92"/>
                    <a:pt x="391" y="92"/>
                  </a:cubicBezTo>
                  <a:cubicBezTo>
                    <a:pt x="385" y="92"/>
                    <a:pt x="380" y="93"/>
                    <a:pt x="375" y="93"/>
                  </a:cubicBezTo>
                  <a:cubicBezTo>
                    <a:pt x="331" y="99"/>
                    <a:pt x="337" y="130"/>
                    <a:pt x="337" y="168"/>
                  </a:cubicBezTo>
                  <a:cubicBezTo>
                    <a:pt x="337" y="169"/>
                    <a:pt x="337" y="170"/>
                    <a:pt x="337" y="172"/>
                  </a:cubicBezTo>
                  <a:cubicBezTo>
                    <a:pt x="337" y="172"/>
                    <a:pt x="337" y="172"/>
                    <a:pt x="337" y="172"/>
                  </a:cubicBezTo>
                  <a:cubicBezTo>
                    <a:pt x="337" y="172"/>
                    <a:pt x="337" y="172"/>
                    <a:pt x="337" y="172"/>
                  </a:cubicBezTo>
                  <a:cubicBezTo>
                    <a:pt x="337" y="190"/>
                    <a:pt x="344" y="208"/>
                    <a:pt x="354" y="221"/>
                  </a:cubicBezTo>
                  <a:cubicBezTo>
                    <a:pt x="364" y="235"/>
                    <a:pt x="377" y="244"/>
                    <a:pt x="391" y="244"/>
                  </a:cubicBezTo>
                  <a:close/>
                  <a:moveTo>
                    <a:pt x="360" y="217"/>
                  </a:moveTo>
                  <a:cubicBezTo>
                    <a:pt x="351" y="204"/>
                    <a:pt x="345" y="188"/>
                    <a:pt x="344" y="173"/>
                  </a:cubicBezTo>
                  <a:cubicBezTo>
                    <a:pt x="348" y="160"/>
                    <a:pt x="348" y="160"/>
                    <a:pt x="348" y="160"/>
                  </a:cubicBezTo>
                  <a:cubicBezTo>
                    <a:pt x="349" y="156"/>
                    <a:pt x="349" y="152"/>
                    <a:pt x="349" y="148"/>
                  </a:cubicBezTo>
                  <a:cubicBezTo>
                    <a:pt x="349" y="142"/>
                    <a:pt x="349" y="138"/>
                    <a:pt x="352" y="134"/>
                  </a:cubicBezTo>
                  <a:cubicBezTo>
                    <a:pt x="354" y="127"/>
                    <a:pt x="429" y="127"/>
                    <a:pt x="430" y="134"/>
                  </a:cubicBezTo>
                  <a:cubicBezTo>
                    <a:pt x="433" y="138"/>
                    <a:pt x="433" y="142"/>
                    <a:pt x="433" y="148"/>
                  </a:cubicBezTo>
                  <a:cubicBezTo>
                    <a:pt x="433" y="152"/>
                    <a:pt x="433" y="156"/>
                    <a:pt x="434" y="160"/>
                  </a:cubicBezTo>
                  <a:cubicBezTo>
                    <a:pt x="437" y="173"/>
                    <a:pt x="437" y="173"/>
                    <a:pt x="437" y="173"/>
                  </a:cubicBezTo>
                  <a:cubicBezTo>
                    <a:pt x="437" y="188"/>
                    <a:pt x="431" y="204"/>
                    <a:pt x="422" y="217"/>
                  </a:cubicBezTo>
                  <a:cubicBezTo>
                    <a:pt x="413" y="229"/>
                    <a:pt x="402" y="237"/>
                    <a:pt x="391" y="237"/>
                  </a:cubicBezTo>
                  <a:cubicBezTo>
                    <a:pt x="380" y="237"/>
                    <a:pt x="368" y="229"/>
                    <a:pt x="360" y="217"/>
                  </a:cubicBezTo>
                  <a:close/>
                  <a:moveTo>
                    <a:pt x="100" y="244"/>
                  </a:moveTo>
                  <a:cubicBezTo>
                    <a:pt x="113" y="244"/>
                    <a:pt x="127" y="235"/>
                    <a:pt x="137" y="221"/>
                  </a:cubicBezTo>
                  <a:cubicBezTo>
                    <a:pt x="147" y="208"/>
                    <a:pt x="154" y="190"/>
                    <a:pt x="154" y="172"/>
                  </a:cubicBezTo>
                  <a:cubicBezTo>
                    <a:pt x="154" y="172"/>
                    <a:pt x="154" y="172"/>
                    <a:pt x="154" y="172"/>
                  </a:cubicBezTo>
                  <a:cubicBezTo>
                    <a:pt x="154" y="172"/>
                    <a:pt x="154" y="172"/>
                    <a:pt x="154" y="172"/>
                  </a:cubicBezTo>
                  <a:cubicBezTo>
                    <a:pt x="154" y="170"/>
                    <a:pt x="154" y="169"/>
                    <a:pt x="154" y="168"/>
                  </a:cubicBezTo>
                  <a:cubicBezTo>
                    <a:pt x="154" y="130"/>
                    <a:pt x="160" y="99"/>
                    <a:pt x="114" y="93"/>
                  </a:cubicBezTo>
                  <a:cubicBezTo>
                    <a:pt x="110" y="92"/>
                    <a:pt x="105" y="92"/>
                    <a:pt x="99" y="92"/>
                  </a:cubicBezTo>
                  <a:cubicBezTo>
                    <a:pt x="93" y="92"/>
                    <a:pt x="87" y="93"/>
                    <a:pt x="82" y="94"/>
                  </a:cubicBezTo>
                  <a:cubicBezTo>
                    <a:pt x="40" y="100"/>
                    <a:pt x="46" y="131"/>
                    <a:pt x="46" y="168"/>
                  </a:cubicBezTo>
                  <a:cubicBezTo>
                    <a:pt x="46" y="169"/>
                    <a:pt x="46" y="170"/>
                    <a:pt x="46" y="172"/>
                  </a:cubicBezTo>
                  <a:cubicBezTo>
                    <a:pt x="46" y="172"/>
                    <a:pt x="46" y="172"/>
                    <a:pt x="46" y="172"/>
                  </a:cubicBezTo>
                  <a:cubicBezTo>
                    <a:pt x="46" y="172"/>
                    <a:pt x="46" y="172"/>
                    <a:pt x="46" y="172"/>
                  </a:cubicBezTo>
                  <a:cubicBezTo>
                    <a:pt x="46" y="190"/>
                    <a:pt x="52" y="208"/>
                    <a:pt x="62" y="221"/>
                  </a:cubicBezTo>
                  <a:cubicBezTo>
                    <a:pt x="72" y="235"/>
                    <a:pt x="86" y="244"/>
                    <a:pt x="100" y="244"/>
                  </a:cubicBezTo>
                  <a:close/>
                  <a:moveTo>
                    <a:pt x="68" y="217"/>
                  </a:moveTo>
                  <a:cubicBezTo>
                    <a:pt x="59" y="204"/>
                    <a:pt x="53" y="188"/>
                    <a:pt x="53" y="173"/>
                  </a:cubicBezTo>
                  <a:cubicBezTo>
                    <a:pt x="56" y="160"/>
                    <a:pt x="56" y="160"/>
                    <a:pt x="56" y="160"/>
                  </a:cubicBezTo>
                  <a:cubicBezTo>
                    <a:pt x="57" y="156"/>
                    <a:pt x="57" y="152"/>
                    <a:pt x="58" y="148"/>
                  </a:cubicBezTo>
                  <a:cubicBezTo>
                    <a:pt x="58" y="142"/>
                    <a:pt x="58" y="138"/>
                    <a:pt x="61" y="134"/>
                  </a:cubicBezTo>
                  <a:cubicBezTo>
                    <a:pt x="63" y="127"/>
                    <a:pt x="138" y="127"/>
                    <a:pt x="139" y="134"/>
                  </a:cubicBezTo>
                  <a:cubicBezTo>
                    <a:pt x="141" y="138"/>
                    <a:pt x="142" y="142"/>
                    <a:pt x="142" y="148"/>
                  </a:cubicBezTo>
                  <a:cubicBezTo>
                    <a:pt x="142" y="152"/>
                    <a:pt x="142" y="156"/>
                    <a:pt x="143" y="160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6" y="188"/>
                    <a:pt x="140" y="204"/>
                    <a:pt x="131" y="217"/>
                  </a:cubicBezTo>
                  <a:cubicBezTo>
                    <a:pt x="122" y="229"/>
                    <a:pt x="111" y="237"/>
                    <a:pt x="100" y="237"/>
                  </a:cubicBezTo>
                  <a:cubicBezTo>
                    <a:pt x="89" y="237"/>
                    <a:pt x="77" y="229"/>
                    <a:pt x="68" y="217"/>
                  </a:cubicBezTo>
                  <a:close/>
                  <a:moveTo>
                    <a:pt x="262" y="291"/>
                  </a:moveTo>
                  <a:cubicBezTo>
                    <a:pt x="253" y="308"/>
                    <a:pt x="253" y="308"/>
                    <a:pt x="253" y="308"/>
                  </a:cubicBezTo>
                  <a:cubicBezTo>
                    <a:pt x="252" y="310"/>
                    <a:pt x="251" y="311"/>
                    <a:pt x="252" y="313"/>
                  </a:cubicBezTo>
                  <a:cubicBezTo>
                    <a:pt x="260" y="412"/>
                    <a:pt x="260" y="412"/>
                    <a:pt x="260" y="412"/>
                  </a:cubicBezTo>
                  <a:cubicBezTo>
                    <a:pt x="285" y="360"/>
                    <a:pt x="299" y="326"/>
                    <a:pt x="314" y="264"/>
                  </a:cubicBezTo>
                  <a:cubicBezTo>
                    <a:pt x="364" y="275"/>
                    <a:pt x="402" y="298"/>
                    <a:pt x="402" y="334"/>
                  </a:cubicBezTo>
                  <a:cubicBezTo>
                    <a:pt x="402" y="437"/>
                    <a:pt x="402" y="437"/>
                    <a:pt x="402" y="437"/>
                  </a:cubicBezTo>
                  <a:cubicBezTo>
                    <a:pt x="402" y="454"/>
                    <a:pt x="388" y="467"/>
                    <a:pt x="371" y="467"/>
                  </a:cubicBezTo>
                  <a:cubicBezTo>
                    <a:pt x="287" y="467"/>
                    <a:pt x="203" y="467"/>
                    <a:pt x="119" y="467"/>
                  </a:cubicBezTo>
                  <a:cubicBezTo>
                    <a:pt x="102" y="467"/>
                    <a:pt x="88" y="454"/>
                    <a:pt x="88" y="437"/>
                  </a:cubicBezTo>
                  <a:cubicBezTo>
                    <a:pt x="88" y="402"/>
                    <a:pt x="88" y="368"/>
                    <a:pt x="88" y="334"/>
                  </a:cubicBezTo>
                  <a:cubicBezTo>
                    <a:pt x="88" y="298"/>
                    <a:pt x="126" y="275"/>
                    <a:pt x="176" y="264"/>
                  </a:cubicBezTo>
                  <a:cubicBezTo>
                    <a:pt x="191" y="327"/>
                    <a:pt x="206" y="360"/>
                    <a:pt x="231" y="413"/>
                  </a:cubicBezTo>
                  <a:cubicBezTo>
                    <a:pt x="239" y="313"/>
                    <a:pt x="239" y="313"/>
                    <a:pt x="239" y="313"/>
                  </a:cubicBezTo>
                  <a:cubicBezTo>
                    <a:pt x="239" y="311"/>
                    <a:pt x="239" y="310"/>
                    <a:pt x="238" y="308"/>
                  </a:cubicBezTo>
                  <a:cubicBezTo>
                    <a:pt x="229" y="291"/>
                    <a:pt x="229" y="291"/>
                    <a:pt x="229" y="291"/>
                  </a:cubicBezTo>
                  <a:cubicBezTo>
                    <a:pt x="228" y="290"/>
                    <a:pt x="228" y="289"/>
                    <a:pt x="229" y="288"/>
                  </a:cubicBezTo>
                  <a:cubicBezTo>
                    <a:pt x="229" y="287"/>
                    <a:pt x="230" y="286"/>
                    <a:pt x="231" y="286"/>
                  </a:cubicBezTo>
                  <a:cubicBezTo>
                    <a:pt x="241" y="286"/>
                    <a:pt x="250" y="286"/>
                    <a:pt x="259" y="286"/>
                  </a:cubicBezTo>
                  <a:cubicBezTo>
                    <a:pt x="261" y="286"/>
                    <a:pt x="262" y="287"/>
                    <a:pt x="262" y="288"/>
                  </a:cubicBezTo>
                  <a:cubicBezTo>
                    <a:pt x="263" y="289"/>
                    <a:pt x="263" y="290"/>
                    <a:pt x="262" y="291"/>
                  </a:cubicBezTo>
                  <a:close/>
                  <a:moveTo>
                    <a:pt x="490" y="371"/>
                  </a:moveTo>
                  <a:cubicBezTo>
                    <a:pt x="490" y="305"/>
                    <a:pt x="490" y="305"/>
                    <a:pt x="490" y="305"/>
                  </a:cubicBezTo>
                  <a:cubicBezTo>
                    <a:pt x="490" y="263"/>
                    <a:pt x="410" y="248"/>
                    <a:pt x="351" y="260"/>
                  </a:cubicBezTo>
                  <a:cubicBezTo>
                    <a:pt x="376" y="269"/>
                    <a:pt x="402" y="286"/>
                    <a:pt x="412" y="312"/>
                  </a:cubicBezTo>
                  <a:cubicBezTo>
                    <a:pt x="415" y="319"/>
                    <a:pt x="416" y="326"/>
                    <a:pt x="416" y="334"/>
                  </a:cubicBezTo>
                  <a:cubicBezTo>
                    <a:pt x="416" y="388"/>
                    <a:pt x="416" y="388"/>
                    <a:pt x="416" y="388"/>
                  </a:cubicBezTo>
                  <a:cubicBezTo>
                    <a:pt x="435" y="388"/>
                    <a:pt x="454" y="388"/>
                    <a:pt x="474" y="388"/>
                  </a:cubicBezTo>
                  <a:cubicBezTo>
                    <a:pt x="483" y="388"/>
                    <a:pt x="490" y="380"/>
                    <a:pt x="490" y="371"/>
                  </a:cubicBezTo>
                  <a:close/>
                  <a:moveTo>
                    <a:pt x="0" y="371"/>
                  </a:moveTo>
                  <a:cubicBezTo>
                    <a:pt x="0" y="380"/>
                    <a:pt x="7" y="388"/>
                    <a:pt x="16" y="388"/>
                  </a:cubicBezTo>
                  <a:cubicBezTo>
                    <a:pt x="36" y="388"/>
                    <a:pt x="55" y="388"/>
                    <a:pt x="74" y="388"/>
                  </a:cubicBezTo>
                  <a:cubicBezTo>
                    <a:pt x="74" y="334"/>
                    <a:pt x="74" y="334"/>
                    <a:pt x="74" y="334"/>
                  </a:cubicBezTo>
                  <a:cubicBezTo>
                    <a:pt x="74" y="326"/>
                    <a:pt x="75" y="319"/>
                    <a:pt x="78" y="312"/>
                  </a:cubicBezTo>
                  <a:cubicBezTo>
                    <a:pt x="88" y="286"/>
                    <a:pt x="114" y="269"/>
                    <a:pt x="139" y="260"/>
                  </a:cubicBezTo>
                  <a:cubicBezTo>
                    <a:pt x="80" y="248"/>
                    <a:pt x="0" y="263"/>
                    <a:pt x="0" y="305"/>
                  </a:cubicBezTo>
                  <a:cubicBezTo>
                    <a:pt x="0" y="327"/>
                    <a:pt x="0" y="349"/>
                    <a:pt x="0" y="371"/>
                  </a:cubicBezTo>
                  <a:close/>
                  <a:moveTo>
                    <a:pt x="197" y="192"/>
                  </a:moveTo>
                  <a:cubicBezTo>
                    <a:pt x="211" y="210"/>
                    <a:pt x="228" y="223"/>
                    <a:pt x="245" y="223"/>
                  </a:cubicBezTo>
                  <a:cubicBezTo>
                    <a:pt x="262" y="223"/>
                    <a:pt x="280" y="210"/>
                    <a:pt x="293" y="192"/>
                  </a:cubicBezTo>
                  <a:cubicBezTo>
                    <a:pt x="307" y="173"/>
                    <a:pt x="317" y="148"/>
                    <a:pt x="317" y="124"/>
                  </a:cubicBezTo>
                  <a:cubicBezTo>
                    <a:pt x="312" y="105"/>
                    <a:pt x="312" y="105"/>
                    <a:pt x="312" y="105"/>
                  </a:cubicBezTo>
                  <a:cubicBezTo>
                    <a:pt x="310" y="98"/>
                    <a:pt x="310" y="91"/>
                    <a:pt x="310" y="85"/>
                  </a:cubicBezTo>
                  <a:cubicBezTo>
                    <a:pt x="310" y="77"/>
                    <a:pt x="310" y="70"/>
                    <a:pt x="305" y="64"/>
                  </a:cubicBezTo>
                  <a:cubicBezTo>
                    <a:pt x="298" y="54"/>
                    <a:pt x="287" y="57"/>
                    <a:pt x="274" y="61"/>
                  </a:cubicBezTo>
                  <a:cubicBezTo>
                    <a:pt x="265" y="64"/>
                    <a:pt x="256" y="66"/>
                    <a:pt x="245" y="66"/>
                  </a:cubicBezTo>
                  <a:cubicBezTo>
                    <a:pt x="235" y="66"/>
                    <a:pt x="225" y="64"/>
                    <a:pt x="216" y="61"/>
                  </a:cubicBezTo>
                  <a:cubicBezTo>
                    <a:pt x="216" y="61"/>
                    <a:pt x="216" y="61"/>
                    <a:pt x="216" y="61"/>
                  </a:cubicBezTo>
                  <a:cubicBezTo>
                    <a:pt x="203" y="57"/>
                    <a:pt x="192" y="54"/>
                    <a:pt x="185" y="64"/>
                  </a:cubicBezTo>
                  <a:cubicBezTo>
                    <a:pt x="181" y="70"/>
                    <a:pt x="180" y="77"/>
                    <a:pt x="180" y="85"/>
                  </a:cubicBezTo>
                  <a:cubicBezTo>
                    <a:pt x="180" y="91"/>
                    <a:pt x="180" y="98"/>
                    <a:pt x="178" y="105"/>
                  </a:cubicBezTo>
                  <a:cubicBezTo>
                    <a:pt x="174" y="124"/>
                    <a:pt x="174" y="124"/>
                    <a:pt x="174" y="124"/>
                  </a:cubicBezTo>
                  <a:cubicBezTo>
                    <a:pt x="174" y="148"/>
                    <a:pt x="183" y="173"/>
                    <a:pt x="197" y="192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" name="Freeform 29"/>
            <p:cNvSpPr>
              <a:spLocks noEditPoints="1"/>
            </p:cNvSpPr>
            <p:nvPr/>
          </p:nvSpPr>
          <p:spPr bwMode="auto">
            <a:xfrm>
              <a:off x="4193165" y="2651859"/>
              <a:ext cx="506744" cy="598693"/>
            </a:xfrm>
            <a:custGeom>
              <a:avLst/>
              <a:gdLst>
                <a:gd name="T0" fmla="*/ 344 w 420"/>
                <a:gd name="T1" fmla="*/ 0 h 496"/>
                <a:gd name="T2" fmla="*/ 332 w 420"/>
                <a:gd name="T3" fmla="*/ 79 h 496"/>
                <a:gd name="T4" fmla="*/ 347 w 420"/>
                <a:gd name="T5" fmla="*/ 92 h 496"/>
                <a:gd name="T6" fmla="*/ 360 w 420"/>
                <a:gd name="T7" fmla="*/ 13 h 496"/>
                <a:gd name="T8" fmla="*/ 193 w 420"/>
                <a:gd name="T9" fmla="*/ 362 h 496"/>
                <a:gd name="T10" fmla="*/ 145 w 420"/>
                <a:gd name="T11" fmla="*/ 410 h 496"/>
                <a:gd name="T12" fmla="*/ 193 w 420"/>
                <a:gd name="T13" fmla="*/ 362 h 496"/>
                <a:gd name="T14" fmla="*/ 229 w 420"/>
                <a:gd name="T15" fmla="*/ 362 h 496"/>
                <a:gd name="T16" fmla="*/ 276 w 420"/>
                <a:gd name="T17" fmla="*/ 410 h 496"/>
                <a:gd name="T18" fmla="*/ 110 w 420"/>
                <a:gd name="T19" fmla="*/ 362 h 496"/>
                <a:gd name="T20" fmla="*/ 62 w 420"/>
                <a:gd name="T21" fmla="*/ 410 h 496"/>
                <a:gd name="T22" fmla="*/ 110 w 420"/>
                <a:gd name="T23" fmla="*/ 362 h 496"/>
                <a:gd name="T24" fmla="*/ 312 w 420"/>
                <a:gd name="T25" fmla="*/ 291 h 496"/>
                <a:gd name="T26" fmla="*/ 360 w 420"/>
                <a:gd name="T27" fmla="*/ 338 h 496"/>
                <a:gd name="T28" fmla="*/ 193 w 420"/>
                <a:gd name="T29" fmla="*/ 291 h 496"/>
                <a:gd name="T30" fmla="*/ 145 w 420"/>
                <a:gd name="T31" fmla="*/ 338 h 496"/>
                <a:gd name="T32" fmla="*/ 193 w 420"/>
                <a:gd name="T33" fmla="*/ 291 h 496"/>
                <a:gd name="T34" fmla="*/ 229 w 420"/>
                <a:gd name="T35" fmla="*/ 291 h 496"/>
                <a:gd name="T36" fmla="*/ 276 w 420"/>
                <a:gd name="T37" fmla="*/ 338 h 496"/>
                <a:gd name="T38" fmla="*/ 110 w 420"/>
                <a:gd name="T39" fmla="*/ 291 h 496"/>
                <a:gd name="T40" fmla="*/ 62 w 420"/>
                <a:gd name="T41" fmla="*/ 338 h 496"/>
                <a:gd name="T42" fmla="*/ 110 w 420"/>
                <a:gd name="T43" fmla="*/ 291 h 496"/>
                <a:gd name="T44" fmla="*/ 312 w 420"/>
                <a:gd name="T45" fmla="*/ 219 h 496"/>
                <a:gd name="T46" fmla="*/ 360 w 420"/>
                <a:gd name="T47" fmla="*/ 267 h 496"/>
                <a:gd name="T48" fmla="*/ 193 w 420"/>
                <a:gd name="T49" fmla="*/ 219 h 496"/>
                <a:gd name="T50" fmla="*/ 145 w 420"/>
                <a:gd name="T51" fmla="*/ 267 h 496"/>
                <a:gd name="T52" fmla="*/ 193 w 420"/>
                <a:gd name="T53" fmla="*/ 219 h 496"/>
                <a:gd name="T54" fmla="*/ 229 w 420"/>
                <a:gd name="T55" fmla="*/ 219 h 496"/>
                <a:gd name="T56" fmla="*/ 276 w 420"/>
                <a:gd name="T57" fmla="*/ 267 h 496"/>
                <a:gd name="T58" fmla="*/ 77 w 420"/>
                <a:gd name="T59" fmla="*/ 0 h 496"/>
                <a:gd name="T60" fmla="*/ 62 w 420"/>
                <a:gd name="T61" fmla="*/ 13 h 496"/>
                <a:gd name="T62" fmla="*/ 75 w 420"/>
                <a:gd name="T63" fmla="*/ 92 h 496"/>
                <a:gd name="T64" fmla="*/ 90 w 420"/>
                <a:gd name="T65" fmla="*/ 79 h 496"/>
                <a:gd name="T66" fmla="*/ 77 w 420"/>
                <a:gd name="T67" fmla="*/ 0 h 496"/>
                <a:gd name="T68" fmla="*/ 392 w 420"/>
                <a:gd name="T69" fmla="*/ 441 h 496"/>
                <a:gd name="T70" fmla="*/ 34 w 420"/>
                <a:gd name="T71" fmla="*/ 446 h 496"/>
                <a:gd name="T72" fmla="*/ 28 w 420"/>
                <a:gd name="T73" fmla="*/ 185 h 496"/>
                <a:gd name="T74" fmla="*/ 386 w 420"/>
                <a:gd name="T75" fmla="*/ 180 h 496"/>
                <a:gd name="T76" fmla="*/ 392 w 420"/>
                <a:gd name="T77" fmla="*/ 460 h 496"/>
                <a:gd name="T78" fmla="*/ 28 w 420"/>
                <a:gd name="T79" fmla="*/ 463 h 496"/>
                <a:gd name="T80" fmla="*/ 392 w 420"/>
                <a:gd name="T81" fmla="*/ 460 h 496"/>
                <a:gd name="T82" fmla="*/ 392 w 420"/>
                <a:gd name="T83" fmla="*/ 481 h 496"/>
                <a:gd name="T84" fmla="*/ 28 w 420"/>
                <a:gd name="T85" fmla="*/ 478 h 496"/>
                <a:gd name="T86" fmla="*/ 386 w 420"/>
                <a:gd name="T87" fmla="*/ 41 h 496"/>
                <a:gd name="T88" fmla="*/ 420 w 420"/>
                <a:gd name="T89" fmla="*/ 463 h 496"/>
                <a:gd name="T90" fmla="*/ 34 w 420"/>
                <a:gd name="T91" fmla="*/ 496 h 496"/>
                <a:gd name="T92" fmla="*/ 0 w 420"/>
                <a:gd name="T93" fmla="*/ 75 h 496"/>
                <a:gd name="T94" fmla="*/ 51 w 420"/>
                <a:gd name="T95" fmla="*/ 41 h 496"/>
                <a:gd name="T96" fmla="*/ 69 w 420"/>
                <a:gd name="T97" fmla="*/ 106 h 496"/>
                <a:gd name="T98" fmla="*/ 101 w 420"/>
                <a:gd name="T99" fmla="*/ 88 h 496"/>
                <a:gd name="T100" fmla="*/ 321 w 420"/>
                <a:gd name="T101" fmla="*/ 41 h 496"/>
                <a:gd name="T102" fmla="*/ 339 w 420"/>
                <a:gd name="T103" fmla="*/ 106 h 496"/>
                <a:gd name="T104" fmla="*/ 370 w 420"/>
                <a:gd name="T105" fmla="*/ 88 h 496"/>
                <a:gd name="T106" fmla="*/ 386 w 420"/>
                <a:gd name="T107" fmla="*/ 41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0" h="496">
                  <a:moveTo>
                    <a:pt x="347" y="0"/>
                  </a:moveTo>
                  <a:cubicBezTo>
                    <a:pt x="346" y="0"/>
                    <a:pt x="345" y="0"/>
                    <a:pt x="344" y="0"/>
                  </a:cubicBezTo>
                  <a:cubicBezTo>
                    <a:pt x="337" y="0"/>
                    <a:pt x="332" y="6"/>
                    <a:pt x="332" y="13"/>
                  </a:cubicBezTo>
                  <a:cubicBezTo>
                    <a:pt x="332" y="79"/>
                    <a:pt x="332" y="79"/>
                    <a:pt x="332" y="79"/>
                  </a:cubicBezTo>
                  <a:cubicBezTo>
                    <a:pt x="332" y="87"/>
                    <a:pt x="337" y="92"/>
                    <a:pt x="344" y="92"/>
                  </a:cubicBezTo>
                  <a:cubicBezTo>
                    <a:pt x="345" y="92"/>
                    <a:pt x="346" y="92"/>
                    <a:pt x="347" y="92"/>
                  </a:cubicBezTo>
                  <a:cubicBezTo>
                    <a:pt x="354" y="92"/>
                    <a:pt x="360" y="87"/>
                    <a:pt x="360" y="79"/>
                  </a:cubicBezTo>
                  <a:cubicBezTo>
                    <a:pt x="360" y="13"/>
                    <a:pt x="360" y="13"/>
                    <a:pt x="360" y="13"/>
                  </a:cubicBezTo>
                  <a:cubicBezTo>
                    <a:pt x="360" y="6"/>
                    <a:pt x="354" y="0"/>
                    <a:pt x="347" y="0"/>
                  </a:cubicBezTo>
                  <a:close/>
                  <a:moveTo>
                    <a:pt x="193" y="362"/>
                  </a:moveTo>
                  <a:cubicBezTo>
                    <a:pt x="177" y="362"/>
                    <a:pt x="161" y="362"/>
                    <a:pt x="145" y="362"/>
                  </a:cubicBezTo>
                  <a:cubicBezTo>
                    <a:pt x="145" y="378"/>
                    <a:pt x="145" y="394"/>
                    <a:pt x="145" y="410"/>
                  </a:cubicBezTo>
                  <a:cubicBezTo>
                    <a:pt x="161" y="410"/>
                    <a:pt x="177" y="410"/>
                    <a:pt x="193" y="410"/>
                  </a:cubicBezTo>
                  <a:cubicBezTo>
                    <a:pt x="193" y="394"/>
                    <a:pt x="193" y="378"/>
                    <a:pt x="193" y="362"/>
                  </a:cubicBezTo>
                  <a:close/>
                  <a:moveTo>
                    <a:pt x="276" y="362"/>
                  </a:moveTo>
                  <a:cubicBezTo>
                    <a:pt x="260" y="362"/>
                    <a:pt x="245" y="362"/>
                    <a:pt x="229" y="362"/>
                  </a:cubicBezTo>
                  <a:cubicBezTo>
                    <a:pt x="229" y="378"/>
                    <a:pt x="229" y="394"/>
                    <a:pt x="229" y="410"/>
                  </a:cubicBezTo>
                  <a:cubicBezTo>
                    <a:pt x="245" y="410"/>
                    <a:pt x="260" y="410"/>
                    <a:pt x="276" y="410"/>
                  </a:cubicBezTo>
                  <a:cubicBezTo>
                    <a:pt x="276" y="394"/>
                    <a:pt x="276" y="378"/>
                    <a:pt x="276" y="362"/>
                  </a:cubicBezTo>
                  <a:close/>
                  <a:moveTo>
                    <a:pt x="110" y="362"/>
                  </a:moveTo>
                  <a:cubicBezTo>
                    <a:pt x="62" y="362"/>
                    <a:pt x="62" y="362"/>
                    <a:pt x="62" y="362"/>
                  </a:cubicBezTo>
                  <a:cubicBezTo>
                    <a:pt x="62" y="410"/>
                    <a:pt x="62" y="410"/>
                    <a:pt x="62" y="410"/>
                  </a:cubicBezTo>
                  <a:cubicBezTo>
                    <a:pt x="110" y="410"/>
                    <a:pt x="110" y="410"/>
                    <a:pt x="110" y="410"/>
                  </a:cubicBezTo>
                  <a:cubicBezTo>
                    <a:pt x="110" y="362"/>
                    <a:pt x="110" y="362"/>
                    <a:pt x="110" y="362"/>
                  </a:cubicBezTo>
                  <a:close/>
                  <a:moveTo>
                    <a:pt x="360" y="291"/>
                  </a:moveTo>
                  <a:cubicBezTo>
                    <a:pt x="312" y="291"/>
                    <a:pt x="312" y="291"/>
                    <a:pt x="312" y="291"/>
                  </a:cubicBezTo>
                  <a:cubicBezTo>
                    <a:pt x="312" y="338"/>
                    <a:pt x="312" y="338"/>
                    <a:pt x="312" y="338"/>
                  </a:cubicBezTo>
                  <a:cubicBezTo>
                    <a:pt x="360" y="338"/>
                    <a:pt x="360" y="338"/>
                    <a:pt x="360" y="338"/>
                  </a:cubicBezTo>
                  <a:cubicBezTo>
                    <a:pt x="360" y="291"/>
                    <a:pt x="360" y="291"/>
                    <a:pt x="360" y="291"/>
                  </a:cubicBezTo>
                  <a:close/>
                  <a:moveTo>
                    <a:pt x="193" y="291"/>
                  </a:moveTo>
                  <a:cubicBezTo>
                    <a:pt x="177" y="291"/>
                    <a:pt x="161" y="291"/>
                    <a:pt x="145" y="291"/>
                  </a:cubicBezTo>
                  <a:cubicBezTo>
                    <a:pt x="145" y="306"/>
                    <a:pt x="145" y="322"/>
                    <a:pt x="145" y="338"/>
                  </a:cubicBezTo>
                  <a:cubicBezTo>
                    <a:pt x="161" y="338"/>
                    <a:pt x="177" y="338"/>
                    <a:pt x="193" y="338"/>
                  </a:cubicBezTo>
                  <a:cubicBezTo>
                    <a:pt x="193" y="322"/>
                    <a:pt x="193" y="306"/>
                    <a:pt x="193" y="291"/>
                  </a:cubicBezTo>
                  <a:close/>
                  <a:moveTo>
                    <a:pt x="276" y="291"/>
                  </a:moveTo>
                  <a:cubicBezTo>
                    <a:pt x="260" y="291"/>
                    <a:pt x="245" y="291"/>
                    <a:pt x="229" y="291"/>
                  </a:cubicBezTo>
                  <a:cubicBezTo>
                    <a:pt x="229" y="306"/>
                    <a:pt x="229" y="322"/>
                    <a:pt x="229" y="338"/>
                  </a:cubicBezTo>
                  <a:cubicBezTo>
                    <a:pt x="245" y="338"/>
                    <a:pt x="260" y="338"/>
                    <a:pt x="276" y="338"/>
                  </a:cubicBezTo>
                  <a:cubicBezTo>
                    <a:pt x="276" y="322"/>
                    <a:pt x="276" y="306"/>
                    <a:pt x="276" y="291"/>
                  </a:cubicBezTo>
                  <a:close/>
                  <a:moveTo>
                    <a:pt x="110" y="291"/>
                  </a:moveTo>
                  <a:cubicBezTo>
                    <a:pt x="62" y="291"/>
                    <a:pt x="62" y="291"/>
                    <a:pt x="62" y="291"/>
                  </a:cubicBezTo>
                  <a:cubicBezTo>
                    <a:pt x="62" y="338"/>
                    <a:pt x="62" y="338"/>
                    <a:pt x="62" y="338"/>
                  </a:cubicBezTo>
                  <a:cubicBezTo>
                    <a:pt x="110" y="338"/>
                    <a:pt x="110" y="338"/>
                    <a:pt x="110" y="338"/>
                  </a:cubicBezTo>
                  <a:cubicBezTo>
                    <a:pt x="110" y="291"/>
                    <a:pt x="110" y="291"/>
                    <a:pt x="110" y="291"/>
                  </a:cubicBezTo>
                  <a:close/>
                  <a:moveTo>
                    <a:pt x="360" y="219"/>
                  </a:moveTo>
                  <a:cubicBezTo>
                    <a:pt x="312" y="219"/>
                    <a:pt x="312" y="219"/>
                    <a:pt x="312" y="219"/>
                  </a:cubicBezTo>
                  <a:cubicBezTo>
                    <a:pt x="312" y="267"/>
                    <a:pt x="312" y="267"/>
                    <a:pt x="312" y="267"/>
                  </a:cubicBezTo>
                  <a:cubicBezTo>
                    <a:pt x="360" y="267"/>
                    <a:pt x="360" y="267"/>
                    <a:pt x="360" y="267"/>
                  </a:cubicBezTo>
                  <a:cubicBezTo>
                    <a:pt x="360" y="219"/>
                    <a:pt x="360" y="219"/>
                    <a:pt x="360" y="219"/>
                  </a:cubicBezTo>
                  <a:close/>
                  <a:moveTo>
                    <a:pt x="193" y="219"/>
                  </a:moveTo>
                  <a:cubicBezTo>
                    <a:pt x="177" y="219"/>
                    <a:pt x="161" y="219"/>
                    <a:pt x="145" y="219"/>
                  </a:cubicBezTo>
                  <a:cubicBezTo>
                    <a:pt x="145" y="235"/>
                    <a:pt x="145" y="251"/>
                    <a:pt x="145" y="267"/>
                  </a:cubicBezTo>
                  <a:cubicBezTo>
                    <a:pt x="161" y="267"/>
                    <a:pt x="177" y="267"/>
                    <a:pt x="193" y="267"/>
                  </a:cubicBezTo>
                  <a:cubicBezTo>
                    <a:pt x="193" y="251"/>
                    <a:pt x="193" y="235"/>
                    <a:pt x="193" y="219"/>
                  </a:cubicBezTo>
                  <a:close/>
                  <a:moveTo>
                    <a:pt x="276" y="219"/>
                  </a:moveTo>
                  <a:cubicBezTo>
                    <a:pt x="260" y="219"/>
                    <a:pt x="245" y="219"/>
                    <a:pt x="229" y="219"/>
                  </a:cubicBezTo>
                  <a:cubicBezTo>
                    <a:pt x="229" y="235"/>
                    <a:pt x="229" y="251"/>
                    <a:pt x="229" y="267"/>
                  </a:cubicBezTo>
                  <a:cubicBezTo>
                    <a:pt x="245" y="267"/>
                    <a:pt x="260" y="267"/>
                    <a:pt x="276" y="267"/>
                  </a:cubicBezTo>
                  <a:cubicBezTo>
                    <a:pt x="276" y="251"/>
                    <a:pt x="276" y="235"/>
                    <a:pt x="276" y="219"/>
                  </a:cubicBezTo>
                  <a:close/>
                  <a:moveTo>
                    <a:pt x="77" y="0"/>
                  </a:moveTo>
                  <a:cubicBezTo>
                    <a:pt x="76" y="0"/>
                    <a:pt x="76" y="0"/>
                    <a:pt x="75" y="0"/>
                  </a:cubicBezTo>
                  <a:cubicBezTo>
                    <a:pt x="68" y="0"/>
                    <a:pt x="62" y="6"/>
                    <a:pt x="62" y="13"/>
                  </a:cubicBezTo>
                  <a:cubicBezTo>
                    <a:pt x="62" y="79"/>
                    <a:pt x="62" y="79"/>
                    <a:pt x="62" y="79"/>
                  </a:cubicBezTo>
                  <a:cubicBezTo>
                    <a:pt x="62" y="87"/>
                    <a:pt x="68" y="92"/>
                    <a:pt x="75" y="92"/>
                  </a:cubicBezTo>
                  <a:cubicBezTo>
                    <a:pt x="76" y="92"/>
                    <a:pt x="76" y="92"/>
                    <a:pt x="77" y="92"/>
                  </a:cubicBezTo>
                  <a:cubicBezTo>
                    <a:pt x="84" y="92"/>
                    <a:pt x="90" y="87"/>
                    <a:pt x="90" y="79"/>
                  </a:cubicBezTo>
                  <a:cubicBezTo>
                    <a:pt x="90" y="13"/>
                    <a:pt x="90" y="13"/>
                    <a:pt x="90" y="13"/>
                  </a:cubicBezTo>
                  <a:cubicBezTo>
                    <a:pt x="90" y="6"/>
                    <a:pt x="84" y="0"/>
                    <a:pt x="77" y="0"/>
                  </a:cubicBezTo>
                  <a:close/>
                  <a:moveTo>
                    <a:pt x="392" y="185"/>
                  </a:moveTo>
                  <a:cubicBezTo>
                    <a:pt x="392" y="441"/>
                    <a:pt x="392" y="441"/>
                    <a:pt x="392" y="441"/>
                  </a:cubicBezTo>
                  <a:cubicBezTo>
                    <a:pt x="392" y="443"/>
                    <a:pt x="389" y="446"/>
                    <a:pt x="386" y="446"/>
                  </a:cubicBezTo>
                  <a:cubicBezTo>
                    <a:pt x="34" y="446"/>
                    <a:pt x="34" y="446"/>
                    <a:pt x="34" y="446"/>
                  </a:cubicBezTo>
                  <a:cubicBezTo>
                    <a:pt x="31" y="446"/>
                    <a:pt x="28" y="443"/>
                    <a:pt x="28" y="441"/>
                  </a:cubicBezTo>
                  <a:cubicBezTo>
                    <a:pt x="28" y="185"/>
                    <a:pt x="28" y="185"/>
                    <a:pt x="28" y="185"/>
                  </a:cubicBezTo>
                  <a:cubicBezTo>
                    <a:pt x="28" y="182"/>
                    <a:pt x="31" y="180"/>
                    <a:pt x="34" y="180"/>
                  </a:cubicBezTo>
                  <a:cubicBezTo>
                    <a:pt x="386" y="180"/>
                    <a:pt x="386" y="180"/>
                    <a:pt x="386" y="180"/>
                  </a:cubicBezTo>
                  <a:cubicBezTo>
                    <a:pt x="389" y="180"/>
                    <a:pt x="392" y="182"/>
                    <a:pt x="392" y="185"/>
                  </a:cubicBezTo>
                  <a:close/>
                  <a:moveTo>
                    <a:pt x="392" y="460"/>
                  </a:moveTo>
                  <a:cubicBezTo>
                    <a:pt x="392" y="463"/>
                    <a:pt x="392" y="463"/>
                    <a:pt x="392" y="463"/>
                  </a:cubicBezTo>
                  <a:cubicBezTo>
                    <a:pt x="28" y="463"/>
                    <a:pt x="28" y="463"/>
                    <a:pt x="28" y="463"/>
                  </a:cubicBezTo>
                  <a:cubicBezTo>
                    <a:pt x="28" y="460"/>
                    <a:pt x="28" y="460"/>
                    <a:pt x="28" y="460"/>
                  </a:cubicBezTo>
                  <a:cubicBezTo>
                    <a:pt x="392" y="460"/>
                    <a:pt x="392" y="460"/>
                    <a:pt x="392" y="460"/>
                  </a:cubicBezTo>
                  <a:close/>
                  <a:moveTo>
                    <a:pt x="392" y="478"/>
                  </a:moveTo>
                  <a:cubicBezTo>
                    <a:pt x="392" y="481"/>
                    <a:pt x="392" y="481"/>
                    <a:pt x="392" y="481"/>
                  </a:cubicBezTo>
                  <a:cubicBezTo>
                    <a:pt x="28" y="481"/>
                    <a:pt x="28" y="481"/>
                    <a:pt x="28" y="481"/>
                  </a:cubicBezTo>
                  <a:cubicBezTo>
                    <a:pt x="28" y="478"/>
                    <a:pt x="28" y="478"/>
                    <a:pt x="28" y="478"/>
                  </a:cubicBezTo>
                  <a:cubicBezTo>
                    <a:pt x="392" y="478"/>
                    <a:pt x="392" y="478"/>
                    <a:pt x="392" y="478"/>
                  </a:cubicBezTo>
                  <a:close/>
                  <a:moveTo>
                    <a:pt x="386" y="41"/>
                  </a:moveTo>
                  <a:cubicBezTo>
                    <a:pt x="405" y="41"/>
                    <a:pt x="420" y="56"/>
                    <a:pt x="420" y="75"/>
                  </a:cubicBezTo>
                  <a:cubicBezTo>
                    <a:pt x="420" y="463"/>
                    <a:pt x="420" y="463"/>
                    <a:pt x="420" y="463"/>
                  </a:cubicBezTo>
                  <a:cubicBezTo>
                    <a:pt x="420" y="481"/>
                    <a:pt x="405" y="496"/>
                    <a:pt x="386" y="496"/>
                  </a:cubicBezTo>
                  <a:cubicBezTo>
                    <a:pt x="269" y="496"/>
                    <a:pt x="151" y="496"/>
                    <a:pt x="34" y="496"/>
                  </a:cubicBezTo>
                  <a:cubicBezTo>
                    <a:pt x="15" y="496"/>
                    <a:pt x="0" y="481"/>
                    <a:pt x="0" y="463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56"/>
                    <a:pt x="15" y="41"/>
                    <a:pt x="34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57"/>
                    <a:pt x="51" y="72"/>
                    <a:pt x="51" y="88"/>
                  </a:cubicBezTo>
                  <a:cubicBezTo>
                    <a:pt x="51" y="98"/>
                    <a:pt x="59" y="106"/>
                    <a:pt x="69" y="106"/>
                  </a:cubicBezTo>
                  <a:cubicBezTo>
                    <a:pt x="74" y="106"/>
                    <a:pt x="78" y="106"/>
                    <a:pt x="83" y="106"/>
                  </a:cubicBezTo>
                  <a:cubicBezTo>
                    <a:pt x="93" y="106"/>
                    <a:pt x="101" y="98"/>
                    <a:pt x="101" y="88"/>
                  </a:cubicBezTo>
                  <a:cubicBezTo>
                    <a:pt x="101" y="72"/>
                    <a:pt x="101" y="57"/>
                    <a:pt x="101" y="41"/>
                  </a:cubicBezTo>
                  <a:cubicBezTo>
                    <a:pt x="321" y="41"/>
                    <a:pt x="321" y="41"/>
                    <a:pt x="321" y="41"/>
                  </a:cubicBezTo>
                  <a:cubicBezTo>
                    <a:pt x="321" y="57"/>
                    <a:pt x="321" y="72"/>
                    <a:pt x="321" y="88"/>
                  </a:cubicBezTo>
                  <a:cubicBezTo>
                    <a:pt x="321" y="98"/>
                    <a:pt x="329" y="106"/>
                    <a:pt x="339" y="106"/>
                  </a:cubicBezTo>
                  <a:cubicBezTo>
                    <a:pt x="343" y="106"/>
                    <a:pt x="348" y="106"/>
                    <a:pt x="352" y="106"/>
                  </a:cubicBezTo>
                  <a:cubicBezTo>
                    <a:pt x="362" y="106"/>
                    <a:pt x="370" y="98"/>
                    <a:pt x="370" y="88"/>
                  </a:cubicBezTo>
                  <a:cubicBezTo>
                    <a:pt x="370" y="72"/>
                    <a:pt x="370" y="57"/>
                    <a:pt x="370" y="41"/>
                  </a:cubicBezTo>
                  <a:lnTo>
                    <a:pt x="386" y="4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" name="Freeform 30"/>
            <p:cNvSpPr>
              <a:spLocks noEditPoints="1"/>
            </p:cNvSpPr>
            <p:nvPr/>
          </p:nvSpPr>
          <p:spPr bwMode="auto">
            <a:xfrm>
              <a:off x="7516809" y="2606482"/>
              <a:ext cx="551558" cy="689448"/>
            </a:xfrm>
            <a:custGeom>
              <a:avLst/>
              <a:gdLst>
                <a:gd name="T0" fmla="*/ 100 w 408"/>
                <a:gd name="T1" fmla="*/ 18 h 510"/>
                <a:gd name="T2" fmla="*/ 290 w 408"/>
                <a:gd name="T3" fmla="*/ 368 h 510"/>
                <a:gd name="T4" fmla="*/ 345 w 408"/>
                <a:gd name="T5" fmla="*/ 332 h 510"/>
                <a:gd name="T6" fmla="*/ 259 w 408"/>
                <a:gd name="T7" fmla="*/ 464 h 510"/>
                <a:gd name="T8" fmla="*/ 267 w 408"/>
                <a:gd name="T9" fmla="*/ 397 h 510"/>
                <a:gd name="T10" fmla="*/ 241 w 408"/>
                <a:gd name="T11" fmla="*/ 345 h 510"/>
                <a:gd name="T12" fmla="*/ 216 w 408"/>
                <a:gd name="T13" fmla="*/ 319 h 510"/>
                <a:gd name="T14" fmla="*/ 320 w 408"/>
                <a:gd name="T15" fmla="*/ 474 h 510"/>
                <a:gd name="T16" fmla="*/ 159 w 408"/>
                <a:gd name="T17" fmla="*/ 386 h 510"/>
                <a:gd name="T18" fmla="*/ 196 w 408"/>
                <a:gd name="T19" fmla="*/ 298 h 510"/>
                <a:gd name="T20" fmla="*/ 229 w 408"/>
                <a:gd name="T21" fmla="*/ 381 h 510"/>
                <a:gd name="T22" fmla="*/ 338 w 408"/>
                <a:gd name="T23" fmla="*/ 391 h 510"/>
                <a:gd name="T24" fmla="*/ 278 w 408"/>
                <a:gd name="T25" fmla="*/ 440 h 510"/>
                <a:gd name="T26" fmla="*/ 289 w 408"/>
                <a:gd name="T27" fmla="*/ 332 h 510"/>
                <a:gd name="T28" fmla="*/ 126 w 408"/>
                <a:gd name="T29" fmla="*/ 86 h 510"/>
                <a:gd name="T30" fmla="*/ 138 w 408"/>
                <a:gd name="T31" fmla="*/ 19 h 510"/>
                <a:gd name="T32" fmla="*/ 217 w 408"/>
                <a:gd name="T33" fmla="*/ 61 h 510"/>
                <a:gd name="T34" fmla="*/ 127 w 408"/>
                <a:gd name="T35" fmla="*/ 22 h 510"/>
                <a:gd name="T36" fmla="*/ 244 w 408"/>
                <a:gd name="T37" fmla="*/ 59 h 510"/>
                <a:gd name="T38" fmla="*/ 134 w 408"/>
                <a:gd name="T39" fmla="*/ 343 h 510"/>
                <a:gd name="T40" fmla="*/ 87 w 408"/>
                <a:gd name="T41" fmla="*/ 290 h 510"/>
                <a:gd name="T42" fmla="*/ 86 w 408"/>
                <a:gd name="T43" fmla="*/ 290 h 510"/>
                <a:gd name="T44" fmla="*/ 85 w 408"/>
                <a:gd name="T45" fmla="*/ 290 h 510"/>
                <a:gd name="T46" fmla="*/ 84 w 408"/>
                <a:gd name="T47" fmla="*/ 289 h 510"/>
                <a:gd name="T48" fmla="*/ 83 w 408"/>
                <a:gd name="T49" fmla="*/ 289 h 510"/>
                <a:gd name="T50" fmla="*/ 83 w 408"/>
                <a:gd name="T51" fmla="*/ 289 h 510"/>
                <a:gd name="T52" fmla="*/ 82 w 408"/>
                <a:gd name="T53" fmla="*/ 289 h 510"/>
                <a:gd name="T54" fmla="*/ 81 w 408"/>
                <a:gd name="T55" fmla="*/ 288 h 510"/>
                <a:gd name="T56" fmla="*/ 81 w 408"/>
                <a:gd name="T57" fmla="*/ 288 h 510"/>
                <a:gd name="T58" fmla="*/ 80 w 408"/>
                <a:gd name="T59" fmla="*/ 287 h 510"/>
                <a:gd name="T60" fmla="*/ 80 w 408"/>
                <a:gd name="T61" fmla="*/ 287 h 510"/>
                <a:gd name="T62" fmla="*/ 79 w 408"/>
                <a:gd name="T63" fmla="*/ 286 h 510"/>
                <a:gd name="T64" fmla="*/ 79 w 408"/>
                <a:gd name="T65" fmla="*/ 285 h 510"/>
                <a:gd name="T66" fmla="*/ 78 w 408"/>
                <a:gd name="T67" fmla="*/ 284 h 510"/>
                <a:gd name="T68" fmla="*/ 78 w 408"/>
                <a:gd name="T69" fmla="*/ 284 h 510"/>
                <a:gd name="T70" fmla="*/ 78 w 408"/>
                <a:gd name="T71" fmla="*/ 283 h 510"/>
                <a:gd name="T72" fmla="*/ 78 w 408"/>
                <a:gd name="T73" fmla="*/ 282 h 510"/>
                <a:gd name="T74" fmla="*/ 77 w 408"/>
                <a:gd name="T75" fmla="*/ 281 h 510"/>
                <a:gd name="T76" fmla="*/ 77 w 408"/>
                <a:gd name="T77" fmla="*/ 281 h 510"/>
                <a:gd name="T78" fmla="*/ 77 w 408"/>
                <a:gd name="T79" fmla="*/ 280 h 510"/>
                <a:gd name="T80" fmla="*/ 77 w 408"/>
                <a:gd name="T81" fmla="*/ 279 h 510"/>
                <a:gd name="T82" fmla="*/ 78 w 408"/>
                <a:gd name="T83" fmla="*/ 278 h 510"/>
                <a:gd name="T84" fmla="*/ 78 w 408"/>
                <a:gd name="T85" fmla="*/ 278 h 510"/>
                <a:gd name="T86" fmla="*/ 78 w 408"/>
                <a:gd name="T87" fmla="*/ 277 h 510"/>
                <a:gd name="T88" fmla="*/ 79 w 408"/>
                <a:gd name="T89" fmla="*/ 276 h 510"/>
                <a:gd name="T90" fmla="*/ 79 w 408"/>
                <a:gd name="T91" fmla="*/ 275 h 510"/>
                <a:gd name="T92" fmla="*/ 80 w 408"/>
                <a:gd name="T93" fmla="*/ 274 h 510"/>
                <a:gd name="T94" fmla="*/ 80 w 408"/>
                <a:gd name="T95" fmla="*/ 274 h 510"/>
                <a:gd name="T96" fmla="*/ 81 w 408"/>
                <a:gd name="T97" fmla="*/ 273 h 510"/>
                <a:gd name="T98" fmla="*/ 82 w 408"/>
                <a:gd name="T99" fmla="*/ 272 h 510"/>
                <a:gd name="T100" fmla="*/ 83 w 408"/>
                <a:gd name="T101" fmla="*/ 272 h 510"/>
                <a:gd name="T102" fmla="*/ 84 w 408"/>
                <a:gd name="T103" fmla="*/ 272 h 510"/>
                <a:gd name="T104" fmla="*/ 86 w 408"/>
                <a:gd name="T105" fmla="*/ 271 h 510"/>
                <a:gd name="T106" fmla="*/ 77 w 408"/>
                <a:gd name="T107" fmla="*/ 280 h 510"/>
                <a:gd name="T108" fmla="*/ 87 w 408"/>
                <a:gd name="T109" fmla="*/ 237 h 510"/>
                <a:gd name="T110" fmla="*/ 267 w 408"/>
                <a:gd name="T111" fmla="*/ 175 h 510"/>
                <a:gd name="T112" fmla="*/ 258 w 408"/>
                <a:gd name="T113" fmla="*/ 115 h 510"/>
                <a:gd name="T114" fmla="*/ 87 w 408"/>
                <a:gd name="T115" fmla="*/ 115 h 510"/>
                <a:gd name="T116" fmla="*/ 212 w 408"/>
                <a:gd name="T117" fmla="*/ 28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08" h="510">
                  <a:moveTo>
                    <a:pt x="23" y="460"/>
                  </a:moveTo>
                  <a:cubicBezTo>
                    <a:pt x="147" y="460"/>
                    <a:pt x="147" y="460"/>
                    <a:pt x="147" y="460"/>
                  </a:cubicBezTo>
                  <a:cubicBezTo>
                    <a:pt x="140" y="447"/>
                    <a:pt x="135" y="434"/>
                    <a:pt x="132" y="419"/>
                  </a:cubicBezTo>
                  <a:cubicBezTo>
                    <a:pt x="43" y="419"/>
                    <a:pt x="43" y="419"/>
                    <a:pt x="43" y="419"/>
                  </a:cubicBezTo>
                  <a:cubicBezTo>
                    <a:pt x="43" y="59"/>
                    <a:pt x="43" y="59"/>
                    <a:pt x="43" y="59"/>
                  </a:cubicBezTo>
                  <a:cubicBezTo>
                    <a:pt x="100" y="59"/>
                    <a:pt x="100" y="59"/>
                    <a:pt x="100" y="59"/>
                  </a:cubicBezTo>
                  <a:cubicBezTo>
                    <a:pt x="100" y="18"/>
                    <a:pt x="100" y="18"/>
                    <a:pt x="100" y="18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11" y="18"/>
                    <a:pt x="0" y="28"/>
                    <a:pt x="0" y="41"/>
                  </a:cubicBezTo>
                  <a:cubicBezTo>
                    <a:pt x="0" y="437"/>
                    <a:pt x="0" y="437"/>
                    <a:pt x="0" y="437"/>
                  </a:cubicBezTo>
                  <a:cubicBezTo>
                    <a:pt x="0" y="450"/>
                    <a:pt x="11" y="460"/>
                    <a:pt x="23" y="460"/>
                  </a:cubicBezTo>
                  <a:close/>
                  <a:moveTo>
                    <a:pt x="286" y="370"/>
                  </a:moveTo>
                  <a:cubicBezTo>
                    <a:pt x="286" y="370"/>
                    <a:pt x="287" y="369"/>
                    <a:pt x="287" y="369"/>
                  </a:cubicBezTo>
                  <a:cubicBezTo>
                    <a:pt x="288" y="368"/>
                    <a:pt x="289" y="368"/>
                    <a:pt x="290" y="368"/>
                  </a:cubicBezTo>
                  <a:cubicBezTo>
                    <a:pt x="291" y="369"/>
                    <a:pt x="291" y="369"/>
                    <a:pt x="291" y="370"/>
                  </a:cubicBezTo>
                  <a:cubicBezTo>
                    <a:pt x="292" y="370"/>
                    <a:pt x="292" y="370"/>
                    <a:pt x="292" y="370"/>
                  </a:cubicBezTo>
                  <a:cubicBezTo>
                    <a:pt x="337" y="325"/>
                    <a:pt x="337" y="325"/>
                    <a:pt x="337" y="325"/>
                  </a:cubicBezTo>
                  <a:cubicBezTo>
                    <a:pt x="338" y="324"/>
                    <a:pt x="340" y="323"/>
                    <a:pt x="341" y="323"/>
                  </a:cubicBezTo>
                  <a:cubicBezTo>
                    <a:pt x="342" y="323"/>
                    <a:pt x="344" y="324"/>
                    <a:pt x="345" y="325"/>
                  </a:cubicBezTo>
                  <a:cubicBezTo>
                    <a:pt x="346" y="326"/>
                    <a:pt x="346" y="327"/>
                    <a:pt x="346" y="329"/>
                  </a:cubicBezTo>
                  <a:cubicBezTo>
                    <a:pt x="346" y="330"/>
                    <a:pt x="346" y="331"/>
                    <a:pt x="345" y="332"/>
                  </a:cubicBezTo>
                  <a:cubicBezTo>
                    <a:pt x="293" y="384"/>
                    <a:pt x="293" y="384"/>
                    <a:pt x="293" y="384"/>
                  </a:cubicBezTo>
                  <a:cubicBezTo>
                    <a:pt x="300" y="389"/>
                    <a:pt x="300" y="389"/>
                    <a:pt x="300" y="389"/>
                  </a:cubicBezTo>
                  <a:cubicBezTo>
                    <a:pt x="302" y="391"/>
                    <a:pt x="303" y="392"/>
                    <a:pt x="303" y="394"/>
                  </a:cubicBezTo>
                  <a:cubicBezTo>
                    <a:pt x="304" y="398"/>
                    <a:pt x="301" y="402"/>
                    <a:pt x="297" y="403"/>
                  </a:cubicBezTo>
                  <a:cubicBezTo>
                    <a:pt x="295" y="403"/>
                    <a:pt x="293" y="403"/>
                    <a:pt x="291" y="401"/>
                  </a:cubicBezTo>
                  <a:cubicBezTo>
                    <a:pt x="283" y="396"/>
                    <a:pt x="283" y="396"/>
                    <a:pt x="283" y="396"/>
                  </a:cubicBezTo>
                  <a:cubicBezTo>
                    <a:pt x="259" y="464"/>
                    <a:pt x="259" y="464"/>
                    <a:pt x="259" y="464"/>
                  </a:cubicBezTo>
                  <a:cubicBezTo>
                    <a:pt x="259" y="465"/>
                    <a:pt x="258" y="465"/>
                    <a:pt x="258" y="466"/>
                  </a:cubicBezTo>
                  <a:cubicBezTo>
                    <a:pt x="256" y="466"/>
                    <a:pt x="254" y="466"/>
                    <a:pt x="253" y="464"/>
                  </a:cubicBezTo>
                  <a:cubicBezTo>
                    <a:pt x="253" y="463"/>
                    <a:pt x="253" y="463"/>
                    <a:pt x="253" y="462"/>
                  </a:cubicBezTo>
                  <a:cubicBezTo>
                    <a:pt x="274" y="402"/>
                    <a:pt x="274" y="402"/>
                    <a:pt x="274" y="402"/>
                  </a:cubicBezTo>
                  <a:cubicBezTo>
                    <a:pt x="274" y="402"/>
                    <a:pt x="273" y="403"/>
                    <a:pt x="272" y="403"/>
                  </a:cubicBezTo>
                  <a:cubicBezTo>
                    <a:pt x="271" y="403"/>
                    <a:pt x="270" y="402"/>
                    <a:pt x="269" y="401"/>
                  </a:cubicBezTo>
                  <a:cubicBezTo>
                    <a:pt x="268" y="400"/>
                    <a:pt x="267" y="399"/>
                    <a:pt x="267" y="397"/>
                  </a:cubicBezTo>
                  <a:cubicBezTo>
                    <a:pt x="267" y="396"/>
                    <a:pt x="268" y="394"/>
                    <a:pt x="269" y="393"/>
                  </a:cubicBezTo>
                  <a:cubicBezTo>
                    <a:pt x="274" y="388"/>
                    <a:pt x="274" y="388"/>
                    <a:pt x="274" y="388"/>
                  </a:cubicBezTo>
                  <a:cubicBezTo>
                    <a:pt x="232" y="357"/>
                    <a:pt x="232" y="357"/>
                    <a:pt x="232" y="357"/>
                  </a:cubicBezTo>
                  <a:cubicBezTo>
                    <a:pt x="231" y="356"/>
                    <a:pt x="230" y="354"/>
                    <a:pt x="229" y="352"/>
                  </a:cubicBezTo>
                  <a:cubicBezTo>
                    <a:pt x="229" y="350"/>
                    <a:pt x="230" y="348"/>
                    <a:pt x="231" y="347"/>
                  </a:cubicBezTo>
                  <a:cubicBezTo>
                    <a:pt x="232" y="345"/>
                    <a:pt x="234" y="344"/>
                    <a:pt x="236" y="344"/>
                  </a:cubicBezTo>
                  <a:cubicBezTo>
                    <a:pt x="238" y="344"/>
                    <a:pt x="240" y="344"/>
                    <a:pt x="241" y="345"/>
                  </a:cubicBezTo>
                  <a:cubicBezTo>
                    <a:pt x="283" y="377"/>
                    <a:pt x="283" y="377"/>
                    <a:pt x="283" y="377"/>
                  </a:cubicBezTo>
                  <a:cubicBezTo>
                    <a:pt x="286" y="370"/>
                    <a:pt x="286" y="370"/>
                    <a:pt x="286" y="370"/>
                  </a:cubicBezTo>
                  <a:close/>
                  <a:moveTo>
                    <a:pt x="350" y="319"/>
                  </a:moveTo>
                  <a:cubicBezTo>
                    <a:pt x="342" y="310"/>
                    <a:pt x="331" y="303"/>
                    <a:pt x="320" y="299"/>
                  </a:cubicBezTo>
                  <a:cubicBezTo>
                    <a:pt x="309" y="294"/>
                    <a:pt x="296" y="291"/>
                    <a:pt x="283" y="291"/>
                  </a:cubicBezTo>
                  <a:cubicBezTo>
                    <a:pt x="271" y="291"/>
                    <a:pt x="258" y="294"/>
                    <a:pt x="247" y="299"/>
                  </a:cubicBezTo>
                  <a:cubicBezTo>
                    <a:pt x="236" y="303"/>
                    <a:pt x="225" y="310"/>
                    <a:pt x="216" y="319"/>
                  </a:cubicBezTo>
                  <a:cubicBezTo>
                    <a:pt x="208" y="328"/>
                    <a:pt x="201" y="338"/>
                    <a:pt x="196" y="350"/>
                  </a:cubicBezTo>
                  <a:cubicBezTo>
                    <a:pt x="191" y="361"/>
                    <a:pt x="189" y="373"/>
                    <a:pt x="189" y="386"/>
                  </a:cubicBezTo>
                  <a:cubicBezTo>
                    <a:pt x="189" y="399"/>
                    <a:pt x="191" y="411"/>
                    <a:pt x="196" y="422"/>
                  </a:cubicBezTo>
                  <a:cubicBezTo>
                    <a:pt x="201" y="434"/>
                    <a:pt x="208" y="444"/>
                    <a:pt x="216" y="453"/>
                  </a:cubicBezTo>
                  <a:cubicBezTo>
                    <a:pt x="225" y="462"/>
                    <a:pt x="236" y="469"/>
                    <a:pt x="247" y="474"/>
                  </a:cubicBezTo>
                  <a:cubicBezTo>
                    <a:pt x="258" y="478"/>
                    <a:pt x="271" y="481"/>
                    <a:pt x="283" y="481"/>
                  </a:cubicBezTo>
                  <a:cubicBezTo>
                    <a:pt x="296" y="481"/>
                    <a:pt x="309" y="478"/>
                    <a:pt x="320" y="474"/>
                  </a:cubicBezTo>
                  <a:cubicBezTo>
                    <a:pt x="331" y="469"/>
                    <a:pt x="342" y="462"/>
                    <a:pt x="350" y="453"/>
                  </a:cubicBezTo>
                  <a:cubicBezTo>
                    <a:pt x="359" y="444"/>
                    <a:pt x="366" y="434"/>
                    <a:pt x="371" y="422"/>
                  </a:cubicBezTo>
                  <a:cubicBezTo>
                    <a:pt x="376" y="411"/>
                    <a:pt x="378" y="399"/>
                    <a:pt x="378" y="386"/>
                  </a:cubicBezTo>
                  <a:cubicBezTo>
                    <a:pt x="378" y="373"/>
                    <a:pt x="376" y="361"/>
                    <a:pt x="371" y="350"/>
                  </a:cubicBezTo>
                  <a:cubicBezTo>
                    <a:pt x="366" y="338"/>
                    <a:pt x="359" y="328"/>
                    <a:pt x="350" y="319"/>
                  </a:cubicBezTo>
                  <a:close/>
                  <a:moveTo>
                    <a:pt x="196" y="298"/>
                  </a:moveTo>
                  <a:cubicBezTo>
                    <a:pt x="173" y="321"/>
                    <a:pt x="159" y="352"/>
                    <a:pt x="159" y="386"/>
                  </a:cubicBezTo>
                  <a:cubicBezTo>
                    <a:pt x="159" y="420"/>
                    <a:pt x="173" y="451"/>
                    <a:pt x="196" y="474"/>
                  </a:cubicBezTo>
                  <a:cubicBezTo>
                    <a:pt x="218" y="496"/>
                    <a:pt x="249" y="510"/>
                    <a:pt x="283" y="510"/>
                  </a:cubicBezTo>
                  <a:cubicBezTo>
                    <a:pt x="318" y="510"/>
                    <a:pt x="349" y="496"/>
                    <a:pt x="371" y="474"/>
                  </a:cubicBezTo>
                  <a:cubicBezTo>
                    <a:pt x="394" y="451"/>
                    <a:pt x="408" y="420"/>
                    <a:pt x="408" y="386"/>
                  </a:cubicBezTo>
                  <a:cubicBezTo>
                    <a:pt x="408" y="352"/>
                    <a:pt x="394" y="321"/>
                    <a:pt x="371" y="298"/>
                  </a:cubicBezTo>
                  <a:cubicBezTo>
                    <a:pt x="349" y="276"/>
                    <a:pt x="318" y="262"/>
                    <a:pt x="283" y="262"/>
                  </a:cubicBezTo>
                  <a:cubicBezTo>
                    <a:pt x="249" y="262"/>
                    <a:pt x="218" y="276"/>
                    <a:pt x="196" y="298"/>
                  </a:cubicBezTo>
                  <a:close/>
                  <a:moveTo>
                    <a:pt x="229" y="381"/>
                  </a:moveTo>
                  <a:cubicBezTo>
                    <a:pt x="202" y="381"/>
                    <a:pt x="202" y="381"/>
                    <a:pt x="202" y="381"/>
                  </a:cubicBezTo>
                  <a:cubicBezTo>
                    <a:pt x="199" y="381"/>
                    <a:pt x="197" y="383"/>
                    <a:pt x="197" y="386"/>
                  </a:cubicBezTo>
                  <a:cubicBezTo>
                    <a:pt x="197" y="389"/>
                    <a:pt x="199" y="391"/>
                    <a:pt x="202" y="391"/>
                  </a:cubicBezTo>
                  <a:cubicBezTo>
                    <a:pt x="229" y="391"/>
                    <a:pt x="229" y="391"/>
                    <a:pt x="229" y="391"/>
                  </a:cubicBezTo>
                  <a:cubicBezTo>
                    <a:pt x="232" y="391"/>
                    <a:pt x="235" y="389"/>
                    <a:pt x="235" y="386"/>
                  </a:cubicBezTo>
                  <a:cubicBezTo>
                    <a:pt x="235" y="383"/>
                    <a:pt x="232" y="381"/>
                    <a:pt x="229" y="381"/>
                  </a:cubicBezTo>
                  <a:close/>
                  <a:moveTo>
                    <a:pt x="338" y="391"/>
                  </a:moveTo>
                  <a:cubicBezTo>
                    <a:pt x="365" y="391"/>
                    <a:pt x="365" y="391"/>
                    <a:pt x="365" y="391"/>
                  </a:cubicBezTo>
                  <a:cubicBezTo>
                    <a:pt x="368" y="391"/>
                    <a:pt x="370" y="389"/>
                    <a:pt x="370" y="386"/>
                  </a:cubicBezTo>
                  <a:cubicBezTo>
                    <a:pt x="370" y="383"/>
                    <a:pt x="368" y="381"/>
                    <a:pt x="365" y="381"/>
                  </a:cubicBezTo>
                  <a:cubicBezTo>
                    <a:pt x="338" y="381"/>
                    <a:pt x="338" y="381"/>
                    <a:pt x="338" y="381"/>
                  </a:cubicBezTo>
                  <a:cubicBezTo>
                    <a:pt x="335" y="381"/>
                    <a:pt x="332" y="383"/>
                    <a:pt x="332" y="386"/>
                  </a:cubicBezTo>
                  <a:cubicBezTo>
                    <a:pt x="332" y="389"/>
                    <a:pt x="335" y="391"/>
                    <a:pt x="338" y="391"/>
                  </a:cubicBezTo>
                  <a:close/>
                  <a:moveTo>
                    <a:pt x="278" y="440"/>
                  </a:moveTo>
                  <a:cubicBezTo>
                    <a:pt x="278" y="467"/>
                    <a:pt x="278" y="467"/>
                    <a:pt x="278" y="467"/>
                  </a:cubicBezTo>
                  <a:cubicBezTo>
                    <a:pt x="278" y="470"/>
                    <a:pt x="280" y="473"/>
                    <a:pt x="283" y="473"/>
                  </a:cubicBezTo>
                  <a:cubicBezTo>
                    <a:pt x="286" y="473"/>
                    <a:pt x="289" y="470"/>
                    <a:pt x="289" y="467"/>
                  </a:cubicBezTo>
                  <a:cubicBezTo>
                    <a:pt x="289" y="440"/>
                    <a:pt x="289" y="440"/>
                    <a:pt x="289" y="440"/>
                  </a:cubicBezTo>
                  <a:cubicBezTo>
                    <a:pt x="289" y="437"/>
                    <a:pt x="286" y="435"/>
                    <a:pt x="283" y="435"/>
                  </a:cubicBezTo>
                  <a:cubicBezTo>
                    <a:pt x="280" y="435"/>
                    <a:pt x="278" y="437"/>
                    <a:pt x="278" y="440"/>
                  </a:cubicBezTo>
                  <a:close/>
                  <a:moveTo>
                    <a:pt x="289" y="332"/>
                  </a:moveTo>
                  <a:cubicBezTo>
                    <a:pt x="289" y="305"/>
                    <a:pt x="289" y="305"/>
                    <a:pt x="289" y="305"/>
                  </a:cubicBezTo>
                  <a:cubicBezTo>
                    <a:pt x="289" y="302"/>
                    <a:pt x="286" y="299"/>
                    <a:pt x="283" y="299"/>
                  </a:cubicBezTo>
                  <a:cubicBezTo>
                    <a:pt x="280" y="299"/>
                    <a:pt x="278" y="302"/>
                    <a:pt x="278" y="305"/>
                  </a:cubicBezTo>
                  <a:cubicBezTo>
                    <a:pt x="278" y="332"/>
                    <a:pt x="278" y="332"/>
                    <a:pt x="278" y="332"/>
                  </a:cubicBezTo>
                  <a:cubicBezTo>
                    <a:pt x="278" y="335"/>
                    <a:pt x="280" y="337"/>
                    <a:pt x="283" y="337"/>
                  </a:cubicBezTo>
                  <a:cubicBezTo>
                    <a:pt x="286" y="337"/>
                    <a:pt x="289" y="335"/>
                    <a:pt x="289" y="332"/>
                  </a:cubicBezTo>
                  <a:close/>
                  <a:moveTo>
                    <a:pt x="218" y="0"/>
                  </a:moveTo>
                  <a:cubicBezTo>
                    <a:pt x="224" y="0"/>
                    <a:pt x="228" y="2"/>
                    <a:pt x="232" y="4"/>
                  </a:cubicBezTo>
                  <a:cubicBezTo>
                    <a:pt x="235" y="7"/>
                    <a:pt x="237" y="11"/>
                    <a:pt x="237" y="14"/>
                  </a:cubicBezTo>
                  <a:cubicBezTo>
                    <a:pt x="237" y="72"/>
                    <a:pt x="237" y="72"/>
                    <a:pt x="237" y="72"/>
                  </a:cubicBezTo>
                  <a:cubicBezTo>
                    <a:pt x="237" y="75"/>
                    <a:pt x="235" y="79"/>
                    <a:pt x="232" y="82"/>
                  </a:cubicBezTo>
                  <a:cubicBezTo>
                    <a:pt x="228" y="84"/>
                    <a:pt x="224" y="86"/>
                    <a:pt x="218" y="86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1" y="86"/>
                    <a:pt x="116" y="84"/>
                    <a:pt x="113" y="82"/>
                  </a:cubicBezTo>
                  <a:cubicBezTo>
                    <a:pt x="110" y="79"/>
                    <a:pt x="108" y="75"/>
                    <a:pt x="108" y="72"/>
                  </a:cubicBezTo>
                  <a:cubicBezTo>
                    <a:pt x="108" y="14"/>
                    <a:pt x="108" y="14"/>
                    <a:pt x="108" y="14"/>
                  </a:cubicBezTo>
                  <a:cubicBezTo>
                    <a:pt x="108" y="11"/>
                    <a:pt x="110" y="7"/>
                    <a:pt x="113" y="4"/>
                  </a:cubicBezTo>
                  <a:cubicBezTo>
                    <a:pt x="116" y="2"/>
                    <a:pt x="121" y="0"/>
                    <a:pt x="126" y="0"/>
                  </a:cubicBezTo>
                  <a:cubicBezTo>
                    <a:pt x="218" y="0"/>
                    <a:pt x="218" y="0"/>
                    <a:pt x="218" y="0"/>
                  </a:cubicBezTo>
                  <a:close/>
                  <a:moveTo>
                    <a:pt x="138" y="19"/>
                  </a:moveTo>
                  <a:cubicBezTo>
                    <a:pt x="206" y="19"/>
                    <a:pt x="206" y="19"/>
                    <a:pt x="206" y="19"/>
                  </a:cubicBezTo>
                  <a:cubicBezTo>
                    <a:pt x="210" y="19"/>
                    <a:pt x="214" y="20"/>
                    <a:pt x="217" y="22"/>
                  </a:cubicBezTo>
                  <a:cubicBezTo>
                    <a:pt x="217" y="22"/>
                    <a:pt x="217" y="22"/>
                    <a:pt x="217" y="22"/>
                  </a:cubicBezTo>
                  <a:cubicBezTo>
                    <a:pt x="220" y="25"/>
                    <a:pt x="222" y="29"/>
                    <a:pt x="222" y="33"/>
                  </a:cubicBezTo>
                  <a:cubicBezTo>
                    <a:pt x="222" y="51"/>
                    <a:pt x="222" y="51"/>
                    <a:pt x="222" y="51"/>
                  </a:cubicBezTo>
                  <a:cubicBezTo>
                    <a:pt x="222" y="55"/>
                    <a:pt x="220" y="58"/>
                    <a:pt x="217" y="61"/>
                  </a:cubicBezTo>
                  <a:cubicBezTo>
                    <a:pt x="217" y="61"/>
                    <a:pt x="217" y="61"/>
                    <a:pt x="217" y="61"/>
                  </a:cubicBezTo>
                  <a:cubicBezTo>
                    <a:pt x="214" y="63"/>
                    <a:pt x="210" y="65"/>
                    <a:pt x="206" y="65"/>
                  </a:cubicBezTo>
                  <a:cubicBezTo>
                    <a:pt x="138" y="65"/>
                    <a:pt x="138" y="65"/>
                    <a:pt x="138" y="65"/>
                  </a:cubicBezTo>
                  <a:cubicBezTo>
                    <a:pt x="134" y="65"/>
                    <a:pt x="130" y="63"/>
                    <a:pt x="127" y="61"/>
                  </a:cubicBezTo>
                  <a:cubicBezTo>
                    <a:pt x="127" y="61"/>
                    <a:pt x="127" y="61"/>
                    <a:pt x="127" y="61"/>
                  </a:cubicBezTo>
                  <a:cubicBezTo>
                    <a:pt x="124" y="58"/>
                    <a:pt x="122" y="55"/>
                    <a:pt x="122" y="51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2" y="29"/>
                    <a:pt x="124" y="25"/>
                    <a:pt x="127" y="22"/>
                  </a:cubicBezTo>
                  <a:cubicBezTo>
                    <a:pt x="127" y="22"/>
                    <a:pt x="127" y="22"/>
                    <a:pt x="127" y="22"/>
                  </a:cubicBezTo>
                  <a:cubicBezTo>
                    <a:pt x="130" y="20"/>
                    <a:pt x="134" y="19"/>
                    <a:pt x="138" y="19"/>
                  </a:cubicBezTo>
                  <a:close/>
                  <a:moveTo>
                    <a:pt x="344" y="243"/>
                  </a:moveTo>
                  <a:cubicBezTo>
                    <a:pt x="344" y="41"/>
                    <a:pt x="344" y="41"/>
                    <a:pt x="344" y="41"/>
                  </a:cubicBezTo>
                  <a:cubicBezTo>
                    <a:pt x="344" y="28"/>
                    <a:pt x="334" y="18"/>
                    <a:pt x="321" y="18"/>
                  </a:cubicBezTo>
                  <a:cubicBezTo>
                    <a:pt x="244" y="18"/>
                    <a:pt x="244" y="18"/>
                    <a:pt x="244" y="18"/>
                  </a:cubicBezTo>
                  <a:cubicBezTo>
                    <a:pt x="244" y="59"/>
                    <a:pt x="244" y="59"/>
                    <a:pt x="244" y="59"/>
                  </a:cubicBezTo>
                  <a:cubicBezTo>
                    <a:pt x="302" y="59"/>
                    <a:pt x="302" y="59"/>
                    <a:pt x="302" y="59"/>
                  </a:cubicBezTo>
                  <a:cubicBezTo>
                    <a:pt x="302" y="92"/>
                    <a:pt x="302" y="92"/>
                    <a:pt x="302" y="92"/>
                  </a:cubicBezTo>
                  <a:cubicBezTo>
                    <a:pt x="302" y="232"/>
                    <a:pt x="302" y="232"/>
                    <a:pt x="302" y="232"/>
                  </a:cubicBezTo>
                  <a:cubicBezTo>
                    <a:pt x="317" y="234"/>
                    <a:pt x="331" y="238"/>
                    <a:pt x="344" y="243"/>
                  </a:cubicBezTo>
                  <a:close/>
                  <a:moveTo>
                    <a:pt x="87" y="324"/>
                  </a:moveTo>
                  <a:cubicBezTo>
                    <a:pt x="141" y="324"/>
                    <a:pt x="141" y="324"/>
                    <a:pt x="141" y="324"/>
                  </a:cubicBezTo>
                  <a:cubicBezTo>
                    <a:pt x="139" y="330"/>
                    <a:pt x="136" y="336"/>
                    <a:pt x="134" y="343"/>
                  </a:cubicBezTo>
                  <a:cubicBezTo>
                    <a:pt x="87" y="343"/>
                    <a:pt x="87" y="343"/>
                    <a:pt x="87" y="343"/>
                  </a:cubicBezTo>
                  <a:cubicBezTo>
                    <a:pt x="82" y="343"/>
                    <a:pt x="77" y="339"/>
                    <a:pt x="77" y="333"/>
                  </a:cubicBezTo>
                  <a:cubicBezTo>
                    <a:pt x="77" y="333"/>
                    <a:pt x="77" y="333"/>
                    <a:pt x="77" y="333"/>
                  </a:cubicBezTo>
                  <a:cubicBezTo>
                    <a:pt x="77" y="328"/>
                    <a:pt x="82" y="324"/>
                    <a:pt x="87" y="324"/>
                  </a:cubicBezTo>
                  <a:close/>
                  <a:moveTo>
                    <a:pt x="162" y="290"/>
                  </a:moveTo>
                  <a:cubicBezTo>
                    <a:pt x="87" y="290"/>
                    <a:pt x="87" y="290"/>
                    <a:pt x="87" y="290"/>
                  </a:cubicBezTo>
                  <a:cubicBezTo>
                    <a:pt x="87" y="290"/>
                    <a:pt x="87" y="290"/>
                    <a:pt x="87" y="290"/>
                  </a:cubicBezTo>
                  <a:cubicBezTo>
                    <a:pt x="86" y="290"/>
                    <a:pt x="86" y="290"/>
                    <a:pt x="86" y="290"/>
                  </a:cubicBezTo>
                  <a:cubicBezTo>
                    <a:pt x="86" y="290"/>
                    <a:pt x="86" y="290"/>
                    <a:pt x="86" y="290"/>
                  </a:cubicBezTo>
                  <a:cubicBezTo>
                    <a:pt x="86" y="290"/>
                    <a:pt x="86" y="290"/>
                    <a:pt x="86" y="290"/>
                  </a:cubicBezTo>
                  <a:cubicBezTo>
                    <a:pt x="86" y="290"/>
                    <a:pt x="86" y="290"/>
                    <a:pt x="86" y="290"/>
                  </a:cubicBezTo>
                  <a:cubicBezTo>
                    <a:pt x="86" y="290"/>
                    <a:pt x="86" y="290"/>
                    <a:pt x="86" y="290"/>
                  </a:cubicBezTo>
                  <a:cubicBezTo>
                    <a:pt x="86" y="290"/>
                    <a:pt x="86" y="290"/>
                    <a:pt x="86" y="290"/>
                  </a:cubicBezTo>
                  <a:cubicBezTo>
                    <a:pt x="86" y="290"/>
                    <a:pt x="86" y="290"/>
                    <a:pt x="86" y="290"/>
                  </a:cubicBezTo>
                  <a:cubicBezTo>
                    <a:pt x="86" y="290"/>
                    <a:pt x="86" y="290"/>
                    <a:pt x="86" y="290"/>
                  </a:cubicBezTo>
                  <a:cubicBezTo>
                    <a:pt x="85" y="290"/>
                    <a:pt x="85" y="290"/>
                    <a:pt x="85" y="290"/>
                  </a:cubicBezTo>
                  <a:cubicBezTo>
                    <a:pt x="85" y="290"/>
                    <a:pt x="85" y="290"/>
                    <a:pt x="85" y="290"/>
                  </a:cubicBezTo>
                  <a:cubicBezTo>
                    <a:pt x="85" y="290"/>
                    <a:pt x="85" y="290"/>
                    <a:pt x="85" y="290"/>
                  </a:cubicBezTo>
                  <a:cubicBezTo>
                    <a:pt x="85" y="290"/>
                    <a:pt x="85" y="290"/>
                    <a:pt x="85" y="290"/>
                  </a:cubicBezTo>
                  <a:cubicBezTo>
                    <a:pt x="85" y="290"/>
                    <a:pt x="85" y="290"/>
                    <a:pt x="85" y="290"/>
                  </a:cubicBezTo>
                  <a:cubicBezTo>
                    <a:pt x="85" y="290"/>
                    <a:pt x="85" y="290"/>
                    <a:pt x="85" y="290"/>
                  </a:cubicBezTo>
                  <a:cubicBezTo>
                    <a:pt x="85" y="290"/>
                    <a:pt x="85" y="290"/>
                    <a:pt x="85" y="290"/>
                  </a:cubicBezTo>
                  <a:cubicBezTo>
                    <a:pt x="85" y="290"/>
                    <a:pt x="85" y="290"/>
                    <a:pt x="85" y="290"/>
                  </a:cubicBezTo>
                  <a:cubicBezTo>
                    <a:pt x="85" y="290"/>
                    <a:pt x="85" y="290"/>
                    <a:pt x="85" y="290"/>
                  </a:cubicBezTo>
                  <a:cubicBezTo>
                    <a:pt x="85" y="290"/>
                    <a:pt x="85" y="290"/>
                    <a:pt x="85" y="290"/>
                  </a:cubicBezTo>
                  <a:cubicBezTo>
                    <a:pt x="84" y="289"/>
                    <a:pt x="84" y="289"/>
                    <a:pt x="84" y="289"/>
                  </a:cubicBezTo>
                  <a:cubicBezTo>
                    <a:pt x="84" y="289"/>
                    <a:pt x="84" y="289"/>
                    <a:pt x="84" y="289"/>
                  </a:cubicBezTo>
                  <a:cubicBezTo>
                    <a:pt x="84" y="289"/>
                    <a:pt x="84" y="289"/>
                    <a:pt x="84" y="289"/>
                  </a:cubicBezTo>
                  <a:cubicBezTo>
                    <a:pt x="84" y="289"/>
                    <a:pt x="84" y="289"/>
                    <a:pt x="84" y="289"/>
                  </a:cubicBezTo>
                  <a:cubicBezTo>
                    <a:pt x="84" y="289"/>
                    <a:pt x="84" y="289"/>
                    <a:pt x="84" y="289"/>
                  </a:cubicBezTo>
                  <a:cubicBezTo>
                    <a:pt x="84" y="289"/>
                    <a:pt x="84" y="289"/>
                    <a:pt x="84" y="289"/>
                  </a:cubicBezTo>
                  <a:cubicBezTo>
                    <a:pt x="84" y="289"/>
                    <a:pt x="84" y="289"/>
                    <a:pt x="84" y="289"/>
                  </a:cubicBezTo>
                  <a:cubicBezTo>
                    <a:pt x="84" y="289"/>
                    <a:pt x="84" y="289"/>
                    <a:pt x="84" y="289"/>
                  </a:cubicBezTo>
                  <a:cubicBezTo>
                    <a:pt x="83" y="289"/>
                    <a:pt x="83" y="289"/>
                    <a:pt x="83" y="289"/>
                  </a:cubicBezTo>
                  <a:cubicBezTo>
                    <a:pt x="83" y="289"/>
                    <a:pt x="83" y="289"/>
                    <a:pt x="83" y="289"/>
                  </a:cubicBezTo>
                  <a:cubicBezTo>
                    <a:pt x="83" y="289"/>
                    <a:pt x="83" y="289"/>
                    <a:pt x="83" y="289"/>
                  </a:cubicBezTo>
                  <a:cubicBezTo>
                    <a:pt x="83" y="289"/>
                    <a:pt x="83" y="289"/>
                    <a:pt x="83" y="289"/>
                  </a:cubicBezTo>
                  <a:cubicBezTo>
                    <a:pt x="83" y="289"/>
                    <a:pt x="83" y="289"/>
                    <a:pt x="83" y="289"/>
                  </a:cubicBezTo>
                  <a:cubicBezTo>
                    <a:pt x="83" y="289"/>
                    <a:pt x="83" y="289"/>
                    <a:pt x="83" y="289"/>
                  </a:cubicBezTo>
                  <a:cubicBezTo>
                    <a:pt x="83" y="289"/>
                    <a:pt x="83" y="289"/>
                    <a:pt x="83" y="289"/>
                  </a:cubicBezTo>
                  <a:cubicBezTo>
                    <a:pt x="83" y="289"/>
                    <a:pt x="83" y="289"/>
                    <a:pt x="83" y="289"/>
                  </a:cubicBezTo>
                  <a:cubicBezTo>
                    <a:pt x="83" y="289"/>
                    <a:pt x="83" y="289"/>
                    <a:pt x="83" y="289"/>
                  </a:cubicBezTo>
                  <a:cubicBezTo>
                    <a:pt x="83" y="289"/>
                    <a:pt x="83" y="289"/>
                    <a:pt x="83" y="289"/>
                  </a:cubicBezTo>
                  <a:cubicBezTo>
                    <a:pt x="82" y="289"/>
                    <a:pt x="82" y="289"/>
                    <a:pt x="82" y="289"/>
                  </a:cubicBezTo>
                  <a:cubicBezTo>
                    <a:pt x="82" y="289"/>
                    <a:pt x="82" y="289"/>
                    <a:pt x="82" y="289"/>
                  </a:cubicBezTo>
                  <a:cubicBezTo>
                    <a:pt x="82" y="289"/>
                    <a:pt x="82" y="289"/>
                    <a:pt x="82" y="289"/>
                  </a:cubicBezTo>
                  <a:cubicBezTo>
                    <a:pt x="82" y="289"/>
                    <a:pt x="82" y="289"/>
                    <a:pt x="82" y="289"/>
                  </a:cubicBezTo>
                  <a:cubicBezTo>
                    <a:pt x="82" y="289"/>
                    <a:pt x="82" y="289"/>
                    <a:pt x="82" y="289"/>
                  </a:cubicBezTo>
                  <a:cubicBezTo>
                    <a:pt x="82" y="289"/>
                    <a:pt x="82" y="289"/>
                    <a:pt x="82" y="289"/>
                  </a:cubicBezTo>
                  <a:cubicBezTo>
                    <a:pt x="82" y="288"/>
                    <a:pt x="82" y="288"/>
                    <a:pt x="82" y="288"/>
                  </a:cubicBezTo>
                  <a:cubicBezTo>
                    <a:pt x="82" y="288"/>
                    <a:pt x="82" y="288"/>
                    <a:pt x="82" y="288"/>
                  </a:cubicBezTo>
                  <a:cubicBezTo>
                    <a:pt x="82" y="288"/>
                    <a:pt x="82" y="288"/>
                    <a:pt x="82" y="288"/>
                  </a:cubicBezTo>
                  <a:cubicBezTo>
                    <a:pt x="82" y="288"/>
                    <a:pt x="82" y="288"/>
                    <a:pt x="82" y="288"/>
                  </a:cubicBezTo>
                  <a:cubicBezTo>
                    <a:pt x="81" y="288"/>
                    <a:pt x="81" y="288"/>
                    <a:pt x="81" y="288"/>
                  </a:cubicBezTo>
                  <a:cubicBezTo>
                    <a:pt x="81" y="288"/>
                    <a:pt x="81" y="288"/>
                    <a:pt x="81" y="288"/>
                  </a:cubicBezTo>
                  <a:cubicBezTo>
                    <a:pt x="81" y="288"/>
                    <a:pt x="81" y="288"/>
                    <a:pt x="81" y="288"/>
                  </a:cubicBezTo>
                  <a:cubicBezTo>
                    <a:pt x="81" y="288"/>
                    <a:pt x="81" y="288"/>
                    <a:pt x="81" y="288"/>
                  </a:cubicBezTo>
                  <a:cubicBezTo>
                    <a:pt x="81" y="288"/>
                    <a:pt x="81" y="288"/>
                    <a:pt x="81" y="288"/>
                  </a:cubicBezTo>
                  <a:cubicBezTo>
                    <a:pt x="81" y="288"/>
                    <a:pt x="81" y="288"/>
                    <a:pt x="81" y="288"/>
                  </a:cubicBezTo>
                  <a:cubicBezTo>
                    <a:pt x="81" y="288"/>
                    <a:pt x="81" y="288"/>
                    <a:pt x="81" y="288"/>
                  </a:cubicBezTo>
                  <a:cubicBezTo>
                    <a:pt x="81" y="288"/>
                    <a:pt x="81" y="288"/>
                    <a:pt x="81" y="288"/>
                  </a:cubicBezTo>
                  <a:cubicBezTo>
                    <a:pt x="81" y="288"/>
                    <a:pt x="81" y="288"/>
                    <a:pt x="81" y="288"/>
                  </a:cubicBezTo>
                  <a:cubicBezTo>
                    <a:pt x="81" y="288"/>
                    <a:pt x="81" y="288"/>
                    <a:pt x="81" y="288"/>
                  </a:cubicBezTo>
                  <a:cubicBezTo>
                    <a:pt x="81" y="287"/>
                    <a:pt x="81" y="287"/>
                    <a:pt x="81" y="287"/>
                  </a:cubicBezTo>
                  <a:cubicBezTo>
                    <a:pt x="81" y="287"/>
                    <a:pt x="81" y="287"/>
                    <a:pt x="81" y="287"/>
                  </a:cubicBezTo>
                  <a:cubicBezTo>
                    <a:pt x="80" y="287"/>
                    <a:pt x="80" y="287"/>
                    <a:pt x="80" y="287"/>
                  </a:cubicBezTo>
                  <a:cubicBezTo>
                    <a:pt x="80" y="287"/>
                    <a:pt x="80" y="287"/>
                    <a:pt x="80" y="287"/>
                  </a:cubicBezTo>
                  <a:cubicBezTo>
                    <a:pt x="80" y="287"/>
                    <a:pt x="80" y="287"/>
                    <a:pt x="80" y="287"/>
                  </a:cubicBezTo>
                  <a:cubicBezTo>
                    <a:pt x="80" y="287"/>
                    <a:pt x="80" y="287"/>
                    <a:pt x="80" y="287"/>
                  </a:cubicBezTo>
                  <a:cubicBezTo>
                    <a:pt x="80" y="287"/>
                    <a:pt x="80" y="287"/>
                    <a:pt x="80" y="287"/>
                  </a:cubicBezTo>
                  <a:cubicBezTo>
                    <a:pt x="80" y="287"/>
                    <a:pt x="80" y="287"/>
                    <a:pt x="80" y="287"/>
                  </a:cubicBezTo>
                  <a:cubicBezTo>
                    <a:pt x="80" y="287"/>
                    <a:pt x="80" y="287"/>
                    <a:pt x="80" y="287"/>
                  </a:cubicBezTo>
                  <a:cubicBezTo>
                    <a:pt x="80" y="287"/>
                    <a:pt x="80" y="287"/>
                    <a:pt x="80" y="287"/>
                  </a:cubicBezTo>
                  <a:cubicBezTo>
                    <a:pt x="80" y="287"/>
                    <a:pt x="80" y="287"/>
                    <a:pt x="80" y="287"/>
                  </a:cubicBezTo>
                  <a:cubicBezTo>
                    <a:pt x="80" y="287"/>
                    <a:pt x="80" y="287"/>
                    <a:pt x="80" y="287"/>
                  </a:cubicBezTo>
                  <a:cubicBezTo>
                    <a:pt x="80" y="287"/>
                    <a:pt x="80" y="287"/>
                    <a:pt x="80" y="287"/>
                  </a:cubicBezTo>
                  <a:cubicBezTo>
                    <a:pt x="80" y="287"/>
                    <a:pt x="80" y="287"/>
                    <a:pt x="80" y="287"/>
                  </a:cubicBezTo>
                  <a:cubicBezTo>
                    <a:pt x="80" y="286"/>
                    <a:pt x="80" y="286"/>
                    <a:pt x="80" y="286"/>
                  </a:cubicBezTo>
                  <a:cubicBezTo>
                    <a:pt x="80" y="286"/>
                    <a:pt x="80" y="286"/>
                    <a:pt x="80" y="286"/>
                  </a:cubicBezTo>
                  <a:cubicBezTo>
                    <a:pt x="79" y="286"/>
                    <a:pt x="79" y="286"/>
                    <a:pt x="79" y="286"/>
                  </a:cubicBezTo>
                  <a:cubicBezTo>
                    <a:pt x="79" y="286"/>
                    <a:pt x="79" y="286"/>
                    <a:pt x="79" y="286"/>
                  </a:cubicBezTo>
                  <a:cubicBezTo>
                    <a:pt x="79" y="286"/>
                    <a:pt x="79" y="286"/>
                    <a:pt x="79" y="286"/>
                  </a:cubicBezTo>
                  <a:cubicBezTo>
                    <a:pt x="79" y="286"/>
                    <a:pt x="79" y="286"/>
                    <a:pt x="79" y="286"/>
                  </a:cubicBezTo>
                  <a:cubicBezTo>
                    <a:pt x="79" y="286"/>
                    <a:pt x="79" y="286"/>
                    <a:pt x="79" y="286"/>
                  </a:cubicBezTo>
                  <a:cubicBezTo>
                    <a:pt x="79" y="286"/>
                    <a:pt x="79" y="286"/>
                    <a:pt x="79" y="286"/>
                  </a:cubicBezTo>
                  <a:cubicBezTo>
                    <a:pt x="79" y="286"/>
                    <a:pt x="79" y="286"/>
                    <a:pt x="79" y="286"/>
                  </a:cubicBezTo>
                  <a:cubicBezTo>
                    <a:pt x="79" y="286"/>
                    <a:pt x="79" y="286"/>
                    <a:pt x="79" y="286"/>
                  </a:cubicBezTo>
                  <a:cubicBezTo>
                    <a:pt x="79" y="285"/>
                    <a:pt x="79" y="285"/>
                    <a:pt x="79" y="285"/>
                  </a:cubicBezTo>
                  <a:cubicBezTo>
                    <a:pt x="79" y="285"/>
                    <a:pt x="79" y="285"/>
                    <a:pt x="79" y="285"/>
                  </a:cubicBezTo>
                  <a:cubicBezTo>
                    <a:pt x="79" y="285"/>
                    <a:pt x="79" y="285"/>
                    <a:pt x="79" y="285"/>
                  </a:cubicBezTo>
                  <a:cubicBezTo>
                    <a:pt x="79" y="285"/>
                    <a:pt x="79" y="285"/>
                    <a:pt x="79" y="285"/>
                  </a:cubicBezTo>
                  <a:cubicBezTo>
                    <a:pt x="79" y="285"/>
                    <a:pt x="79" y="285"/>
                    <a:pt x="79" y="285"/>
                  </a:cubicBezTo>
                  <a:cubicBezTo>
                    <a:pt x="79" y="285"/>
                    <a:pt x="79" y="285"/>
                    <a:pt x="79" y="285"/>
                  </a:cubicBezTo>
                  <a:cubicBezTo>
                    <a:pt x="78" y="285"/>
                    <a:pt x="78" y="285"/>
                    <a:pt x="78" y="285"/>
                  </a:cubicBezTo>
                  <a:cubicBezTo>
                    <a:pt x="78" y="285"/>
                    <a:pt x="78" y="285"/>
                    <a:pt x="78" y="285"/>
                  </a:cubicBezTo>
                  <a:cubicBezTo>
                    <a:pt x="78" y="285"/>
                    <a:pt x="78" y="285"/>
                    <a:pt x="78" y="285"/>
                  </a:cubicBezTo>
                  <a:cubicBezTo>
                    <a:pt x="78" y="285"/>
                    <a:pt x="78" y="285"/>
                    <a:pt x="78" y="285"/>
                  </a:cubicBezTo>
                  <a:cubicBezTo>
                    <a:pt x="78" y="284"/>
                    <a:pt x="78" y="284"/>
                    <a:pt x="78" y="284"/>
                  </a:cubicBezTo>
                  <a:cubicBezTo>
                    <a:pt x="78" y="284"/>
                    <a:pt x="78" y="284"/>
                    <a:pt x="78" y="284"/>
                  </a:cubicBezTo>
                  <a:cubicBezTo>
                    <a:pt x="78" y="284"/>
                    <a:pt x="78" y="284"/>
                    <a:pt x="78" y="284"/>
                  </a:cubicBezTo>
                  <a:cubicBezTo>
                    <a:pt x="78" y="284"/>
                    <a:pt x="78" y="284"/>
                    <a:pt x="78" y="284"/>
                  </a:cubicBezTo>
                  <a:cubicBezTo>
                    <a:pt x="78" y="284"/>
                    <a:pt x="78" y="284"/>
                    <a:pt x="78" y="284"/>
                  </a:cubicBezTo>
                  <a:cubicBezTo>
                    <a:pt x="78" y="284"/>
                    <a:pt x="78" y="284"/>
                    <a:pt x="78" y="284"/>
                  </a:cubicBezTo>
                  <a:cubicBezTo>
                    <a:pt x="78" y="284"/>
                    <a:pt x="78" y="284"/>
                    <a:pt x="78" y="284"/>
                  </a:cubicBezTo>
                  <a:cubicBezTo>
                    <a:pt x="78" y="284"/>
                    <a:pt x="78" y="284"/>
                    <a:pt x="78" y="284"/>
                  </a:cubicBezTo>
                  <a:cubicBezTo>
                    <a:pt x="78" y="284"/>
                    <a:pt x="78" y="284"/>
                    <a:pt x="78" y="284"/>
                  </a:cubicBezTo>
                  <a:cubicBezTo>
                    <a:pt x="78" y="284"/>
                    <a:pt x="78" y="284"/>
                    <a:pt x="78" y="284"/>
                  </a:cubicBezTo>
                  <a:cubicBezTo>
                    <a:pt x="78" y="283"/>
                    <a:pt x="78" y="283"/>
                    <a:pt x="78" y="283"/>
                  </a:cubicBezTo>
                  <a:cubicBezTo>
                    <a:pt x="78" y="283"/>
                    <a:pt x="78" y="283"/>
                    <a:pt x="78" y="283"/>
                  </a:cubicBezTo>
                  <a:cubicBezTo>
                    <a:pt x="78" y="283"/>
                    <a:pt x="78" y="283"/>
                    <a:pt x="78" y="283"/>
                  </a:cubicBezTo>
                  <a:cubicBezTo>
                    <a:pt x="78" y="283"/>
                    <a:pt x="78" y="283"/>
                    <a:pt x="78" y="283"/>
                  </a:cubicBezTo>
                  <a:cubicBezTo>
                    <a:pt x="78" y="283"/>
                    <a:pt x="78" y="283"/>
                    <a:pt x="78" y="283"/>
                  </a:cubicBezTo>
                  <a:cubicBezTo>
                    <a:pt x="78" y="283"/>
                    <a:pt x="78" y="283"/>
                    <a:pt x="78" y="283"/>
                  </a:cubicBezTo>
                  <a:cubicBezTo>
                    <a:pt x="78" y="283"/>
                    <a:pt x="78" y="283"/>
                    <a:pt x="78" y="283"/>
                  </a:cubicBezTo>
                  <a:cubicBezTo>
                    <a:pt x="78" y="283"/>
                    <a:pt x="78" y="283"/>
                    <a:pt x="78" y="283"/>
                  </a:cubicBezTo>
                  <a:cubicBezTo>
                    <a:pt x="78" y="283"/>
                    <a:pt x="78" y="283"/>
                    <a:pt x="78" y="283"/>
                  </a:cubicBezTo>
                  <a:cubicBezTo>
                    <a:pt x="78" y="283"/>
                    <a:pt x="78" y="283"/>
                    <a:pt x="78" y="283"/>
                  </a:cubicBezTo>
                  <a:cubicBezTo>
                    <a:pt x="78" y="282"/>
                    <a:pt x="78" y="282"/>
                    <a:pt x="78" y="282"/>
                  </a:cubicBezTo>
                  <a:cubicBezTo>
                    <a:pt x="78" y="282"/>
                    <a:pt x="78" y="282"/>
                    <a:pt x="78" y="282"/>
                  </a:cubicBezTo>
                  <a:cubicBezTo>
                    <a:pt x="78" y="282"/>
                    <a:pt x="78" y="282"/>
                    <a:pt x="78" y="282"/>
                  </a:cubicBezTo>
                  <a:cubicBezTo>
                    <a:pt x="78" y="282"/>
                    <a:pt x="78" y="282"/>
                    <a:pt x="78" y="282"/>
                  </a:cubicBezTo>
                  <a:cubicBezTo>
                    <a:pt x="77" y="282"/>
                    <a:pt x="77" y="282"/>
                    <a:pt x="77" y="282"/>
                  </a:cubicBezTo>
                  <a:cubicBezTo>
                    <a:pt x="77" y="282"/>
                    <a:pt x="77" y="282"/>
                    <a:pt x="77" y="282"/>
                  </a:cubicBezTo>
                  <a:cubicBezTo>
                    <a:pt x="77" y="282"/>
                    <a:pt x="77" y="282"/>
                    <a:pt x="77" y="282"/>
                  </a:cubicBezTo>
                  <a:cubicBezTo>
                    <a:pt x="77" y="282"/>
                    <a:pt x="77" y="282"/>
                    <a:pt x="77" y="282"/>
                  </a:cubicBezTo>
                  <a:cubicBezTo>
                    <a:pt x="77" y="281"/>
                    <a:pt x="77" y="281"/>
                    <a:pt x="77" y="281"/>
                  </a:cubicBezTo>
                  <a:cubicBezTo>
                    <a:pt x="77" y="281"/>
                    <a:pt x="77" y="281"/>
                    <a:pt x="77" y="281"/>
                  </a:cubicBezTo>
                  <a:cubicBezTo>
                    <a:pt x="77" y="281"/>
                    <a:pt x="77" y="281"/>
                    <a:pt x="77" y="281"/>
                  </a:cubicBezTo>
                  <a:cubicBezTo>
                    <a:pt x="77" y="281"/>
                    <a:pt x="77" y="281"/>
                    <a:pt x="77" y="281"/>
                  </a:cubicBezTo>
                  <a:cubicBezTo>
                    <a:pt x="77" y="281"/>
                    <a:pt x="77" y="281"/>
                    <a:pt x="77" y="281"/>
                  </a:cubicBezTo>
                  <a:cubicBezTo>
                    <a:pt x="77" y="281"/>
                    <a:pt x="77" y="281"/>
                    <a:pt x="77" y="281"/>
                  </a:cubicBezTo>
                  <a:cubicBezTo>
                    <a:pt x="77" y="281"/>
                    <a:pt x="77" y="281"/>
                    <a:pt x="77" y="281"/>
                  </a:cubicBezTo>
                  <a:cubicBezTo>
                    <a:pt x="77" y="281"/>
                    <a:pt x="77" y="281"/>
                    <a:pt x="77" y="281"/>
                  </a:cubicBezTo>
                  <a:cubicBezTo>
                    <a:pt x="77" y="280"/>
                    <a:pt x="77" y="280"/>
                    <a:pt x="77" y="280"/>
                  </a:cubicBezTo>
                  <a:cubicBezTo>
                    <a:pt x="77" y="280"/>
                    <a:pt x="77" y="280"/>
                    <a:pt x="77" y="280"/>
                  </a:cubicBezTo>
                  <a:cubicBezTo>
                    <a:pt x="77" y="280"/>
                    <a:pt x="77" y="280"/>
                    <a:pt x="77" y="280"/>
                  </a:cubicBezTo>
                  <a:cubicBezTo>
                    <a:pt x="77" y="280"/>
                    <a:pt x="77" y="280"/>
                    <a:pt x="77" y="280"/>
                  </a:cubicBezTo>
                  <a:cubicBezTo>
                    <a:pt x="77" y="280"/>
                    <a:pt x="77" y="280"/>
                    <a:pt x="77" y="280"/>
                  </a:cubicBezTo>
                  <a:cubicBezTo>
                    <a:pt x="77" y="280"/>
                    <a:pt x="77" y="280"/>
                    <a:pt x="77" y="280"/>
                  </a:cubicBezTo>
                  <a:cubicBezTo>
                    <a:pt x="77" y="280"/>
                    <a:pt x="77" y="280"/>
                    <a:pt x="77" y="280"/>
                  </a:cubicBezTo>
                  <a:cubicBezTo>
                    <a:pt x="77" y="280"/>
                    <a:pt x="77" y="280"/>
                    <a:pt x="77" y="280"/>
                  </a:cubicBezTo>
                  <a:cubicBezTo>
                    <a:pt x="77" y="280"/>
                    <a:pt x="77" y="280"/>
                    <a:pt x="77" y="280"/>
                  </a:cubicBezTo>
                  <a:cubicBezTo>
                    <a:pt x="77" y="280"/>
                    <a:pt x="77" y="280"/>
                    <a:pt x="77" y="280"/>
                  </a:cubicBezTo>
                  <a:cubicBezTo>
                    <a:pt x="77" y="279"/>
                    <a:pt x="77" y="279"/>
                    <a:pt x="77" y="279"/>
                  </a:cubicBezTo>
                  <a:cubicBezTo>
                    <a:pt x="77" y="279"/>
                    <a:pt x="77" y="279"/>
                    <a:pt x="77" y="279"/>
                  </a:cubicBezTo>
                  <a:cubicBezTo>
                    <a:pt x="77" y="279"/>
                    <a:pt x="77" y="279"/>
                    <a:pt x="77" y="279"/>
                  </a:cubicBezTo>
                  <a:cubicBezTo>
                    <a:pt x="77" y="279"/>
                    <a:pt x="77" y="279"/>
                    <a:pt x="77" y="279"/>
                  </a:cubicBezTo>
                  <a:cubicBezTo>
                    <a:pt x="78" y="279"/>
                    <a:pt x="78" y="279"/>
                    <a:pt x="78" y="279"/>
                  </a:cubicBezTo>
                  <a:cubicBezTo>
                    <a:pt x="78" y="279"/>
                    <a:pt x="78" y="279"/>
                    <a:pt x="78" y="279"/>
                  </a:cubicBezTo>
                  <a:cubicBezTo>
                    <a:pt x="78" y="279"/>
                    <a:pt x="78" y="279"/>
                    <a:pt x="78" y="279"/>
                  </a:cubicBezTo>
                  <a:cubicBezTo>
                    <a:pt x="78" y="279"/>
                    <a:pt x="78" y="279"/>
                    <a:pt x="78" y="279"/>
                  </a:cubicBezTo>
                  <a:cubicBezTo>
                    <a:pt x="78" y="278"/>
                    <a:pt x="78" y="278"/>
                    <a:pt x="78" y="278"/>
                  </a:cubicBezTo>
                  <a:cubicBezTo>
                    <a:pt x="78" y="278"/>
                    <a:pt x="78" y="278"/>
                    <a:pt x="78" y="278"/>
                  </a:cubicBezTo>
                  <a:cubicBezTo>
                    <a:pt x="78" y="278"/>
                    <a:pt x="78" y="278"/>
                    <a:pt x="78" y="278"/>
                  </a:cubicBezTo>
                  <a:cubicBezTo>
                    <a:pt x="78" y="278"/>
                    <a:pt x="78" y="278"/>
                    <a:pt x="78" y="278"/>
                  </a:cubicBezTo>
                  <a:cubicBezTo>
                    <a:pt x="78" y="278"/>
                    <a:pt x="78" y="278"/>
                    <a:pt x="78" y="278"/>
                  </a:cubicBezTo>
                  <a:cubicBezTo>
                    <a:pt x="78" y="278"/>
                    <a:pt x="78" y="278"/>
                    <a:pt x="78" y="278"/>
                  </a:cubicBezTo>
                  <a:cubicBezTo>
                    <a:pt x="78" y="278"/>
                    <a:pt x="78" y="278"/>
                    <a:pt x="78" y="278"/>
                  </a:cubicBezTo>
                  <a:cubicBezTo>
                    <a:pt x="78" y="278"/>
                    <a:pt x="78" y="278"/>
                    <a:pt x="78" y="278"/>
                  </a:cubicBezTo>
                  <a:cubicBezTo>
                    <a:pt x="78" y="278"/>
                    <a:pt x="78" y="278"/>
                    <a:pt x="78" y="278"/>
                  </a:cubicBezTo>
                  <a:cubicBezTo>
                    <a:pt x="78" y="278"/>
                    <a:pt x="78" y="278"/>
                    <a:pt x="78" y="278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78" y="277"/>
                    <a:pt x="78" y="277"/>
                    <a:pt x="78" y="277"/>
                  </a:cubicBezTo>
                  <a:cubicBezTo>
                    <a:pt x="78" y="276"/>
                    <a:pt x="78" y="276"/>
                    <a:pt x="78" y="276"/>
                  </a:cubicBezTo>
                  <a:cubicBezTo>
                    <a:pt x="78" y="276"/>
                    <a:pt x="78" y="276"/>
                    <a:pt x="78" y="276"/>
                  </a:cubicBezTo>
                  <a:cubicBezTo>
                    <a:pt x="78" y="276"/>
                    <a:pt x="78" y="276"/>
                    <a:pt x="78" y="276"/>
                  </a:cubicBezTo>
                  <a:cubicBezTo>
                    <a:pt x="78" y="276"/>
                    <a:pt x="78" y="276"/>
                    <a:pt x="78" y="276"/>
                  </a:cubicBezTo>
                  <a:cubicBezTo>
                    <a:pt x="78" y="276"/>
                    <a:pt x="78" y="276"/>
                    <a:pt x="78" y="276"/>
                  </a:cubicBezTo>
                  <a:cubicBezTo>
                    <a:pt x="79" y="276"/>
                    <a:pt x="79" y="276"/>
                    <a:pt x="79" y="276"/>
                  </a:cubicBezTo>
                  <a:cubicBezTo>
                    <a:pt x="79" y="276"/>
                    <a:pt x="79" y="276"/>
                    <a:pt x="79" y="276"/>
                  </a:cubicBezTo>
                  <a:cubicBezTo>
                    <a:pt x="79" y="276"/>
                    <a:pt x="79" y="276"/>
                    <a:pt x="79" y="276"/>
                  </a:cubicBezTo>
                  <a:cubicBezTo>
                    <a:pt x="79" y="276"/>
                    <a:pt x="79" y="276"/>
                    <a:pt x="79" y="276"/>
                  </a:cubicBezTo>
                  <a:cubicBezTo>
                    <a:pt x="79" y="275"/>
                    <a:pt x="79" y="275"/>
                    <a:pt x="79" y="275"/>
                  </a:cubicBezTo>
                  <a:cubicBezTo>
                    <a:pt x="79" y="275"/>
                    <a:pt x="79" y="275"/>
                    <a:pt x="79" y="275"/>
                  </a:cubicBezTo>
                  <a:cubicBezTo>
                    <a:pt x="79" y="275"/>
                    <a:pt x="79" y="275"/>
                    <a:pt x="79" y="275"/>
                  </a:cubicBezTo>
                  <a:cubicBezTo>
                    <a:pt x="79" y="275"/>
                    <a:pt x="79" y="275"/>
                    <a:pt x="79" y="275"/>
                  </a:cubicBezTo>
                  <a:cubicBezTo>
                    <a:pt x="79" y="275"/>
                    <a:pt x="79" y="275"/>
                    <a:pt x="79" y="275"/>
                  </a:cubicBezTo>
                  <a:cubicBezTo>
                    <a:pt x="79" y="275"/>
                    <a:pt x="79" y="275"/>
                    <a:pt x="79" y="275"/>
                  </a:cubicBezTo>
                  <a:cubicBezTo>
                    <a:pt x="79" y="275"/>
                    <a:pt x="79" y="275"/>
                    <a:pt x="79" y="275"/>
                  </a:cubicBezTo>
                  <a:cubicBezTo>
                    <a:pt x="79" y="275"/>
                    <a:pt x="79" y="275"/>
                    <a:pt x="79" y="275"/>
                  </a:cubicBezTo>
                  <a:cubicBezTo>
                    <a:pt x="80" y="275"/>
                    <a:pt x="80" y="275"/>
                    <a:pt x="80" y="275"/>
                  </a:cubicBezTo>
                  <a:cubicBezTo>
                    <a:pt x="80" y="274"/>
                    <a:pt x="80" y="274"/>
                    <a:pt x="80" y="274"/>
                  </a:cubicBezTo>
                  <a:cubicBezTo>
                    <a:pt x="80" y="274"/>
                    <a:pt x="80" y="274"/>
                    <a:pt x="80" y="274"/>
                  </a:cubicBezTo>
                  <a:cubicBezTo>
                    <a:pt x="80" y="274"/>
                    <a:pt x="80" y="274"/>
                    <a:pt x="80" y="274"/>
                  </a:cubicBezTo>
                  <a:cubicBezTo>
                    <a:pt x="80" y="274"/>
                    <a:pt x="80" y="274"/>
                    <a:pt x="80" y="274"/>
                  </a:cubicBezTo>
                  <a:cubicBezTo>
                    <a:pt x="80" y="274"/>
                    <a:pt x="80" y="274"/>
                    <a:pt x="80" y="274"/>
                  </a:cubicBezTo>
                  <a:cubicBezTo>
                    <a:pt x="80" y="274"/>
                    <a:pt x="80" y="274"/>
                    <a:pt x="80" y="274"/>
                  </a:cubicBezTo>
                  <a:cubicBezTo>
                    <a:pt x="80" y="274"/>
                    <a:pt x="80" y="274"/>
                    <a:pt x="80" y="274"/>
                  </a:cubicBezTo>
                  <a:cubicBezTo>
                    <a:pt x="80" y="274"/>
                    <a:pt x="80" y="274"/>
                    <a:pt x="80" y="274"/>
                  </a:cubicBezTo>
                  <a:cubicBezTo>
                    <a:pt x="80" y="274"/>
                    <a:pt x="80" y="274"/>
                    <a:pt x="80" y="274"/>
                  </a:cubicBezTo>
                  <a:cubicBezTo>
                    <a:pt x="80" y="274"/>
                    <a:pt x="80" y="274"/>
                    <a:pt x="80" y="274"/>
                  </a:cubicBezTo>
                  <a:cubicBezTo>
                    <a:pt x="81" y="273"/>
                    <a:pt x="81" y="273"/>
                    <a:pt x="81" y="273"/>
                  </a:cubicBezTo>
                  <a:cubicBezTo>
                    <a:pt x="81" y="273"/>
                    <a:pt x="81" y="273"/>
                    <a:pt x="81" y="273"/>
                  </a:cubicBezTo>
                  <a:cubicBezTo>
                    <a:pt x="81" y="273"/>
                    <a:pt x="81" y="273"/>
                    <a:pt x="81" y="273"/>
                  </a:cubicBezTo>
                  <a:cubicBezTo>
                    <a:pt x="81" y="273"/>
                    <a:pt x="81" y="273"/>
                    <a:pt x="81" y="273"/>
                  </a:cubicBezTo>
                  <a:cubicBezTo>
                    <a:pt x="81" y="273"/>
                    <a:pt x="81" y="273"/>
                    <a:pt x="81" y="273"/>
                  </a:cubicBezTo>
                  <a:cubicBezTo>
                    <a:pt x="81" y="273"/>
                    <a:pt x="81" y="273"/>
                    <a:pt x="81" y="273"/>
                  </a:cubicBezTo>
                  <a:cubicBezTo>
                    <a:pt x="81" y="273"/>
                    <a:pt x="81" y="273"/>
                    <a:pt x="81" y="273"/>
                  </a:cubicBezTo>
                  <a:cubicBezTo>
                    <a:pt x="81" y="273"/>
                    <a:pt x="81" y="273"/>
                    <a:pt x="81" y="273"/>
                  </a:cubicBezTo>
                  <a:cubicBezTo>
                    <a:pt x="82" y="273"/>
                    <a:pt x="82" y="273"/>
                    <a:pt x="82" y="273"/>
                  </a:cubicBezTo>
                  <a:cubicBezTo>
                    <a:pt x="82" y="273"/>
                    <a:pt x="82" y="273"/>
                    <a:pt x="82" y="273"/>
                  </a:cubicBezTo>
                  <a:cubicBezTo>
                    <a:pt x="82" y="273"/>
                    <a:pt x="82" y="273"/>
                    <a:pt x="82" y="273"/>
                  </a:cubicBezTo>
                  <a:cubicBezTo>
                    <a:pt x="82" y="272"/>
                    <a:pt x="82" y="272"/>
                    <a:pt x="82" y="272"/>
                  </a:cubicBezTo>
                  <a:cubicBezTo>
                    <a:pt x="82" y="272"/>
                    <a:pt x="82" y="272"/>
                    <a:pt x="82" y="272"/>
                  </a:cubicBezTo>
                  <a:cubicBezTo>
                    <a:pt x="82" y="272"/>
                    <a:pt x="82" y="272"/>
                    <a:pt x="82" y="272"/>
                  </a:cubicBezTo>
                  <a:cubicBezTo>
                    <a:pt x="82" y="272"/>
                    <a:pt x="82" y="272"/>
                    <a:pt x="82" y="272"/>
                  </a:cubicBezTo>
                  <a:cubicBezTo>
                    <a:pt x="83" y="272"/>
                    <a:pt x="83" y="272"/>
                    <a:pt x="83" y="272"/>
                  </a:cubicBezTo>
                  <a:cubicBezTo>
                    <a:pt x="83" y="272"/>
                    <a:pt x="83" y="272"/>
                    <a:pt x="83" y="272"/>
                  </a:cubicBezTo>
                  <a:cubicBezTo>
                    <a:pt x="83" y="272"/>
                    <a:pt x="83" y="272"/>
                    <a:pt x="83" y="272"/>
                  </a:cubicBezTo>
                  <a:cubicBezTo>
                    <a:pt x="83" y="272"/>
                    <a:pt x="83" y="272"/>
                    <a:pt x="83" y="272"/>
                  </a:cubicBezTo>
                  <a:cubicBezTo>
                    <a:pt x="83" y="272"/>
                    <a:pt x="83" y="272"/>
                    <a:pt x="83" y="272"/>
                  </a:cubicBezTo>
                  <a:cubicBezTo>
                    <a:pt x="83" y="272"/>
                    <a:pt x="83" y="272"/>
                    <a:pt x="83" y="272"/>
                  </a:cubicBezTo>
                  <a:cubicBezTo>
                    <a:pt x="83" y="272"/>
                    <a:pt x="83" y="272"/>
                    <a:pt x="83" y="272"/>
                  </a:cubicBezTo>
                  <a:cubicBezTo>
                    <a:pt x="84" y="272"/>
                    <a:pt x="84" y="272"/>
                    <a:pt x="84" y="272"/>
                  </a:cubicBezTo>
                  <a:cubicBezTo>
                    <a:pt x="84" y="272"/>
                    <a:pt x="84" y="272"/>
                    <a:pt x="84" y="272"/>
                  </a:cubicBezTo>
                  <a:cubicBezTo>
                    <a:pt x="84" y="272"/>
                    <a:pt x="84" y="272"/>
                    <a:pt x="84" y="272"/>
                  </a:cubicBezTo>
                  <a:cubicBezTo>
                    <a:pt x="84" y="272"/>
                    <a:pt x="84" y="272"/>
                    <a:pt x="84" y="272"/>
                  </a:cubicBezTo>
                  <a:cubicBezTo>
                    <a:pt x="84" y="272"/>
                    <a:pt x="84" y="272"/>
                    <a:pt x="84" y="272"/>
                  </a:cubicBezTo>
                  <a:cubicBezTo>
                    <a:pt x="85" y="271"/>
                    <a:pt x="85" y="271"/>
                    <a:pt x="85" y="271"/>
                  </a:cubicBezTo>
                  <a:cubicBezTo>
                    <a:pt x="85" y="271"/>
                    <a:pt x="85" y="271"/>
                    <a:pt x="85" y="271"/>
                  </a:cubicBezTo>
                  <a:cubicBezTo>
                    <a:pt x="85" y="271"/>
                    <a:pt x="85" y="271"/>
                    <a:pt x="85" y="271"/>
                  </a:cubicBezTo>
                  <a:cubicBezTo>
                    <a:pt x="85" y="271"/>
                    <a:pt x="85" y="271"/>
                    <a:pt x="85" y="271"/>
                  </a:cubicBezTo>
                  <a:cubicBezTo>
                    <a:pt x="85" y="271"/>
                    <a:pt x="85" y="271"/>
                    <a:pt x="85" y="271"/>
                  </a:cubicBezTo>
                  <a:cubicBezTo>
                    <a:pt x="86" y="271"/>
                    <a:pt x="86" y="271"/>
                    <a:pt x="86" y="271"/>
                  </a:cubicBezTo>
                  <a:cubicBezTo>
                    <a:pt x="86" y="271"/>
                    <a:pt x="86" y="271"/>
                    <a:pt x="86" y="271"/>
                  </a:cubicBezTo>
                  <a:cubicBezTo>
                    <a:pt x="86" y="271"/>
                    <a:pt x="86" y="271"/>
                    <a:pt x="86" y="271"/>
                  </a:cubicBezTo>
                  <a:cubicBezTo>
                    <a:pt x="86" y="271"/>
                    <a:pt x="86" y="271"/>
                    <a:pt x="86" y="271"/>
                  </a:cubicBezTo>
                  <a:cubicBezTo>
                    <a:pt x="87" y="271"/>
                    <a:pt x="87" y="271"/>
                    <a:pt x="87" y="271"/>
                  </a:cubicBezTo>
                  <a:cubicBezTo>
                    <a:pt x="179" y="271"/>
                    <a:pt x="179" y="271"/>
                    <a:pt x="179" y="271"/>
                  </a:cubicBezTo>
                  <a:cubicBezTo>
                    <a:pt x="173" y="277"/>
                    <a:pt x="167" y="283"/>
                    <a:pt x="162" y="290"/>
                  </a:cubicBezTo>
                  <a:close/>
                  <a:moveTo>
                    <a:pt x="77" y="280"/>
                  </a:moveTo>
                  <a:cubicBezTo>
                    <a:pt x="77" y="280"/>
                    <a:pt x="77" y="280"/>
                    <a:pt x="77" y="280"/>
                  </a:cubicBezTo>
                  <a:close/>
                  <a:moveTo>
                    <a:pt x="87" y="218"/>
                  </a:moveTo>
                  <a:cubicBezTo>
                    <a:pt x="258" y="218"/>
                    <a:pt x="258" y="218"/>
                    <a:pt x="258" y="218"/>
                  </a:cubicBezTo>
                  <a:cubicBezTo>
                    <a:pt x="263" y="218"/>
                    <a:pt x="267" y="222"/>
                    <a:pt x="267" y="228"/>
                  </a:cubicBezTo>
                  <a:cubicBezTo>
                    <a:pt x="267" y="228"/>
                    <a:pt x="267" y="228"/>
                    <a:pt x="267" y="228"/>
                  </a:cubicBezTo>
                  <a:cubicBezTo>
                    <a:pt x="267" y="229"/>
                    <a:pt x="267" y="231"/>
                    <a:pt x="266" y="232"/>
                  </a:cubicBezTo>
                  <a:cubicBezTo>
                    <a:pt x="257" y="233"/>
                    <a:pt x="249" y="235"/>
                    <a:pt x="241" y="237"/>
                  </a:cubicBezTo>
                  <a:cubicBezTo>
                    <a:pt x="87" y="237"/>
                    <a:pt x="87" y="237"/>
                    <a:pt x="87" y="237"/>
                  </a:cubicBezTo>
                  <a:cubicBezTo>
                    <a:pt x="82" y="237"/>
                    <a:pt x="77" y="233"/>
                    <a:pt x="77" y="228"/>
                  </a:cubicBezTo>
                  <a:cubicBezTo>
                    <a:pt x="77" y="228"/>
                    <a:pt x="77" y="228"/>
                    <a:pt x="77" y="228"/>
                  </a:cubicBezTo>
                  <a:cubicBezTo>
                    <a:pt x="77" y="222"/>
                    <a:pt x="82" y="218"/>
                    <a:pt x="87" y="218"/>
                  </a:cubicBezTo>
                  <a:close/>
                  <a:moveTo>
                    <a:pt x="87" y="165"/>
                  </a:moveTo>
                  <a:cubicBezTo>
                    <a:pt x="258" y="165"/>
                    <a:pt x="258" y="165"/>
                    <a:pt x="258" y="165"/>
                  </a:cubicBezTo>
                  <a:cubicBezTo>
                    <a:pt x="263" y="165"/>
                    <a:pt x="267" y="170"/>
                    <a:pt x="267" y="175"/>
                  </a:cubicBezTo>
                  <a:cubicBezTo>
                    <a:pt x="267" y="175"/>
                    <a:pt x="267" y="175"/>
                    <a:pt x="267" y="175"/>
                  </a:cubicBezTo>
                  <a:cubicBezTo>
                    <a:pt x="267" y="180"/>
                    <a:pt x="263" y="184"/>
                    <a:pt x="258" y="184"/>
                  </a:cubicBezTo>
                  <a:cubicBezTo>
                    <a:pt x="87" y="184"/>
                    <a:pt x="87" y="184"/>
                    <a:pt x="87" y="184"/>
                  </a:cubicBezTo>
                  <a:cubicBezTo>
                    <a:pt x="82" y="184"/>
                    <a:pt x="77" y="180"/>
                    <a:pt x="77" y="175"/>
                  </a:cubicBezTo>
                  <a:cubicBezTo>
                    <a:pt x="77" y="175"/>
                    <a:pt x="77" y="175"/>
                    <a:pt x="77" y="175"/>
                  </a:cubicBezTo>
                  <a:cubicBezTo>
                    <a:pt x="77" y="170"/>
                    <a:pt x="82" y="165"/>
                    <a:pt x="87" y="165"/>
                  </a:cubicBezTo>
                  <a:close/>
                  <a:moveTo>
                    <a:pt x="87" y="115"/>
                  </a:moveTo>
                  <a:cubicBezTo>
                    <a:pt x="258" y="115"/>
                    <a:pt x="258" y="115"/>
                    <a:pt x="258" y="115"/>
                  </a:cubicBezTo>
                  <a:cubicBezTo>
                    <a:pt x="263" y="115"/>
                    <a:pt x="267" y="120"/>
                    <a:pt x="267" y="125"/>
                  </a:cubicBezTo>
                  <a:cubicBezTo>
                    <a:pt x="267" y="125"/>
                    <a:pt x="267" y="125"/>
                    <a:pt x="267" y="125"/>
                  </a:cubicBezTo>
                  <a:cubicBezTo>
                    <a:pt x="267" y="130"/>
                    <a:pt x="263" y="134"/>
                    <a:pt x="258" y="134"/>
                  </a:cubicBezTo>
                  <a:cubicBezTo>
                    <a:pt x="87" y="134"/>
                    <a:pt x="87" y="134"/>
                    <a:pt x="87" y="134"/>
                  </a:cubicBezTo>
                  <a:cubicBezTo>
                    <a:pt x="82" y="134"/>
                    <a:pt x="77" y="130"/>
                    <a:pt x="77" y="125"/>
                  </a:cubicBezTo>
                  <a:cubicBezTo>
                    <a:pt x="77" y="125"/>
                    <a:pt x="77" y="125"/>
                    <a:pt x="77" y="125"/>
                  </a:cubicBezTo>
                  <a:cubicBezTo>
                    <a:pt x="77" y="120"/>
                    <a:pt x="82" y="115"/>
                    <a:pt x="87" y="115"/>
                  </a:cubicBezTo>
                  <a:close/>
                  <a:moveTo>
                    <a:pt x="130" y="59"/>
                  </a:moveTo>
                  <a:cubicBezTo>
                    <a:pt x="130" y="33"/>
                    <a:pt x="130" y="33"/>
                    <a:pt x="130" y="33"/>
                  </a:cubicBezTo>
                  <a:cubicBezTo>
                    <a:pt x="130" y="31"/>
                    <a:pt x="131" y="29"/>
                    <a:pt x="132" y="28"/>
                  </a:cubicBezTo>
                  <a:cubicBezTo>
                    <a:pt x="132" y="28"/>
                    <a:pt x="132" y="28"/>
                    <a:pt x="132" y="28"/>
                  </a:cubicBezTo>
                  <a:cubicBezTo>
                    <a:pt x="134" y="27"/>
                    <a:pt x="136" y="26"/>
                    <a:pt x="138" y="26"/>
                  </a:cubicBezTo>
                  <a:cubicBezTo>
                    <a:pt x="206" y="26"/>
                    <a:pt x="206" y="26"/>
                    <a:pt x="206" y="26"/>
                  </a:cubicBezTo>
                  <a:cubicBezTo>
                    <a:pt x="208" y="26"/>
                    <a:pt x="211" y="27"/>
                    <a:pt x="212" y="28"/>
                  </a:cubicBezTo>
                  <a:cubicBezTo>
                    <a:pt x="212" y="28"/>
                    <a:pt x="212" y="28"/>
                    <a:pt x="212" y="28"/>
                  </a:cubicBezTo>
                  <a:cubicBezTo>
                    <a:pt x="214" y="29"/>
                    <a:pt x="215" y="31"/>
                    <a:pt x="215" y="33"/>
                  </a:cubicBezTo>
                  <a:cubicBezTo>
                    <a:pt x="215" y="59"/>
                    <a:pt x="215" y="59"/>
                    <a:pt x="215" y="59"/>
                  </a:cubicBezTo>
                  <a:lnTo>
                    <a:pt x="130" y="5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Rectangle 58"/>
            <p:cNvSpPr>
              <a:spLocks noChangeArrowheads="1"/>
            </p:cNvSpPr>
            <p:nvPr/>
          </p:nvSpPr>
          <p:spPr bwMode="auto">
            <a:xfrm rot="2700000">
              <a:off x="2655457" y="2650490"/>
              <a:ext cx="631043" cy="631043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sz="1600" ker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" name="Rectangle 58"/>
            <p:cNvSpPr>
              <a:spLocks noChangeArrowheads="1"/>
            </p:cNvSpPr>
            <p:nvPr/>
          </p:nvSpPr>
          <p:spPr bwMode="auto">
            <a:xfrm rot="2700000">
              <a:off x="8987566" y="2650490"/>
              <a:ext cx="631043" cy="631043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sz="1600" ker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7" name="TextBox 76"/>
          <p:cNvSpPr txBox="1"/>
          <p:nvPr/>
        </p:nvSpPr>
        <p:spPr>
          <a:xfrm>
            <a:off x="1559600" y="3733876"/>
            <a:ext cx="4541020" cy="3371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直接给定一个条件，控制单个元素的显示或隐藏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343660" y="5085080"/>
            <a:ext cx="4349750" cy="46037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&lt;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标签名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v-if="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条件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"&gt;&lt;/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标签名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&gt;</a:t>
            </a:r>
            <a:endParaRPr lang="fr-FR" altLang="zh-CN" sz="16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25" name="TextBox 76"/>
          <p:cNvSpPr txBox="1"/>
          <p:nvPr/>
        </p:nvSpPr>
        <p:spPr>
          <a:xfrm>
            <a:off x="6116320" y="3733800"/>
            <a:ext cx="4475480" cy="683260"/>
          </a:xfrm>
          <a:prstGeom prst="rect">
            <a:avLst/>
          </a:prstGeom>
          <a:noFill/>
          <a:effectLst/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通过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v-if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结合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v-else-if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、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v-else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来控制不同元素的显示或隐藏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520055" y="4725035"/>
            <a:ext cx="5031740" cy="126428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no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&lt;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标签名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v-if="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条件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A"&gt;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展示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A&lt;/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标签名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&lt;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标签名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v-else-if="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条件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B"&gt;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展示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B&lt;/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标签名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&lt;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标签名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v-else&gt;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展示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C&lt;/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标签名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&gt;</a:t>
            </a:r>
            <a:endParaRPr lang="fr-FR" altLang="zh-CN" sz="16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23" name="TextBox 35"/>
          <p:cNvSpPr txBox="1">
            <a:spLocks noChangeArrowheads="1"/>
          </p:cNvSpPr>
          <p:nvPr/>
        </p:nvSpPr>
        <p:spPr bwMode="auto">
          <a:xfrm>
            <a:off x="1847080" y="1080250"/>
            <a:ext cx="6313087" cy="674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400" b="0" kern="0" dirty="0">
                <a:latin typeface="+mn-lt"/>
                <a:ea typeface="+mn-ea"/>
                <a:cs typeface="+mn-lt"/>
              </a:rPr>
              <a:t>v-if有两种使用方式。</a:t>
            </a:r>
            <a:endParaRPr lang="zh-CN" altLang="en-US" sz="2400" b="0" kern="0" dirty="0">
              <a:latin typeface="+mn-lt"/>
              <a:ea typeface="+mn-ea"/>
              <a:cs typeface="+mn-lt"/>
            </a:endParaRPr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2135560" y="953344"/>
            <a:ext cx="8352928" cy="5904656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800" b="1" kern="1200" dirty="0">
              <a:latin typeface="+mj-lt"/>
            </a:endParaRPr>
          </a:p>
        </p:txBody>
      </p:sp>
      <p:sp>
        <p:nvSpPr>
          <p:cNvPr id="4" name="文本框 3">
            <a:hlinkClick r:id="rId1" action="ppaction://hlinkfile"/>
          </p:cNvPr>
          <p:cNvSpPr txBox="1"/>
          <p:nvPr/>
        </p:nvSpPr>
        <p:spPr>
          <a:xfrm>
            <a:off x="9264650" y="4652645"/>
            <a:ext cx="1139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hlinkClick r:id="rId2" action="ppaction://hlinkfile"/>
              </a:rPr>
              <a:t>运行</a:t>
            </a:r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6311895" y="188387"/>
            <a:ext cx="4035301" cy="65405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4572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9144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13716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1828800" algn="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r>
              <a:rPr lang="en-US" altLang="zh-CN" sz="3600" dirty="0"/>
              <a:t>v-if</a:t>
            </a:r>
            <a:r>
              <a:rPr lang="zh-CN" altLang="en-US" sz="3600" dirty="0"/>
              <a:t>详解</a:t>
            </a:r>
            <a:endParaRPr lang="zh-CN" altLang="en-US" sz="3600" dirty="0"/>
          </a:p>
        </p:txBody>
      </p:sp>
      <p:sp>
        <p:nvSpPr>
          <p:cNvPr id="8" name="AutoShape 3"/>
          <p:cNvSpPr/>
          <p:nvPr/>
        </p:nvSpPr>
        <p:spPr>
          <a:xfrm>
            <a:off x="1847215" y="1052830"/>
            <a:ext cx="7416800" cy="5417185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noAutofit/>
          </a:bodyPr>
          <a:lstStyle/>
          <a:p>
            <a:pPr algn="l"/>
            <a:r>
              <a:rPr lang="en-US" altLang="zh-CN" sz="2000" b="0" dirty="0">
                <a:latin typeface="+mn-lt"/>
                <a:cs typeface="+mn-lt"/>
              </a:rPr>
              <a:t>&lt;div id="app-2"&gt;</a:t>
            </a:r>
            <a:endParaRPr lang="en-US" altLang="zh-CN" sz="2000" b="0" dirty="0">
              <a:latin typeface="+mn-lt"/>
              <a:cs typeface="+mn-lt"/>
            </a:endParaRPr>
          </a:p>
          <a:p>
            <a:pPr algn="l"/>
            <a:r>
              <a:rPr lang="en-US" altLang="zh-CN" sz="2000" b="0" dirty="0">
                <a:latin typeface="+mn-lt"/>
                <a:cs typeface="+mn-lt"/>
              </a:rPr>
              <a:t>	&lt;span v-if="ok"&gt;</a:t>
            </a:r>
            <a:endParaRPr lang="en-US" altLang="zh-CN" sz="2000" b="0" dirty="0">
              <a:latin typeface="+mn-lt"/>
              <a:cs typeface="+mn-lt"/>
            </a:endParaRPr>
          </a:p>
          <a:p>
            <a:pPr algn="l"/>
            <a:r>
              <a:rPr lang="en-US" altLang="zh-CN" sz="2000" b="0" dirty="0">
                <a:latin typeface="+mn-lt"/>
                <a:cs typeface="+mn-lt"/>
              </a:rPr>
              <a:t>		当true时，显示本内容</a:t>
            </a:r>
            <a:endParaRPr lang="en-US" altLang="zh-CN" sz="2000" b="0" dirty="0">
              <a:latin typeface="+mn-lt"/>
              <a:cs typeface="+mn-lt"/>
            </a:endParaRPr>
          </a:p>
          <a:p>
            <a:pPr algn="l"/>
            <a:r>
              <a:rPr lang="en-US" altLang="zh-CN" sz="2000" b="0" dirty="0">
                <a:latin typeface="+mn-lt"/>
                <a:cs typeface="+mn-lt"/>
              </a:rPr>
              <a:t>	&lt;/span&gt;</a:t>
            </a:r>
            <a:endParaRPr lang="en-US" altLang="zh-CN" sz="2000" b="0" dirty="0">
              <a:latin typeface="+mn-lt"/>
              <a:cs typeface="+mn-lt"/>
            </a:endParaRPr>
          </a:p>
          <a:p>
            <a:pPr algn="l"/>
            <a:r>
              <a:rPr lang="en-US" altLang="zh-CN" sz="2000" b="0" dirty="0">
                <a:latin typeface="+mn-lt"/>
                <a:cs typeface="+mn-lt"/>
              </a:rPr>
              <a:t>	&lt;span v-else&gt;</a:t>
            </a:r>
            <a:endParaRPr lang="en-US" altLang="zh-CN" sz="2000" b="0" dirty="0">
              <a:latin typeface="+mn-lt"/>
              <a:cs typeface="+mn-lt"/>
            </a:endParaRPr>
          </a:p>
          <a:p>
            <a:pPr algn="l"/>
            <a:r>
              <a:rPr lang="en-US" altLang="zh-CN" sz="2000" b="0" dirty="0">
                <a:latin typeface="+mn-lt"/>
                <a:cs typeface="+mn-lt"/>
              </a:rPr>
              <a:t>		当false时，显示本内容</a:t>
            </a:r>
            <a:endParaRPr lang="en-US" altLang="zh-CN" sz="2000" b="0" dirty="0">
              <a:latin typeface="+mn-lt"/>
              <a:cs typeface="+mn-lt"/>
            </a:endParaRPr>
          </a:p>
          <a:p>
            <a:pPr algn="l"/>
            <a:r>
              <a:rPr lang="en-US" altLang="zh-CN" sz="2000" b="0" dirty="0">
                <a:latin typeface="+mn-lt"/>
                <a:cs typeface="+mn-lt"/>
              </a:rPr>
              <a:t>	&lt;/span&gt;</a:t>
            </a:r>
            <a:endParaRPr lang="en-US" altLang="zh-CN" sz="2000" b="0" dirty="0">
              <a:latin typeface="+mn-lt"/>
              <a:cs typeface="+mn-lt"/>
            </a:endParaRPr>
          </a:p>
          <a:p>
            <a:pPr algn="l"/>
            <a:r>
              <a:rPr lang="en-US" altLang="zh-CN" sz="2000" b="0" dirty="0">
                <a:latin typeface="+mn-lt"/>
                <a:cs typeface="+mn-lt"/>
              </a:rPr>
              <a:t>&lt;/div&gt;</a:t>
            </a:r>
            <a:endParaRPr lang="en-US" altLang="zh-CN" sz="2000" b="0" dirty="0">
              <a:latin typeface="+mn-lt"/>
              <a:cs typeface="+mn-lt"/>
            </a:endParaRPr>
          </a:p>
          <a:p>
            <a:pPr algn="l"/>
            <a:r>
              <a:rPr lang="en-US" altLang="zh-CN" sz="2000" b="0" dirty="0">
                <a:latin typeface="+mn-lt"/>
                <a:cs typeface="+mn-lt"/>
              </a:rPr>
              <a:t>&lt;script src="../js/vue.js"&gt;&lt;/script&gt;</a:t>
            </a:r>
            <a:endParaRPr lang="en-US" altLang="zh-CN" sz="2000" b="0" dirty="0">
              <a:latin typeface="+mn-lt"/>
              <a:cs typeface="+mn-lt"/>
            </a:endParaRPr>
          </a:p>
          <a:p>
            <a:pPr algn="l"/>
            <a:r>
              <a:rPr lang="en-US" altLang="zh-CN" sz="2000" b="0" dirty="0">
                <a:latin typeface="+mn-lt"/>
                <a:cs typeface="+mn-lt"/>
              </a:rPr>
              <a:t>&lt;script&gt;</a:t>
            </a:r>
            <a:endParaRPr lang="en-US" altLang="zh-CN" sz="2000" b="0" dirty="0">
              <a:latin typeface="+mn-lt"/>
              <a:cs typeface="+mn-lt"/>
            </a:endParaRPr>
          </a:p>
          <a:p>
            <a:pPr algn="l"/>
            <a:r>
              <a:rPr lang="en-US" altLang="zh-CN" sz="2000" b="0" dirty="0">
                <a:latin typeface="+mn-lt"/>
                <a:cs typeface="+mn-lt"/>
              </a:rPr>
              <a:t>	var app=new Vue({</a:t>
            </a:r>
            <a:endParaRPr lang="en-US" altLang="zh-CN" sz="2000" b="0" dirty="0">
              <a:latin typeface="+mn-lt"/>
              <a:cs typeface="+mn-lt"/>
            </a:endParaRPr>
          </a:p>
          <a:p>
            <a:pPr algn="l"/>
            <a:r>
              <a:rPr lang="en-US" altLang="zh-CN" sz="2000" b="0" dirty="0">
                <a:latin typeface="+mn-lt"/>
                <a:cs typeface="+mn-lt"/>
              </a:rPr>
              <a:t>		el:"#app-2",</a:t>
            </a:r>
            <a:endParaRPr lang="en-US" altLang="zh-CN" sz="2000" b="0" dirty="0">
              <a:latin typeface="+mn-lt"/>
              <a:cs typeface="+mn-lt"/>
            </a:endParaRPr>
          </a:p>
          <a:p>
            <a:pPr algn="l"/>
            <a:r>
              <a:rPr lang="en-US" altLang="zh-CN" sz="2000" b="0" dirty="0">
                <a:latin typeface="+mn-lt"/>
                <a:cs typeface="+mn-lt"/>
              </a:rPr>
              <a:t>		data:{</a:t>
            </a:r>
            <a:endParaRPr lang="en-US" altLang="zh-CN" sz="2000" b="0" dirty="0">
              <a:latin typeface="+mn-lt"/>
              <a:cs typeface="+mn-lt"/>
            </a:endParaRPr>
          </a:p>
          <a:p>
            <a:pPr algn="l"/>
            <a:r>
              <a:rPr lang="en-US" altLang="zh-CN" sz="2000" b="0" dirty="0">
                <a:latin typeface="+mn-lt"/>
                <a:cs typeface="+mn-lt"/>
              </a:rPr>
              <a:t>			ok:true</a:t>
            </a:r>
            <a:endParaRPr lang="en-US" altLang="zh-CN" sz="2000" b="0" dirty="0">
              <a:latin typeface="+mn-lt"/>
              <a:cs typeface="+mn-lt"/>
            </a:endParaRPr>
          </a:p>
          <a:p>
            <a:pPr algn="l"/>
            <a:r>
              <a:rPr lang="en-US" altLang="zh-CN" sz="2000" b="0" dirty="0">
                <a:latin typeface="+mn-lt"/>
                <a:cs typeface="+mn-lt"/>
              </a:rPr>
              <a:t>		}</a:t>
            </a:r>
            <a:endParaRPr lang="en-US" altLang="zh-CN" sz="2000" b="0" dirty="0">
              <a:latin typeface="+mn-lt"/>
              <a:cs typeface="+mn-lt"/>
            </a:endParaRPr>
          </a:p>
          <a:p>
            <a:pPr algn="l"/>
            <a:r>
              <a:rPr lang="en-US" altLang="zh-CN" sz="2000" b="0" dirty="0">
                <a:latin typeface="+mn-lt"/>
                <a:cs typeface="+mn-lt"/>
              </a:rPr>
              <a:t>	})</a:t>
            </a:r>
            <a:endParaRPr lang="en-US" altLang="zh-CN" sz="2000" b="0" dirty="0">
              <a:latin typeface="+mn-lt"/>
              <a:cs typeface="+mn-lt"/>
            </a:endParaRPr>
          </a:p>
          <a:p>
            <a:pPr algn="l"/>
            <a:r>
              <a:rPr lang="en-US" altLang="zh-CN" sz="2000" b="0" dirty="0">
                <a:latin typeface="+mn-lt"/>
                <a:cs typeface="+mn-lt"/>
              </a:rPr>
              <a:t>&lt;/script&gt;</a:t>
            </a:r>
            <a:br>
              <a:rPr lang="en-US" altLang="zh-CN" dirty="0"/>
            </a:b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56040" y="116632"/>
            <a:ext cx="4035301" cy="654050"/>
          </a:xfrm>
        </p:spPr>
        <p:txBody>
          <a:bodyPr/>
          <a:lstStyle/>
          <a:p>
            <a:r>
              <a:rPr lang="en-US" altLang="zh-CN" sz="3600" dirty="0"/>
              <a:t>v-show</a:t>
            </a:r>
            <a:r>
              <a:rPr lang="zh-CN" altLang="en-US" sz="3600" dirty="0"/>
              <a:t>详解</a:t>
            </a:r>
            <a:endParaRPr lang="zh-CN" altLang="en-US" sz="3600" dirty="0"/>
          </a:p>
        </p:txBody>
      </p:sp>
      <p:sp>
        <p:nvSpPr>
          <p:cNvPr id="3" name="矩形 2"/>
          <p:cNvSpPr/>
          <p:nvPr/>
        </p:nvSpPr>
        <p:spPr>
          <a:xfrm>
            <a:off x="2506800" y="1827395"/>
            <a:ext cx="3792220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2. v-show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5"/>
          <p:cNvSpPr txBox="1">
            <a:spLocks noChangeArrowheads="1"/>
          </p:cNvSpPr>
          <p:nvPr/>
        </p:nvSpPr>
        <p:spPr bwMode="auto">
          <a:xfrm>
            <a:off x="2135505" y="2564765"/>
            <a:ext cx="8143240" cy="3664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b="0" kern="0" dirty="0">
                <a:latin typeface="+mn-lt"/>
                <a:ea typeface="+mn-ea"/>
                <a:cs typeface="+mn-lt"/>
              </a:rPr>
              <a:t>v-show与v-if都用来决定某一个元素是否在页面上显示出来。</a:t>
            </a:r>
            <a:endParaRPr lang="zh-CN" altLang="en-US" sz="2000" b="0" kern="0" dirty="0">
              <a:latin typeface="+mn-lt"/>
              <a:ea typeface="+mn-ea"/>
              <a:cs typeface="+mn-lt"/>
            </a:endParaRPr>
          </a:p>
          <a:p>
            <a:pPr algn="just">
              <a:lnSpc>
                <a:spcPct val="150000"/>
              </a:lnSpc>
            </a:pPr>
            <a:endParaRPr lang="zh-CN" altLang="en-US" sz="2000" b="0" kern="0" dirty="0">
              <a:latin typeface="+mn-lt"/>
              <a:ea typeface="+mn-ea"/>
              <a:cs typeface="+mn-lt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b="0" kern="0" dirty="0">
                <a:latin typeface="+mn-lt"/>
                <a:ea typeface="+mn-ea"/>
                <a:cs typeface="+mn-lt"/>
              </a:rPr>
              <a:t>v-show的原理是通过为元素</a:t>
            </a:r>
            <a:r>
              <a:rPr lang="zh-CN" altLang="en-US" sz="2000" b="0" kern="0" dirty="0">
                <a:solidFill>
                  <a:srgbClr val="0070C0"/>
                </a:solidFill>
                <a:latin typeface="+mn-lt"/>
                <a:ea typeface="+mn-ea"/>
                <a:cs typeface="+mn-lt"/>
              </a:rPr>
              <a:t>添加或移除display: none样式</a:t>
            </a:r>
            <a:r>
              <a:rPr lang="zh-CN" altLang="en-US" sz="2000" b="0" kern="0" dirty="0">
                <a:latin typeface="+mn-lt"/>
                <a:ea typeface="+mn-ea"/>
                <a:cs typeface="+mn-lt"/>
              </a:rPr>
              <a:t>来实现元素的显示或隐藏。</a:t>
            </a:r>
            <a:endParaRPr lang="zh-CN" altLang="en-US" sz="2000" b="0" kern="0" dirty="0">
              <a:latin typeface="+mn-lt"/>
              <a:ea typeface="+mn-ea"/>
              <a:cs typeface="+mn-lt"/>
            </a:endParaRPr>
          </a:p>
          <a:p>
            <a:pPr algn="just">
              <a:lnSpc>
                <a:spcPct val="150000"/>
              </a:lnSpc>
            </a:pPr>
            <a:endParaRPr lang="zh-CN" altLang="en-US" sz="2000" b="0" kern="0" dirty="0">
              <a:latin typeface="+mn-lt"/>
              <a:ea typeface="+mn-ea"/>
              <a:cs typeface="+mn-lt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b="0" kern="0" dirty="0">
                <a:latin typeface="+mn-lt"/>
                <a:ea typeface="+mn-ea"/>
                <a:cs typeface="+mn-lt"/>
              </a:rPr>
              <a:t>当需要频繁切换某个元素的显示或隐藏时，使用v-show会更节省性能开销；而当只需要切换一次显示或隐藏时，使用v-if更合理。</a:t>
            </a:r>
            <a:endParaRPr lang="zh-CN" altLang="en-US" sz="2000" b="0" kern="0" dirty="0">
              <a:latin typeface="+mn-lt"/>
              <a:ea typeface="+mn-ea"/>
              <a:cs typeface="+mn-lt"/>
            </a:endParaRPr>
          </a:p>
        </p:txBody>
      </p:sp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xfrm>
            <a:off x="2423592" y="876300"/>
            <a:ext cx="7787208" cy="8729345"/>
          </a:xfrm>
        </p:spPr>
        <p:txBody>
          <a:bodyPr vert="horz" wrap="square" lIns="91440" tIns="45720" rIns="91440" bIns="45720" anchor="t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cs typeface="+mn-lt"/>
                <a:sym typeface="+mn-ea"/>
              </a:rPr>
              <a:t>v-show</a:t>
            </a:r>
            <a:r>
              <a:rPr lang="zh-CN" altLang="en-US" dirty="0">
                <a:cs typeface="+mn-lt"/>
                <a:sym typeface="+mn-ea"/>
              </a:rPr>
              <a:t>指令</a:t>
            </a:r>
            <a:endParaRPr sz="2800" dirty="0">
              <a:sym typeface="+mn-ea"/>
            </a:endParaRPr>
          </a:p>
          <a:p>
            <a:pPr lvl="1">
              <a:lnSpc>
                <a:spcPct val="125000"/>
              </a:lnSpc>
              <a:spcBef>
                <a:spcPts val="0"/>
              </a:spcBef>
              <a:buFont typeface="Wingdings" panose="05000000000000000000" charset="0"/>
              <a:buChar char="p"/>
            </a:pPr>
            <a:r>
              <a:rPr sz="2400" dirty="0">
                <a:cs typeface="+mn-lt"/>
                <a:sym typeface="+mn-ea"/>
              </a:rPr>
              <a:t>v-show 的用法与前面的 v-if 类似</a:t>
            </a:r>
            <a:r>
              <a:rPr lang="zh-CN" sz="2400" dirty="0">
                <a:cs typeface="+mn-lt"/>
                <a:sym typeface="+mn-ea"/>
              </a:rPr>
              <a:t>，</a:t>
            </a:r>
            <a:r>
              <a:rPr sz="2400" dirty="0">
                <a:cs typeface="+mn-lt"/>
                <a:sym typeface="+mn-ea"/>
              </a:rPr>
              <a:t>通过此指令控制元素的显示隐藏，即控制元素的 display。</a:t>
            </a:r>
            <a:endParaRPr dirty="0">
              <a:latin typeface="Calibri" panose="020F0502020204030204" pitchFamily="34" charset="0"/>
              <a:sym typeface="+mn-ea"/>
            </a:endParaRPr>
          </a:p>
          <a:p>
            <a:pPr marL="0" indent="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zh-CN" dirty="0"/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" name="AutoShape 3"/>
          <p:cNvSpPr/>
          <p:nvPr/>
        </p:nvSpPr>
        <p:spPr>
          <a:xfrm>
            <a:off x="2855639" y="1463828"/>
            <a:ext cx="7416717" cy="5257980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algn="l"/>
            <a:r>
              <a:rPr lang="en-US" altLang="zh-CN" sz="2400" b="0" dirty="0">
                <a:latin typeface="+mn-lt"/>
                <a:cs typeface="+mn-lt"/>
              </a:rPr>
              <a:t>&lt;div id="app"&gt;</a:t>
            </a:r>
            <a:br>
              <a:rPr lang="en-US" altLang="zh-CN" sz="2400" b="0" dirty="0">
                <a:latin typeface="+mn-lt"/>
                <a:cs typeface="+mn-lt"/>
              </a:rPr>
            </a:br>
            <a:r>
              <a:rPr lang="en-US" altLang="zh-CN" sz="2400" b="0" dirty="0">
                <a:latin typeface="+mn-lt"/>
                <a:cs typeface="+mn-lt"/>
              </a:rPr>
              <a:t>	&lt;p v-show="ok"&gt;v-show </a:t>
            </a:r>
            <a:r>
              <a:rPr lang="zh-CN" altLang="en-US" sz="2400" b="0" dirty="0">
                <a:latin typeface="+mn-lt"/>
                <a:cs typeface="+mn-lt"/>
              </a:rPr>
              <a:t>控制 </a:t>
            </a:r>
            <a:r>
              <a:rPr lang="en-US" altLang="zh-CN" sz="2400" b="0" dirty="0">
                <a:latin typeface="+mn-lt"/>
                <a:cs typeface="+mn-lt"/>
              </a:rPr>
              <a:t>display </a:t>
            </a:r>
            <a:r>
              <a:rPr lang="zh-CN" altLang="en-US" sz="2400" b="0" dirty="0">
                <a:latin typeface="+mn-lt"/>
                <a:cs typeface="+mn-lt"/>
              </a:rPr>
              <a:t>属性</a:t>
            </a:r>
            <a:r>
              <a:rPr lang="en-US" altLang="zh-CN" sz="2400" b="0" dirty="0">
                <a:latin typeface="+mn-lt"/>
                <a:cs typeface="+mn-lt"/>
              </a:rPr>
              <a:t>&lt;/p&gt;</a:t>
            </a:r>
            <a:br>
              <a:rPr lang="en-US" altLang="zh-CN" sz="2400" b="0" dirty="0">
                <a:latin typeface="+mn-lt"/>
                <a:cs typeface="+mn-lt"/>
              </a:rPr>
            </a:br>
            <a:r>
              <a:rPr lang="en-US" altLang="zh-CN" sz="2400" b="0" dirty="0">
                <a:latin typeface="+mn-lt"/>
                <a:cs typeface="+mn-lt"/>
              </a:rPr>
              <a:t>	&lt;button </a:t>
            </a:r>
            <a:r>
              <a:rPr lang="en-US" altLang="zh-CN" sz="2400" b="0" dirty="0" err="1">
                <a:latin typeface="+mn-lt"/>
                <a:cs typeface="+mn-lt"/>
              </a:rPr>
              <a:t>v-on:click</a:t>
            </a:r>
            <a:r>
              <a:rPr lang="en-US" altLang="zh-CN" sz="2400" b="0" dirty="0">
                <a:latin typeface="+mn-lt"/>
                <a:cs typeface="+mn-lt"/>
              </a:rPr>
              <a:t>='toggle()'&gt;Toggle&lt;/button&gt;</a:t>
            </a:r>
            <a:br>
              <a:rPr lang="en-US" altLang="zh-CN" sz="2400" b="0" dirty="0">
                <a:latin typeface="+mn-lt"/>
                <a:cs typeface="+mn-lt"/>
              </a:rPr>
            </a:br>
            <a:r>
              <a:rPr lang="en-US" altLang="zh-CN" sz="2400" b="0" dirty="0">
                <a:latin typeface="+mn-lt"/>
                <a:cs typeface="+mn-lt"/>
              </a:rPr>
              <a:t>	&lt;p&gt;ok</a:t>
            </a:r>
            <a:r>
              <a:rPr lang="zh-CN" altLang="en-US" sz="2400" b="0" dirty="0">
                <a:latin typeface="+mn-lt"/>
                <a:cs typeface="+mn-lt"/>
              </a:rPr>
              <a:t>： </a:t>
            </a:r>
            <a:r>
              <a:rPr lang="en-US" altLang="zh-CN" sz="2400" b="0" dirty="0">
                <a:latin typeface="+mn-lt"/>
                <a:cs typeface="+mn-lt"/>
              </a:rPr>
              <a:t>{{ok}}&lt;/p&gt;</a:t>
            </a:r>
            <a:br>
              <a:rPr lang="en-US" altLang="zh-CN" sz="2400" b="0" dirty="0">
                <a:latin typeface="+mn-lt"/>
                <a:cs typeface="+mn-lt"/>
              </a:rPr>
            </a:br>
            <a:r>
              <a:rPr lang="en-US" altLang="zh-CN" sz="2400" b="0" dirty="0">
                <a:latin typeface="+mn-lt"/>
                <a:cs typeface="+mn-lt"/>
              </a:rPr>
              <a:t>&lt;/div&gt;</a:t>
            </a:r>
            <a:br>
              <a:rPr lang="en-US" altLang="zh-CN" sz="2400" b="0" dirty="0">
                <a:latin typeface="+mn-lt"/>
                <a:cs typeface="+mn-lt"/>
              </a:rPr>
            </a:br>
            <a:r>
              <a:rPr lang="en-US" altLang="zh-CN" sz="2400" b="0" dirty="0">
                <a:latin typeface="+mn-lt"/>
                <a:cs typeface="+mn-lt"/>
              </a:rPr>
              <a:t>&lt;script&gt;</a:t>
            </a:r>
            <a:br>
              <a:rPr lang="en-US" altLang="zh-CN" sz="2400" b="0" dirty="0">
                <a:latin typeface="+mn-lt"/>
                <a:cs typeface="+mn-lt"/>
              </a:rPr>
            </a:br>
            <a:r>
              <a:rPr lang="en-US" altLang="zh-CN" sz="2400" b="0" dirty="0" err="1">
                <a:latin typeface="+mn-lt"/>
                <a:cs typeface="+mn-lt"/>
              </a:rPr>
              <a:t>var</a:t>
            </a:r>
            <a:r>
              <a:rPr lang="en-US" altLang="zh-CN" sz="2400" b="0" dirty="0">
                <a:latin typeface="+mn-lt"/>
                <a:cs typeface="+mn-lt"/>
              </a:rPr>
              <a:t> </a:t>
            </a:r>
            <a:r>
              <a:rPr lang="en-US" altLang="zh-CN" sz="2400" b="0" dirty="0" err="1">
                <a:latin typeface="+mn-lt"/>
                <a:cs typeface="+mn-lt"/>
              </a:rPr>
              <a:t>vm</a:t>
            </a:r>
            <a:r>
              <a:rPr lang="en-US" altLang="zh-CN" sz="2400" b="0" dirty="0">
                <a:latin typeface="+mn-lt"/>
                <a:cs typeface="+mn-lt"/>
              </a:rPr>
              <a:t>=new </a:t>
            </a:r>
            <a:r>
              <a:rPr lang="en-US" altLang="zh-CN" sz="2400" b="0" dirty="0" err="1">
                <a:latin typeface="+mn-lt"/>
                <a:cs typeface="+mn-lt"/>
              </a:rPr>
              <a:t>Vue</a:t>
            </a:r>
            <a:r>
              <a:rPr lang="en-US" altLang="zh-CN" sz="2400" b="0" dirty="0">
                <a:latin typeface="+mn-lt"/>
                <a:cs typeface="+mn-lt"/>
              </a:rPr>
              <a:t>({   el:'#app',  data:{   </a:t>
            </a:r>
            <a:r>
              <a:rPr lang="en-US" altLang="zh-CN" sz="2400" b="0" dirty="0" err="1">
                <a:latin typeface="+mn-lt"/>
                <a:cs typeface="+mn-lt"/>
              </a:rPr>
              <a:t>ok:true    </a:t>
            </a:r>
            <a:r>
              <a:rPr lang="en-US" altLang="zh-CN" sz="2400" b="0" dirty="0">
                <a:latin typeface="+mn-lt"/>
                <a:cs typeface="+mn-lt"/>
              </a:rPr>
              <a:t>}</a:t>
            </a:r>
            <a:endParaRPr lang="en-US" altLang="zh-CN" sz="2400" b="0" dirty="0"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  <a:sym typeface="+mn-ea"/>
              </a:rPr>
              <a:t>methods:{</a:t>
            </a:r>
            <a:br>
              <a:rPr lang="en-US" altLang="zh-CN" sz="2400" b="0" dirty="0">
                <a:latin typeface="+mn-lt"/>
                <a:cs typeface="+mn-lt"/>
                <a:sym typeface="+mn-ea"/>
              </a:rPr>
            </a:br>
            <a:r>
              <a:rPr lang="en-US" altLang="zh-CN" sz="2400" b="0" dirty="0">
                <a:latin typeface="+mn-lt"/>
                <a:cs typeface="+mn-lt"/>
                <a:sym typeface="+mn-ea"/>
              </a:rPr>
              <a:t>		toggle(){  </a:t>
            </a:r>
            <a:r>
              <a:rPr lang="en-US" altLang="zh-CN" sz="2400" b="0" dirty="0" err="1">
                <a:latin typeface="+mn-lt"/>
                <a:cs typeface="+mn-lt"/>
                <a:sym typeface="+mn-ea"/>
              </a:rPr>
              <a:t>this.ok</a:t>
            </a:r>
            <a:r>
              <a:rPr lang="en-US" altLang="zh-CN" sz="2400" b="0" dirty="0">
                <a:latin typeface="+mn-lt"/>
                <a:cs typeface="+mn-lt"/>
                <a:sym typeface="+mn-ea"/>
              </a:rPr>
              <a:t>=!</a:t>
            </a:r>
            <a:r>
              <a:rPr lang="en-US" altLang="zh-CN" sz="2400" b="0" dirty="0" err="1">
                <a:latin typeface="+mn-lt"/>
                <a:cs typeface="+mn-lt"/>
                <a:sym typeface="+mn-ea"/>
              </a:rPr>
              <a:t>this.ok</a:t>
            </a:r>
            <a:r>
              <a:rPr lang="en-US" altLang="zh-CN" sz="2400" b="0" dirty="0">
                <a:latin typeface="+mn-lt"/>
                <a:cs typeface="+mn-lt"/>
                <a:sym typeface="+mn-ea"/>
              </a:rPr>
              <a:t>;   }</a:t>
            </a:r>
            <a:br>
              <a:rPr lang="en-US" altLang="zh-CN" sz="2400" b="0" dirty="0">
                <a:latin typeface="+mn-lt"/>
                <a:cs typeface="+mn-lt"/>
                <a:sym typeface="+mn-ea"/>
              </a:rPr>
            </a:br>
            <a:r>
              <a:rPr lang="en-US" altLang="zh-CN" sz="2400" b="0" dirty="0">
                <a:latin typeface="+mn-lt"/>
                <a:cs typeface="+mn-lt"/>
                <a:sym typeface="+mn-ea"/>
              </a:rPr>
              <a:t>		}</a:t>
            </a:r>
            <a:br>
              <a:rPr lang="en-US" altLang="zh-CN" sz="2400" b="0" dirty="0">
                <a:latin typeface="+mn-lt"/>
                <a:cs typeface="+mn-lt"/>
                <a:sym typeface="+mn-ea"/>
              </a:rPr>
            </a:br>
            <a:r>
              <a:rPr lang="en-US" altLang="zh-CN" sz="2400" b="0" dirty="0">
                <a:latin typeface="+mn-lt"/>
                <a:cs typeface="+mn-lt"/>
                <a:sym typeface="+mn-ea"/>
              </a:rPr>
              <a:t>			})</a:t>
            </a:r>
            <a:br>
              <a:rPr lang="en-US" altLang="zh-CN" sz="2400" b="0" dirty="0">
                <a:latin typeface="+mn-lt"/>
                <a:cs typeface="+mn-lt"/>
                <a:sym typeface="+mn-ea"/>
              </a:rPr>
            </a:br>
            <a:r>
              <a:rPr lang="en-US" altLang="zh-CN" sz="2400" b="0" dirty="0">
                <a:latin typeface="+mn-lt"/>
                <a:cs typeface="+mn-lt"/>
                <a:sym typeface="+mn-ea"/>
              </a:rPr>
              <a:t>&lt;/script&gt;</a:t>
            </a:r>
            <a:br>
              <a:rPr lang="en-US" altLang="zh-CN" sz="2400" b="0" dirty="0"/>
            </a:br>
            <a:br>
              <a:rPr lang="en-US" altLang="zh-CN" dirty="0"/>
            </a:b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5303838" y="260350"/>
            <a:ext cx="5043487" cy="654050"/>
          </a:xfrm>
        </p:spPr>
        <p:txBody>
          <a:bodyPr/>
          <a:lstStyle/>
          <a:p>
            <a:r>
              <a:rPr lang="en-US" altLang="zh-CN" sz="3600" dirty="0">
                <a:cs typeface="+mj-lt"/>
                <a:sym typeface="+mn-ea"/>
              </a:rPr>
              <a:t>v-show</a:t>
            </a:r>
            <a:r>
              <a:rPr lang="zh-CN" altLang="en-US" sz="3600" dirty="0">
                <a:cs typeface="+mj-lt"/>
                <a:sym typeface="+mn-ea"/>
              </a:rPr>
              <a:t>指令</a:t>
            </a:r>
            <a:endParaRPr lang="zh-CN" altLang="en-US" sz="3600" dirty="0">
              <a:cs typeface="+mj-lt"/>
            </a:endParaRPr>
          </a:p>
        </p:txBody>
      </p:sp>
      <p:sp>
        <p:nvSpPr>
          <p:cNvPr id="4" name="文本框 3">
            <a:hlinkClick r:id="rId1" action="ppaction://hlinkfile"/>
          </p:cNvPr>
          <p:cNvSpPr txBox="1"/>
          <p:nvPr/>
        </p:nvSpPr>
        <p:spPr>
          <a:xfrm>
            <a:off x="8688070" y="5229225"/>
            <a:ext cx="1139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hlinkClick r:id="rId2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build="p"/>
      <p:bldP spid="5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/>
          <p:cNvCxnSpPr/>
          <p:nvPr/>
        </p:nvCxnSpPr>
        <p:spPr>
          <a:xfrm>
            <a:off x="1028700" y="1107440"/>
            <a:ext cx="10114915" cy="1905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982800" y="1827395"/>
            <a:ext cx="3792220" cy="50355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2. v-show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35"/>
          <p:cNvSpPr txBox="1">
            <a:spLocks noChangeArrowheads="1"/>
          </p:cNvSpPr>
          <p:nvPr/>
        </p:nvSpPr>
        <p:spPr bwMode="auto">
          <a:xfrm>
            <a:off x="829955" y="2660263"/>
            <a:ext cx="10521835" cy="1782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400" b="0" kern="0" dirty="0">
                <a:latin typeface="+mn-lt"/>
                <a:ea typeface="+mn-ea"/>
                <a:cs typeface="+mn-lt"/>
              </a:rPr>
              <a:t>因为v-show并不会销毁DOM结构，当需要频繁切换某个元素的显示或隐藏时，使用v-show会更节省性能开销；而当只需要切换一次显示或隐藏时，使用v-if更合理。</a:t>
            </a:r>
            <a:endParaRPr lang="zh-CN" altLang="en-US" sz="2400" b="0" kern="0" dirty="0">
              <a:latin typeface="+mn-lt"/>
              <a:ea typeface="+mn-ea"/>
              <a:cs typeface="+mn-lt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5303838" y="260350"/>
            <a:ext cx="5043487" cy="654050"/>
          </a:xfrm>
        </p:spPr>
        <p:txBody>
          <a:bodyPr/>
          <a:lstStyle/>
          <a:p>
            <a:r>
              <a:rPr lang="en-US" altLang="zh-CN" sz="3600" dirty="0">
                <a:cs typeface="+mj-lt"/>
                <a:sym typeface="+mn-ea"/>
              </a:rPr>
              <a:t>v-show</a:t>
            </a:r>
            <a:r>
              <a:rPr lang="zh-CN" altLang="en-US" sz="3600" dirty="0">
                <a:cs typeface="+mj-lt"/>
                <a:sym typeface="+mn-ea"/>
              </a:rPr>
              <a:t>指令</a:t>
            </a:r>
            <a:endParaRPr lang="zh-CN" altLang="en-US" sz="3600" dirty="0">
              <a:cs typeface="+mj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/>
          <p:cNvCxnSpPr/>
          <p:nvPr/>
        </p:nvCxnSpPr>
        <p:spPr>
          <a:xfrm>
            <a:off x="1028700" y="1107440"/>
            <a:ext cx="10114915" cy="1905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/>
          <p:cNvSpPr txBox="1">
            <a:spLocks noChangeArrowheads="1"/>
          </p:cNvSpPr>
          <p:nvPr/>
        </p:nvSpPr>
        <p:spPr bwMode="auto">
          <a:xfrm>
            <a:off x="5784850" y="3636000"/>
            <a:ext cx="5429568" cy="1415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字魂58号-创中黑" panose="00000500000000000000" pitchFamily="2" charset="-122"/>
              </a:rPr>
              <a:t>列表渲染指令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字魂58号-创中黑" panose="00000500000000000000" pitchFamily="2" charset="-122"/>
              </a:rPr>
              <a:t>，能够灵活运用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字魂58号-创中黑" panose="00000500000000000000" pitchFamily="2" charset="-122"/>
              </a:rPr>
              <a:t>v-for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字魂58号-创中黑" panose="00000500000000000000" pitchFamily="2" charset="-122"/>
              </a:rPr>
              <a:t>指令将数组、对象等中的数据渲染到页面中</a:t>
            </a:r>
            <a:endParaRPr lang="zh-CN" altLang="en-US" dirty="0">
              <a:solidFill>
                <a:srgbClr val="1369B2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字魂58号-创中黑" panose="00000500000000000000" pitchFamily="2" charset="-122"/>
            </a:endParaRPr>
          </a:p>
        </p:txBody>
      </p:sp>
      <p:sp>
        <p:nvSpPr>
          <p:cNvPr id="5" name="椭圆形标注 12"/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小目标！</a:t>
            </a:r>
            <a:endParaRPr lang="zh-CN" altLang="en-US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cs typeface="+mj-lt"/>
                <a:sym typeface="+mn-ea"/>
              </a:rPr>
              <a:t>v-for指令</a:t>
            </a:r>
            <a:endParaRPr lang="zh-CN" altLang="en-US" sz="3600">
              <a:cs typeface="+mj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cxnSp>
        <p:nvCxnSpPr>
          <p:cNvPr id="18" name="直接连接符 17"/>
          <p:cNvCxnSpPr/>
          <p:nvPr/>
        </p:nvCxnSpPr>
        <p:spPr>
          <a:xfrm>
            <a:off x="1028700" y="1107440"/>
            <a:ext cx="10114915" cy="1905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Picture 4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1975" r="11457" b="7902"/>
          <a:stretch>
            <a:fillRect/>
          </a:stretch>
        </p:blipFill>
        <p:spPr bwMode="auto">
          <a:xfrm>
            <a:off x="7712710" y="1584325"/>
            <a:ext cx="1464945" cy="2325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云形标注 5"/>
          <p:cNvSpPr/>
          <p:nvPr/>
        </p:nvSpPr>
        <p:spPr>
          <a:xfrm>
            <a:off x="2211070" y="1498600"/>
            <a:ext cx="4223385" cy="1824990"/>
          </a:xfrm>
          <a:prstGeom prst="cloudCallout">
            <a:avLst>
              <a:gd name="adj1" fmla="val 64873"/>
              <a:gd name="adj2" fmla="val 423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      该如何实现这个需求？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8955" y="4436110"/>
            <a:ext cx="8838565" cy="10731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cs typeface="+mj-lt"/>
                <a:sym typeface="+mn-ea"/>
              </a:rPr>
              <a:t>v-for指令</a:t>
            </a:r>
            <a:endParaRPr lang="zh-CN" altLang="en-US" sz="3600">
              <a:cs typeface="+mj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cxnSp>
        <p:nvCxnSpPr>
          <p:cNvPr id="18" name="直接连接符 17"/>
          <p:cNvCxnSpPr/>
          <p:nvPr/>
        </p:nvCxnSpPr>
        <p:spPr>
          <a:xfrm>
            <a:off x="1028700" y="1107440"/>
            <a:ext cx="10114915" cy="1905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 bwMode="auto">
          <a:xfrm>
            <a:off x="4250928" y="1425532"/>
            <a:ext cx="6723796" cy="4365416"/>
            <a:chOff x="3403597" y="2536317"/>
            <a:chExt cx="4891327" cy="7299350"/>
          </a:xfrm>
        </p:grpSpPr>
        <p:sp>
          <p:nvSpPr>
            <p:cNvPr id="19" name="圆角矩形标注 11"/>
            <p:cNvSpPr/>
            <p:nvPr/>
          </p:nvSpPr>
          <p:spPr bwMode="auto">
            <a:xfrm rot="5400000">
              <a:off x="2199586" y="3740328"/>
              <a:ext cx="7299350" cy="4891327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0" name="矩形 5"/>
            <p:cNvSpPr>
              <a:spLocks noChangeArrowheads="1"/>
            </p:cNvSpPr>
            <p:nvPr/>
          </p:nvSpPr>
          <p:spPr bwMode="auto">
            <a:xfrm>
              <a:off x="3617339" y="3454277"/>
              <a:ext cx="4415668" cy="52959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charset="-122"/>
                  <a:ea typeface="微软雅黑" panose="020B0503020204020204" charset="-122"/>
                </a:rPr>
                <a:t>在开发购物应用时，为了方便用户查找商品信息，通常会以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charset="-122"/>
                  <a:ea typeface="微软雅黑" panose="020B0503020204020204" charset="-122"/>
                </a:rPr>
                <a:t>商品列表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charset="-122"/>
                  <a:ea typeface="微软雅黑" panose="020B0503020204020204" charset="-122"/>
                </a:rPr>
                <a:t>的形式展示商品信息。在商品列表中，每件商品的结构都是相同的，如果每件商品的结构都要手动定义，会非常麻烦。为此，</a:t>
              </a:r>
              <a:r>
                <a:rPr lang="en-US" altLang="zh-CN" sz="2000" dirty="0" err="1">
                  <a:solidFill>
                    <a:srgbClr val="595959"/>
                  </a:solidFill>
                  <a:latin typeface="微软雅黑" panose="020B0503020204020204" charset="-122"/>
                  <a:ea typeface="微软雅黑" panose="020B0503020204020204" charset="-122"/>
                </a:rPr>
                <a:t>Vue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charset="-122"/>
                  <a:ea typeface="微软雅黑" panose="020B0503020204020204" charset="-122"/>
                </a:rPr>
                <a:t>提供了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charset="-122"/>
                  <a:ea typeface="微软雅黑" panose="020B0503020204020204" charset="-122"/>
                </a:rPr>
                <a:t>列表渲染指令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charset="-122"/>
                  <a:ea typeface="微软雅黑" panose="020B0503020204020204" charset="-122"/>
                </a:rPr>
                <a:t>v-for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charset="-122"/>
                  <a:ea typeface="微软雅黑" panose="020B0503020204020204" charset="-122"/>
                </a:rPr>
                <a:t>。开发者只需在模板中定义一件商品的结构，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charset="-122"/>
                  <a:ea typeface="微软雅黑" panose="020B0503020204020204" charset="-122"/>
                </a:rPr>
                <a:t>v-for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charset="-122"/>
                  <a:ea typeface="微软雅黑" panose="020B0503020204020204" charset="-122"/>
                </a:rPr>
                <a:t>便会根据开发者提供的数据自动渲染商品列表中所有的商品。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10" name="Picture 7" descr="总结小人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074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cxnSp>
        <p:nvCxnSpPr>
          <p:cNvPr id="18" name="直接连接符 17"/>
          <p:cNvCxnSpPr/>
          <p:nvPr/>
        </p:nvCxnSpPr>
        <p:spPr>
          <a:xfrm>
            <a:off x="1028700" y="1107440"/>
            <a:ext cx="10114915" cy="1905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MH_SubTitle_1"/>
          <p:cNvSpPr/>
          <p:nvPr>
            <p:custDataLst>
              <p:tags r:id="rId5"/>
            </p:custDataLst>
          </p:nvPr>
        </p:nvSpPr>
        <p:spPr>
          <a:xfrm>
            <a:off x="2514600" y="1920875"/>
            <a:ext cx="3075940" cy="511175"/>
          </a:xfrm>
          <a:custGeom>
            <a:avLst/>
            <a:gdLst>
              <a:gd name="connsiteX0" fmla="*/ 0 w 2286028"/>
              <a:gd name="connsiteY0" fmla="*/ 0 h 449944"/>
              <a:gd name="connsiteX1" fmla="*/ 2061028 w 2286028"/>
              <a:gd name="connsiteY1" fmla="*/ 0 h 449944"/>
              <a:gd name="connsiteX2" fmla="*/ 2286028 w 2286028"/>
              <a:gd name="connsiteY2" fmla="*/ 224972 h 449944"/>
              <a:gd name="connsiteX3" fmla="*/ 2061028 w 2286028"/>
              <a:gd name="connsiteY3" fmla="*/ 449944 h 449944"/>
              <a:gd name="connsiteX4" fmla="*/ 2061018 w 2286028"/>
              <a:gd name="connsiteY4" fmla="*/ 449943 h 449944"/>
              <a:gd name="connsiteX5" fmla="*/ 0 w 2286028"/>
              <a:gd name="connsiteY5" fmla="*/ 449943 h 449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86028" h="449944">
                <a:moveTo>
                  <a:pt x="0" y="0"/>
                </a:moveTo>
                <a:lnTo>
                  <a:pt x="2061028" y="0"/>
                </a:lnTo>
                <a:cubicBezTo>
                  <a:pt x="2185292" y="0"/>
                  <a:pt x="2286028" y="100723"/>
                  <a:pt x="2286028" y="224972"/>
                </a:cubicBezTo>
                <a:cubicBezTo>
                  <a:pt x="2286028" y="349221"/>
                  <a:pt x="2185292" y="449944"/>
                  <a:pt x="2061028" y="449944"/>
                </a:cubicBezTo>
                <a:lnTo>
                  <a:pt x="2061018" y="449943"/>
                </a:lnTo>
                <a:lnTo>
                  <a:pt x="0" y="4499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lvl="0" defTabSz="914400">
              <a:defRPr/>
            </a:pPr>
            <a:r>
              <a:rPr lang="zh-CN" altLang="en-US" sz="1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根据数组渲染列表</a:t>
            </a:r>
            <a:endParaRPr kumimoji="0" lang="zh-CN" altLang="en-US" sz="18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MH_Other_1"/>
          <p:cNvSpPr/>
          <p:nvPr>
            <p:custDataLst>
              <p:tags r:id="rId6"/>
            </p:custDataLst>
          </p:nvPr>
        </p:nvSpPr>
        <p:spPr>
          <a:xfrm>
            <a:off x="5158591" y="1961395"/>
            <a:ext cx="431800" cy="431800"/>
          </a:xfrm>
          <a:custGeom>
            <a:avLst/>
            <a:gdLst>
              <a:gd name="connsiteX0" fmla="*/ 162177 w 379914"/>
              <a:gd name="connsiteY0" fmla="*/ 97631 h 379866"/>
              <a:gd name="connsiteX1" fmla="*/ 219804 w 379914"/>
              <a:gd name="connsiteY1" fmla="*/ 189932 h 379866"/>
              <a:gd name="connsiteX2" fmla="*/ 162177 w 379914"/>
              <a:gd name="connsiteY2" fmla="*/ 282233 h 379866"/>
              <a:gd name="connsiteX3" fmla="*/ 198210 w 379914"/>
              <a:gd name="connsiteY3" fmla="*/ 282233 h 379866"/>
              <a:gd name="connsiteX4" fmla="*/ 255837 w 379914"/>
              <a:gd name="connsiteY4" fmla="*/ 189932 h 379866"/>
              <a:gd name="connsiteX5" fmla="*/ 198210 w 379914"/>
              <a:gd name="connsiteY5" fmla="*/ 97631 h 379866"/>
              <a:gd name="connsiteX6" fmla="*/ 189957 w 379914"/>
              <a:gd name="connsiteY6" fmla="*/ 0 h 379866"/>
              <a:gd name="connsiteX7" fmla="*/ 379914 w 379914"/>
              <a:gd name="connsiteY7" fmla="*/ 189933 h 379866"/>
              <a:gd name="connsiteX8" fmla="*/ 189957 w 379914"/>
              <a:gd name="connsiteY8" fmla="*/ 379866 h 379866"/>
              <a:gd name="connsiteX9" fmla="*/ 0 w 379914"/>
              <a:gd name="connsiteY9" fmla="*/ 189933 h 379866"/>
              <a:gd name="connsiteX10" fmla="*/ 189957 w 379914"/>
              <a:gd name="connsiteY10" fmla="*/ 0 h 379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914" h="379866">
                <a:moveTo>
                  <a:pt x="162177" y="97631"/>
                </a:moveTo>
                <a:lnTo>
                  <a:pt x="219804" y="189932"/>
                </a:lnTo>
                <a:lnTo>
                  <a:pt x="162177" y="282233"/>
                </a:lnTo>
                <a:lnTo>
                  <a:pt x="198210" y="282233"/>
                </a:lnTo>
                <a:lnTo>
                  <a:pt x="255837" y="189932"/>
                </a:lnTo>
                <a:lnTo>
                  <a:pt x="198210" y="97631"/>
                </a:lnTo>
                <a:close/>
                <a:moveTo>
                  <a:pt x="189957" y="0"/>
                </a:moveTo>
                <a:cubicBezTo>
                  <a:pt x="294867" y="0"/>
                  <a:pt x="379914" y="85036"/>
                  <a:pt x="379914" y="189933"/>
                </a:cubicBezTo>
                <a:cubicBezTo>
                  <a:pt x="379914" y="294830"/>
                  <a:pt x="294867" y="379866"/>
                  <a:pt x="189957" y="379866"/>
                </a:cubicBezTo>
                <a:cubicBezTo>
                  <a:pt x="85047" y="379866"/>
                  <a:pt x="0" y="294830"/>
                  <a:pt x="0" y="189933"/>
                </a:cubicBezTo>
                <a:cubicBezTo>
                  <a:pt x="0" y="85036"/>
                  <a:pt x="85047" y="0"/>
                  <a:pt x="1899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u="none" strike="noStrike" kern="1200" cap="none" spc="0" normalizeH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lt"/>
            </a:endParaRPr>
          </a:p>
        </p:txBody>
      </p:sp>
      <p:sp>
        <p:nvSpPr>
          <p:cNvPr id="5" name="MH_SubTitle_2"/>
          <p:cNvSpPr/>
          <p:nvPr>
            <p:custDataLst>
              <p:tags r:id="rId7"/>
            </p:custDataLst>
          </p:nvPr>
        </p:nvSpPr>
        <p:spPr>
          <a:xfrm>
            <a:off x="2514600" y="3126740"/>
            <a:ext cx="3192145" cy="511175"/>
          </a:xfrm>
          <a:custGeom>
            <a:avLst/>
            <a:gdLst>
              <a:gd name="connsiteX0" fmla="*/ 0 w 2286028"/>
              <a:gd name="connsiteY0" fmla="*/ 0 h 449944"/>
              <a:gd name="connsiteX1" fmla="*/ 2061028 w 2286028"/>
              <a:gd name="connsiteY1" fmla="*/ 0 h 449944"/>
              <a:gd name="connsiteX2" fmla="*/ 2286028 w 2286028"/>
              <a:gd name="connsiteY2" fmla="*/ 224972 h 449944"/>
              <a:gd name="connsiteX3" fmla="*/ 2061028 w 2286028"/>
              <a:gd name="connsiteY3" fmla="*/ 449944 h 449944"/>
              <a:gd name="connsiteX4" fmla="*/ 2061018 w 2286028"/>
              <a:gd name="connsiteY4" fmla="*/ 449943 h 449944"/>
              <a:gd name="connsiteX5" fmla="*/ 0 w 2286028"/>
              <a:gd name="connsiteY5" fmla="*/ 449943 h 449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86028" h="449944">
                <a:moveTo>
                  <a:pt x="0" y="0"/>
                </a:moveTo>
                <a:lnTo>
                  <a:pt x="2061028" y="0"/>
                </a:lnTo>
                <a:cubicBezTo>
                  <a:pt x="2185292" y="0"/>
                  <a:pt x="2286028" y="100723"/>
                  <a:pt x="2286028" y="224972"/>
                </a:cubicBezTo>
                <a:cubicBezTo>
                  <a:pt x="2286028" y="349221"/>
                  <a:pt x="2185292" y="449944"/>
                  <a:pt x="2061028" y="449944"/>
                </a:cubicBezTo>
                <a:lnTo>
                  <a:pt x="2061018" y="449943"/>
                </a:lnTo>
                <a:lnTo>
                  <a:pt x="0" y="4499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根据对象渲染列表</a:t>
            </a:r>
            <a:endParaRPr lang="zh-CN" altLang="en-US" sz="18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" name="MH_Other_2"/>
          <p:cNvSpPr/>
          <p:nvPr>
            <p:custDataLst>
              <p:tags r:id="rId8"/>
            </p:custDataLst>
          </p:nvPr>
        </p:nvSpPr>
        <p:spPr>
          <a:xfrm>
            <a:off x="5231616" y="3159321"/>
            <a:ext cx="431800" cy="431800"/>
          </a:xfrm>
          <a:custGeom>
            <a:avLst/>
            <a:gdLst>
              <a:gd name="connsiteX0" fmla="*/ 162177 w 379914"/>
              <a:gd name="connsiteY0" fmla="*/ 97631 h 379866"/>
              <a:gd name="connsiteX1" fmla="*/ 219804 w 379914"/>
              <a:gd name="connsiteY1" fmla="*/ 189932 h 379866"/>
              <a:gd name="connsiteX2" fmla="*/ 162177 w 379914"/>
              <a:gd name="connsiteY2" fmla="*/ 282233 h 379866"/>
              <a:gd name="connsiteX3" fmla="*/ 198210 w 379914"/>
              <a:gd name="connsiteY3" fmla="*/ 282233 h 379866"/>
              <a:gd name="connsiteX4" fmla="*/ 255837 w 379914"/>
              <a:gd name="connsiteY4" fmla="*/ 189932 h 379866"/>
              <a:gd name="connsiteX5" fmla="*/ 198210 w 379914"/>
              <a:gd name="connsiteY5" fmla="*/ 97631 h 379866"/>
              <a:gd name="connsiteX6" fmla="*/ 189957 w 379914"/>
              <a:gd name="connsiteY6" fmla="*/ 0 h 379866"/>
              <a:gd name="connsiteX7" fmla="*/ 379914 w 379914"/>
              <a:gd name="connsiteY7" fmla="*/ 189933 h 379866"/>
              <a:gd name="connsiteX8" fmla="*/ 189957 w 379914"/>
              <a:gd name="connsiteY8" fmla="*/ 379866 h 379866"/>
              <a:gd name="connsiteX9" fmla="*/ 0 w 379914"/>
              <a:gd name="connsiteY9" fmla="*/ 189933 h 379866"/>
              <a:gd name="connsiteX10" fmla="*/ 189957 w 379914"/>
              <a:gd name="connsiteY10" fmla="*/ 0 h 379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914" h="379866">
                <a:moveTo>
                  <a:pt x="162177" y="97631"/>
                </a:moveTo>
                <a:lnTo>
                  <a:pt x="219804" y="189932"/>
                </a:lnTo>
                <a:lnTo>
                  <a:pt x="162177" y="282233"/>
                </a:lnTo>
                <a:lnTo>
                  <a:pt x="198210" y="282233"/>
                </a:lnTo>
                <a:lnTo>
                  <a:pt x="255837" y="189932"/>
                </a:lnTo>
                <a:lnTo>
                  <a:pt x="198210" y="97631"/>
                </a:lnTo>
                <a:close/>
                <a:moveTo>
                  <a:pt x="189957" y="0"/>
                </a:moveTo>
                <a:cubicBezTo>
                  <a:pt x="294867" y="0"/>
                  <a:pt x="379914" y="85036"/>
                  <a:pt x="379914" y="189933"/>
                </a:cubicBezTo>
                <a:cubicBezTo>
                  <a:pt x="379914" y="294830"/>
                  <a:pt x="294867" y="379866"/>
                  <a:pt x="189957" y="379866"/>
                </a:cubicBezTo>
                <a:cubicBezTo>
                  <a:pt x="85047" y="379866"/>
                  <a:pt x="0" y="294830"/>
                  <a:pt x="0" y="189933"/>
                </a:cubicBezTo>
                <a:cubicBezTo>
                  <a:pt x="0" y="85036"/>
                  <a:pt x="85047" y="0"/>
                  <a:pt x="1899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u="none" strike="noStrike" kern="1200" cap="none" spc="0" normalizeH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lt"/>
            </a:endParaRPr>
          </a:p>
        </p:txBody>
      </p:sp>
      <p:sp>
        <p:nvSpPr>
          <p:cNvPr id="10" name="MH_Other_3"/>
          <p:cNvSpPr/>
          <p:nvPr>
            <p:custDataLst>
              <p:tags r:id="rId9"/>
            </p:custDataLst>
          </p:nvPr>
        </p:nvSpPr>
        <p:spPr>
          <a:xfrm>
            <a:off x="4943326" y="4386562"/>
            <a:ext cx="431800" cy="431800"/>
          </a:xfrm>
          <a:custGeom>
            <a:avLst/>
            <a:gdLst>
              <a:gd name="connsiteX0" fmla="*/ 162177 w 379914"/>
              <a:gd name="connsiteY0" fmla="*/ 97631 h 379866"/>
              <a:gd name="connsiteX1" fmla="*/ 219804 w 379914"/>
              <a:gd name="connsiteY1" fmla="*/ 189932 h 379866"/>
              <a:gd name="connsiteX2" fmla="*/ 162177 w 379914"/>
              <a:gd name="connsiteY2" fmla="*/ 282233 h 379866"/>
              <a:gd name="connsiteX3" fmla="*/ 198210 w 379914"/>
              <a:gd name="connsiteY3" fmla="*/ 282233 h 379866"/>
              <a:gd name="connsiteX4" fmla="*/ 255837 w 379914"/>
              <a:gd name="connsiteY4" fmla="*/ 189932 h 379866"/>
              <a:gd name="connsiteX5" fmla="*/ 198210 w 379914"/>
              <a:gd name="connsiteY5" fmla="*/ 97631 h 379866"/>
              <a:gd name="connsiteX6" fmla="*/ 189957 w 379914"/>
              <a:gd name="connsiteY6" fmla="*/ 0 h 379866"/>
              <a:gd name="connsiteX7" fmla="*/ 379914 w 379914"/>
              <a:gd name="connsiteY7" fmla="*/ 189933 h 379866"/>
              <a:gd name="connsiteX8" fmla="*/ 189957 w 379914"/>
              <a:gd name="connsiteY8" fmla="*/ 379866 h 379866"/>
              <a:gd name="connsiteX9" fmla="*/ 0 w 379914"/>
              <a:gd name="connsiteY9" fmla="*/ 189933 h 379866"/>
              <a:gd name="connsiteX10" fmla="*/ 189957 w 379914"/>
              <a:gd name="connsiteY10" fmla="*/ 0 h 379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914" h="379866">
                <a:moveTo>
                  <a:pt x="162177" y="97631"/>
                </a:moveTo>
                <a:lnTo>
                  <a:pt x="219804" y="189932"/>
                </a:lnTo>
                <a:lnTo>
                  <a:pt x="162177" y="282233"/>
                </a:lnTo>
                <a:lnTo>
                  <a:pt x="198210" y="282233"/>
                </a:lnTo>
                <a:lnTo>
                  <a:pt x="255837" y="189932"/>
                </a:lnTo>
                <a:lnTo>
                  <a:pt x="198210" y="97631"/>
                </a:lnTo>
                <a:close/>
                <a:moveTo>
                  <a:pt x="189957" y="0"/>
                </a:moveTo>
                <a:cubicBezTo>
                  <a:pt x="294867" y="0"/>
                  <a:pt x="379914" y="85036"/>
                  <a:pt x="379914" y="189933"/>
                </a:cubicBezTo>
                <a:cubicBezTo>
                  <a:pt x="379914" y="294830"/>
                  <a:pt x="294867" y="379866"/>
                  <a:pt x="189957" y="379866"/>
                </a:cubicBezTo>
                <a:cubicBezTo>
                  <a:pt x="85047" y="379866"/>
                  <a:pt x="0" y="294830"/>
                  <a:pt x="0" y="189933"/>
                </a:cubicBezTo>
                <a:cubicBezTo>
                  <a:pt x="0" y="85036"/>
                  <a:pt x="85047" y="0"/>
                  <a:pt x="1899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u="none" strike="noStrike" kern="1200" cap="none" spc="0" normalizeH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lt"/>
            </a:endParaRPr>
          </a:p>
        </p:txBody>
      </p:sp>
      <p:cxnSp>
        <p:nvCxnSpPr>
          <p:cNvPr id="22" name="PA_直接连接符 2"/>
          <p:cNvCxnSpPr/>
          <p:nvPr>
            <p:custDataLst>
              <p:tags r:id="rId10"/>
            </p:custDataLst>
          </p:nvPr>
        </p:nvCxnSpPr>
        <p:spPr>
          <a:xfrm>
            <a:off x="1198662" y="1413570"/>
            <a:ext cx="0" cy="4320480"/>
          </a:xfrm>
          <a:prstGeom prst="line">
            <a:avLst/>
          </a:prstGeom>
          <a:ln>
            <a:solidFill>
              <a:srgbClr val="6BAF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PA_直接连接符 2"/>
          <p:cNvCxnSpPr/>
          <p:nvPr>
            <p:custDataLst>
              <p:tags r:id="rId11"/>
            </p:custDataLst>
          </p:nvPr>
        </p:nvCxnSpPr>
        <p:spPr>
          <a:xfrm>
            <a:off x="2245856" y="1413570"/>
            <a:ext cx="0" cy="4320480"/>
          </a:xfrm>
          <a:prstGeom prst="line">
            <a:avLst/>
          </a:prstGeom>
          <a:ln>
            <a:solidFill>
              <a:srgbClr val="6BAFE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MH_SubTitle_3"/>
          <p:cNvSpPr/>
          <p:nvPr>
            <p:custDataLst>
              <p:tags r:id="rId12"/>
            </p:custDataLst>
          </p:nvPr>
        </p:nvSpPr>
        <p:spPr>
          <a:xfrm>
            <a:off x="2514600" y="4535170"/>
            <a:ext cx="3192780" cy="511175"/>
          </a:xfrm>
          <a:custGeom>
            <a:avLst/>
            <a:gdLst>
              <a:gd name="connsiteX0" fmla="*/ 0 w 2286028"/>
              <a:gd name="connsiteY0" fmla="*/ 0 h 449944"/>
              <a:gd name="connsiteX1" fmla="*/ 2061028 w 2286028"/>
              <a:gd name="connsiteY1" fmla="*/ 0 h 449944"/>
              <a:gd name="connsiteX2" fmla="*/ 2286028 w 2286028"/>
              <a:gd name="connsiteY2" fmla="*/ 224972 h 449944"/>
              <a:gd name="connsiteX3" fmla="*/ 2061028 w 2286028"/>
              <a:gd name="connsiteY3" fmla="*/ 449944 h 449944"/>
              <a:gd name="connsiteX4" fmla="*/ 2061018 w 2286028"/>
              <a:gd name="connsiteY4" fmla="*/ 449943 h 449944"/>
              <a:gd name="connsiteX5" fmla="*/ 0 w 2286028"/>
              <a:gd name="connsiteY5" fmla="*/ 449943 h 449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86028" h="449944">
                <a:moveTo>
                  <a:pt x="0" y="0"/>
                </a:moveTo>
                <a:lnTo>
                  <a:pt x="2061028" y="0"/>
                </a:lnTo>
                <a:cubicBezTo>
                  <a:pt x="2185292" y="0"/>
                  <a:pt x="2286028" y="100723"/>
                  <a:pt x="2286028" y="224972"/>
                </a:cubicBezTo>
                <a:cubicBezTo>
                  <a:pt x="2286028" y="349221"/>
                  <a:pt x="2185292" y="449944"/>
                  <a:pt x="2061028" y="449944"/>
                </a:cubicBezTo>
                <a:lnTo>
                  <a:pt x="2061018" y="449943"/>
                </a:lnTo>
                <a:lnTo>
                  <a:pt x="0" y="44994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根据字符串渲染列表</a:t>
            </a:r>
            <a:endParaRPr lang="zh-CN" altLang="en-US" sz="18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6" name="MH_Other_3"/>
          <p:cNvSpPr/>
          <p:nvPr>
            <p:custDataLst>
              <p:tags r:id="rId13"/>
            </p:custDataLst>
          </p:nvPr>
        </p:nvSpPr>
        <p:spPr>
          <a:xfrm>
            <a:off x="5159102" y="5536895"/>
            <a:ext cx="431800" cy="431800"/>
          </a:xfrm>
          <a:custGeom>
            <a:avLst/>
            <a:gdLst>
              <a:gd name="connsiteX0" fmla="*/ 162177 w 379914"/>
              <a:gd name="connsiteY0" fmla="*/ 97631 h 379866"/>
              <a:gd name="connsiteX1" fmla="*/ 219804 w 379914"/>
              <a:gd name="connsiteY1" fmla="*/ 189932 h 379866"/>
              <a:gd name="connsiteX2" fmla="*/ 162177 w 379914"/>
              <a:gd name="connsiteY2" fmla="*/ 282233 h 379866"/>
              <a:gd name="connsiteX3" fmla="*/ 198210 w 379914"/>
              <a:gd name="connsiteY3" fmla="*/ 282233 h 379866"/>
              <a:gd name="connsiteX4" fmla="*/ 255837 w 379914"/>
              <a:gd name="connsiteY4" fmla="*/ 189932 h 379866"/>
              <a:gd name="connsiteX5" fmla="*/ 198210 w 379914"/>
              <a:gd name="connsiteY5" fmla="*/ 97631 h 379866"/>
              <a:gd name="connsiteX6" fmla="*/ 189957 w 379914"/>
              <a:gd name="connsiteY6" fmla="*/ 0 h 379866"/>
              <a:gd name="connsiteX7" fmla="*/ 379914 w 379914"/>
              <a:gd name="connsiteY7" fmla="*/ 189933 h 379866"/>
              <a:gd name="connsiteX8" fmla="*/ 189957 w 379914"/>
              <a:gd name="connsiteY8" fmla="*/ 379866 h 379866"/>
              <a:gd name="connsiteX9" fmla="*/ 0 w 379914"/>
              <a:gd name="connsiteY9" fmla="*/ 189933 h 379866"/>
              <a:gd name="connsiteX10" fmla="*/ 189957 w 379914"/>
              <a:gd name="connsiteY10" fmla="*/ 0 h 379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914" h="379866">
                <a:moveTo>
                  <a:pt x="162177" y="97631"/>
                </a:moveTo>
                <a:lnTo>
                  <a:pt x="219804" y="189932"/>
                </a:lnTo>
                <a:lnTo>
                  <a:pt x="162177" y="282233"/>
                </a:lnTo>
                <a:lnTo>
                  <a:pt x="198210" y="282233"/>
                </a:lnTo>
                <a:lnTo>
                  <a:pt x="255837" y="189932"/>
                </a:lnTo>
                <a:lnTo>
                  <a:pt x="198210" y="97631"/>
                </a:lnTo>
                <a:close/>
                <a:moveTo>
                  <a:pt x="189957" y="0"/>
                </a:moveTo>
                <a:cubicBezTo>
                  <a:pt x="294867" y="0"/>
                  <a:pt x="379914" y="85036"/>
                  <a:pt x="379914" y="189933"/>
                </a:cubicBezTo>
                <a:cubicBezTo>
                  <a:pt x="379914" y="294830"/>
                  <a:pt x="294867" y="379866"/>
                  <a:pt x="189957" y="379866"/>
                </a:cubicBezTo>
                <a:cubicBezTo>
                  <a:pt x="85047" y="379866"/>
                  <a:pt x="0" y="294830"/>
                  <a:pt x="0" y="189933"/>
                </a:cubicBezTo>
                <a:cubicBezTo>
                  <a:pt x="0" y="85036"/>
                  <a:pt x="85047" y="0"/>
                  <a:pt x="1899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u="none" strike="noStrike" kern="1200" cap="none" spc="0" normalizeH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lt"/>
            </a:endParaRPr>
          </a:p>
        </p:txBody>
      </p:sp>
      <p:sp>
        <p:nvSpPr>
          <p:cNvPr id="42" name="文本框 41"/>
          <p:cNvSpPr txBox="1"/>
          <p:nvPr>
            <p:custDataLst>
              <p:tags r:id="rId14"/>
            </p:custDataLst>
          </p:nvPr>
        </p:nvSpPr>
        <p:spPr>
          <a:xfrm>
            <a:off x="5879182" y="1945827"/>
            <a:ext cx="5516729" cy="82994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&lt;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标签名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v-for="(item, index) in items"&gt;&lt;/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标签名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43" name="文本框 42"/>
          <p:cNvSpPr txBox="1"/>
          <p:nvPr>
            <p:custDataLst>
              <p:tags r:id="rId15"/>
            </p:custDataLst>
          </p:nvPr>
        </p:nvSpPr>
        <p:spPr>
          <a:xfrm>
            <a:off x="5908476" y="3126619"/>
            <a:ext cx="5516729" cy="82994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&lt;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标签名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v-for="(key, value, index) in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obj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"&gt;&lt;/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标签名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45" name="文本框 44"/>
          <p:cNvSpPr txBox="1"/>
          <p:nvPr>
            <p:custDataLst>
              <p:tags r:id="rId16"/>
            </p:custDataLst>
          </p:nvPr>
        </p:nvSpPr>
        <p:spPr>
          <a:xfrm>
            <a:off x="5908476" y="4602474"/>
            <a:ext cx="5516729" cy="418191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&lt;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标签名 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v-for="(item, index) in 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str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"&gt;&lt;/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标签名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&gt;</a:t>
            </a:r>
            <a:endParaRPr lang="en-US" altLang="zh-CN" sz="16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345156" y="2485471"/>
            <a:ext cx="79208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</a:rPr>
              <a:t>v-for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循环渲染列表</a:t>
            </a:r>
            <a:endParaRPr lang="zh-CN" altLang="en-US" sz="20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MH_Other_2"/>
          <p:cNvSpPr/>
          <p:nvPr>
            <p:custDataLst>
              <p:tags r:id="rId17"/>
            </p:custDataLst>
          </p:nvPr>
        </p:nvSpPr>
        <p:spPr>
          <a:xfrm>
            <a:off x="5224145" y="4580890"/>
            <a:ext cx="439420" cy="431800"/>
          </a:xfrm>
          <a:custGeom>
            <a:avLst/>
            <a:gdLst>
              <a:gd name="connsiteX0" fmla="*/ 162177 w 379914"/>
              <a:gd name="connsiteY0" fmla="*/ 97631 h 379866"/>
              <a:gd name="connsiteX1" fmla="*/ 219804 w 379914"/>
              <a:gd name="connsiteY1" fmla="*/ 189932 h 379866"/>
              <a:gd name="connsiteX2" fmla="*/ 162177 w 379914"/>
              <a:gd name="connsiteY2" fmla="*/ 282233 h 379866"/>
              <a:gd name="connsiteX3" fmla="*/ 198210 w 379914"/>
              <a:gd name="connsiteY3" fmla="*/ 282233 h 379866"/>
              <a:gd name="connsiteX4" fmla="*/ 255837 w 379914"/>
              <a:gd name="connsiteY4" fmla="*/ 189932 h 379866"/>
              <a:gd name="connsiteX5" fmla="*/ 198210 w 379914"/>
              <a:gd name="connsiteY5" fmla="*/ 97631 h 379866"/>
              <a:gd name="connsiteX6" fmla="*/ 189957 w 379914"/>
              <a:gd name="connsiteY6" fmla="*/ 0 h 379866"/>
              <a:gd name="connsiteX7" fmla="*/ 379914 w 379914"/>
              <a:gd name="connsiteY7" fmla="*/ 189933 h 379866"/>
              <a:gd name="connsiteX8" fmla="*/ 189957 w 379914"/>
              <a:gd name="connsiteY8" fmla="*/ 379866 h 379866"/>
              <a:gd name="connsiteX9" fmla="*/ 0 w 379914"/>
              <a:gd name="connsiteY9" fmla="*/ 189933 h 379866"/>
              <a:gd name="connsiteX10" fmla="*/ 189957 w 379914"/>
              <a:gd name="connsiteY10" fmla="*/ 0 h 379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914" h="379866">
                <a:moveTo>
                  <a:pt x="162177" y="97631"/>
                </a:moveTo>
                <a:lnTo>
                  <a:pt x="219804" y="189932"/>
                </a:lnTo>
                <a:lnTo>
                  <a:pt x="162177" y="282233"/>
                </a:lnTo>
                <a:lnTo>
                  <a:pt x="198210" y="282233"/>
                </a:lnTo>
                <a:lnTo>
                  <a:pt x="255837" y="189932"/>
                </a:lnTo>
                <a:lnTo>
                  <a:pt x="198210" y="97631"/>
                </a:lnTo>
                <a:close/>
                <a:moveTo>
                  <a:pt x="189957" y="0"/>
                </a:moveTo>
                <a:cubicBezTo>
                  <a:pt x="294867" y="0"/>
                  <a:pt x="379914" y="85036"/>
                  <a:pt x="379914" y="189933"/>
                </a:cubicBezTo>
                <a:cubicBezTo>
                  <a:pt x="379914" y="294830"/>
                  <a:pt x="294867" y="379866"/>
                  <a:pt x="189957" y="379866"/>
                </a:cubicBezTo>
                <a:cubicBezTo>
                  <a:pt x="85047" y="379866"/>
                  <a:pt x="0" y="294830"/>
                  <a:pt x="0" y="189933"/>
                </a:cubicBezTo>
                <a:cubicBezTo>
                  <a:pt x="0" y="85036"/>
                  <a:pt x="85047" y="0"/>
                  <a:pt x="1899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u="none" strike="noStrike" kern="1200" cap="none" spc="0" normalizeH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cs typeface="+mj-lt"/>
                <a:sym typeface="+mn-ea"/>
              </a:rPr>
              <a:t>v-for指令</a:t>
            </a:r>
            <a:endParaRPr lang="zh-CN" altLang="en-US" sz="3600">
              <a:cs typeface="+mj-l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/>
          <p:cNvCxnSpPr/>
          <p:nvPr/>
        </p:nvCxnSpPr>
        <p:spPr>
          <a:xfrm>
            <a:off x="1028700" y="1107440"/>
            <a:ext cx="10114915" cy="1905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125897" y="4298322"/>
            <a:ext cx="8568952" cy="55308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&lt;div v-for="item in items" 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v-bind:key="item.id"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&gt;&lt;/div&gt;</a:t>
            </a:r>
            <a:endParaRPr lang="en-US" altLang="zh-CN" sz="20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5" name="TextBox 35"/>
          <p:cNvSpPr txBox="1">
            <a:spLocks noChangeArrowheads="1"/>
          </p:cNvSpPr>
          <p:nvPr/>
        </p:nvSpPr>
        <p:spPr bwMode="auto">
          <a:xfrm>
            <a:off x="974090" y="1341755"/>
            <a:ext cx="10521950" cy="5129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</a:rPr>
              <a:t>v-for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</a:rPr>
              <a:t>（根据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</a:rPr>
              <a:t>list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</a:rPr>
              <a:t>数组中的元素）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渲染列表后，当在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list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数组中删除一个元素后，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</a:rPr>
              <a:t>index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会发生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</a:rPr>
              <a:t>变化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v-for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会重新渲染列表，导致性能下降。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为了给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v-for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一个提示，以便它能跟踪每个节点的身份，从而对现有元素进行重用和重新排序，建议通过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</a:rPr>
              <a:t>key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</a:rPr>
              <a:t>列表中的每一项提供具有唯一性的值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，示例代码如下。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cs typeface="+mj-lt"/>
                <a:sym typeface="+mn-ea"/>
              </a:rPr>
              <a:t>v-for指令</a:t>
            </a:r>
            <a:endParaRPr lang="zh-CN" altLang="en-US" sz="3600">
              <a:cs typeface="+mj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0" b="64834" l="0" r="524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96" t="7905" r="68334" b="39870"/>
          <a:stretch>
            <a:fillRect/>
          </a:stretch>
        </p:blipFill>
        <p:spPr>
          <a:xfrm>
            <a:off x="0" y="0"/>
            <a:ext cx="1291586" cy="1498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230" b="100000" l="56481" r="100000">
                        <a14:foregroundMark x1="99638" y1="46483" x2="99928" y2="91512"/>
                        <a14:foregroundMark x1="97852" y1="46160" x2="82694" y2="71584"/>
                        <a14:foregroundMark x1="80908" y1="70493" x2="57229" y2="98868"/>
                        <a14:foregroundMark x1="96259" y1="47251" x2="81101" y2="68270"/>
                        <a14:foregroundMark x1="65749" y1="82862" x2="59015" y2="99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472" t="50250" r="5326" b="7406"/>
          <a:stretch>
            <a:fillRect/>
          </a:stretch>
        </p:blipFill>
        <p:spPr>
          <a:xfrm>
            <a:off x="10706100" y="5790996"/>
            <a:ext cx="1485900" cy="1067003"/>
          </a:xfrm>
          <a:prstGeom prst="rect">
            <a:avLst/>
          </a:prstGeom>
        </p:spPr>
      </p:pic>
      <p:cxnSp>
        <p:nvCxnSpPr>
          <p:cNvPr id="18" name="直接连接符 17"/>
          <p:cNvCxnSpPr/>
          <p:nvPr/>
        </p:nvCxnSpPr>
        <p:spPr>
          <a:xfrm>
            <a:off x="1028700" y="1107440"/>
            <a:ext cx="10114915" cy="1905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TextBox 76"/>
          <p:cNvSpPr txBox="1"/>
          <p:nvPr/>
        </p:nvSpPr>
        <p:spPr>
          <a:xfrm>
            <a:off x="823635" y="2082241"/>
            <a:ext cx="4541020" cy="3371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用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v-for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渲染多个列表数据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3" name="TextBox 35"/>
          <p:cNvSpPr txBox="1">
            <a:spLocks noChangeArrowheads="1"/>
          </p:cNvSpPr>
          <p:nvPr/>
        </p:nvSpPr>
        <p:spPr bwMode="auto">
          <a:xfrm>
            <a:off x="910455" y="1219950"/>
            <a:ext cx="6313087" cy="104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b="1" kern="0" noProof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代码演示：使用</a:t>
            </a:r>
            <a:r>
              <a:rPr lang="en-US" altLang="zh-CN" sz="2000" b="1" kern="0" noProof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v-for</a:t>
            </a: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根据一维数组渲染列表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algn="just">
              <a:lnSpc>
                <a:spcPct val="150000"/>
              </a:lnSpc>
            </a:pPr>
            <a:endParaRPr lang="zh-CN" altLang="en-US" sz="20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7775" y="2263775"/>
            <a:ext cx="3327400" cy="42062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247390" y="5352415"/>
            <a:ext cx="1373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hlinkClick r:id="rId6" action="ppaction://hlinkfile"/>
              </a:rPr>
              <a:t>运行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" y="2940685"/>
            <a:ext cx="6791325" cy="18903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cs typeface="+mj-lt"/>
                <a:sym typeface="+mn-ea"/>
              </a:rPr>
              <a:t>v-for指令</a:t>
            </a:r>
            <a:endParaRPr lang="zh-CN" altLang="en-US" sz="3600">
              <a:cs typeface="+mj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1775460" y="864235"/>
            <a:ext cx="9025890" cy="5831840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noAutofit/>
          </a:bodyPr>
          <a:lstStyle/>
          <a:p>
            <a:pPr algn="l"/>
            <a:r>
              <a:rPr lang="en-US" altLang="zh-CN" sz="2400" b="0" dirty="0">
                <a:latin typeface="+mn-lt"/>
                <a:cs typeface="+mn-lt"/>
              </a:rPr>
              <a:t>&lt;div id="app-7"&gt;</a:t>
            </a:r>
            <a:endParaRPr lang="en-US" altLang="zh-CN" sz="2400" b="0" dirty="0"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</a:rPr>
              <a:t>	&lt;ol&gt;</a:t>
            </a:r>
            <a:endParaRPr lang="en-US" altLang="zh-CN" sz="2400" b="0" dirty="0"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</a:rPr>
              <a:t>		&lt;template v-for="(value,key,index) in myObj"&gt;</a:t>
            </a:r>
            <a:endParaRPr lang="en-US" altLang="zh-CN" sz="2400" b="0" dirty="0"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</a:rPr>
              <a:t>			&lt;li&gt;{{key}}&lt;/li&gt;</a:t>
            </a:r>
            <a:endParaRPr lang="en-US" altLang="zh-CN" sz="2400" b="0" dirty="0"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</a:rPr>
              <a:t>			&lt;p&gt;备注说明{{index}}:{{value}}&lt;/p&gt;</a:t>
            </a:r>
            <a:endParaRPr lang="en-US" altLang="zh-CN" sz="2400" b="0" dirty="0"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</a:rPr>
              <a:t>		&lt;/template&gt;</a:t>
            </a:r>
            <a:endParaRPr lang="en-US" altLang="zh-CN" sz="2400" b="0" dirty="0"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</a:rPr>
              <a:t>	&lt;/ol&gt;</a:t>
            </a:r>
            <a:endParaRPr lang="en-US" altLang="zh-CN" sz="2400" b="0" dirty="0"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</a:rPr>
              <a:t>&lt;/div&gt;</a:t>
            </a:r>
            <a:endParaRPr lang="en-US" altLang="zh-CN" sz="2400" b="0" dirty="0"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</a:rPr>
              <a:t>var app7 = new Vue({</a:t>
            </a:r>
            <a:endParaRPr lang="en-US" altLang="zh-CN" sz="2400" b="0" dirty="0"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</a:rPr>
              <a:t>		el:'#app-7',</a:t>
            </a:r>
            <a:endParaRPr lang="en-US" altLang="zh-CN" sz="2400" b="0" dirty="0"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</a:rPr>
              <a:t>		data: {</a:t>
            </a:r>
            <a:endParaRPr lang="en-US" altLang="zh-CN" sz="2400" b="0" dirty="0"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</a:rPr>
              <a:t>			myObj: {</a:t>
            </a:r>
            <a:endParaRPr lang="en-US" altLang="zh-CN" sz="2400" b="0" dirty="0"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</a:rPr>
              <a:t>				'蔬菜':'蔬菜是个好东西',</a:t>
            </a:r>
            <a:endParaRPr lang="en-US" altLang="zh-CN" sz="2400" b="0" dirty="0"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</a:rPr>
              <a:t>				'奶酪':'奶酪是个好东西',</a:t>
            </a:r>
            <a:endParaRPr lang="en-US" altLang="zh-CN" sz="2400" b="0" dirty="0"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</a:rPr>
              <a:t>				'水果':'水果是个好东西'}</a:t>
            </a:r>
            <a:endParaRPr lang="en-US" altLang="zh-CN" sz="2400" b="0" dirty="0"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</a:rPr>
              <a:t>		</a:t>
            </a:r>
            <a:br>
              <a:rPr lang="en-US" altLang="zh-CN" sz="2400" b="0" dirty="0">
                <a:latin typeface="+mn-lt"/>
                <a:cs typeface="+mn-lt"/>
              </a:rPr>
            </a:br>
            <a:endParaRPr lang="en-US" altLang="zh-CN" sz="2400" b="0" dirty="0">
              <a:latin typeface="+mn-lt"/>
              <a:ea typeface="宋体" panose="02010600030101010101" pitchFamily="2" charset="-122"/>
              <a:cs typeface="+mn-lt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5303838" y="260350"/>
            <a:ext cx="5043487" cy="654050"/>
          </a:xfrm>
        </p:spPr>
        <p:txBody>
          <a:bodyPr/>
          <a:lstStyle/>
          <a:p>
            <a:r>
              <a:rPr lang="zh-CN" altLang="en-US" sz="3600" dirty="0"/>
              <a:t>演示迭代对象</a:t>
            </a:r>
            <a:endParaRPr lang="zh-CN" altLang="en-US" sz="3600" dirty="0"/>
          </a:p>
        </p:txBody>
      </p:sp>
      <p:sp>
        <p:nvSpPr>
          <p:cNvPr id="2" name="文本框 1"/>
          <p:cNvSpPr txBox="1"/>
          <p:nvPr/>
        </p:nvSpPr>
        <p:spPr>
          <a:xfrm>
            <a:off x="335280" y="3356610"/>
            <a:ext cx="1373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hlinkClick r:id="rId1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/>
          <p:cNvCxnSpPr/>
          <p:nvPr/>
        </p:nvCxnSpPr>
        <p:spPr>
          <a:xfrm>
            <a:off x="1028700" y="1107440"/>
            <a:ext cx="10114915" cy="1905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TextBox 35"/>
          <p:cNvSpPr txBox="1">
            <a:spLocks noChangeArrowheads="1"/>
          </p:cNvSpPr>
          <p:nvPr/>
        </p:nvSpPr>
        <p:spPr bwMode="auto">
          <a:xfrm>
            <a:off x="974090" y="1341755"/>
            <a:ext cx="10521950" cy="5122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400" b="0" kern="0" dirty="0">
                <a:latin typeface="+mn-lt"/>
                <a:ea typeface="+mn-ea"/>
                <a:cs typeface="+mn-lt"/>
              </a:rPr>
              <a:t>什么是</a:t>
            </a:r>
            <a:r>
              <a:rPr lang="en-US" altLang="zh-CN" sz="2400" b="0" kern="0" dirty="0">
                <a:solidFill>
                  <a:srgbClr val="0070C0"/>
                </a:solidFill>
                <a:latin typeface="+mn-lt"/>
                <a:ea typeface="+mn-ea"/>
                <a:cs typeface="+mn-lt"/>
              </a:rPr>
              <a:t>template</a:t>
            </a:r>
            <a:r>
              <a:rPr lang="en-US" altLang="zh-CN" sz="2400" b="0" kern="0" dirty="0">
                <a:latin typeface="+mn-lt"/>
                <a:ea typeface="+mn-ea"/>
                <a:cs typeface="+mn-lt"/>
              </a:rPr>
              <a:t>?</a:t>
            </a:r>
            <a:endParaRPr lang="en-US" altLang="zh-CN" sz="2400" b="0" kern="0" dirty="0">
              <a:latin typeface="+mn-lt"/>
              <a:ea typeface="+mn-ea"/>
              <a:cs typeface="+mn-lt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b="0" kern="0" dirty="0">
                <a:latin typeface="+mn-lt"/>
                <a:ea typeface="+mn-ea"/>
                <a:cs typeface="+mn-lt"/>
              </a:rPr>
              <a:t>在Vue中，template 是一个非常重要的元素，它用于声明性地描述组件的 HTML 结构。template 元素不会被渲染为真实的 DOM 元素，它只是作为一个包裹元素，用于在 Vue 的编译过程中生成渲染函数的模板。</a:t>
            </a:r>
            <a:endParaRPr lang="zh-CN" altLang="en-US" sz="2400" b="0" kern="0" dirty="0">
              <a:latin typeface="+mn-lt"/>
              <a:ea typeface="+mn-ea"/>
              <a:cs typeface="+mn-lt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b="0" kern="0" dirty="0">
                <a:latin typeface="+mn-lt"/>
                <a:ea typeface="+mn-ea"/>
                <a:cs typeface="+mn-lt"/>
              </a:rPr>
              <a:t>为什么在 v-for 时使用 template</a:t>
            </a:r>
            <a:endParaRPr lang="zh-CN" altLang="en-US" sz="2400" b="0" kern="0" dirty="0">
              <a:latin typeface="+mn-lt"/>
              <a:ea typeface="+mn-ea"/>
              <a:cs typeface="+mn-lt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b="0" kern="0" dirty="0">
                <a:latin typeface="+mn-lt"/>
                <a:ea typeface="+mn-ea"/>
                <a:cs typeface="+mn-lt"/>
              </a:rPr>
              <a:t>当你需要在 v-for 中渲染一个列表，但又不希望为每个列表项都包裹在一个特定的元素中时（比如，直接渲染一组 &lt;div&gt; 而不是每个 &lt;div&gt; 都被另一个 &lt;div&gt; 包裹），template 就非常有用。</a:t>
            </a:r>
            <a:endParaRPr lang="zh-CN" altLang="en-US" sz="2400" b="0" kern="0" dirty="0">
              <a:latin typeface="+mn-lt"/>
              <a:ea typeface="+mn-ea"/>
              <a:cs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cs typeface="+mj-lt"/>
                <a:sym typeface="+mn-ea"/>
              </a:rPr>
              <a:t>v-for</a:t>
            </a:r>
            <a:r>
              <a:rPr lang="zh-CN" altLang="en-US" sz="3600" dirty="0">
                <a:cs typeface="+mj-lt"/>
                <a:sym typeface="+mn-ea"/>
              </a:rPr>
              <a:t>指令与</a:t>
            </a:r>
            <a:r>
              <a:rPr lang="en-US" altLang="zh-CN" sz="3600" dirty="0">
                <a:cs typeface="+mj-lt"/>
                <a:sym typeface="+mn-ea"/>
              </a:rPr>
              <a:t>template</a:t>
            </a:r>
            <a:endParaRPr lang="en-US" altLang="zh-CN" sz="3600" dirty="0">
              <a:cs typeface="+mj-lt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/>
          <p:cNvCxnSpPr/>
          <p:nvPr/>
        </p:nvCxnSpPr>
        <p:spPr>
          <a:xfrm>
            <a:off x="1028700" y="1107440"/>
            <a:ext cx="10114915" cy="1905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TextBox 35"/>
          <p:cNvSpPr txBox="1">
            <a:spLocks noChangeArrowheads="1"/>
          </p:cNvSpPr>
          <p:nvPr/>
        </p:nvSpPr>
        <p:spPr bwMode="auto">
          <a:xfrm>
            <a:off x="911225" y="1341755"/>
            <a:ext cx="10521950" cy="5122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400" b="0" kern="0" dirty="0">
                <a:latin typeface="+mn-lt"/>
                <a:ea typeface="+mn-ea"/>
                <a:cs typeface="+mn-lt"/>
              </a:rPr>
              <a:t>1.</a:t>
            </a:r>
            <a:r>
              <a:rPr lang="zh-CN" altLang="en-US" sz="2400" b="0" kern="0" dirty="0">
                <a:latin typeface="+mn-lt"/>
                <a:ea typeface="+mn-ea"/>
                <a:cs typeface="+mn-lt"/>
              </a:rPr>
              <a:t>不使用 template 的情况：</a:t>
            </a:r>
            <a:endParaRPr lang="zh-CN" altLang="en-US" sz="2400" b="0" kern="0" dirty="0">
              <a:latin typeface="+mn-lt"/>
              <a:ea typeface="+mn-ea"/>
              <a:cs typeface="+mn-lt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b="0" kern="0" dirty="0">
                <a:latin typeface="+mn-lt"/>
                <a:ea typeface="+mn-ea"/>
                <a:cs typeface="+mn-lt"/>
              </a:rPr>
              <a:t>直接在 v-for 上使用某个元素（如 &lt;div&gt;），那么每个列表项都会被这个元素包裹：</a:t>
            </a:r>
            <a:endParaRPr lang="zh-CN" altLang="en-US" sz="2400" b="0" kern="0" dirty="0">
              <a:latin typeface="+mn-lt"/>
              <a:ea typeface="+mn-ea"/>
              <a:cs typeface="+mn-lt"/>
            </a:endParaRPr>
          </a:p>
          <a:p>
            <a:pPr algn="just">
              <a:lnSpc>
                <a:spcPct val="150000"/>
              </a:lnSpc>
            </a:pPr>
            <a:endParaRPr lang="zh-CN" altLang="en-US" sz="2400" b="0" kern="0" dirty="0">
              <a:latin typeface="+mn-lt"/>
              <a:ea typeface="+mn-ea"/>
              <a:cs typeface="+mn-lt"/>
            </a:endParaRPr>
          </a:p>
          <a:p>
            <a:pPr algn="just">
              <a:lnSpc>
                <a:spcPct val="150000"/>
              </a:lnSpc>
            </a:pPr>
            <a:endParaRPr lang="zh-CN" altLang="en-US" sz="2400" b="0" kern="0" dirty="0">
              <a:latin typeface="+mn-lt"/>
              <a:ea typeface="+mn-ea"/>
              <a:cs typeface="+mn-lt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b="0" kern="0" dirty="0">
                <a:latin typeface="+mn-lt"/>
                <a:ea typeface="+mn-ea"/>
                <a:cs typeface="+mn-lt"/>
              </a:rPr>
              <a:t>这将为每个 items 中的项生成一个 &lt;div&gt; 元素。</a:t>
            </a:r>
            <a:endParaRPr lang="zh-CN" altLang="en-US" sz="2400" b="0" kern="0" dirty="0">
              <a:latin typeface="+mn-lt"/>
              <a:ea typeface="+mn-ea"/>
              <a:cs typeface="+mn-lt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b="0" kern="0" dirty="0">
                <a:latin typeface="+mn-lt"/>
                <a:ea typeface="+mn-ea"/>
                <a:cs typeface="+mn-lt"/>
              </a:rPr>
              <a:t>2.</a:t>
            </a:r>
            <a:r>
              <a:rPr lang="zh-CN" altLang="en-US" sz="2400" b="0" kern="0" dirty="0">
                <a:latin typeface="+mn-lt"/>
                <a:ea typeface="+mn-ea"/>
                <a:cs typeface="+mn-lt"/>
              </a:rPr>
              <a:t>使用 template 的情况：</a:t>
            </a:r>
            <a:endParaRPr lang="zh-CN" altLang="en-US" sz="2400" b="0" kern="0" dirty="0">
              <a:latin typeface="+mn-lt"/>
              <a:ea typeface="+mn-ea"/>
              <a:cs typeface="+mn-lt"/>
            </a:endParaRPr>
          </a:p>
          <a:p>
            <a:pPr algn="just">
              <a:lnSpc>
                <a:spcPct val="150000"/>
              </a:lnSpc>
            </a:pPr>
            <a:endParaRPr lang="zh-CN" altLang="en-US" sz="2400" b="0" kern="0" dirty="0">
              <a:latin typeface="+mn-lt"/>
              <a:ea typeface="+mn-ea"/>
              <a:cs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cs typeface="+mj-lt"/>
                <a:sym typeface="+mn-ea"/>
              </a:rPr>
              <a:t>v-for</a:t>
            </a:r>
            <a:r>
              <a:rPr lang="zh-CN" altLang="en-US" sz="3600" dirty="0">
                <a:cs typeface="+mj-lt"/>
                <a:sym typeface="+mn-ea"/>
              </a:rPr>
              <a:t>指令与</a:t>
            </a:r>
            <a:r>
              <a:rPr lang="en-US" altLang="zh-CN" sz="3600" dirty="0">
                <a:cs typeface="+mj-lt"/>
                <a:sym typeface="+mn-ea"/>
              </a:rPr>
              <a:t>template</a:t>
            </a:r>
            <a:endParaRPr lang="en-US" altLang="zh-CN" sz="3600" dirty="0">
              <a:cs typeface="+mj-lt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5505" y="2637155"/>
            <a:ext cx="6798310" cy="12465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775" y="5085080"/>
            <a:ext cx="7618095" cy="107823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984740" y="3883660"/>
            <a:ext cx="1373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hlinkClick r:id="rId3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63784" y="2781207"/>
            <a:ext cx="8567365" cy="553085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&lt;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标签名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v-on: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事件名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="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事件处理器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"&gt;&lt;/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标签名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&gt;</a:t>
            </a:r>
            <a:endParaRPr lang="en-US" altLang="zh-CN" sz="20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975872" y="1485303"/>
            <a:ext cx="10519887" cy="104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4" tIns="60946" rIns="121894" bIns="60946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Vue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开发中，有时需要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</a:rPr>
              <a:t>给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</a:rPr>
              <a:t>DOM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</a:rPr>
              <a:t>元素绑定事件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，从而利用事件实现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</a:rPr>
              <a:t>交互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效果，这时可以利用事件绑定指令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</a:rPr>
              <a:t>v-on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来实现。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v-on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的语法格式如下。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35"/>
          <p:cNvSpPr txBox="1">
            <a:spLocks noChangeArrowheads="1"/>
          </p:cNvSpPr>
          <p:nvPr/>
        </p:nvSpPr>
        <p:spPr bwMode="auto">
          <a:xfrm>
            <a:off x="975872" y="3524339"/>
            <a:ext cx="10519887" cy="1967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4" tIns="60946" rIns="121894" bIns="60946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在上述语法格式中，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</a:rPr>
              <a:t>事件名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即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</a:rPr>
              <a:t>DOM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</a:rPr>
              <a:t>中的事件名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，例如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</a:rPr>
              <a:t>click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</a:rPr>
              <a:t>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</a:rPr>
              <a:t>keyup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等；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</a:rPr>
              <a:t>事件处理器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可以是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</a:rPr>
              <a:t>方法名或内联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</a:rPr>
              <a:t>JavaScript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</a:rPr>
              <a:t>语句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。如果逻辑复杂，事件处理器建议使用方法名，方法需要在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&lt;script&gt;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标签中定义；如果逻辑简单，只有一行代码，则可以使用内联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语句。另外，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v-on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还有简写形式，可以将“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</a:rPr>
              <a:t>v-on: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</a:rPr>
              <a:t>事件名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”简写为“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</a:rPr>
              <a:t>@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charset="-122"/>
                <a:ea typeface="微软雅黑" panose="020B0503020204020204" charset="-122"/>
              </a:rPr>
              <a:t>事件名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”。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5303838" y="260350"/>
            <a:ext cx="5043487" cy="654050"/>
          </a:xfrm>
        </p:spPr>
        <p:txBody>
          <a:bodyPr/>
          <a:p>
            <a:r>
              <a:rPr lang="en-US" altLang="zh-CN" sz="3600" dirty="0">
                <a:cs typeface="+mj-lt"/>
                <a:sym typeface="+mn-ea"/>
              </a:rPr>
              <a:t>v-on </a:t>
            </a:r>
            <a:r>
              <a:rPr lang="zh-CN" altLang="en-US" sz="3600" dirty="0">
                <a:cs typeface="+mj-lt"/>
                <a:sym typeface="+mn-ea"/>
              </a:rPr>
              <a:t>指令</a:t>
            </a:r>
            <a:endParaRPr lang="zh-CN" altLang="en-US" sz="3600" dirty="0"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7" name="AutoShape 3"/>
          <p:cNvSpPr/>
          <p:nvPr/>
        </p:nvSpPr>
        <p:spPr>
          <a:xfrm>
            <a:off x="1073785" y="1107440"/>
            <a:ext cx="8838565" cy="5086350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noAutofit/>
          </a:bodyPr>
          <a:lstStyle/>
          <a:p>
            <a:pPr algn="l"/>
            <a:r>
              <a:rPr lang="en-US" altLang="zh-CN" sz="2400" b="0" dirty="0">
                <a:latin typeface="+mn-lt"/>
                <a:cs typeface="+mn-lt"/>
              </a:rPr>
              <a:t>&lt;div id="app"&gt;</a:t>
            </a:r>
            <a:br>
              <a:rPr lang="zh-CN" altLang="en-US" sz="2400" dirty="0">
                <a:latin typeface="+mn-lt"/>
                <a:cs typeface="+mn-lt"/>
              </a:rPr>
            </a:br>
            <a:r>
              <a:rPr lang="en-US" altLang="zh-CN" sz="2400" b="0" dirty="0">
                <a:latin typeface="+mn-lt"/>
                <a:cs typeface="+mn-lt"/>
              </a:rPr>
              <a:t>&lt;button </a:t>
            </a:r>
            <a:r>
              <a:rPr lang="en-US" altLang="zh-CN" sz="2400" b="0" dirty="0" err="1">
                <a:latin typeface="+mn-lt"/>
                <a:cs typeface="+mn-lt"/>
              </a:rPr>
              <a:t>v-on:click</a:t>
            </a:r>
            <a:r>
              <a:rPr lang="en-US" altLang="zh-CN" sz="2400" b="0" dirty="0">
                <a:latin typeface="+mn-lt"/>
                <a:cs typeface="+mn-lt"/>
              </a:rPr>
              <a:t>="greet"&gt;Greet&lt;/button&gt;</a:t>
            </a:r>
            <a:br>
              <a:rPr lang="en-US" altLang="zh-CN" sz="2400" b="0" dirty="0">
                <a:latin typeface="+mn-lt"/>
                <a:cs typeface="+mn-lt"/>
              </a:rPr>
            </a:br>
            <a:r>
              <a:rPr lang="en-US" altLang="zh-CN" sz="2400" b="0" dirty="0">
                <a:latin typeface="+mn-lt"/>
                <a:cs typeface="+mn-lt"/>
              </a:rPr>
              <a:t>&lt;/div&gt;</a:t>
            </a:r>
            <a:br>
              <a:rPr lang="en-US" altLang="zh-CN" sz="2400" b="0" dirty="0">
                <a:latin typeface="+mn-lt"/>
                <a:cs typeface="+mn-lt"/>
              </a:rPr>
            </a:br>
            <a:r>
              <a:rPr lang="en-US" altLang="zh-CN" sz="2400" b="0" dirty="0">
                <a:latin typeface="+mn-lt"/>
                <a:cs typeface="+mn-lt"/>
              </a:rPr>
              <a:t>&lt;script&gt;</a:t>
            </a:r>
            <a:br>
              <a:rPr lang="en-US" altLang="zh-CN" sz="2400" b="0" dirty="0">
                <a:latin typeface="+mn-lt"/>
                <a:cs typeface="+mn-lt"/>
              </a:rPr>
            </a:br>
            <a:r>
              <a:rPr lang="en-US" altLang="zh-CN" sz="2400" b="0" dirty="0" err="1">
                <a:latin typeface="+mn-lt"/>
                <a:cs typeface="+mn-lt"/>
              </a:rPr>
              <a:t>var</a:t>
            </a:r>
            <a:r>
              <a:rPr lang="en-US" altLang="zh-CN" sz="2400" b="0" dirty="0">
                <a:latin typeface="+mn-lt"/>
                <a:cs typeface="+mn-lt"/>
              </a:rPr>
              <a:t> app = new </a:t>
            </a:r>
            <a:r>
              <a:rPr lang="en-US" altLang="zh-CN" sz="2400" b="0" dirty="0" err="1">
                <a:latin typeface="+mn-lt"/>
                <a:cs typeface="+mn-lt"/>
              </a:rPr>
              <a:t>Vue</a:t>
            </a:r>
            <a:r>
              <a:rPr lang="en-US" altLang="zh-CN" sz="2400" b="0" dirty="0">
                <a:latin typeface="+mn-lt"/>
                <a:cs typeface="+mn-lt"/>
              </a:rPr>
              <a:t>({</a:t>
            </a:r>
            <a:br>
              <a:rPr lang="en-US" altLang="zh-CN" sz="2400" b="0" dirty="0">
                <a:latin typeface="+mn-lt"/>
                <a:cs typeface="+mn-lt"/>
              </a:rPr>
            </a:br>
            <a:r>
              <a:rPr lang="en-US" altLang="zh-CN" sz="2400" b="0" dirty="0">
                <a:latin typeface="+mn-lt"/>
                <a:cs typeface="+mn-lt"/>
              </a:rPr>
              <a:t>	el: '#app',</a:t>
            </a:r>
            <a:br>
              <a:rPr lang="en-US" altLang="zh-CN" sz="2400" b="0" dirty="0">
                <a:latin typeface="+mn-lt"/>
                <a:cs typeface="+mn-lt"/>
              </a:rPr>
            </a:br>
            <a:r>
              <a:rPr lang="en-US" altLang="zh-CN" sz="2400" b="0" dirty="0">
                <a:latin typeface="+mn-lt"/>
                <a:cs typeface="+mn-lt"/>
              </a:rPr>
              <a:t>	data: {</a:t>
            </a:r>
            <a:br>
              <a:rPr lang="en-US" altLang="zh-CN" sz="2400" b="0" dirty="0">
                <a:latin typeface="+mn-lt"/>
                <a:cs typeface="+mn-lt"/>
              </a:rPr>
            </a:br>
            <a:r>
              <a:rPr lang="en-US" altLang="zh-CN" sz="2400" b="0" dirty="0">
                <a:latin typeface="+mn-lt"/>
                <a:cs typeface="+mn-lt"/>
              </a:rPr>
              <a:t>		name: 'Vue.js'</a:t>
            </a:r>
            <a:endParaRPr lang="en-US" altLang="zh-CN" sz="2400" b="0" dirty="0">
              <a:latin typeface="+mn-lt"/>
              <a:cs typeface="+mn-lt"/>
            </a:endParaRPr>
          </a:p>
          <a:p>
            <a:pPr marL="457200" lvl="1" indent="457200" algn="l"/>
            <a:r>
              <a:rPr lang="en-US" altLang="zh-CN" sz="2400" b="0" dirty="0">
                <a:latin typeface="+mn-lt"/>
                <a:cs typeface="+mn-lt"/>
                <a:sym typeface="+mn-ea"/>
              </a:rPr>
              <a:t>methods: {</a:t>
            </a:r>
            <a:br>
              <a:rPr lang="en-US" altLang="zh-CN" sz="2400" b="0" dirty="0">
                <a:latin typeface="+mn-lt"/>
                <a:cs typeface="+mn-lt"/>
                <a:sym typeface="+mn-ea"/>
              </a:rPr>
            </a:br>
            <a:r>
              <a:rPr lang="en-US" altLang="zh-CN" sz="2400" b="0" dirty="0">
                <a:latin typeface="+mn-lt"/>
                <a:cs typeface="+mn-lt"/>
                <a:sym typeface="+mn-ea"/>
              </a:rPr>
              <a:t>		greet: function () {</a:t>
            </a:r>
            <a:br>
              <a:rPr lang="en-US" altLang="zh-CN" sz="2400" b="0" dirty="0">
                <a:latin typeface="+mn-lt"/>
                <a:cs typeface="+mn-lt"/>
                <a:sym typeface="+mn-ea"/>
              </a:rPr>
            </a:br>
            <a:r>
              <a:rPr lang="en-US" altLang="zh-CN" sz="2400" b="0" dirty="0">
                <a:latin typeface="+mn-lt"/>
                <a:cs typeface="+mn-lt"/>
                <a:sym typeface="+mn-ea"/>
              </a:rPr>
              <a:t>		// 'this' </a:t>
            </a:r>
            <a:r>
              <a:rPr lang="zh-CN" altLang="en-US" sz="2400" b="0" dirty="0">
                <a:latin typeface="+mn-lt"/>
                <a:cs typeface="+mn-lt"/>
                <a:sym typeface="+mn-ea"/>
              </a:rPr>
              <a:t>在方法里指当前 </a:t>
            </a:r>
            <a:r>
              <a:rPr lang="en-US" altLang="zh-CN" sz="2400" b="0" dirty="0" err="1">
                <a:latin typeface="+mn-lt"/>
                <a:cs typeface="+mn-lt"/>
                <a:sym typeface="+mn-ea"/>
              </a:rPr>
              <a:t>Vue</a:t>
            </a:r>
            <a:r>
              <a:rPr lang="en-US" altLang="zh-CN" sz="2400" b="0" dirty="0">
                <a:latin typeface="+mn-lt"/>
                <a:cs typeface="+mn-lt"/>
                <a:sym typeface="+mn-ea"/>
              </a:rPr>
              <a:t> </a:t>
            </a:r>
            <a:r>
              <a:rPr lang="zh-CN" altLang="en-US" sz="2400" b="0" dirty="0">
                <a:latin typeface="+mn-lt"/>
                <a:cs typeface="+mn-lt"/>
                <a:sym typeface="+mn-ea"/>
              </a:rPr>
              <a:t>实例</a:t>
            </a:r>
            <a:br>
              <a:rPr lang="zh-CN" altLang="en-US" sz="2400" b="0" dirty="0">
                <a:latin typeface="+mn-lt"/>
                <a:cs typeface="+mn-lt"/>
                <a:sym typeface="+mn-ea"/>
              </a:rPr>
            </a:br>
            <a:r>
              <a:rPr lang="en-US" altLang="zh-CN" sz="2400" b="0" dirty="0">
                <a:latin typeface="+mn-lt"/>
                <a:cs typeface="+mn-lt"/>
                <a:sym typeface="+mn-ea"/>
              </a:rPr>
              <a:t>		alert(this.name + '</a:t>
            </a:r>
            <a:r>
              <a:rPr lang="zh-CN" altLang="en-US" sz="2400" b="0" dirty="0">
                <a:latin typeface="+mn-lt"/>
                <a:cs typeface="+mn-lt"/>
                <a:sym typeface="+mn-ea"/>
              </a:rPr>
              <a:t>的方法被调用了！ </a:t>
            </a:r>
            <a:r>
              <a:rPr lang="en-US" altLang="zh-CN" sz="2400" b="0" dirty="0">
                <a:latin typeface="+mn-lt"/>
                <a:cs typeface="+mn-lt"/>
                <a:sym typeface="+mn-ea"/>
              </a:rPr>
              <a:t>')</a:t>
            </a:r>
            <a:br>
              <a:rPr lang="en-US" altLang="zh-CN" sz="2400" b="0" dirty="0">
                <a:latin typeface="+mn-lt"/>
                <a:cs typeface="+mn-lt"/>
                <a:sym typeface="+mn-ea"/>
              </a:rPr>
            </a:br>
            <a:r>
              <a:rPr lang="en-US" altLang="zh-CN" sz="2400" b="0" dirty="0">
                <a:latin typeface="+mn-lt"/>
                <a:cs typeface="+mn-lt"/>
                <a:sym typeface="+mn-ea"/>
              </a:rPr>
              <a:t>	}}}</a:t>
            </a:r>
            <a:br>
              <a:rPr lang="en-US" altLang="zh-CN" sz="2400" b="0" dirty="0">
                <a:latin typeface="+mn-lt"/>
                <a:cs typeface="+mn-lt"/>
                <a:sym typeface="+mn-ea"/>
              </a:rPr>
            </a:br>
            <a:br>
              <a:rPr lang="en-US" altLang="zh-CN" b="0" dirty="0"/>
            </a:b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5303838" y="260350"/>
            <a:ext cx="5043487" cy="654050"/>
          </a:xfrm>
        </p:spPr>
        <p:txBody>
          <a:bodyPr/>
          <a:lstStyle/>
          <a:p>
            <a:r>
              <a:rPr lang="en-US" altLang="zh-CN" sz="3600" dirty="0">
                <a:cs typeface="+mj-lt"/>
                <a:sym typeface="+mn-ea"/>
              </a:rPr>
              <a:t>v-on </a:t>
            </a:r>
            <a:r>
              <a:rPr lang="zh-CN" altLang="en-US" sz="3600" dirty="0">
                <a:cs typeface="+mj-lt"/>
                <a:sym typeface="+mn-ea"/>
              </a:rPr>
              <a:t>示例</a:t>
            </a:r>
            <a:endParaRPr lang="zh-CN" altLang="en-US" sz="3600" dirty="0">
              <a:cs typeface="+mj-lt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400415" y="5229225"/>
            <a:ext cx="1373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1" tooltip="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7" name="AutoShape 3"/>
          <p:cNvSpPr/>
          <p:nvPr/>
        </p:nvSpPr>
        <p:spPr>
          <a:xfrm>
            <a:off x="1073785" y="1107440"/>
            <a:ext cx="8838565" cy="5086350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noAutofit/>
          </a:bodyPr>
          <a:lstStyle/>
          <a:p>
            <a:pPr algn="l"/>
            <a:r>
              <a:rPr lang="en-US" altLang="zh-CN" sz="2400" b="0" dirty="0">
                <a:latin typeface="+mn-lt"/>
                <a:cs typeface="+mn-lt"/>
              </a:rPr>
              <a:t>&lt;h1&gt;演示v-on指令处理事件&lt;/h1&gt;</a:t>
            </a:r>
            <a:endParaRPr lang="en-US" altLang="zh-CN" sz="2400" b="0" dirty="0"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</a:rPr>
              <a:t>&lt;div id="myApp"&gt;</a:t>
            </a:r>
            <a:endParaRPr lang="en-US" altLang="zh-CN" sz="2400" b="0" dirty="0"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</a:rPr>
              <a:t>{{count}}</a:t>
            </a:r>
            <a:endParaRPr lang="en-US" altLang="zh-CN" sz="2400" b="0" dirty="0"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</a:rPr>
              <a:t>&lt;button v-on:click="countNum"&gt;点击计数&lt;/button&gt;</a:t>
            </a:r>
            <a:endParaRPr lang="en-US" altLang="zh-CN" sz="2400" b="0" dirty="0"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</a:rPr>
              <a:t>&lt;button v-on:click="sayHi('张三')"&gt;say Hi!&lt;/button&gt;</a:t>
            </a:r>
            <a:endParaRPr lang="en-US" altLang="zh-CN" sz="2400" b="0" dirty="0"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</a:rPr>
              <a:t>&lt;/div&gt;</a:t>
            </a:r>
            <a:endParaRPr lang="en-US" altLang="zh-CN" sz="2400" b="0" dirty="0">
              <a:latin typeface="+mn-lt"/>
              <a:cs typeface="+mn-lt"/>
            </a:endParaRPr>
          </a:p>
          <a:p>
            <a:pPr algn="l"/>
            <a:endParaRPr lang="en-US" altLang="zh-CN" sz="2400" b="0" dirty="0"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</a:rPr>
              <a:t>&lt;script&gt;</a:t>
            </a:r>
            <a:endParaRPr lang="en-US" altLang="zh-CN" sz="2400" b="0" dirty="0"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</a:rPr>
              <a:t>	var app = new Vue({</a:t>
            </a:r>
            <a:endParaRPr lang="en-US" altLang="zh-CN" sz="2400" b="0" dirty="0"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</a:rPr>
              <a:t>		el: '#myApp',</a:t>
            </a:r>
            <a:endParaRPr lang="en-US" altLang="zh-CN" sz="2400" b="0" dirty="0"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</a:rPr>
              <a:t>		data: {</a:t>
            </a:r>
            <a:endParaRPr lang="en-US" altLang="zh-CN" sz="2400" b="0" dirty="0"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</a:rPr>
              <a:t>			count: 0</a:t>
            </a:r>
            <a:endParaRPr lang="en-US" altLang="zh-CN" sz="2400" b="0" dirty="0"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</a:rPr>
              <a:t>		},</a:t>
            </a:r>
            <a:br>
              <a:rPr lang="zh-CN" altLang="en-US" sz="2400" dirty="0">
                <a:latin typeface="+mn-lt"/>
                <a:cs typeface="+mn-lt"/>
              </a:rPr>
            </a:br>
            <a:br>
              <a:rPr lang="en-US" altLang="zh-CN" sz="2400" b="0" dirty="0">
                <a:latin typeface="+mn-lt"/>
                <a:cs typeface="+mn-lt"/>
                <a:sym typeface="+mn-ea"/>
              </a:rPr>
            </a:br>
            <a:br>
              <a:rPr lang="en-US" altLang="zh-CN" b="0" dirty="0"/>
            </a:b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5303838" y="260350"/>
            <a:ext cx="5043487" cy="654050"/>
          </a:xfrm>
        </p:spPr>
        <p:txBody>
          <a:bodyPr/>
          <a:lstStyle/>
          <a:p>
            <a:r>
              <a:rPr lang="en-US" altLang="zh-CN" sz="3600" dirty="0">
                <a:cs typeface="+mj-lt"/>
                <a:sym typeface="+mn-ea"/>
              </a:rPr>
              <a:t>v-on </a:t>
            </a:r>
            <a:r>
              <a:rPr lang="zh-CN" altLang="en-US" sz="3600" dirty="0">
                <a:cs typeface="+mj-lt"/>
                <a:sym typeface="+mn-ea"/>
              </a:rPr>
              <a:t>绑定事件</a:t>
            </a:r>
            <a:endParaRPr lang="zh-CN" altLang="en-US" sz="3600" dirty="0">
              <a:cs typeface="+mj-lt"/>
              <a:sym typeface="+mn-ea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7" name="AutoShape 3"/>
          <p:cNvSpPr/>
          <p:nvPr/>
        </p:nvSpPr>
        <p:spPr>
          <a:xfrm>
            <a:off x="1073785" y="1107440"/>
            <a:ext cx="8838565" cy="5513705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noAutofit/>
          </a:bodyPr>
          <a:lstStyle/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+mn-lt"/>
                <a:cs typeface="+mn-lt"/>
              </a:rPr>
              <a:t>methods: {</a:t>
            </a:r>
            <a:endParaRPr lang="en-US" altLang="zh-CN" sz="2400" b="0" dirty="0">
              <a:solidFill>
                <a:schemeClr val="tx1"/>
              </a:solidFill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+mn-lt"/>
                <a:cs typeface="+mn-lt"/>
              </a:rPr>
              <a:t>	countNum: function (event) {</a:t>
            </a:r>
            <a:endParaRPr lang="en-US" altLang="zh-CN" sz="2400" b="0" dirty="0">
              <a:solidFill>
                <a:schemeClr val="tx1"/>
              </a:solidFill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+mn-lt"/>
                <a:cs typeface="+mn-lt"/>
              </a:rPr>
              <a:t>	this.count++</a:t>
            </a:r>
            <a:endParaRPr lang="en-US" altLang="zh-CN" sz="2400" b="0" dirty="0">
              <a:solidFill>
                <a:schemeClr val="tx1"/>
              </a:solidFill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+mn-lt"/>
                <a:cs typeface="+mn-lt"/>
              </a:rPr>
              <a:t>	console.log(event)</a:t>
            </a:r>
            <a:endParaRPr lang="en-US" altLang="zh-CN" sz="2400" b="0" dirty="0">
              <a:solidFill>
                <a:schemeClr val="tx1"/>
              </a:solidFill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+mn-lt"/>
                <a:cs typeface="+mn-lt"/>
              </a:rPr>
              <a:t>		},</a:t>
            </a:r>
            <a:endParaRPr lang="en-US" altLang="zh-CN" sz="2400" b="0" dirty="0">
              <a:solidFill>
                <a:schemeClr val="tx1"/>
              </a:solidFill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+mn-lt"/>
                <a:cs typeface="+mn-lt"/>
              </a:rPr>
              <a:t>	sayHi: function (name) {</a:t>
            </a:r>
            <a:endParaRPr lang="en-US" altLang="zh-CN" sz="2400" b="0" dirty="0">
              <a:solidFill>
                <a:schemeClr val="tx1"/>
              </a:solidFill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+mn-lt"/>
                <a:cs typeface="+mn-lt"/>
              </a:rPr>
              <a:t>		alert("hi" + " " + name)</a:t>
            </a:r>
            <a:endParaRPr lang="en-US" altLang="zh-CN" sz="2400" b="0" dirty="0">
              <a:solidFill>
                <a:schemeClr val="tx1"/>
              </a:solidFill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+mn-lt"/>
                <a:cs typeface="+mn-lt"/>
              </a:rPr>
              <a:t>		return this.countNum</a:t>
            </a:r>
            <a:endParaRPr lang="en-US" altLang="zh-CN" sz="2400" b="0" dirty="0">
              <a:solidFill>
                <a:schemeClr val="tx1"/>
              </a:solidFill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+mn-lt"/>
                <a:cs typeface="+mn-lt"/>
              </a:rPr>
              <a:t>		}</a:t>
            </a:r>
            <a:endParaRPr lang="en-US" altLang="zh-CN" sz="2400" b="0" dirty="0">
              <a:solidFill>
                <a:schemeClr val="tx1"/>
              </a:solidFill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+mn-lt"/>
                <a:cs typeface="+mn-lt"/>
              </a:rPr>
              <a:t>	},</a:t>
            </a:r>
            <a:endParaRPr lang="en-US" altLang="zh-CN" sz="2400" b="0" dirty="0">
              <a:solidFill>
                <a:schemeClr val="tx1"/>
              </a:solidFill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+mn-lt"/>
                <a:cs typeface="+mn-lt"/>
              </a:rPr>
              <a:t>	})</a:t>
            </a:r>
            <a:endParaRPr lang="en-US" altLang="zh-CN" sz="2400" b="0" dirty="0">
              <a:solidFill>
                <a:schemeClr val="tx1"/>
              </a:solidFill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+mn-lt"/>
                <a:cs typeface="+mn-lt"/>
              </a:rPr>
              <a:t>	app.countNum();</a:t>
            </a:r>
            <a:endParaRPr lang="en-US" altLang="zh-CN" sz="2400" b="0" dirty="0">
              <a:solidFill>
                <a:schemeClr val="tx1"/>
              </a:solidFill>
              <a:latin typeface="+mn-lt"/>
              <a:cs typeface="+mn-lt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latin typeface="+mn-lt"/>
                <a:cs typeface="+mn-lt"/>
              </a:rPr>
              <a:t>	&lt;/script&gt;</a:t>
            </a:r>
            <a:br>
              <a:rPr lang="zh-CN" altLang="en-US" sz="2400" dirty="0">
                <a:latin typeface="+mn-lt"/>
                <a:cs typeface="+mn-lt"/>
              </a:rPr>
            </a:br>
            <a:br>
              <a:rPr lang="en-US" altLang="zh-CN" sz="2400" b="0" dirty="0">
                <a:latin typeface="+mn-lt"/>
                <a:cs typeface="+mn-lt"/>
                <a:sym typeface="+mn-ea"/>
              </a:rPr>
            </a:br>
            <a:br>
              <a:rPr lang="en-US" altLang="zh-CN" b="0" dirty="0"/>
            </a:b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5303838" y="260350"/>
            <a:ext cx="5043487" cy="654050"/>
          </a:xfrm>
        </p:spPr>
        <p:txBody>
          <a:bodyPr/>
          <a:lstStyle/>
          <a:p>
            <a:r>
              <a:rPr lang="en-US" altLang="zh-CN" sz="3600" dirty="0">
                <a:cs typeface="+mj-lt"/>
                <a:sym typeface="+mn-ea"/>
              </a:rPr>
              <a:t>v-on </a:t>
            </a:r>
            <a:r>
              <a:rPr lang="zh-CN" altLang="en-US" sz="3600" dirty="0">
                <a:cs typeface="+mj-lt"/>
                <a:sym typeface="+mn-ea"/>
              </a:rPr>
              <a:t>绑定事件</a:t>
            </a:r>
            <a:endParaRPr lang="zh-CN" altLang="en-US" sz="3600" dirty="0">
              <a:cs typeface="+mj-lt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79690" y="4077335"/>
            <a:ext cx="1373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hlinkClick r:id="rId1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xfrm>
            <a:off x="613410" y="1124585"/>
            <a:ext cx="10730865" cy="7919720"/>
          </a:xfrm>
        </p:spPr>
        <p:txBody>
          <a:bodyPr vert="horz" wrap="square" lIns="91440" tIns="45720" rIns="91440" bIns="45720" anchor="t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cs typeface="+mn-lt"/>
                <a:sym typeface="+mn-ea"/>
              </a:rPr>
              <a:t>v-bind</a:t>
            </a:r>
            <a:r>
              <a:rPr lang="zh-CN" altLang="en-US" dirty="0">
                <a:cs typeface="+mn-lt"/>
                <a:sym typeface="+mn-ea"/>
              </a:rPr>
              <a:t>指令</a:t>
            </a:r>
            <a:endParaRPr dirty="0">
              <a:sym typeface="+mn-ea"/>
            </a:endParaRPr>
          </a:p>
          <a:p>
            <a:pPr marL="0" indent="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cs typeface="+mn-lt"/>
                <a:sym typeface="+mn-ea"/>
              </a:rPr>
              <a:t>v-bind 是 Vue.js 中用于动态绑定 HTML 属性或组件 prop 的指令，允许你将数据绑定到元素的属性上。它的主要作用是根据 Vue 实例中的数据动态更新元素的属性值。</a:t>
            </a:r>
            <a:endParaRPr lang="zh-CN" altLang="en-US" sz="2400" dirty="0">
              <a:cs typeface="+mn-lt"/>
              <a:sym typeface="+mn-ea"/>
            </a:endParaRPr>
          </a:p>
          <a:p>
            <a:pPr marL="0" indent="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zh-CN" altLang="en-US" sz="2400" dirty="0">
              <a:cs typeface="+mn-lt"/>
              <a:sym typeface="+mn-ea"/>
            </a:endParaRPr>
          </a:p>
          <a:p>
            <a:pPr marL="0" indent="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cs typeface="+mn-lt"/>
                <a:sym typeface="+mn-ea"/>
              </a:rPr>
              <a:t>基本语法：</a:t>
            </a:r>
            <a:r>
              <a:rPr lang="en-US" altLang="zh-CN" sz="2400" dirty="0">
                <a:cs typeface="+mn-lt"/>
                <a:sym typeface="+mn-ea"/>
              </a:rPr>
              <a:t>   </a:t>
            </a:r>
            <a:r>
              <a:rPr lang="zh-CN" altLang="en-US" sz="2400" dirty="0">
                <a:solidFill>
                  <a:srgbClr val="0070C0"/>
                </a:solidFill>
                <a:cs typeface="+mn-lt"/>
                <a:sym typeface="+mn-ea"/>
              </a:rPr>
              <a:t>v-bind:属性名</a:t>
            </a:r>
            <a:r>
              <a:rPr lang="en-US" altLang="zh-CN" sz="2400" dirty="0">
                <a:solidFill>
                  <a:srgbClr val="0070C0"/>
                </a:solidFill>
                <a:cs typeface="+mn-lt"/>
                <a:sym typeface="+mn-ea"/>
              </a:rPr>
              <a:t>=”</a:t>
            </a:r>
            <a:r>
              <a:rPr lang="zh-CN" altLang="en-US" sz="2400" dirty="0">
                <a:solidFill>
                  <a:srgbClr val="0070C0"/>
                </a:solidFill>
                <a:cs typeface="+mn-lt"/>
                <a:sym typeface="+mn-ea"/>
              </a:rPr>
              <a:t>属性值</a:t>
            </a:r>
            <a:r>
              <a:rPr lang="en-US" altLang="zh-CN" sz="2400" dirty="0">
                <a:solidFill>
                  <a:srgbClr val="0070C0"/>
                </a:solidFill>
                <a:cs typeface="+mn-lt"/>
                <a:sym typeface="+mn-ea"/>
              </a:rPr>
              <a:t>”</a:t>
            </a:r>
            <a:endParaRPr lang="en-US" altLang="zh-CN" sz="2400" dirty="0">
              <a:solidFill>
                <a:srgbClr val="0070C0"/>
              </a:solidFill>
              <a:cs typeface="+mn-lt"/>
              <a:sym typeface="+mn-ea"/>
            </a:endParaRPr>
          </a:p>
          <a:p>
            <a:pPr marL="0" indent="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zh-CN" sz="2400" dirty="0">
              <a:solidFill>
                <a:srgbClr val="0070C0"/>
              </a:solidFill>
              <a:cs typeface="+mn-lt"/>
              <a:sym typeface="+mn-ea"/>
            </a:endParaRPr>
          </a:p>
          <a:p>
            <a:pPr marL="0" indent="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zh-CN" sz="2400" dirty="0">
              <a:solidFill>
                <a:srgbClr val="0070C0"/>
              </a:solidFill>
              <a:cs typeface="+mn-lt"/>
              <a:sym typeface="+mn-ea"/>
            </a:endParaRPr>
          </a:p>
          <a:p>
            <a:pPr marL="0" indent="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zh-CN" sz="2400" dirty="0">
              <a:solidFill>
                <a:srgbClr val="0070C0"/>
              </a:solidFill>
              <a:cs typeface="+mn-lt"/>
              <a:sym typeface="+mn-ea"/>
            </a:endParaRPr>
          </a:p>
          <a:p>
            <a:pPr marL="0" indent="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cs typeface="+mn-lt"/>
                <a:sym typeface="+mn-ea"/>
              </a:rPr>
              <a:t>在这个例子中，v-bind:src 绑定了 imageSrc 变量到 &lt;img&gt; 标签的 src 属性上。只要 imageSrc 发生变化，图片的 src 属性也会自动更新。</a:t>
            </a:r>
            <a:endParaRPr lang="zh-CN" altLang="en-US" sz="2400" dirty="0">
              <a:cs typeface="+mn-lt"/>
              <a:sym typeface="+mn-ea"/>
            </a:endParaRPr>
          </a:p>
          <a:p>
            <a:pPr marL="0" indent="0">
              <a:buNone/>
            </a:pPr>
            <a:endParaRPr lang="zh-CN" altLang="en-US" sz="2400" dirty="0">
              <a:solidFill>
                <a:srgbClr val="0070C0"/>
              </a:solidFill>
              <a:cs typeface="+mn-lt"/>
              <a:sym typeface="+mn-ea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5303838" y="260350"/>
            <a:ext cx="5043487" cy="654050"/>
          </a:xfrm>
        </p:spPr>
        <p:txBody>
          <a:bodyPr/>
          <a:lstStyle/>
          <a:p>
            <a:r>
              <a:rPr lang="en-US" altLang="zh-CN" sz="3600" dirty="0">
                <a:cs typeface="+mj-lt"/>
                <a:sym typeface="+mn-ea"/>
              </a:rPr>
              <a:t>v-bind </a:t>
            </a:r>
            <a:r>
              <a:rPr lang="zh-CN" altLang="en-US" sz="3600" dirty="0">
                <a:cs typeface="+mj-lt"/>
                <a:sym typeface="+mn-ea"/>
              </a:rPr>
              <a:t>指令</a:t>
            </a:r>
            <a:endParaRPr lang="zh-CN" altLang="en-US" sz="3600" dirty="0">
              <a:cs typeface="+mj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25" y="4149090"/>
            <a:ext cx="5969635" cy="86550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71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71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xfrm>
            <a:off x="613410" y="1124585"/>
            <a:ext cx="10730865" cy="7919720"/>
          </a:xfrm>
        </p:spPr>
        <p:txBody>
          <a:bodyPr vert="horz" wrap="square" lIns="91440" tIns="45720" rIns="91440" bIns="45720" anchor="t"/>
          <a:lstStyle/>
          <a:p>
            <a:pPr marL="0" indent="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zh-CN" altLang="en-US" sz="2400" dirty="0">
              <a:cs typeface="+mn-lt"/>
              <a:sym typeface="+mn-ea"/>
            </a:endParaRPr>
          </a:p>
          <a:p>
            <a:pPr marL="0" indent="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cs typeface="+mn-lt"/>
                <a:sym typeface="+mn-ea"/>
              </a:rPr>
              <a:t>Vue 提供了 v-bind 的简写形式，可以使用</a:t>
            </a:r>
            <a:r>
              <a:rPr lang="en-US" altLang="zh-CN" sz="2400" dirty="0">
                <a:solidFill>
                  <a:srgbClr val="0070C0"/>
                </a:solidFill>
                <a:cs typeface="+mn-lt"/>
                <a:sym typeface="+mn-ea"/>
              </a:rPr>
              <a:t> : </a:t>
            </a:r>
            <a:r>
              <a:rPr lang="en-US" altLang="zh-CN" sz="2400" dirty="0">
                <a:cs typeface="+mn-lt"/>
                <a:sym typeface="+mn-ea"/>
              </a:rPr>
              <a:t>来代替 v-bind： </a:t>
            </a:r>
            <a:r>
              <a:rPr lang="en-US" altLang="zh-CN" sz="2400" dirty="0">
                <a:solidFill>
                  <a:srgbClr val="0070C0"/>
                </a:solidFill>
                <a:cs typeface="+mn-lt"/>
                <a:sym typeface="+mn-ea"/>
              </a:rPr>
              <a:t>:</a:t>
            </a:r>
            <a:r>
              <a:rPr lang="zh-CN" altLang="en-US" sz="2400" dirty="0">
                <a:solidFill>
                  <a:srgbClr val="0070C0"/>
                </a:solidFill>
                <a:cs typeface="+mn-lt"/>
                <a:sym typeface="+mn-ea"/>
              </a:rPr>
              <a:t>属性名</a:t>
            </a:r>
            <a:r>
              <a:rPr lang="en-US" altLang="zh-CN" sz="2400" dirty="0">
                <a:solidFill>
                  <a:srgbClr val="0070C0"/>
                </a:solidFill>
                <a:cs typeface="+mn-lt"/>
                <a:sym typeface="+mn-ea"/>
              </a:rPr>
              <a:t>=“</a:t>
            </a:r>
            <a:r>
              <a:rPr lang="zh-CN" altLang="en-US" sz="2400" dirty="0">
                <a:solidFill>
                  <a:srgbClr val="0070C0"/>
                </a:solidFill>
                <a:cs typeface="+mn-lt"/>
                <a:sym typeface="+mn-ea"/>
              </a:rPr>
              <a:t>属性值</a:t>
            </a:r>
            <a:r>
              <a:rPr lang="en-US" altLang="zh-CN" sz="2400" dirty="0">
                <a:solidFill>
                  <a:srgbClr val="0070C0"/>
                </a:solidFill>
                <a:cs typeface="+mn-lt"/>
                <a:sym typeface="+mn-ea"/>
              </a:rPr>
              <a:t>”</a:t>
            </a:r>
            <a:endParaRPr lang="en-US" altLang="zh-CN" sz="2400" dirty="0">
              <a:solidFill>
                <a:srgbClr val="0070C0"/>
              </a:solidFill>
              <a:cs typeface="+mn-lt"/>
              <a:sym typeface="+mn-ea"/>
            </a:endParaRPr>
          </a:p>
          <a:p>
            <a:pPr marL="0" indent="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zh-CN" sz="2400" dirty="0">
              <a:solidFill>
                <a:srgbClr val="0070C0"/>
              </a:solidFill>
              <a:cs typeface="+mn-lt"/>
              <a:sym typeface="+mn-ea"/>
            </a:endParaRPr>
          </a:p>
          <a:p>
            <a:pPr marL="0" indent="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zh-CN" sz="2400" dirty="0">
              <a:solidFill>
                <a:srgbClr val="0070C0"/>
              </a:solidFill>
              <a:cs typeface="+mn-lt"/>
              <a:sym typeface="+mn-ea"/>
            </a:endParaRPr>
          </a:p>
          <a:p>
            <a:pPr marL="0" indent="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zh-CN" sz="2400" dirty="0">
              <a:solidFill>
                <a:srgbClr val="0070C0"/>
              </a:solidFill>
              <a:cs typeface="+mn-lt"/>
              <a:sym typeface="+mn-ea"/>
            </a:endParaRPr>
          </a:p>
          <a:p>
            <a:pPr marL="0" indent="0">
              <a:buNone/>
            </a:pPr>
            <a:r>
              <a:rPr lang="zh-CN" altLang="en-US" sz="2400" dirty="0">
                <a:cs typeface="+mn-lt"/>
                <a:sym typeface="+mn-ea"/>
              </a:rPr>
              <a:t>绑定多个属性：可以通过 v-bind 同时绑定多个属性，方法是传入一个对象：</a:t>
            </a:r>
            <a:endParaRPr lang="zh-CN" altLang="en-US" sz="2400" dirty="0">
              <a:cs typeface="+mn-lt"/>
              <a:sym typeface="+mn-ea"/>
            </a:endParaRPr>
          </a:p>
          <a:p>
            <a:pPr marL="0" indent="0">
              <a:buNone/>
            </a:pPr>
            <a:endParaRPr lang="zh-CN" altLang="en-US" sz="2400" dirty="0">
              <a:cs typeface="+mn-lt"/>
              <a:sym typeface="+mn-ea"/>
            </a:endParaRPr>
          </a:p>
          <a:p>
            <a:pPr marL="0" indent="0">
              <a:buNone/>
            </a:pPr>
            <a:endParaRPr lang="zh-CN" altLang="en-US" sz="2400" dirty="0">
              <a:cs typeface="+mn-lt"/>
              <a:sym typeface="+mn-ea"/>
            </a:endParaRPr>
          </a:p>
          <a:p>
            <a:pPr marL="0" indent="0">
              <a:buNone/>
            </a:pPr>
            <a:endParaRPr lang="zh-CN" altLang="en-US" sz="2400" dirty="0">
              <a:cs typeface="+mn-lt"/>
              <a:sym typeface="+mn-ea"/>
            </a:endParaRPr>
          </a:p>
          <a:p>
            <a:pPr marL="0" indent="0">
              <a:buNone/>
            </a:pPr>
            <a:r>
              <a:rPr lang="zh-CN" altLang="en-US" sz="2400" dirty="0">
                <a:cs typeface="+mn-lt"/>
                <a:sym typeface="+mn-ea"/>
              </a:rPr>
              <a:t>在这个例子中，id 和 class 属性会被同时绑定到 Vue 实例中的 dynamicId 和 dynamicClass。</a:t>
            </a:r>
            <a:endParaRPr lang="zh-CN" altLang="en-US" sz="2400" dirty="0">
              <a:cs typeface="+mn-lt"/>
              <a:sym typeface="+mn-ea"/>
            </a:endParaRPr>
          </a:p>
          <a:p>
            <a:pPr marL="0" indent="0">
              <a:buNone/>
            </a:pPr>
            <a:endParaRPr lang="zh-CN" altLang="en-US" sz="2400" dirty="0">
              <a:cs typeface="+mn-lt"/>
              <a:sym typeface="+mn-ea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5303838" y="260350"/>
            <a:ext cx="5043487" cy="654050"/>
          </a:xfrm>
        </p:spPr>
        <p:txBody>
          <a:bodyPr/>
          <a:lstStyle/>
          <a:p>
            <a:r>
              <a:rPr lang="en-US" altLang="zh-CN" sz="3600" dirty="0">
                <a:cs typeface="+mj-lt"/>
                <a:sym typeface="+mn-ea"/>
              </a:rPr>
              <a:t>v-bind </a:t>
            </a:r>
            <a:r>
              <a:rPr lang="zh-CN" altLang="en-US" sz="3600" dirty="0">
                <a:cs typeface="+mj-lt"/>
                <a:sym typeface="+mn-ea"/>
              </a:rPr>
              <a:t>指令</a:t>
            </a:r>
            <a:endParaRPr lang="zh-CN" altLang="en-US" sz="3600" dirty="0">
              <a:cs typeface="+mj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25" y="2348865"/>
            <a:ext cx="6143625" cy="67881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4004945"/>
            <a:ext cx="9479915" cy="81216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1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1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xfrm>
            <a:off x="613410" y="1124585"/>
            <a:ext cx="10730865" cy="7919720"/>
          </a:xfrm>
        </p:spPr>
        <p:txBody>
          <a:bodyPr vert="horz" wrap="square" lIns="91440" tIns="45720" rIns="91440" bIns="45720" anchor="t"/>
          <a:lstStyle/>
          <a:p>
            <a:pPr marL="0" indent="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cs typeface="+mn-lt"/>
                <a:sym typeface="+mn-ea"/>
              </a:rPr>
              <a:t>使用对象，绑定样式</a:t>
            </a:r>
            <a:endParaRPr lang="zh-CN" altLang="en-US" sz="2400" dirty="0">
              <a:cs typeface="+mn-lt"/>
              <a:sym typeface="+mn-ea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5303838" y="260350"/>
            <a:ext cx="5043487" cy="654050"/>
          </a:xfrm>
        </p:spPr>
        <p:txBody>
          <a:bodyPr/>
          <a:lstStyle/>
          <a:p>
            <a:r>
              <a:rPr lang="en-US" altLang="zh-CN" sz="3600" dirty="0">
                <a:cs typeface="+mj-lt"/>
                <a:sym typeface="+mn-ea"/>
              </a:rPr>
              <a:t>v-bind </a:t>
            </a:r>
            <a:r>
              <a:rPr lang="zh-CN" altLang="en-US" sz="3600" dirty="0">
                <a:cs typeface="+mj-lt"/>
                <a:sym typeface="+mn-ea"/>
              </a:rPr>
              <a:t>指令</a:t>
            </a:r>
            <a:endParaRPr lang="zh-CN" altLang="en-US" sz="3600" dirty="0">
              <a:cs typeface="+mj-lt"/>
            </a:endParaRPr>
          </a:p>
        </p:txBody>
      </p:sp>
      <p:sp>
        <p:nvSpPr>
          <p:cNvPr id="7" name="AutoShape 3"/>
          <p:cNvSpPr/>
          <p:nvPr/>
        </p:nvSpPr>
        <p:spPr>
          <a:xfrm>
            <a:off x="911225" y="1628775"/>
            <a:ext cx="10511790" cy="4861560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noAutofit/>
          </a:bodyPr>
          <a:lstStyle/>
          <a:p>
            <a:pPr algn="l"/>
            <a:endParaRPr lang="en-US" altLang="zh-CN" sz="2400" b="0" dirty="0">
              <a:latin typeface="+mn-lt"/>
              <a:cs typeface="+mn-lt"/>
              <a:sym typeface="+mn-ea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  <a:sym typeface="+mn-ea"/>
              </a:rPr>
              <a:t>&lt;h1&gt;绑定行内样式，采用对象语法&lt;/h1&gt;</a:t>
            </a:r>
            <a:endParaRPr lang="en-US" altLang="zh-CN" sz="2400" b="0" dirty="0">
              <a:latin typeface="+mn-lt"/>
              <a:cs typeface="+mn-lt"/>
              <a:sym typeface="+mn-ea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  <a:sym typeface="+mn-ea"/>
              </a:rPr>
              <a:t>&lt;div id="app-2"&gt;</a:t>
            </a:r>
            <a:endParaRPr lang="en-US" altLang="zh-CN" sz="2400" b="0" dirty="0">
              <a:latin typeface="+mn-lt"/>
              <a:cs typeface="+mn-lt"/>
              <a:sym typeface="+mn-ea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  <a:sym typeface="+mn-ea"/>
              </a:rPr>
              <a:t>	&lt;div v-bind:style="{ color:activeColor, fontSize: fontSize + 'px' }"&gt;</a:t>
            </a:r>
            <a:endParaRPr lang="en-US" altLang="zh-CN" sz="2400" b="0" dirty="0">
              <a:latin typeface="+mn-lt"/>
              <a:cs typeface="+mn-lt"/>
              <a:sym typeface="+mn-ea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  <a:sym typeface="+mn-ea"/>
              </a:rPr>
              <a:t>		welcome to nemotec! 对象语法方式</a:t>
            </a:r>
            <a:endParaRPr lang="en-US" altLang="zh-CN" sz="2400" b="0" dirty="0">
              <a:latin typeface="+mn-lt"/>
              <a:cs typeface="+mn-lt"/>
              <a:sym typeface="+mn-ea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  <a:sym typeface="+mn-ea"/>
              </a:rPr>
              <a:t>	&lt;/div&gt;</a:t>
            </a:r>
            <a:endParaRPr lang="en-US" altLang="zh-CN" sz="2400" b="0" dirty="0">
              <a:latin typeface="+mn-lt"/>
              <a:cs typeface="+mn-lt"/>
              <a:sym typeface="+mn-ea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  <a:sym typeface="+mn-ea"/>
              </a:rPr>
              <a:t>	&lt;div v-bind:style="styleObject"&gt;</a:t>
            </a:r>
            <a:endParaRPr lang="en-US" altLang="zh-CN" sz="2400" b="0" dirty="0">
              <a:latin typeface="+mn-lt"/>
              <a:cs typeface="+mn-lt"/>
              <a:sym typeface="+mn-ea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  <a:sym typeface="+mn-ea"/>
              </a:rPr>
              <a:t>		welcome to nemotec! 对象语法方式</a:t>
            </a:r>
            <a:endParaRPr lang="en-US" altLang="zh-CN" sz="2400" b="0" dirty="0">
              <a:latin typeface="+mn-lt"/>
              <a:cs typeface="+mn-lt"/>
              <a:sym typeface="+mn-ea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  <a:sym typeface="+mn-ea"/>
              </a:rPr>
              <a:t>	&lt;/div&gt;</a:t>
            </a:r>
            <a:endParaRPr lang="en-US" altLang="zh-CN" sz="2400" b="0" dirty="0">
              <a:latin typeface="+mn-lt"/>
              <a:cs typeface="+mn-lt"/>
              <a:sym typeface="+mn-ea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  <a:sym typeface="+mn-ea"/>
              </a:rPr>
              <a:t>&lt;/div&gt;</a:t>
            </a:r>
            <a:br>
              <a:rPr lang="en-US" altLang="zh-CN" sz="2400" b="0" dirty="0">
                <a:latin typeface="+mn-lt"/>
                <a:cs typeface="+mn-lt"/>
                <a:sym typeface="+mn-ea"/>
              </a:rPr>
            </a:br>
            <a:br>
              <a:rPr lang="en-US" altLang="zh-CN" b="0" dirty="0"/>
            </a:b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uiExpand="1" build="p"/>
      <p:bldP spid="7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xfrm>
            <a:off x="613410" y="1124585"/>
            <a:ext cx="10730865" cy="7919720"/>
          </a:xfrm>
        </p:spPr>
        <p:txBody>
          <a:bodyPr vert="horz" wrap="square" lIns="91440" tIns="45720" rIns="91440" bIns="45720" anchor="t"/>
          <a:lstStyle/>
          <a:p>
            <a:pPr marL="0" indent="0" algn="l" eaLnBrk="0" hangingPunc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cs typeface="+mn-lt"/>
                <a:sym typeface="+mn-ea"/>
              </a:rPr>
              <a:t>使用对象，绑定样式</a:t>
            </a:r>
            <a:endParaRPr lang="zh-CN" altLang="en-US" sz="2400" dirty="0">
              <a:cs typeface="+mn-lt"/>
              <a:sym typeface="+mn-ea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/>
          <a:lstStyle>
            <a:lvl1pPr marL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zh-CN" altLang="en-US" sz="1200" b="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5303838" y="260350"/>
            <a:ext cx="5043487" cy="654050"/>
          </a:xfrm>
        </p:spPr>
        <p:txBody>
          <a:bodyPr/>
          <a:lstStyle/>
          <a:p>
            <a:r>
              <a:rPr lang="en-US" altLang="zh-CN" sz="3600" dirty="0">
                <a:cs typeface="+mj-lt"/>
                <a:sym typeface="+mn-ea"/>
              </a:rPr>
              <a:t>v-bind </a:t>
            </a:r>
            <a:r>
              <a:rPr lang="zh-CN" altLang="en-US" sz="3600" dirty="0">
                <a:cs typeface="+mj-lt"/>
                <a:sym typeface="+mn-ea"/>
              </a:rPr>
              <a:t>指令</a:t>
            </a:r>
            <a:endParaRPr lang="zh-CN" altLang="en-US" sz="3600" dirty="0">
              <a:cs typeface="+mj-lt"/>
            </a:endParaRPr>
          </a:p>
        </p:txBody>
      </p:sp>
      <p:sp>
        <p:nvSpPr>
          <p:cNvPr id="7" name="AutoShape 3"/>
          <p:cNvSpPr/>
          <p:nvPr/>
        </p:nvSpPr>
        <p:spPr>
          <a:xfrm>
            <a:off x="911225" y="1628775"/>
            <a:ext cx="8838565" cy="5042535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noAutofit/>
          </a:bodyPr>
          <a:lstStyle/>
          <a:p>
            <a:pPr algn="l"/>
            <a:r>
              <a:rPr lang="en-US" altLang="zh-CN" sz="2400" b="0" dirty="0">
                <a:latin typeface="+mn-lt"/>
                <a:cs typeface="+mn-lt"/>
                <a:sym typeface="+mn-ea"/>
              </a:rPr>
              <a:t>&lt;script&gt;</a:t>
            </a:r>
            <a:endParaRPr lang="en-US" altLang="zh-CN" sz="2400" b="0" dirty="0">
              <a:latin typeface="+mn-lt"/>
              <a:cs typeface="+mn-lt"/>
              <a:sym typeface="+mn-ea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  <a:sym typeface="+mn-ea"/>
              </a:rPr>
              <a:t>	var app = new Vue({</a:t>
            </a:r>
            <a:endParaRPr lang="en-US" altLang="zh-CN" sz="2400" b="0" dirty="0">
              <a:latin typeface="+mn-lt"/>
              <a:cs typeface="+mn-lt"/>
              <a:sym typeface="+mn-ea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  <a:sym typeface="+mn-ea"/>
              </a:rPr>
              <a:t>		el: '#app-2',</a:t>
            </a:r>
            <a:endParaRPr lang="en-US" altLang="zh-CN" sz="2400" b="0" dirty="0">
              <a:latin typeface="+mn-lt"/>
              <a:cs typeface="+mn-lt"/>
              <a:sym typeface="+mn-ea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  <a:sym typeface="+mn-ea"/>
              </a:rPr>
              <a:t>		data: {</a:t>
            </a:r>
            <a:endParaRPr lang="en-US" altLang="zh-CN" sz="2400" b="0" dirty="0">
              <a:latin typeface="+mn-lt"/>
              <a:cs typeface="+mn-lt"/>
              <a:sym typeface="+mn-ea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  <a:sym typeface="+mn-ea"/>
              </a:rPr>
              <a:t>			activeColor: 'red',</a:t>
            </a:r>
            <a:endParaRPr lang="en-US" altLang="zh-CN" sz="2400" b="0" dirty="0">
              <a:latin typeface="+mn-lt"/>
              <a:cs typeface="+mn-lt"/>
              <a:sym typeface="+mn-ea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  <a:sym typeface="+mn-ea"/>
              </a:rPr>
              <a:t>			fontSize: 30,</a:t>
            </a:r>
            <a:endParaRPr lang="en-US" altLang="zh-CN" sz="2400" b="0" dirty="0">
              <a:latin typeface="+mn-lt"/>
              <a:cs typeface="+mn-lt"/>
              <a:sym typeface="+mn-ea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  <a:sym typeface="+mn-ea"/>
              </a:rPr>
              <a:t>			styleObject: {</a:t>
            </a:r>
            <a:endParaRPr lang="en-US" altLang="zh-CN" sz="2400" b="0" dirty="0">
              <a:latin typeface="+mn-lt"/>
              <a:cs typeface="+mn-lt"/>
              <a:sym typeface="+mn-ea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  <a:sym typeface="+mn-ea"/>
              </a:rPr>
              <a:t>				color: 'red',</a:t>
            </a:r>
            <a:endParaRPr lang="en-US" altLang="zh-CN" sz="2400" b="0" dirty="0">
              <a:latin typeface="+mn-lt"/>
              <a:cs typeface="+mn-lt"/>
              <a:sym typeface="+mn-ea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  <a:sym typeface="+mn-ea"/>
              </a:rPr>
              <a:t>				fontSize: '13px'</a:t>
            </a:r>
            <a:endParaRPr lang="en-US" altLang="zh-CN" sz="2400" b="0" dirty="0">
              <a:latin typeface="+mn-lt"/>
              <a:cs typeface="+mn-lt"/>
              <a:sym typeface="+mn-ea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  <a:sym typeface="+mn-ea"/>
              </a:rPr>
              <a:t>			}</a:t>
            </a:r>
            <a:endParaRPr lang="en-US" altLang="zh-CN" sz="2400" b="0" dirty="0">
              <a:latin typeface="+mn-lt"/>
              <a:cs typeface="+mn-lt"/>
              <a:sym typeface="+mn-ea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  <a:sym typeface="+mn-ea"/>
              </a:rPr>
              <a:t>		}</a:t>
            </a:r>
            <a:endParaRPr lang="en-US" altLang="zh-CN" sz="2400" b="0" dirty="0">
              <a:latin typeface="+mn-lt"/>
              <a:cs typeface="+mn-lt"/>
              <a:sym typeface="+mn-ea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  <a:sym typeface="+mn-ea"/>
              </a:rPr>
              <a:t>	})</a:t>
            </a:r>
            <a:endParaRPr lang="en-US" altLang="zh-CN" sz="2400" b="0" dirty="0">
              <a:latin typeface="+mn-lt"/>
              <a:cs typeface="+mn-lt"/>
              <a:sym typeface="+mn-ea"/>
            </a:endParaRPr>
          </a:p>
          <a:p>
            <a:pPr algn="l"/>
            <a:r>
              <a:rPr lang="en-US" altLang="zh-CN" sz="2400" b="0" dirty="0">
                <a:latin typeface="+mn-lt"/>
                <a:cs typeface="+mn-lt"/>
                <a:sym typeface="+mn-ea"/>
              </a:rPr>
              <a:t>&lt;/script&gt;</a:t>
            </a:r>
            <a:br>
              <a:rPr lang="en-US" altLang="zh-CN" sz="2400" b="0" dirty="0">
                <a:latin typeface="+mn-lt"/>
                <a:cs typeface="+mn-lt"/>
                <a:sym typeface="+mn-ea"/>
              </a:rPr>
            </a:br>
            <a:br>
              <a:rPr lang="en-US" altLang="zh-CN" b="0" dirty="0"/>
            </a:br>
            <a:endParaRPr lang="en-US" altLang="zh-CN" sz="18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79690" y="4077335"/>
            <a:ext cx="1373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hlinkClick r:id="rId1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uiExpand="1" build="p"/>
      <p:bldP spid="7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 </a:t>
            </a:r>
            <a:r>
              <a:rPr lang="zh-CN" altLang="en-US" sz="3600"/>
              <a:t>Vue 表单输入绑定</a:t>
            </a:r>
            <a:endParaRPr lang="zh-CN" altLang="en-US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23591" y="1254125"/>
            <a:ext cx="7837373" cy="5622290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cs typeface="+mn-lt"/>
              </a:rPr>
              <a:t>指令 v-model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sz="2800" dirty="0">
                <a:solidFill>
                  <a:schemeClr val="tx1"/>
                </a:solidFill>
                <a:uFillTx/>
                <a:cs typeface="+mn-lt"/>
              </a:rPr>
              <a:t>      v-model 指令在表单控件元素上创建双向数据绑定，根据控件类型它能够自动选取正确的方法来更新元素</a:t>
            </a:r>
            <a:r>
              <a:rPr lang="zh-CN" altLang="en-US" dirty="0">
                <a:solidFill>
                  <a:schemeClr val="tx1"/>
                </a:solidFill>
                <a:uFillTx/>
                <a:cs typeface="+mn-lt"/>
              </a:rPr>
              <a:t>。</a:t>
            </a:r>
            <a:endParaRPr lang="zh-CN" altLang="en-US" sz="2800" dirty="0">
              <a:solidFill>
                <a:schemeClr val="tx1"/>
              </a:solidFill>
              <a:uFillTx/>
              <a:cs typeface="+mn-lt"/>
            </a:endParaRPr>
          </a:p>
          <a:p>
            <a:pPr marL="0" indent="0">
              <a:buNone/>
            </a:pPr>
            <a:endParaRPr lang="zh-CN" altLang="en-US" sz="2800" dirty="0">
              <a:solidFill>
                <a:schemeClr val="tx1"/>
              </a:solidFill>
              <a:uFillTx/>
              <a:cs typeface="+mn-lt"/>
            </a:endParaRPr>
          </a:p>
          <a:p>
            <a:pPr lvl="1">
              <a:buFont typeface="Wingdings" panose="05000000000000000000" charset="0"/>
              <a:buChar char="p"/>
            </a:pPr>
            <a:r>
              <a:rPr lang="zh-CN" altLang="en-US" sz="2400" dirty="0">
                <a:sym typeface="+mn-ea"/>
              </a:rPr>
              <a:t>文本框</a:t>
            </a:r>
            <a:endParaRPr lang="zh-CN" altLang="en-US" sz="2400" dirty="0"/>
          </a:p>
          <a:p>
            <a:pPr lvl="1">
              <a:buFont typeface="Wingdings" panose="05000000000000000000" charset="0"/>
              <a:buChar char="p"/>
            </a:pPr>
            <a:r>
              <a:rPr lang="zh-CN" altLang="en-US" sz="2400" dirty="0">
                <a:sym typeface="+mn-ea"/>
              </a:rPr>
              <a:t>文本域</a:t>
            </a:r>
            <a:endParaRPr lang="zh-CN" altLang="en-US" sz="2400" dirty="0"/>
          </a:p>
          <a:p>
            <a:pPr lvl="1">
              <a:buFont typeface="Wingdings" panose="05000000000000000000" charset="0"/>
              <a:buChar char="p"/>
            </a:pPr>
            <a:r>
              <a:rPr lang="zh-CN" altLang="en-US" sz="2400" dirty="0">
                <a:sym typeface="+mn-ea"/>
              </a:rPr>
              <a:t>复选框</a:t>
            </a:r>
            <a:endParaRPr lang="zh-CN" altLang="en-US" sz="2400" dirty="0"/>
          </a:p>
          <a:p>
            <a:pPr marL="0" indent="0">
              <a:buNone/>
            </a:pPr>
            <a:endParaRPr lang="zh-CN" altLang="en-US" sz="2800" dirty="0">
              <a:solidFill>
                <a:schemeClr val="tx1"/>
              </a:solidFill>
              <a:uFillTx/>
              <a:cs typeface="+mn-lt"/>
            </a:endParaRPr>
          </a:p>
        </p:txBody>
      </p:sp>
      <p:pic>
        <p:nvPicPr>
          <p:cNvPr id="4" name="图片 3" descr="捕获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304155" y="3813810"/>
            <a:ext cx="3953510" cy="160020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 </a:t>
            </a:r>
            <a:r>
              <a:rPr lang="zh-CN" altLang="en-US" sz="3600"/>
              <a:t>Vue 表单输入绑定</a:t>
            </a:r>
            <a:endParaRPr lang="zh-CN" altLang="en-US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325" y="1124585"/>
            <a:ext cx="10347960" cy="562229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dirty="0">
                <a:solidFill>
                  <a:schemeClr val="tx1"/>
                </a:solidFill>
                <a:uFillTx/>
                <a:cs typeface="+mn-lt"/>
              </a:rPr>
              <a:t>v-model 是 Vue.js 中的一个指令，用于在表单输入和应用状态之间创建双向数据绑定。</a:t>
            </a:r>
            <a:endParaRPr lang="zh-CN" altLang="en-US" sz="2800" dirty="0">
              <a:solidFill>
                <a:schemeClr val="tx1"/>
              </a:solidFill>
              <a:uFillTx/>
              <a:cs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1675" y="1845310"/>
            <a:ext cx="6875145" cy="455993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>
                <a:ea typeface="+mj-lt"/>
              </a:rPr>
              <a:t>参数特性</a:t>
            </a:r>
            <a:endParaRPr lang="zh-CN" altLang="en-US" sz="3600">
              <a:ea typeface="+mj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80515" y="1001395"/>
            <a:ext cx="8952865" cy="5770880"/>
          </a:xfrm>
        </p:spPr>
        <p:txBody>
          <a:bodyPr/>
          <a:lstStyle/>
          <a:p>
            <a:r>
              <a:rPr lang="zh-CN" altLang="en-US" dirty="0"/>
              <a:t>表单中参数的特性</a:t>
            </a:r>
            <a:endParaRPr lang="zh-CN" altLang="en-US" dirty="0"/>
          </a:p>
          <a:p>
            <a:pPr lvl="1">
              <a:buFont typeface="Wingdings" panose="05000000000000000000" charset="0"/>
              <a:buChar char="p"/>
            </a:pPr>
            <a:r>
              <a:rPr lang="en-US" altLang="zh-CN" sz="2400" dirty="0"/>
              <a:t>lazy</a:t>
            </a:r>
            <a:r>
              <a:rPr lang="zh-CN" altLang="en-US" sz="2400" dirty="0"/>
              <a:t>：默认情况下，v-model 在 input 事件中同步输入框的值与数据</a:t>
            </a:r>
            <a:endParaRPr lang="zh-CN" altLang="en-US" sz="2400" dirty="0"/>
          </a:p>
          <a:p>
            <a:pPr>
              <a:buFont typeface="Wingdings" panose="05000000000000000000" charset="0"/>
              <a:buChar char="p"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lvl="1">
              <a:buFont typeface="Wingdings" panose="05000000000000000000" charset="0"/>
              <a:buChar char="p"/>
            </a:pPr>
            <a:r>
              <a:rPr lang="en-US" altLang="zh-CN" sz="2400" dirty="0"/>
              <a:t>number</a:t>
            </a:r>
            <a:r>
              <a:rPr lang="zh-CN" altLang="en-US" sz="2400" dirty="0"/>
              <a:t>：.number：尝试将用户的输入值转换为数值类型，如果转换结果为 NaN 则返回原始值。</a:t>
            </a:r>
            <a:endParaRPr lang="zh-CN" altLang="en-US" sz="2400" dirty="0"/>
          </a:p>
          <a:p>
            <a:endParaRPr lang="en-US" altLang="zh-CN" dirty="0"/>
          </a:p>
          <a:p>
            <a:pPr lvl="1">
              <a:buFont typeface="Wingdings" panose="05000000000000000000" charset="0"/>
              <a:buChar char="p"/>
            </a:pPr>
            <a:r>
              <a:rPr lang="en-US" altLang="zh-CN" sz="2400" dirty="0">
                <a:cs typeface="+mn-lt"/>
              </a:rPr>
              <a:t>.trim</a:t>
            </a:r>
            <a:r>
              <a:rPr lang="zh-CN" altLang="en-US" sz="2400" dirty="0">
                <a:cs typeface="+mn-lt"/>
              </a:rPr>
              <a:t>：自动过滤用户输入的首尾空白字符。</a:t>
            </a:r>
            <a:endParaRPr lang="zh-CN" altLang="en-US" sz="2400" dirty="0">
              <a:cs typeface="+mn-lt"/>
            </a:endParaRP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6" name="AutoShape 3"/>
          <p:cNvSpPr/>
          <p:nvPr/>
        </p:nvSpPr>
        <p:spPr>
          <a:xfrm>
            <a:off x="2135550" y="2421270"/>
            <a:ext cx="7341825" cy="859451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algn="l"/>
            <a:r>
              <a:rPr lang="en-US" altLang="zh-CN" sz="2400" b="0" dirty="0">
                <a:solidFill>
                  <a:schemeClr val="tx1"/>
                </a:solidFill>
                <a:uFillTx/>
                <a:latin typeface="+mn-lt"/>
                <a:ea typeface="+mn-ea"/>
                <a:cs typeface="+mn-lt"/>
              </a:rPr>
              <a:t>&lt;!-- 在 "change" 而不是 "input" 事件中更新 --&gt;</a:t>
            </a:r>
            <a:endParaRPr lang="en-US" altLang="zh-CN" sz="2400" b="0" dirty="0">
              <a:solidFill>
                <a:schemeClr val="tx1"/>
              </a:solidFill>
              <a:uFillTx/>
              <a:latin typeface="+mn-lt"/>
              <a:ea typeface="+mn-ea"/>
              <a:cs typeface="+mn-lt"/>
            </a:endParaRPr>
          </a:p>
          <a:p>
            <a:pPr algn="l"/>
            <a:r>
              <a:rPr lang="en-US" altLang="zh-CN" sz="2400" b="0" dirty="0">
                <a:solidFill>
                  <a:schemeClr val="tx1"/>
                </a:solidFill>
                <a:uFillTx/>
                <a:latin typeface="+mn-lt"/>
                <a:ea typeface="+mn-ea"/>
                <a:cs typeface="+mn-lt"/>
              </a:rPr>
              <a:t>&lt;input v-model.lazy="msg" &gt;</a:t>
            </a:r>
            <a:endParaRPr lang="en-US" altLang="zh-CN" sz="2400" b="0" dirty="0">
              <a:solidFill>
                <a:schemeClr val="tx1"/>
              </a:solidFill>
              <a:uFillTx/>
              <a:latin typeface="+mn-lt"/>
              <a:ea typeface="+mn-ea"/>
              <a:cs typeface="+mn-lt"/>
            </a:endParaRPr>
          </a:p>
        </p:txBody>
      </p:sp>
      <p:sp>
        <p:nvSpPr>
          <p:cNvPr id="4" name="AutoShape 3"/>
          <p:cNvSpPr/>
          <p:nvPr/>
        </p:nvSpPr>
        <p:spPr>
          <a:xfrm>
            <a:off x="2135550" y="4437246"/>
            <a:ext cx="7344816" cy="476757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algn="l"/>
            <a:r>
              <a:rPr lang="en-US" altLang="zh-CN" sz="2400" b="0" dirty="0">
                <a:solidFill>
                  <a:schemeClr val="tx1"/>
                </a:solidFill>
                <a:uFillTx/>
                <a:latin typeface="+mn-lt"/>
                <a:ea typeface="+mn-ea"/>
                <a:cs typeface="+mn-lt"/>
              </a:rPr>
              <a:t>&lt;input v-model.number="age" type="text"&gt;</a:t>
            </a:r>
            <a:endParaRPr lang="en-US" altLang="zh-CN" sz="2400" b="0" dirty="0">
              <a:solidFill>
                <a:schemeClr val="tx1"/>
              </a:solidFill>
              <a:uFillTx/>
              <a:latin typeface="+mn-lt"/>
              <a:ea typeface="+mn-ea"/>
              <a:cs typeface="+mn-lt"/>
            </a:endParaRPr>
          </a:p>
        </p:txBody>
      </p:sp>
      <p:sp>
        <p:nvSpPr>
          <p:cNvPr id="5" name="AutoShape 3"/>
          <p:cNvSpPr/>
          <p:nvPr/>
        </p:nvSpPr>
        <p:spPr>
          <a:xfrm>
            <a:off x="2135803" y="5588987"/>
            <a:ext cx="7272808" cy="476757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algn="l"/>
            <a:r>
              <a:rPr lang="en-US" altLang="zh-CN" sz="2400" b="0" dirty="0">
                <a:solidFill>
                  <a:schemeClr val="tx1"/>
                </a:solidFill>
                <a:uFillTx/>
                <a:latin typeface="+mn-lt"/>
                <a:ea typeface="+mn-ea"/>
                <a:cs typeface="+mn-lt"/>
              </a:rPr>
              <a:t>&lt;input v-model.trim="msg"&gt;</a:t>
            </a:r>
            <a:endParaRPr lang="en-US" altLang="zh-CN" sz="2400" b="0" dirty="0">
              <a:solidFill>
                <a:schemeClr val="tx1"/>
              </a:solidFill>
              <a:uFillTx/>
              <a:latin typeface="+mn-lt"/>
              <a:ea typeface="+mn-ea"/>
              <a:cs typeface="+mn-lt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bldLvl="0" animBg="1"/>
      <p:bldP spid="4" grpId="0" bldLvl="0" animBg="1"/>
      <p:bldP spid="5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6520" y="88900"/>
            <a:ext cx="6463665" cy="825500"/>
          </a:xfrm>
        </p:spPr>
        <p:txBody>
          <a:bodyPr/>
          <a:lstStyle/>
          <a:p>
            <a:r>
              <a:rPr lang="zh-CN" altLang="en-US" sz="3600"/>
              <a:t>v-bind</a:t>
            </a:r>
            <a:endParaRPr lang="zh-CN" altLang="en-US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95600" y="1531620"/>
            <a:ext cx="7682180" cy="3754120"/>
          </a:xfrm>
        </p:spPr>
        <p:txBody>
          <a:bodyPr/>
          <a:lstStyle/>
          <a:p>
            <a:r>
              <a:rPr lang="zh-CN" altLang="en-US" dirty="0">
                <a:cs typeface="+mn-lt"/>
              </a:rPr>
              <a:t>v-bind 在控件上绑定 value</a:t>
            </a:r>
            <a:endParaRPr lang="zh-CN" altLang="en-US" dirty="0">
              <a:cs typeface="+mn-lt"/>
            </a:endParaRPr>
          </a:p>
          <a:p>
            <a:pPr lvl="1">
              <a:buFont typeface="Wingdings" panose="05000000000000000000" charset="0"/>
              <a:buChar char="p"/>
            </a:pPr>
            <a:r>
              <a:rPr lang="zh-CN" altLang="en-US" dirty="0">
                <a:cs typeface="+mn-lt"/>
              </a:rPr>
              <a:t>复选框</a:t>
            </a:r>
            <a:endParaRPr lang="zh-CN" altLang="en-US" dirty="0">
              <a:cs typeface="+mn-lt"/>
            </a:endParaRPr>
          </a:p>
          <a:p>
            <a:pPr lvl="1">
              <a:buFont typeface="Wingdings" panose="05000000000000000000" charset="0"/>
              <a:buChar char="p"/>
            </a:pPr>
            <a:r>
              <a:rPr lang="zh-CN" altLang="en-US" dirty="0">
                <a:cs typeface="+mn-lt"/>
              </a:rPr>
              <a:t>单选按钮</a:t>
            </a:r>
            <a:endParaRPr lang="zh-CN" altLang="en-US" dirty="0">
              <a:cs typeface="+mn-lt"/>
            </a:endParaRPr>
          </a:p>
          <a:p>
            <a:pPr lvl="1">
              <a:buFont typeface="Wingdings" panose="05000000000000000000" charset="0"/>
              <a:buChar char="p"/>
            </a:pPr>
            <a:r>
              <a:rPr lang="zh-CN" altLang="en-US" dirty="0">
                <a:cs typeface="+mn-lt"/>
              </a:rPr>
              <a:t>选择列表设置</a:t>
            </a:r>
            <a:endParaRPr lang="zh-CN" altLang="en-US" dirty="0">
              <a:cs typeface="+mn-lt"/>
            </a:endParaRPr>
          </a:p>
          <a:p>
            <a:pPr lvl="1">
              <a:buFont typeface="Wingdings" panose="05000000000000000000" charset="0"/>
              <a:buChar char="p"/>
            </a:pPr>
            <a:r>
              <a:rPr lang="zh-CN" altLang="en-US" dirty="0">
                <a:cs typeface="+mn-lt"/>
              </a:rPr>
              <a:t>选择列表 v-bind 绑定 value</a:t>
            </a:r>
            <a:endParaRPr lang="zh-CN" altLang="en-US" dirty="0">
              <a:cs typeface="+mn-lt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41010" y="89535"/>
            <a:ext cx="5016500" cy="810895"/>
          </a:xfrm>
        </p:spPr>
        <p:txBody>
          <a:bodyPr/>
          <a:lstStyle/>
          <a:p>
            <a:br>
              <a:rPr lang="zh-CN" altLang="en-US" sz="3600" dirty="0"/>
            </a:br>
            <a:r>
              <a:rPr lang="en-US" altLang="zh-CN" sz="3600" dirty="0">
                <a:ea typeface="+mj-lt"/>
              </a:rPr>
              <a:t>v-model</a:t>
            </a:r>
            <a:r>
              <a:rPr lang="zh-CN" altLang="en-US" sz="3600" dirty="0">
                <a:ea typeface="+mj-lt"/>
              </a:rPr>
              <a:t>与</a:t>
            </a:r>
            <a:r>
              <a:rPr lang="en-US" altLang="zh-CN" sz="3600" dirty="0">
                <a:ea typeface="+mj-lt"/>
              </a:rPr>
              <a:t>v-bind</a:t>
            </a:r>
            <a:r>
              <a:rPr lang="zh-CN" altLang="en-US" sz="3600" dirty="0">
                <a:ea typeface="+mj-lt"/>
              </a:rPr>
              <a:t>案例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AutoShape 3"/>
          <p:cNvSpPr>
            <a:spLocks noGrp="1"/>
          </p:cNvSpPr>
          <p:nvPr>
            <p:ph idx="1"/>
          </p:nvPr>
        </p:nvSpPr>
        <p:spPr>
          <a:xfrm>
            <a:off x="262890" y="1052830"/>
            <a:ext cx="5750560" cy="5528310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noAutofit/>
          </a:bodyPr>
          <a:lstStyle/>
          <a:p>
            <a:pPr marL="0" indent="0">
              <a:buNone/>
            </a:pPr>
            <a:r>
              <a:rPr lang="en-US" altLang="zh-CN" sz="2400" dirty="0">
                <a:cs typeface="+mn-lt"/>
              </a:rPr>
              <a:t>&lt;div id="app-2"&gt;</a:t>
            </a:r>
            <a:endParaRPr lang="en-US" altLang="zh-CN" sz="240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dirty="0">
                <a:cs typeface="+mn-lt"/>
              </a:rPr>
              <a:t>        &lt;!-- 单选 --&gt;</a:t>
            </a:r>
            <a:endParaRPr lang="en-US" altLang="zh-CN" sz="240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dirty="0">
                <a:cs typeface="+mn-lt"/>
              </a:rPr>
              <a:t>        &lt;select v-model="selected"&gt;</a:t>
            </a:r>
            <a:endParaRPr lang="en-US" altLang="zh-CN" sz="240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dirty="0">
                <a:cs typeface="+mn-lt"/>
              </a:rPr>
              <a:t>            &lt;option&gt;A&lt;/option&gt;</a:t>
            </a:r>
            <a:endParaRPr lang="en-US" altLang="zh-CN" sz="240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dirty="0">
                <a:cs typeface="+mn-lt"/>
              </a:rPr>
              <a:t>            &lt;option&gt;B&lt;/option&gt;</a:t>
            </a:r>
            <a:endParaRPr lang="en-US" altLang="zh-CN" sz="240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dirty="0">
                <a:cs typeface="+mn-lt"/>
              </a:rPr>
              <a:t>            &lt;option&gt;C&lt;/option&gt;</a:t>
            </a:r>
            <a:endParaRPr lang="en-US" altLang="zh-CN" sz="240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dirty="0">
                <a:cs typeface="+mn-lt"/>
              </a:rPr>
              <a:t>        &lt;/select&gt;</a:t>
            </a:r>
            <a:endParaRPr lang="en-US" altLang="zh-CN" sz="240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dirty="0">
                <a:cs typeface="+mn-lt"/>
              </a:rPr>
              <a:t>        &lt;span&gt;Selected: {{ selected }}&lt;/span&gt;</a:t>
            </a:r>
            <a:endParaRPr lang="en-US" altLang="zh-CN" sz="240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dirty="0">
                <a:cs typeface="+mn-lt"/>
              </a:rPr>
              <a:t>        &lt;hr&gt;</a:t>
            </a:r>
            <a:endParaRPr lang="en-US" altLang="zh-CN" sz="240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dirty="0">
                <a:cs typeface="+mn-lt"/>
              </a:rPr>
              <a:t>        </a:t>
            </a:r>
            <a:endParaRPr lang="en-US" altLang="zh-CN" sz="2400" b="0" dirty="0">
              <a:cs typeface="+mn-lt"/>
            </a:endParaRPr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6167755" y="1052830"/>
            <a:ext cx="5750560" cy="5528310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sz="2400" b="0" kern="0" dirty="0">
                <a:cs typeface="+mn-lt"/>
              </a:rPr>
              <a:t>&lt;!-- v-for渲染出来的动态选项 --&gt;</a:t>
            </a:r>
            <a:endParaRPr lang="en-US" altLang="zh-CN" sz="2400" b="0" kern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kern="0" dirty="0">
                <a:cs typeface="+mn-lt"/>
              </a:rPr>
              <a:t>        &lt;select v-model="selected"&gt;</a:t>
            </a:r>
            <a:endParaRPr lang="en-US" altLang="zh-CN" sz="2400" b="0" kern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kern="0" dirty="0">
                <a:cs typeface="+mn-lt"/>
              </a:rPr>
              <a:t>            &lt;option v-for="option in options" v-bind:value="option.value"&gt;</a:t>
            </a:r>
            <a:endParaRPr lang="en-US" altLang="zh-CN" sz="2400" b="0" kern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kern="0" dirty="0">
                <a:cs typeface="+mn-lt"/>
              </a:rPr>
              <a:t>                {{ option.text }}</a:t>
            </a:r>
            <a:endParaRPr lang="en-US" altLang="zh-CN" sz="2400" b="0" kern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kern="0" dirty="0">
                <a:cs typeface="+mn-lt"/>
              </a:rPr>
              <a:t>            &lt;/option&gt;</a:t>
            </a:r>
            <a:endParaRPr lang="en-US" altLang="zh-CN" sz="2400" b="0" kern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kern="0" dirty="0">
                <a:cs typeface="+mn-lt"/>
              </a:rPr>
              <a:t>        &lt;/select&gt;</a:t>
            </a:r>
            <a:endParaRPr lang="en-US" altLang="zh-CN" sz="2400" b="0" kern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kern="0" dirty="0">
                <a:cs typeface="+mn-lt"/>
              </a:rPr>
              <a:t>        &lt;span&gt;Selected: {{ selected }}&lt;/span&gt;</a:t>
            </a:r>
            <a:endParaRPr lang="en-US" altLang="zh-CN" sz="2400" b="0" kern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kern="0" dirty="0">
                <a:cs typeface="+mn-lt"/>
              </a:rPr>
              <a:t> &lt;/div&gt;    </a:t>
            </a:r>
            <a:r>
              <a:rPr lang="en-US" altLang="zh-CN" sz="2400" dirty="0">
                <a:cs typeface="+mn-lt"/>
              </a:rPr>
              <a:t>    </a:t>
            </a:r>
            <a:endParaRPr lang="en-US" altLang="zh-CN" sz="2400" b="0" dirty="0">
              <a:cs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build="p"/>
      <p:bldP spid="3" grpId="0" animBg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3"/>
          <p:cNvSpPr>
            <a:spLocks noGrp="1"/>
          </p:cNvSpPr>
          <p:nvPr>
            <p:ph idx="1"/>
          </p:nvPr>
        </p:nvSpPr>
        <p:spPr>
          <a:xfrm>
            <a:off x="2423592" y="1556792"/>
            <a:ext cx="7837373" cy="5078267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lang="en-US" altLang="zh-CN" sz="2400" dirty="0">
                <a:cs typeface="+mn-lt"/>
              </a:rPr>
              <a:t>var app = new Vue({</a:t>
            </a:r>
            <a:endParaRPr lang="en-US" altLang="zh-CN" sz="240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dirty="0">
                <a:cs typeface="+mn-lt"/>
              </a:rPr>
              <a:t>            el: '#app-2',</a:t>
            </a:r>
            <a:endParaRPr lang="en-US" altLang="zh-CN" sz="2400" b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dirty="0">
                <a:cs typeface="+mn-lt"/>
              </a:rPr>
              <a:t>            data: {</a:t>
            </a:r>
            <a:endParaRPr lang="en-US" altLang="zh-CN" sz="2400" b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dirty="0">
                <a:cs typeface="+mn-lt"/>
              </a:rPr>
              <a:t>                selected: 'A',</a:t>
            </a:r>
            <a:endParaRPr lang="en-US" altLang="zh-CN" sz="2400" b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dirty="0">
                <a:cs typeface="+mn-lt"/>
              </a:rPr>
              <a:t>                options: [</a:t>
            </a:r>
            <a:endParaRPr lang="en-US" altLang="zh-CN" sz="2400" b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dirty="0">
                <a:cs typeface="+mn-lt"/>
              </a:rPr>
              <a:t>                    { text: 'One', value: 'A' },</a:t>
            </a:r>
            <a:endParaRPr lang="en-US" altLang="zh-CN" sz="2400" b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dirty="0">
                <a:cs typeface="+mn-lt"/>
              </a:rPr>
              <a:t>                    { text: 'Two', value: 'B' },</a:t>
            </a:r>
            <a:endParaRPr lang="en-US" altLang="zh-CN" sz="2400" b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dirty="0">
                <a:cs typeface="+mn-lt"/>
              </a:rPr>
              <a:t>                    { text: 'Three', value: 'C' }</a:t>
            </a:r>
            <a:endParaRPr lang="en-US" altLang="zh-CN" sz="2400" b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dirty="0">
                <a:cs typeface="+mn-lt"/>
              </a:rPr>
              <a:t>                ]</a:t>
            </a:r>
            <a:endParaRPr lang="en-US" altLang="zh-CN" sz="2400" b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dirty="0">
                <a:cs typeface="+mn-lt"/>
              </a:rPr>
              <a:t>            }</a:t>
            </a:r>
            <a:endParaRPr lang="en-US" altLang="zh-CN" sz="2400" b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dirty="0">
                <a:cs typeface="+mn-lt"/>
              </a:rPr>
              <a:t>        })</a:t>
            </a:r>
            <a:endParaRPr lang="en-US" altLang="zh-CN" sz="2400" b="0" dirty="0">
              <a:cs typeface="+mn-lt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671945" y="260350"/>
            <a:ext cx="5016500" cy="810895"/>
          </a:xfrm>
        </p:spPr>
        <p:txBody>
          <a:bodyPr/>
          <a:lstStyle/>
          <a:p>
            <a:br>
              <a:rPr lang="zh-CN" altLang="en-US" sz="3600" dirty="0"/>
            </a:br>
            <a:r>
              <a:rPr lang="en-US" altLang="zh-CN" sz="3600" dirty="0">
                <a:ea typeface="+mj-lt"/>
              </a:rPr>
              <a:t>v-model</a:t>
            </a:r>
            <a:r>
              <a:rPr lang="zh-CN" altLang="en-US" sz="3600" dirty="0">
                <a:ea typeface="+mj-lt"/>
              </a:rPr>
              <a:t>与</a:t>
            </a:r>
            <a:r>
              <a:rPr lang="en-US" altLang="zh-CN" sz="3600" dirty="0">
                <a:ea typeface="+mj-lt"/>
              </a:rPr>
              <a:t>v-bind</a:t>
            </a:r>
            <a:r>
              <a:rPr lang="zh-CN" altLang="en-US" sz="3600" dirty="0">
                <a:ea typeface="+mj-lt"/>
              </a:rPr>
              <a:t>案例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7679690" y="4077335"/>
            <a:ext cx="1373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hlinkClick r:id="rId1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41010" y="89535"/>
            <a:ext cx="5016500" cy="810895"/>
          </a:xfrm>
        </p:spPr>
        <p:txBody>
          <a:bodyPr/>
          <a:lstStyle/>
          <a:p>
            <a:br>
              <a:rPr lang="zh-CN" altLang="en-US" sz="3600" dirty="0"/>
            </a:br>
            <a:r>
              <a:rPr lang="en-US" altLang="zh-CN" sz="3600" dirty="0">
                <a:ea typeface="+mj-lt"/>
              </a:rPr>
              <a:t>v-model</a:t>
            </a:r>
            <a:r>
              <a:rPr lang="zh-CN" altLang="en-US" sz="3600" dirty="0">
                <a:ea typeface="+mj-lt"/>
              </a:rPr>
              <a:t>与</a:t>
            </a:r>
            <a:r>
              <a:rPr lang="en-US" altLang="zh-CN" sz="3600" dirty="0">
                <a:ea typeface="+mj-lt"/>
              </a:rPr>
              <a:t>v-bind</a:t>
            </a:r>
            <a:r>
              <a:rPr lang="zh-CN" altLang="en-US" sz="3600" dirty="0">
                <a:ea typeface="+mj-lt"/>
              </a:rPr>
              <a:t>案例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AutoShape 3"/>
          <p:cNvSpPr>
            <a:spLocks noGrp="1"/>
          </p:cNvSpPr>
          <p:nvPr>
            <p:ph idx="1"/>
          </p:nvPr>
        </p:nvSpPr>
        <p:spPr>
          <a:xfrm>
            <a:off x="262890" y="1052830"/>
            <a:ext cx="5750560" cy="5528310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noAutofit/>
          </a:bodyPr>
          <a:lstStyle/>
          <a:p>
            <a:pPr marL="0" indent="0">
              <a:buNone/>
            </a:pPr>
            <a:r>
              <a:rPr lang="en-US" altLang="zh-CN" sz="2400" dirty="0">
                <a:cs typeface="+mn-lt"/>
              </a:rPr>
              <a:t>        &lt;select v-model="selected"&gt;</a:t>
            </a:r>
            <a:endParaRPr lang="en-US" altLang="zh-CN" sz="240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dirty="0">
                <a:cs typeface="+mn-lt"/>
              </a:rPr>
              <a:t>            &lt;option&gt;A&lt;/option&gt;</a:t>
            </a:r>
            <a:endParaRPr lang="en-US" altLang="zh-CN" sz="240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dirty="0">
                <a:cs typeface="+mn-lt"/>
              </a:rPr>
              <a:t>            &lt;option&gt;B&lt;/option&gt;</a:t>
            </a:r>
            <a:endParaRPr lang="en-US" altLang="zh-CN" sz="240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dirty="0">
                <a:cs typeface="+mn-lt"/>
              </a:rPr>
              <a:t>            &lt;option&gt;C&lt;/option&gt;</a:t>
            </a:r>
            <a:endParaRPr lang="en-US" altLang="zh-CN" sz="240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dirty="0">
                <a:cs typeface="+mn-lt"/>
              </a:rPr>
              <a:t>        &lt;/select&gt;</a:t>
            </a:r>
            <a:endParaRPr lang="en-US" altLang="zh-CN" sz="2400" dirty="0">
              <a:cs typeface="+mn-lt"/>
            </a:endParaRPr>
          </a:p>
          <a:p>
            <a:pPr marL="0" indent="0">
              <a:buNone/>
            </a:pPr>
            <a:endParaRPr lang="en-US" altLang="zh-CN" sz="240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dirty="0">
                <a:cs typeface="+mn-lt"/>
              </a:rPr>
              <a:t>v-model="selected"：这里，v-model指令用于创建selected数据属性与&lt;select&gt;元素之间的双向数据绑定。用户在下拉列表中选择一个选项时，selected属性的值会自动更新为被选中&lt;option&gt;元素的value值</a:t>
            </a:r>
            <a:endParaRPr lang="en-US" altLang="zh-CN" sz="240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dirty="0">
                <a:cs typeface="+mn-lt"/>
              </a:rPr>
              <a:t>        </a:t>
            </a:r>
            <a:endParaRPr lang="en-US" altLang="zh-CN" sz="2400" b="0" dirty="0">
              <a:cs typeface="+mn-lt"/>
            </a:endParaRPr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6167755" y="1052830"/>
            <a:ext cx="5750560" cy="5528310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sz="2400" b="0" kern="0" dirty="0">
                <a:cs typeface="+mn-lt"/>
              </a:rPr>
              <a:t>        &lt;select v-model="selected"&gt;</a:t>
            </a:r>
            <a:endParaRPr lang="en-US" altLang="zh-CN" sz="2400" b="0" kern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kern="0" dirty="0">
                <a:cs typeface="+mn-lt"/>
              </a:rPr>
              <a:t>            &lt;option v-for="option in options" v-bind:value="option.value"&gt;</a:t>
            </a:r>
            <a:endParaRPr lang="en-US" altLang="zh-CN" sz="2400" b="0" kern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kern="0" dirty="0">
                <a:cs typeface="+mn-lt"/>
              </a:rPr>
              <a:t>                {{ option.text }}</a:t>
            </a:r>
            <a:endParaRPr lang="en-US" altLang="zh-CN" sz="2400" b="0" kern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kern="0" dirty="0">
                <a:cs typeface="+mn-lt"/>
              </a:rPr>
              <a:t>            &lt;/option&gt;</a:t>
            </a:r>
            <a:endParaRPr lang="en-US" altLang="zh-CN" sz="2400" b="0" kern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kern="0" dirty="0">
                <a:cs typeface="+mn-lt"/>
              </a:rPr>
              <a:t>        &lt;/select&gt;</a:t>
            </a:r>
            <a:endParaRPr lang="en-US" altLang="zh-CN" sz="2400" b="0" kern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dirty="0">
                <a:cs typeface="+mn-lt"/>
              </a:rPr>
              <a:t>v-bind:value="option.value"：v-bind:value（简写为:value）用于将每个&lt;option&gt;元素的value属性绑定到当前迭代对象的value属性上。这样，当选项被选中时，selected数据属性的值将更新为选中项的value（即"A"、"B"或"C"）。</a:t>
            </a:r>
            <a:endParaRPr lang="en-US" altLang="zh-CN" sz="2400" b="0" dirty="0">
              <a:cs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build="p"/>
      <p:bldP spid="3" grpId="0" animBg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41010" y="89535"/>
            <a:ext cx="5918200" cy="810895"/>
          </a:xfrm>
        </p:spPr>
        <p:txBody>
          <a:bodyPr/>
          <a:lstStyle/>
          <a:p>
            <a:br>
              <a:rPr lang="zh-CN" altLang="en-US" sz="3600" dirty="0"/>
            </a:br>
            <a:r>
              <a:rPr lang="zh-CN" altLang="en-US" sz="3600" dirty="0">
                <a:ea typeface="+mj-lt"/>
              </a:rPr>
              <a:t>综合案例演示管理代办项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AutoShape 3"/>
          <p:cNvSpPr>
            <a:spLocks noGrp="1"/>
          </p:cNvSpPr>
          <p:nvPr>
            <p:ph idx="1"/>
          </p:nvPr>
        </p:nvSpPr>
        <p:spPr>
          <a:xfrm>
            <a:off x="713105" y="1628775"/>
            <a:ext cx="10837545" cy="4411345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noAutofit/>
          </a:bodyPr>
          <a:lstStyle/>
          <a:p>
            <a:pPr marL="0" indent="0">
              <a:buNone/>
            </a:pPr>
            <a:r>
              <a:rPr lang="en-US" altLang="zh-CN" sz="2400" b="0" dirty="0">
                <a:cs typeface="+mn-lt"/>
              </a:rPr>
              <a:t>&lt;div id="app-2"&gt;</a:t>
            </a:r>
            <a:endParaRPr lang="en-US" altLang="zh-CN" sz="2400" b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dirty="0">
                <a:cs typeface="+mn-lt"/>
              </a:rPr>
              <a:t>	&lt;input type="text" v-model="newTodo" v-on:keyup.enter="addTodo"&gt;</a:t>
            </a:r>
            <a:endParaRPr lang="en-US" altLang="zh-CN" sz="2400" b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dirty="0">
                <a:cs typeface="+mn-lt"/>
              </a:rPr>
              <a:t>	&lt;ul&gt;</a:t>
            </a:r>
            <a:endParaRPr lang="en-US" altLang="zh-CN" sz="2400" b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dirty="0">
                <a:cs typeface="+mn-lt"/>
              </a:rPr>
              <a:t>		&lt;li v-for="(todo,index) in todos"&gt;</a:t>
            </a:r>
            <a:endParaRPr lang="en-US" altLang="zh-CN" sz="2400" b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dirty="0">
                <a:cs typeface="+mn-lt"/>
              </a:rPr>
              <a:t>		{{ todo.text }} &lt;button v-on:click="removeTodo(index);"&gt;X&lt;/button&gt;</a:t>
            </a:r>
            <a:endParaRPr lang="en-US" altLang="zh-CN" sz="2400" b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dirty="0">
                <a:cs typeface="+mn-lt"/>
              </a:rPr>
              <a:t>		&lt;/li&gt;</a:t>
            </a:r>
            <a:endParaRPr lang="en-US" altLang="zh-CN" sz="2400" b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dirty="0">
                <a:cs typeface="+mn-lt"/>
              </a:rPr>
              <a:t>	&lt;/ul&gt;</a:t>
            </a:r>
            <a:endParaRPr lang="en-US" altLang="zh-CN" sz="2400" b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dirty="0">
                <a:cs typeface="+mn-lt"/>
              </a:rPr>
              <a:t>&lt;/div&gt;</a:t>
            </a:r>
            <a:endParaRPr lang="en-US" altLang="zh-CN" sz="2400" b="0" dirty="0">
              <a:cs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41010" y="89535"/>
            <a:ext cx="5016500" cy="810895"/>
          </a:xfrm>
        </p:spPr>
        <p:txBody>
          <a:bodyPr/>
          <a:lstStyle/>
          <a:p>
            <a:br>
              <a:rPr lang="zh-CN" altLang="en-US" sz="3600" dirty="0"/>
            </a:br>
            <a:r>
              <a:rPr lang="en-US" altLang="zh-CN" sz="3600" dirty="0">
                <a:ea typeface="+mj-lt"/>
              </a:rPr>
              <a:t>v-model</a:t>
            </a:r>
            <a:r>
              <a:rPr lang="zh-CN" altLang="en-US" sz="3600" dirty="0">
                <a:ea typeface="+mj-lt"/>
              </a:rPr>
              <a:t>与</a:t>
            </a:r>
            <a:r>
              <a:rPr lang="en-US" altLang="zh-CN" sz="3600" dirty="0">
                <a:ea typeface="+mj-lt"/>
              </a:rPr>
              <a:t>v-bind</a:t>
            </a:r>
            <a:r>
              <a:rPr lang="zh-CN" altLang="en-US" sz="3600" dirty="0">
                <a:ea typeface="+mj-lt"/>
              </a:rPr>
              <a:t>案例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AutoShape 3"/>
          <p:cNvSpPr>
            <a:spLocks noGrp="1"/>
          </p:cNvSpPr>
          <p:nvPr>
            <p:ph idx="1"/>
          </p:nvPr>
        </p:nvSpPr>
        <p:spPr>
          <a:xfrm>
            <a:off x="262890" y="1052830"/>
            <a:ext cx="4704715" cy="5528310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noAutofit/>
          </a:bodyPr>
          <a:lstStyle/>
          <a:p>
            <a:pPr marL="0" indent="0">
              <a:buNone/>
            </a:pPr>
            <a:r>
              <a:rPr lang="en-US" altLang="zh-CN" sz="2400" dirty="0">
                <a:cs typeface="+mn-lt"/>
              </a:rPr>
              <a:t>var app=new Vue({</a:t>
            </a:r>
            <a:endParaRPr lang="en-US" altLang="zh-CN" sz="240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dirty="0">
                <a:cs typeface="+mn-lt"/>
              </a:rPr>
              <a:t>	el:'#app-2',</a:t>
            </a:r>
            <a:endParaRPr lang="en-US" altLang="zh-CN" sz="240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dirty="0">
                <a:cs typeface="+mn-lt"/>
              </a:rPr>
              <a:t>	data: {</a:t>
            </a:r>
            <a:endParaRPr lang="en-US" altLang="zh-CN" sz="240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dirty="0">
                <a:cs typeface="+mn-lt"/>
              </a:rPr>
              <a:t>		newTodo: '',</a:t>
            </a:r>
            <a:endParaRPr lang="en-US" altLang="zh-CN" sz="240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dirty="0">
                <a:cs typeface="+mn-lt"/>
              </a:rPr>
              <a:t>		todos: [</a:t>
            </a:r>
            <a:endParaRPr lang="en-US" altLang="zh-CN" sz="240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dirty="0">
                <a:cs typeface="+mn-lt"/>
              </a:rPr>
              <a:t>		{text: '买米'}</a:t>
            </a:r>
            <a:endParaRPr lang="en-US" altLang="zh-CN" sz="240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dirty="0">
                <a:cs typeface="+mn-lt"/>
              </a:rPr>
              <a:t>		]</a:t>
            </a:r>
            <a:endParaRPr lang="en-US" altLang="zh-CN" sz="240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dirty="0">
                <a:cs typeface="+mn-lt"/>
              </a:rPr>
              <a:t>	},        </a:t>
            </a:r>
            <a:endParaRPr lang="en-US" altLang="zh-CN" sz="2400" b="0" dirty="0">
              <a:cs typeface="+mn-lt"/>
            </a:endParaRPr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5170805" y="1052830"/>
            <a:ext cx="6747510" cy="5528310"/>
          </a:xfrm>
          <a:prstGeom prst="roundRect">
            <a:avLst>
              <a:gd name="adj" fmla="val 5861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  <a:tileRect/>
          </a:gradFill>
          <a:ln w="9525" cap="flat" cmpd="sng">
            <a:solidFill>
              <a:srgbClr val="0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sz="2400" b="0" kern="0" dirty="0">
                <a:cs typeface="+mn-lt"/>
              </a:rPr>
              <a:t>addTodo: function() {</a:t>
            </a:r>
            <a:endParaRPr lang="en-US" altLang="zh-CN" sz="2400" b="0" kern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kern="0" dirty="0">
                <a:cs typeface="+mn-lt"/>
              </a:rPr>
              <a:t>	var text = this.newTodo.trim() ;</a:t>
            </a:r>
            <a:endParaRPr lang="en-US" altLang="zh-CN" sz="2400" b="0" kern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kern="0" dirty="0">
                <a:cs typeface="+mn-lt"/>
              </a:rPr>
              <a:t>	if(text) {				this.todos.push({text:text}) ;</a:t>
            </a:r>
            <a:endParaRPr lang="en-US" altLang="zh-CN" sz="2400" b="0" kern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kern="0" dirty="0">
                <a:cs typeface="+mn-lt"/>
              </a:rPr>
              <a:t>	}</a:t>
            </a:r>
            <a:endParaRPr lang="en-US" altLang="zh-CN" sz="2400" b="0" kern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kern="0" dirty="0">
                <a:cs typeface="+mn-lt"/>
              </a:rPr>
              <a:t>	this.newTodo ="" ;</a:t>
            </a:r>
            <a:endParaRPr lang="en-US" altLang="zh-CN" sz="2400" b="0" kern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kern="0" dirty="0">
                <a:cs typeface="+mn-lt"/>
              </a:rPr>
              <a:t>	},</a:t>
            </a:r>
            <a:endParaRPr lang="en-US" altLang="zh-CN" sz="2400" b="0" kern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kern="0" dirty="0">
                <a:cs typeface="+mn-lt"/>
              </a:rPr>
              <a:t>	removeTodo: function(index) {</a:t>
            </a:r>
            <a:endParaRPr lang="en-US" altLang="zh-CN" sz="2400" b="0" kern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kern="0" dirty="0">
                <a:cs typeface="+mn-lt"/>
              </a:rPr>
              <a:t>		this.todos.splice(index,1) ;</a:t>
            </a:r>
            <a:endParaRPr lang="en-US" altLang="zh-CN" sz="2400" b="0" kern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kern="0" dirty="0">
                <a:cs typeface="+mn-lt"/>
              </a:rPr>
              <a:t>		}</a:t>
            </a:r>
            <a:endParaRPr lang="en-US" altLang="zh-CN" sz="2400" b="0" kern="0" dirty="0">
              <a:cs typeface="+mn-lt"/>
            </a:endParaRPr>
          </a:p>
          <a:p>
            <a:pPr marL="0" indent="0">
              <a:buNone/>
            </a:pPr>
            <a:r>
              <a:rPr lang="en-US" altLang="zh-CN" sz="2400" b="0" kern="0" dirty="0">
                <a:cs typeface="+mn-lt"/>
              </a:rPr>
              <a:t>	} </a:t>
            </a:r>
            <a:endParaRPr lang="en-US" altLang="zh-CN" sz="2400" b="0" kern="0" dirty="0">
              <a:cs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040370" y="6021070"/>
            <a:ext cx="1373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hlinkClick r:id="rId1" action="ppaction://hlinkfile"/>
              </a:rPr>
              <a:t>运行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build="p"/>
      <p:bldP spid="3" grpId="0" animBg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999605" y="260350"/>
            <a:ext cx="3347720" cy="654050"/>
          </a:xfrm>
        </p:spPr>
        <p:txBody>
          <a:bodyPr/>
          <a:lstStyle/>
          <a:p>
            <a:r>
              <a:rPr lang="zh-CN" altLang="en-US" sz="3600" dirty="0">
                <a:sym typeface="+mn-ea"/>
              </a:rPr>
              <a:t>本章小结</a:t>
            </a:r>
            <a:endParaRPr lang="zh-CN" altLang="en-US" sz="3600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800" dirty="0">
                <a:cs typeface="+mn-lt"/>
              </a:rPr>
              <a:t>                               </a:t>
            </a:r>
            <a:endParaRPr lang="en-US" altLang="zh-CN" sz="2800" dirty="0">
              <a:cs typeface="+mn-lt"/>
            </a:endParaRPr>
          </a:p>
          <a:p>
            <a:r>
              <a:rPr lang="zh-CN" altLang="en-US" dirty="0">
                <a:cs typeface="+mn-lt"/>
              </a:rPr>
              <a:t>学习</a:t>
            </a:r>
            <a:r>
              <a:rPr lang="en-US" altLang="zh-CN" dirty="0" err="1">
                <a:cs typeface="+mn-lt"/>
              </a:rPr>
              <a:t>vue</a:t>
            </a:r>
            <a:r>
              <a:rPr lang="zh-CN" altLang="en-US" dirty="0" err="1">
                <a:cs typeface="+mn-lt"/>
              </a:rPr>
              <a:t>指令</a:t>
            </a:r>
            <a:r>
              <a:rPr lang="en-US" altLang="zh-CN" dirty="0">
                <a:cs typeface="+mn-lt"/>
              </a:rPr>
              <a:t>v-if</a:t>
            </a:r>
            <a:r>
              <a:rPr lang="zh-CN" altLang="en-US" dirty="0">
                <a:cs typeface="+mn-lt"/>
              </a:rPr>
              <a:t>条件指令、</a:t>
            </a:r>
            <a:r>
              <a:rPr lang="en-US" altLang="zh-CN" dirty="0">
                <a:cs typeface="+mn-lt"/>
              </a:rPr>
              <a:t>v-for</a:t>
            </a:r>
            <a:r>
              <a:rPr lang="zh-CN" altLang="en-US" dirty="0">
                <a:cs typeface="+mn-lt"/>
              </a:rPr>
              <a:t>迭代指令、</a:t>
            </a:r>
            <a:r>
              <a:rPr lang="en-US" altLang="zh-CN" dirty="0">
                <a:cs typeface="+mn-lt"/>
              </a:rPr>
              <a:t>v-show</a:t>
            </a:r>
            <a:r>
              <a:rPr lang="zh-CN" altLang="en-US" dirty="0">
                <a:cs typeface="+mn-lt"/>
              </a:rPr>
              <a:t>指令</a:t>
            </a:r>
            <a:endParaRPr lang="en-US" altLang="zh-CN" dirty="0">
              <a:cs typeface="+mn-lt"/>
            </a:endParaRPr>
          </a:p>
          <a:p>
            <a:r>
              <a:rPr lang="en-US" altLang="zh-CN" dirty="0">
                <a:cs typeface="+mn-lt"/>
              </a:rPr>
              <a:t>v-bind</a:t>
            </a:r>
            <a:r>
              <a:rPr lang="zh-CN" altLang="en-US" dirty="0">
                <a:cs typeface="+mn-lt"/>
              </a:rPr>
              <a:t>绑定</a:t>
            </a:r>
            <a:r>
              <a:rPr lang="en-US" altLang="zh-CN" dirty="0" err="1">
                <a:cs typeface="+mn-lt"/>
              </a:rPr>
              <a:t>vue</a:t>
            </a:r>
            <a:r>
              <a:rPr lang="zh-CN" altLang="en-US" dirty="0">
                <a:cs typeface="+mn-lt"/>
              </a:rPr>
              <a:t>实例的动态属性</a:t>
            </a:r>
            <a:endParaRPr lang="en-US" altLang="zh-CN" dirty="0">
              <a:cs typeface="+mn-lt"/>
            </a:endParaRPr>
          </a:p>
          <a:p>
            <a:r>
              <a:rPr lang="zh-CN" altLang="en-US" dirty="0">
                <a:cs typeface="+mn-lt"/>
              </a:rPr>
              <a:t>使用</a:t>
            </a:r>
            <a:r>
              <a:rPr lang="en-US" altLang="zh-CN" dirty="0">
                <a:cs typeface="+mn-lt"/>
              </a:rPr>
              <a:t>v-model</a:t>
            </a:r>
            <a:r>
              <a:rPr lang="zh-CN" altLang="en-US" dirty="0">
                <a:cs typeface="+mn-lt"/>
              </a:rPr>
              <a:t>创建双向数据绑定</a:t>
            </a:r>
            <a:endParaRPr lang="en-US" altLang="zh-CN" dirty="0">
              <a:cs typeface="+mn-lt"/>
            </a:endParaRPr>
          </a:p>
          <a:p>
            <a:r>
              <a:rPr lang="zh-CN" altLang="en-US" dirty="0">
                <a:cs typeface="+mn-lt"/>
              </a:rPr>
              <a:t>掌握修饰符的用法</a:t>
            </a:r>
            <a:endParaRPr lang="en-US" altLang="zh-CN" sz="2800" dirty="0">
              <a:cs typeface="+mn-lt"/>
            </a:endParaRPr>
          </a:p>
          <a:p>
            <a:pPr marL="0" indent="0">
              <a:buNone/>
            </a:pPr>
            <a:endParaRPr lang="zh-CN" altLang="en-US" sz="2800" dirty="0">
              <a:cs typeface="+mn-lt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ags/tag1.xml><?xml version="1.0" encoding="utf-8"?>
<p:tagLst xmlns:p="http://schemas.openxmlformats.org/presentationml/2006/main">
  <p:tag name="KSO_WM_SLIDE_MODEL_TYPE" val="cover"/>
</p:tagLst>
</file>

<file path=ppt/tags/tag2.xml><?xml version="1.0" encoding="utf-8"?>
<p:tagLst xmlns:p="http://schemas.openxmlformats.org/presentationml/2006/main">
  <p:tag name="KSO_WM_DIAGRAM_VIRTUALLY_FRAME" val="{&quot;height&quot;:286.85,&quot;left&quot;:54.03645669291338,&quot;top&quot;:148.45,&quot;width&quot;:836.4135433070866}"/>
</p:tagLst>
</file>

<file path=ppt/tags/tag3.xml><?xml version="1.0" encoding="utf-8"?>
<p:tagLst xmlns:p="http://schemas.openxmlformats.org/presentationml/2006/main">
  <p:tag name="KSO_WM_DIAGRAM_VIRTUALLY_FRAME" val="{&quot;height&quot;:286.85,&quot;left&quot;:54.03645669291338,&quot;top&quot;:148.45,&quot;width&quot;:836.4135433070866}"/>
</p:tagLst>
</file>

<file path=ppt/tags/tag4.xml><?xml version="1.0" encoding="utf-8"?>
<p:tagLst xmlns:p="http://schemas.openxmlformats.org/presentationml/2006/main">
  <p:tag name="KSO_WM_DIAGRAM_VIRTUALLY_FRAME" val="{&quot;height&quot;:286.85,&quot;left&quot;:4.386456692913384,&quot;top&quot;:148.45,&quot;width&quot;:886.0635433070865}"/>
</p:tagLst>
</file>

<file path=ppt/tags/tag5.xml><?xml version="1.0" encoding="utf-8"?>
<p:tagLst xmlns:p="http://schemas.openxmlformats.org/presentationml/2006/main">
  <p:tag name="KSO_WM_DIAGRAM_VIRTUALLY_FRAME" val="{&quot;height&quot;:286.85,&quot;left&quot;:4.386456692913384,&quot;top&quot;:148.45,&quot;width&quot;:886.0635433070865}"/>
</p:tagLst>
</file>

<file path=ppt/tags/tag6.xml><?xml version="1.0" encoding="utf-8"?>
<p:tagLst xmlns:p="http://schemas.openxmlformats.org/presentationml/2006/main">
  <p:tag name="KSO_WM_DIAGRAM_VIRTUALLY_FRAME" val="{&quot;height&quot;:286.85,&quot;left&quot;:4.386456692913384,&quot;top&quot;:148.45,&quot;width&quot;:886.0635433070865}"/>
</p:tagLst>
</file>

<file path=ppt/tags/tag7.xml><?xml version="1.0" encoding="utf-8"?>
<p:tagLst xmlns:p="http://schemas.openxmlformats.org/presentationml/2006/main">
  <p:tag name="KSO_WM_DIAGRAM_VIRTUALLY_FRAME" val="{&quot;height&quot;:286.85,&quot;left&quot;:4.386456692913384,&quot;top&quot;:148.45,&quot;width&quot;:886.0635433070865}"/>
</p:tagLst>
</file>

<file path=ppt/tags/tag8.xml><?xml version="1.0" encoding="utf-8"?>
<p:tagLst xmlns:p="http://schemas.openxmlformats.org/presentationml/2006/main">
  <p:tag name="KSO_WM_DIAGRAM_VIRTUALLY_FRAME" val="{&quot;height&quot;:286.85,&quot;left&quot;:4.386456692913384,&quot;top&quot;:148.45,&quot;width&quot;:886.0635433070865}"/>
</p:tagLst>
</file>

<file path=ppt/tags/tag9.xml><?xml version="1.0" encoding="utf-8"?>
<p:tagLst xmlns:p="http://schemas.openxmlformats.org/presentationml/2006/main">
  <p:tag name="KSO_WM_DIAGRAM_VIRTUALLY_FRAME" val="{&quot;height&quot;:286.85,&quot;left&quot;:4.386456692913384,&quot;top&quot;:148.45,&quot;width&quot;:886.0635433070865}"/>
</p:tagLst>
</file>

<file path=ppt/tags/tag10.xml><?xml version="1.0" encoding="utf-8"?>
<p:tagLst xmlns:p="http://schemas.openxmlformats.org/presentationml/2006/main">
  <p:tag name="MH" val="20170719143502"/>
  <p:tag name="MH_LIBRARY" val="GRAPHIC"/>
  <p:tag name="MH_TYPE" val="SubTitle"/>
  <p:tag name="MH_ORDER" val="1"/>
  <p:tag name="KSO_WM_DIAGRAM_VIRTUALLY_FRAME" val="{&quot;height&quot;:356.9603937007874,&quot;left&quot;:192.35157480314962,&quot;top&quot;:113.01559055118109,&quot;width&quot;:707.2708661417324}"/>
</p:tagLst>
</file>

<file path=ppt/tags/tag11.xml><?xml version="1.0" encoding="utf-8"?>
<p:tagLst xmlns:p="http://schemas.openxmlformats.org/presentationml/2006/main">
  <p:tag name="MH" val="20170719143502"/>
  <p:tag name="MH_LIBRARY" val="GRAPHIC"/>
  <p:tag name="MH_TYPE" val="Other"/>
  <p:tag name="MH_ORDER" val="1"/>
  <p:tag name="KSO_WM_DIAGRAM_VIRTUALLY_FRAME" val="{&quot;height&quot;:356.9603937007874,&quot;left&quot;:192.35157480314962,&quot;top&quot;:113.01559055118109,&quot;width&quot;:707.2708661417324}"/>
</p:tagLst>
</file>

<file path=ppt/tags/tag12.xml><?xml version="1.0" encoding="utf-8"?>
<p:tagLst xmlns:p="http://schemas.openxmlformats.org/presentationml/2006/main">
  <p:tag name="MH" val="20170719143502"/>
  <p:tag name="MH_LIBRARY" val="GRAPHIC"/>
  <p:tag name="MH_TYPE" val="SubTitle"/>
  <p:tag name="MH_ORDER" val="2"/>
  <p:tag name="KSO_WM_DIAGRAM_VIRTUALLY_FRAME" val="{&quot;height&quot;:356.9603937007874,&quot;left&quot;:192.35157480314962,&quot;top&quot;:113.01559055118109,&quot;width&quot;:707.2708661417324}"/>
</p:tagLst>
</file>

<file path=ppt/tags/tag13.xml><?xml version="1.0" encoding="utf-8"?>
<p:tagLst xmlns:p="http://schemas.openxmlformats.org/presentationml/2006/main">
  <p:tag name="MH" val="20170719143502"/>
  <p:tag name="MH_LIBRARY" val="GRAPHIC"/>
  <p:tag name="MH_TYPE" val="Other"/>
  <p:tag name="MH_ORDER" val="2"/>
  <p:tag name="KSO_WM_DIAGRAM_VIRTUALLY_FRAME" val="{&quot;height&quot;:356.9603937007874,&quot;left&quot;:192.35157480314962,&quot;top&quot;:113.01559055118109,&quot;width&quot;:707.2708661417324}"/>
</p:tagLst>
</file>

<file path=ppt/tags/tag14.xml><?xml version="1.0" encoding="utf-8"?>
<p:tagLst xmlns:p="http://schemas.openxmlformats.org/presentationml/2006/main">
  <p:tag name="MH" val="20170719143502"/>
  <p:tag name="MH_LIBRARY" val="GRAPHIC"/>
  <p:tag name="MH_TYPE" val="Other"/>
  <p:tag name="MH_ORDER" val="3"/>
  <p:tag name="KSO_WM_DIAGRAM_VIRTUALLY_FRAME" val="{&quot;height&quot;:356.9603937007874,&quot;left&quot;:192.35157480314962,&quot;top&quot;:113.01559055118109,&quot;width&quot;:707.2708661417324}"/>
</p:tagLst>
</file>

<file path=ppt/tags/tag15.xml><?xml version="1.0" encoding="utf-8"?>
<p:tagLst xmlns:p="http://schemas.openxmlformats.org/presentationml/2006/main">
  <p:tag name="PA" val="v3.2.0"/>
</p:tagLst>
</file>

<file path=ppt/tags/tag16.xml><?xml version="1.0" encoding="utf-8"?>
<p:tagLst xmlns:p="http://schemas.openxmlformats.org/presentationml/2006/main">
  <p:tag name="PA" val="v3.2.0"/>
</p:tagLst>
</file>

<file path=ppt/tags/tag17.xml><?xml version="1.0" encoding="utf-8"?>
<p:tagLst xmlns:p="http://schemas.openxmlformats.org/presentationml/2006/main">
  <p:tag name="MH" val="20170719143502"/>
  <p:tag name="MH_LIBRARY" val="GRAPHIC"/>
  <p:tag name="MH_TYPE" val="SubTitle"/>
  <p:tag name="MH_ORDER" val="3"/>
  <p:tag name="KSO_WM_DIAGRAM_VIRTUALLY_FRAME" val="{&quot;height&quot;:356.9603937007874,&quot;left&quot;:192.35157480314962,&quot;top&quot;:113.01559055118109,&quot;width&quot;:707.2708661417324}"/>
</p:tagLst>
</file>

<file path=ppt/tags/tag18.xml><?xml version="1.0" encoding="utf-8"?>
<p:tagLst xmlns:p="http://schemas.openxmlformats.org/presentationml/2006/main">
  <p:tag name="MH" val="20170719143502"/>
  <p:tag name="MH_LIBRARY" val="GRAPHIC"/>
  <p:tag name="MH_TYPE" val="Other"/>
  <p:tag name="MH_ORDER" val="3"/>
  <p:tag name="KSO_WM_DIAGRAM_VIRTUALLY_FRAME" val="{&quot;height&quot;:356.9603937007874,&quot;left&quot;:192.35157480314962,&quot;top&quot;:113.01559055118109,&quot;width&quot;:707.2708661417324}"/>
</p:tagLst>
</file>

<file path=ppt/tags/tag19.xml><?xml version="1.0" encoding="utf-8"?>
<p:tagLst xmlns:p="http://schemas.openxmlformats.org/presentationml/2006/main">
  <p:tag name="KSO_WM_DIAGRAM_VIRTUALLY_FRAME" val="{&quot;height&quot;:356.9603937007874,&quot;left&quot;:192.35157480314962,&quot;top&quot;:113.01559055118109,&quot;width&quot;:707.2708661417324}"/>
</p:tagLst>
</file>

<file path=ppt/tags/tag20.xml><?xml version="1.0" encoding="utf-8"?>
<p:tagLst xmlns:p="http://schemas.openxmlformats.org/presentationml/2006/main">
  <p:tag name="KSO_WM_DIAGRAM_VIRTUALLY_FRAME" val="{&quot;height&quot;:356.9603937007874,&quot;left&quot;:192.35157480314962,&quot;top&quot;:113.01559055118109,&quot;width&quot;:707.2708661417324}"/>
</p:tagLst>
</file>

<file path=ppt/tags/tag21.xml><?xml version="1.0" encoding="utf-8"?>
<p:tagLst xmlns:p="http://schemas.openxmlformats.org/presentationml/2006/main">
  <p:tag name="KSO_WM_DIAGRAM_VIRTUALLY_FRAME" val="{&quot;height&quot;:356.9603937007874,&quot;left&quot;:192.35157480314962,&quot;top&quot;:113.01559055118109,&quot;width&quot;:707.2708661417324}"/>
</p:tagLst>
</file>

<file path=ppt/tags/tag22.xml><?xml version="1.0" encoding="utf-8"?>
<p:tagLst xmlns:p="http://schemas.openxmlformats.org/presentationml/2006/main">
  <p:tag name="MH" val="20170719143502"/>
  <p:tag name="MH_LIBRARY" val="GRAPHIC"/>
  <p:tag name="MH_TYPE" val="Other"/>
  <p:tag name="MH_ORDER" val="2"/>
  <p:tag name="KSO_WM_DIAGRAM_VIRTUALLY_FRAME" val="{&quot;height&quot;:356.9603937007874,&quot;left&quot;:192.35157480314962,&quot;top&quot;:113.01559055118109,&quot;width&quot;:707.2708661417324}"/>
</p:tagLst>
</file>

<file path=ppt/tags/tag23.xml><?xml version="1.0" encoding="utf-8"?>
<p:tagLst xmlns:p="http://schemas.openxmlformats.org/presentationml/2006/main">
  <p:tag name="KSO_WM_DOC_GUID" val="{ca5d4dd7-2716-4104-9ba6-1d55bb59f5f1}"/>
  <p:tag name="COMMONDATA" val="eyJoZGlkIjoiZjBlNDM4ZjU1ZGI3YzQwMDk5ZjExZjgyZTc3ZDI2NDMifQ=="/>
</p:tagLst>
</file>

<file path=ppt/theme/theme1.xml><?xml version="1.0" encoding="utf-8"?>
<a:theme xmlns:a="http://schemas.openxmlformats.org/drawingml/2006/main" name="3_Office 主题">
  <a:themeElements>
    <a:clrScheme name="3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3_Office 主题">
      <a:majorFont>
        <a:latin typeface="黑体"/>
        <a:ea typeface="黑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第1章集合</Template>
  <TotalTime>0</TotalTime>
  <Words>8049</Words>
  <Application>WPS 演示</Application>
  <PresentationFormat>宽屏</PresentationFormat>
  <Paragraphs>558</Paragraphs>
  <Slides>42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63" baseType="lpstr">
      <vt:lpstr>Arial</vt:lpstr>
      <vt:lpstr>宋体</vt:lpstr>
      <vt:lpstr>Wingdings</vt:lpstr>
      <vt:lpstr>Calibri</vt:lpstr>
      <vt:lpstr>黑体</vt:lpstr>
      <vt:lpstr>微软雅黑</vt:lpstr>
      <vt:lpstr>Impact</vt:lpstr>
      <vt:lpstr>Leelawadee</vt:lpstr>
      <vt:lpstr>Leelawadee UI</vt:lpstr>
      <vt:lpstr>Arial Unicode MS</vt:lpstr>
      <vt:lpstr>思源黑体 CN Normal</vt:lpstr>
      <vt:lpstr>Wingdings</vt:lpstr>
      <vt:lpstr>字魂58号-创中黑</vt:lpstr>
      <vt:lpstr>Segoe UI</vt:lpstr>
      <vt:lpstr>WPS-Bullets</vt:lpstr>
      <vt:lpstr>U.S. 101</vt:lpstr>
      <vt:lpstr>Segoe Print</vt:lpstr>
      <vt:lpstr>Roboto</vt:lpstr>
      <vt:lpstr>Times New Roman</vt:lpstr>
      <vt:lpstr>Open Sans Light</vt:lpstr>
      <vt:lpstr>3_Office 主题</vt:lpstr>
      <vt:lpstr>PowerPoint 演示文稿</vt:lpstr>
      <vt:lpstr> 课程目标</vt:lpstr>
      <vt:lpstr>课程内容</vt:lpstr>
      <vt:lpstr>Vue指令</vt:lpstr>
      <vt:lpstr>Vue指令</vt:lpstr>
      <vt:lpstr>Vue指令</vt:lpstr>
      <vt:lpstr>指令修饰符</vt:lpstr>
      <vt:lpstr>指令修饰符</vt:lpstr>
      <vt:lpstr>v-if详解</vt:lpstr>
      <vt:lpstr>PowerPoint 演示文稿</vt:lpstr>
      <vt:lpstr>v-if详解</vt:lpstr>
      <vt:lpstr>PowerPoint 演示文稿</vt:lpstr>
      <vt:lpstr>v-show详解</vt:lpstr>
      <vt:lpstr>v-show指令</vt:lpstr>
      <vt:lpstr>v-show指令</vt:lpstr>
      <vt:lpstr>v-for指令</vt:lpstr>
      <vt:lpstr>v-for指令</vt:lpstr>
      <vt:lpstr>PowerPoint 演示文稿</vt:lpstr>
      <vt:lpstr>v-for指令</vt:lpstr>
      <vt:lpstr>v-for指令</vt:lpstr>
      <vt:lpstr>v-for指令</vt:lpstr>
      <vt:lpstr>演示迭代对象</vt:lpstr>
      <vt:lpstr>v-for指令与template</vt:lpstr>
      <vt:lpstr>v-for指令与template</vt:lpstr>
      <vt:lpstr>v-on 指令</vt:lpstr>
      <vt:lpstr>v-on 示例</vt:lpstr>
      <vt:lpstr>v-on 绑定事件</vt:lpstr>
      <vt:lpstr>v-on 绑定事件</vt:lpstr>
      <vt:lpstr>v-bind 指令</vt:lpstr>
      <vt:lpstr>v-bind 指令</vt:lpstr>
      <vt:lpstr>v-bind 指令</vt:lpstr>
      <vt:lpstr>v-bind 指令</vt:lpstr>
      <vt:lpstr> Vue 表单输入绑定</vt:lpstr>
      <vt:lpstr> Vue 表单输入绑定</vt:lpstr>
      <vt:lpstr>参数特性</vt:lpstr>
      <vt:lpstr>v-bind</vt:lpstr>
      <vt:lpstr> v-model与v-bind案例  </vt:lpstr>
      <vt:lpstr> v-model与v-bind案例  </vt:lpstr>
      <vt:lpstr> v-model与v-bind案例  </vt:lpstr>
      <vt:lpstr> 综合案例演示管理代办项  </vt:lpstr>
      <vt:lpstr> v-model与v-bind案例  </vt:lpstr>
      <vt:lpstr>本章小结</vt:lpstr>
    </vt:vector>
  </TitlesOfParts>
  <Company>BeiJing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YAOYUAN</dc:creator>
  <cp:lastModifiedBy>章晟昱</cp:lastModifiedBy>
  <cp:revision>963</cp:revision>
  <dcterms:created xsi:type="dcterms:W3CDTF">2005-06-22T06:00:00Z</dcterms:created>
  <dcterms:modified xsi:type="dcterms:W3CDTF">2024-09-13T16:04:48Z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E73266A6CC3D42FBBF9161EBB661574B_12</vt:lpwstr>
  </property>
</Properties>
</file>