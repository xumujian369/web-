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6"/>
  </p:notesMasterIdLst>
  <p:sldIdLst>
    <p:sldId id="352" r:id="rId3"/>
    <p:sldId id="353" r:id="rId4"/>
    <p:sldId id="385" r:id="rId5"/>
    <p:sldId id="386" r:id="rId6"/>
    <p:sldId id="262" r:id="rId7"/>
    <p:sldId id="354" r:id="rId8"/>
    <p:sldId id="411" r:id="rId9"/>
    <p:sldId id="355" r:id="rId10"/>
    <p:sldId id="412" r:id="rId11"/>
    <p:sldId id="413" r:id="rId12"/>
    <p:sldId id="356" r:id="rId13"/>
    <p:sldId id="361" r:id="rId14"/>
    <p:sldId id="388" r:id="rId15"/>
    <p:sldId id="362" r:id="rId16"/>
    <p:sldId id="435" r:id="rId17"/>
    <p:sldId id="436" r:id="rId18"/>
    <p:sldId id="367" r:id="rId19"/>
    <p:sldId id="414" r:id="rId20"/>
    <p:sldId id="416" r:id="rId21"/>
    <p:sldId id="417" r:id="rId22"/>
    <p:sldId id="418" r:id="rId23"/>
    <p:sldId id="415" r:id="rId24"/>
    <p:sldId id="370" r:id="rId25"/>
    <p:sldId id="371" r:id="rId26"/>
    <p:sldId id="375" r:id="rId27"/>
    <p:sldId id="376" r:id="rId28"/>
    <p:sldId id="379" r:id="rId29"/>
    <p:sldId id="380" r:id="rId30"/>
    <p:sldId id="381" r:id="rId31"/>
    <p:sldId id="382" r:id="rId32"/>
    <p:sldId id="383" r:id="rId33"/>
    <p:sldId id="384" r:id="rId34"/>
    <p:sldId id="453" r:id="rId35"/>
  </p:sldIdLst>
  <p:sldSz cx="9144000" cy="6858000" type="screen4x3"/>
  <p:notesSz cx="6858000" cy="9144000"/>
  <p:custDataLst>
    <p:tags r:id="rId41"/>
  </p:custDataLst>
  <p:defaultTextStyle>
    <a:defPPr>
      <a:defRPr lang="zh-CN"/>
    </a:defPPr>
    <a:lvl1pPr marL="0" lvl="0"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orient="horz" pos="2476" userDrawn="1">
          <p15:clr>
            <a:srgbClr val="A4A3A4"/>
          </p15:clr>
        </p15:guide>
        <p15:guide id="3" orient="horz" pos="2069" userDrawn="1">
          <p15:clr>
            <a:srgbClr val="A4A3A4"/>
          </p15:clr>
        </p15:guide>
        <p15:guide id="4" orient="horz" pos="845" userDrawn="1">
          <p15:clr>
            <a:srgbClr val="A4A3A4"/>
          </p15:clr>
        </p15:guide>
        <p15:guide id="5" pos="2877" userDrawn="1">
          <p15:clr>
            <a:srgbClr val="A4A3A4"/>
          </p15:clr>
        </p15:guide>
        <p15:guide id="6" pos="392" userDrawn="1">
          <p15:clr>
            <a:srgbClr val="A4A3A4"/>
          </p15:clr>
        </p15:guide>
        <p15:guide id="7" pos="844"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zq" initials="lzq" lastIdx="3" clrIdx="0"/>
  <p:cmAuthor id="2" name="zrd" initials="W用" lastIdx="12" clrIdx="1"/>
  <p:cmAuthor id="3" name="wangzhe" initials="wz" lastIdx="4" clrIdx="2"/>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CDADF1"/>
    <a:srgbClr val="EDECB2"/>
    <a:srgbClr val="0099FF"/>
    <a:srgbClr val="FFFFCC"/>
    <a:srgbClr val="659B68"/>
    <a:srgbClr val="AAE66E"/>
    <a:srgbClr val="99FF33"/>
    <a:srgbClr val="33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8"/>
    <p:restoredTop sz="94585"/>
  </p:normalViewPr>
  <p:slideViewPr>
    <p:cSldViewPr showGuides="1">
      <p:cViewPr varScale="1">
        <p:scale>
          <a:sx n="80" d="100"/>
          <a:sy n="80" d="100"/>
        </p:scale>
        <p:origin x="-1074" y="-90"/>
      </p:cViewPr>
      <p:guideLst>
        <p:guide orient="horz" pos="2160"/>
        <p:guide orient="horz" pos="2476"/>
        <p:guide orient="horz" pos="2069"/>
        <p:guide orient="horz" pos="845"/>
        <p:guide pos="2877"/>
        <p:guide pos="392"/>
        <p:guide pos="844"/>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1" Type="http://schemas.openxmlformats.org/officeDocument/2006/relationships/tags" Target="tags/tag1.xml"/><Relationship Id="rId40" Type="http://schemas.openxmlformats.org/officeDocument/2006/relationships/commentAuthors" Target="commentAuthors.xml"/><Relationship Id="rId4" Type="http://schemas.openxmlformats.org/officeDocument/2006/relationships/slide" Target="slides/slide2.xml"/><Relationship Id="rId39" Type="http://schemas.openxmlformats.org/officeDocument/2006/relationships/tableStyles" Target="tableStyles.xml"/><Relationship Id="rId38" Type="http://schemas.openxmlformats.org/officeDocument/2006/relationships/viewProps" Target="viewProps.xml"/><Relationship Id="rId37" Type="http://schemas.openxmlformats.org/officeDocument/2006/relationships/presProps" Target="presProps.xml"/><Relationship Id="rId36" Type="http://schemas.openxmlformats.org/officeDocument/2006/relationships/notesMaster" Target="notesMasters/notesMaster1.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98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defRPr sz="1200" b="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1987"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b="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3556" name="Rectangle 4"/>
          <p:cNvSpPr>
            <a:spLocks noGrp="1" noRot="1" noChangeAspec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41989"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1" fontAlgn="base" latinLnBrk="0" hangingPunct="1">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1" fontAlgn="base" latinLnBrk="0" hangingPunct="1">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1" fontAlgn="base" latinLnBrk="0" hangingPunct="1">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1" fontAlgn="base" latinLnBrk="0" hangingPunct="1">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1990"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gn="l">
              <a:defRPr sz="1200" b="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1991"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hangingPunct="1"/>
            <a:fld id="{9A0DB2DC-4C9A-4742-B13C-FB6460FD3503}" type="slidenum">
              <a:rPr lang="en-US" altLang="zh-CN" sz="1200" b="0" dirty="0"/>
            </a:fld>
            <a:endParaRPr lang="en-US" altLang="zh-CN" sz="1200" b="0" dirty="0"/>
          </a:p>
        </p:txBody>
      </p:sp>
    </p:spTree>
  </p:cSld>
  <p:clrMap bg1="lt1" tx1="dk1" bg2="lt2" tx2="dk2" accent1="accent1" accent2="accent2" accent3="accent3" accent4="accent4" accent5="accent5" accent6="accent6" hlink="hlink" folHlink="folHlink"/>
  <p:hf sldNum="0" hdr="0" ftr="0" dt="0"/>
  <p:notesStyle>
    <a:lvl1pPr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zh-CN" altLang="en-US" dirty="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zh-CN" altLang="en-US" dirty="0"/>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zh-CN" altLang="en-US" dirty="0"/>
            </a:fld>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323850" y="1268413"/>
            <a:ext cx="4087813" cy="4911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564063" y="1268413"/>
            <a:ext cx="4089400" cy="4911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灯片编号占位符 6"/>
          <p:cNvSpPr>
            <a:spLocks noGrp="1"/>
          </p:cNvSpPr>
          <p:nvPr>
            <p:ph type="sldNum" sz="quarter" idx="12"/>
          </p:nvPr>
        </p:nvSpPr>
        <p:spPr/>
        <p:txBody>
          <a:bodyPr/>
          <a:lstStyle/>
          <a:p>
            <a:pPr lvl="0" eaLnBrk="1" hangingPunct="1"/>
            <a:fld id="{9A0DB2DC-4C9A-4742-B13C-FB6460FD3503}" type="slidenum">
              <a:rPr lang="zh-CN" altLang="en-US" dirty="0"/>
            </a:fld>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灯片编号占位符 8"/>
          <p:cNvSpPr>
            <a:spLocks noGrp="1"/>
          </p:cNvSpPr>
          <p:nvPr>
            <p:ph type="sldNum" sz="quarter" idx="12"/>
          </p:nvPr>
        </p:nvSpPr>
        <p:spPr/>
        <p:txBody>
          <a:bodyPr/>
          <a:lstStyle/>
          <a:p>
            <a:pPr lvl="0" eaLnBrk="1" hangingPunct="1"/>
            <a:fld id="{9A0DB2DC-4C9A-4742-B13C-FB6460FD3503}" type="slidenum">
              <a:rPr lang="zh-CN" altLang="en-US" dirty="0"/>
            </a:fld>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12"/>
          </p:nvPr>
        </p:nvSpPr>
        <p:spPr/>
        <p:txBody>
          <a:bodyPr/>
          <a:lstStyle/>
          <a:p>
            <a:pPr lvl="0" eaLnBrk="1" hangingPunct="1"/>
            <a:fld id="{9A0DB2DC-4C9A-4742-B13C-FB6460FD3503}" type="slidenum">
              <a:rPr lang="zh-CN" altLang="en-US" dirty="0"/>
            </a:fld>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灯片编号占位符 3"/>
          <p:cNvSpPr>
            <a:spLocks noGrp="1"/>
          </p:cNvSpPr>
          <p:nvPr>
            <p:ph type="sldNum" sz="quarter" idx="12"/>
          </p:nvPr>
        </p:nvSpPr>
        <p:spPr/>
        <p:txBody>
          <a:bodyPr/>
          <a:lstStyle/>
          <a:p>
            <a:pPr lvl="0" eaLnBrk="1" hangingPunct="1"/>
            <a:fld id="{9A0DB2DC-4C9A-4742-B13C-FB6460FD3503}" type="slidenum">
              <a:rPr lang="zh-CN" altLang="en-US" dirty="0"/>
            </a:fld>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灯片编号占位符 6"/>
          <p:cNvSpPr>
            <a:spLocks noGrp="1"/>
          </p:cNvSpPr>
          <p:nvPr>
            <p:ph type="sldNum" sz="quarter" idx="12"/>
          </p:nvPr>
        </p:nvSpPr>
        <p:spPr/>
        <p:txBody>
          <a:bodyPr/>
          <a:lstStyle/>
          <a:p>
            <a:pPr lvl="0" eaLnBrk="1" hangingPunct="1"/>
            <a:fld id="{9A0DB2DC-4C9A-4742-B13C-FB6460FD3503}" type="slidenum">
              <a:rPr lang="zh-CN" altLang="en-US" dirty="0"/>
            </a:fld>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灯片编号占位符 6"/>
          <p:cNvSpPr>
            <a:spLocks noGrp="1"/>
          </p:cNvSpPr>
          <p:nvPr>
            <p:ph type="sldNum" sz="quarter" idx="12"/>
          </p:nvPr>
        </p:nvSpPr>
        <p:spPr/>
        <p:txBody>
          <a:bodyPr/>
          <a:lstStyle/>
          <a:p>
            <a:pPr lvl="0" eaLnBrk="1" hangingPunct="1"/>
            <a:fld id="{9A0DB2DC-4C9A-4742-B13C-FB6460FD3503}" type="slidenum">
              <a:rPr lang="zh-CN" altLang="en-US" dirty="0"/>
            </a:fld>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zh-CN" altLang="en-US" dirty="0"/>
            </a:fld>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99250" y="260350"/>
            <a:ext cx="2124075" cy="591978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323850" y="260350"/>
            <a:ext cx="6223000" cy="591978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zh-CN" altLang="en-US" dirty="0"/>
            </a:fld>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3779838" y="260350"/>
            <a:ext cx="5043487" cy="65405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323850" y="1268413"/>
            <a:ext cx="4087813" cy="491172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564063" y="1268413"/>
            <a:ext cx="4089400" cy="491172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灯片编号占位符 6"/>
          <p:cNvSpPr>
            <a:spLocks noGrp="1"/>
          </p:cNvSpPr>
          <p:nvPr>
            <p:ph type="sldNum" sz="quarter" idx="12"/>
          </p:nvPr>
        </p:nvSpPr>
        <p:spPr/>
        <p:txBody>
          <a:bodyPr/>
          <a:lstStyle/>
          <a:p>
            <a:pPr lvl="0" eaLnBrk="1" hangingPunct="1"/>
            <a:fld id="{9A0DB2DC-4C9A-4742-B13C-FB6460FD3503}" type="slidenum">
              <a:rPr lang="zh-CN" altLang="en-US" dirty="0"/>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文本占位符 2"/>
          <p:cNvSpPr>
            <a:spLocks noGrp="1"/>
          </p:cNvSpPr>
          <p:nvPr>
            <p:ph type="body" idx="1"/>
          </p:nvPr>
        </p:nvSpPr>
        <p:spPr>
          <a:xfrm>
            <a:off x="323850" y="1268413"/>
            <a:ext cx="8329613" cy="4911725"/>
          </a:xfrm>
          <a:prstGeom prst="rect">
            <a:avLst/>
          </a:prstGeom>
          <a:noFill/>
          <a:ln w="9525">
            <a:noFill/>
          </a:ln>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27" name="标题占位符 1"/>
          <p:cNvSpPr>
            <a:spLocks noGrp="1"/>
          </p:cNvSpPr>
          <p:nvPr>
            <p:ph type="title"/>
          </p:nvPr>
        </p:nvSpPr>
        <p:spPr>
          <a:xfrm>
            <a:off x="3779838" y="260350"/>
            <a:ext cx="5043487" cy="654050"/>
          </a:xfrm>
          <a:prstGeom prst="rect">
            <a:avLst/>
          </a:prstGeom>
          <a:noFill/>
          <a:ln w="9525">
            <a:noFill/>
          </a:ln>
        </p:spPr>
        <p:txBody>
          <a:bodyPr anchor="ctr"/>
          <a:lstStyle/>
          <a:p>
            <a:pPr lvl="0"/>
            <a:r>
              <a:rPr lang="en-US" altLang="zh-CN" dirty="0"/>
              <a:t>Photoshop</a:t>
            </a:r>
            <a:r>
              <a:rPr lang="zh-CN" altLang="en-US" dirty="0"/>
              <a:t>与</a:t>
            </a:r>
            <a:r>
              <a:rPr lang="en-US" altLang="zh-CN" dirty="0"/>
              <a:t>Flash</a:t>
            </a:r>
            <a:endParaRPr lang="en-US" altLang="zh-CN" dirty="0"/>
          </a:p>
        </p:txBody>
      </p:sp>
      <p:sp>
        <p:nvSpPr>
          <p:cNvPr id="9"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b="0">
                <a:solidFill>
                  <a:schemeClr val="tx1">
                    <a:tint val="75000"/>
                  </a:schemeClr>
                </a:solidFill>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0"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fontAlgn="auto">
              <a:spcBef>
                <a:spcPts val="0"/>
              </a:spcBef>
              <a:spcAft>
                <a:spcPts val="0"/>
              </a:spcAft>
              <a:defRPr sz="1200" b="0">
                <a:solidFill>
                  <a:schemeClr val="tx1">
                    <a:tint val="75000"/>
                  </a:schemeClr>
                </a:solidFill>
                <a:latin typeface="+mn-lt"/>
                <a:ea typeface="+mn-ea"/>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1"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b="0">
                <a:solidFill>
                  <a:srgbClr val="898989"/>
                </a:solidFill>
                <a:latin typeface="Calibri" panose="020F0502020204030204" pitchFamily="34" charset="0"/>
              </a:defRPr>
            </a:lvl1pPr>
          </a:lstStyle>
          <a:p>
            <a:pPr lvl="0" eaLnBrk="1" hangingPunct="1"/>
            <a:fld id="{9A0DB2DC-4C9A-4742-B13C-FB6460FD3503}" type="slidenum">
              <a:rPr lang="zh-CN" altLang="en-US" dirty="0"/>
            </a:fld>
            <a:endParaRPr lang="zh-CN" altLang="en-US" dirty="0"/>
          </a:p>
        </p:txBody>
      </p:sp>
      <p:pic>
        <p:nvPicPr>
          <p:cNvPr id="3" name="图片 2"/>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55576" y="262186"/>
            <a:ext cx="1280567" cy="652214"/>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r" rtl="0" eaLnBrk="0" fontAlgn="base" hangingPunct="0">
        <a:spcBef>
          <a:spcPct val="0"/>
        </a:spcBef>
        <a:spcAft>
          <a:spcPct val="0"/>
        </a:spcAft>
        <a:defRPr sz="2800">
          <a:solidFill>
            <a:schemeClr val="tx1"/>
          </a:solidFill>
          <a:latin typeface="+mj-lt"/>
          <a:ea typeface="+mj-ea"/>
          <a:cs typeface="+mj-cs"/>
        </a:defRPr>
      </a:lvl1pPr>
      <a:lvl2pPr algn="r" rtl="0" eaLnBrk="0" fontAlgn="base" hangingPunct="0">
        <a:spcBef>
          <a:spcPct val="0"/>
        </a:spcBef>
        <a:spcAft>
          <a:spcPct val="0"/>
        </a:spcAft>
        <a:defRPr sz="2800">
          <a:solidFill>
            <a:schemeClr val="tx1"/>
          </a:solidFill>
          <a:latin typeface="黑体" panose="02010609060101010101" pitchFamily="2" charset="-122"/>
          <a:ea typeface="黑体" panose="02010609060101010101" pitchFamily="2" charset="-122"/>
        </a:defRPr>
      </a:lvl2pPr>
      <a:lvl3pPr algn="r" rtl="0" eaLnBrk="0" fontAlgn="base" hangingPunct="0">
        <a:spcBef>
          <a:spcPct val="0"/>
        </a:spcBef>
        <a:spcAft>
          <a:spcPct val="0"/>
        </a:spcAft>
        <a:defRPr sz="2800">
          <a:solidFill>
            <a:schemeClr val="tx1"/>
          </a:solidFill>
          <a:latin typeface="黑体" panose="02010609060101010101" pitchFamily="2" charset="-122"/>
          <a:ea typeface="黑体" panose="02010609060101010101" pitchFamily="2" charset="-122"/>
        </a:defRPr>
      </a:lvl3pPr>
      <a:lvl4pPr algn="r" rtl="0" eaLnBrk="0" fontAlgn="base" hangingPunct="0">
        <a:spcBef>
          <a:spcPct val="0"/>
        </a:spcBef>
        <a:spcAft>
          <a:spcPct val="0"/>
        </a:spcAft>
        <a:defRPr sz="2800">
          <a:solidFill>
            <a:schemeClr val="tx1"/>
          </a:solidFill>
          <a:latin typeface="黑体" panose="02010609060101010101" pitchFamily="2" charset="-122"/>
          <a:ea typeface="黑体" panose="02010609060101010101" pitchFamily="2" charset="-122"/>
        </a:defRPr>
      </a:lvl4pPr>
      <a:lvl5pPr algn="r" rtl="0" eaLnBrk="0" fontAlgn="base" hangingPunct="0">
        <a:spcBef>
          <a:spcPct val="0"/>
        </a:spcBef>
        <a:spcAft>
          <a:spcPct val="0"/>
        </a:spcAft>
        <a:defRPr sz="2800">
          <a:solidFill>
            <a:schemeClr val="tx1"/>
          </a:solidFill>
          <a:latin typeface="黑体" panose="02010609060101010101" pitchFamily="2" charset="-122"/>
          <a:ea typeface="黑体" panose="02010609060101010101" pitchFamily="2" charset="-122"/>
        </a:defRPr>
      </a:lvl5pPr>
      <a:lvl6pPr marL="457200" algn="r" rtl="0" eaLnBrk="0" fontAlgn="base" hangingPunct="0">
        <a:spcBef>
          <a:spcPct val="0"/>
        </a:spcBef>
        <a:spcAft>
          <a:spcPct val="0"/>
        </a:spcAft>
        <a:defRPr sz="2800">
          <a:solidFill>
            <a:schemeClr val="tx1"/>
          </a:solidFill>
          <a:latin typeface="黑体" panose="02010609060101010101" pitchFamily="2" charset="-122"/>
          <a:ea typeface="黑体" panose="02010609060101010101" pitchFamily="2" charset="-122"/>
        </a:defRPr>
      </a:lvl6pPr>
      <a:lvl7pPr marL="914400" algn="r" rtl="0" eaLnBrk="0" fontAlgn="base" hangingPunct="0">
        <a:spcBef>
          <a:spcPct val="0"/>
        </a:spcBef>
        <a:spcAft>
          <a:spcPct val="0"/>
        </a:spcAft>
        <a:defRPr sz="2800">
          <a:solidFill>
            <a:schemeClr val="tx1"/>
          </a:solidFill>
          <a:latin typeface="黑体" panose="02010609060101010101" pitchFamily="2" charset="-122"/>
          <a:ea typeface="黑体" panose="02010609060101010101" pitchFamily="2" charset="-122"/>
        </a:defRPr>
      </a:lvl7pPr>
      <a:lvl8pPr marL="1371600" algn="r" rtl="0" eaLnBrk="0" fontAlgn="base" hangingPunct="0">
        <a:spcBef>
          <a:spcPct val="0"/>
        </a:spcBef>
        <a:spcAft>
          <a:spcPct val="0"/>
        </a:spcAft>
        <a:defRPr sz="2800">
          <a:solidFill>
            <a:schemeClr val="tx1"/>
          </a:solidFill>
          <a:latin typeface="黑体" panose="02010609060101010101" pitchFamily="2" charset="-122"/>
          <a:ea typeface="黑体" panose="02010609060101010101" pitchFamily="2" charset="-122"/>
        </a:defRPr>
      </a:lvl8pPr>
      <a:lvl9pPr marL="1828800" algn="r" rtl="0" eaLnBrk="0" fontAlgn="base" hangingPunct="0">
        <a:spcBef>
          <a:spcPct val="0"/>
        </a:spcBef>
        <a:spcAft>
          <a:spcPct val="0"/>
        </a:spcAft>
        <a:defRPr sz="2800">
          <a:solidFill>
            <a:schemeClr val="tx1"/>
          </a:solidFill>
          <a:latin typeface="黑体" panose="02010609060101010101" pitchFamily="2" charset="-122"/>
          <a:ea typeface="黑体" panose="02010609060101010101" pitchFamily="2" charset="-122"/>
        </a:defRPr>
      </a:lvl9pPr>
    </p:titleStyle>
    <p:bodyStyle>
      <a:lvl1pPr marL="342900" indent="-342900" algn="l" rtl="0" eaLnBrk="0" fontAlgn="base" hangingPunct="0">
        <a:spcBef>
          <a:spcPct val="20000"/>
        </a:spcBef>
        <a:spcAft>
          <a:spcPct val="0"/>
        </a:spcAft>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Font typeface="Wingdings" panose="05000000000000000000" pitchFamily="2" charset="2"/>
        <a:buChar char="p"/>
        <a:defRPr sz="2800">
          <a:solidFill>
            <a:schemeClr val="tx1"/>
          </a:solidFill>
          <a:latin typeface="+mn-lt"/>
          <a:ea typeface="+mn-ea"/>
        </a:defRPr>
      </a:lvl2pPr>
      <a:lvl3pPr marL="1143000" indent="-228600" algn="l" rtl="0" eaLnBrk="0" fontAlgn="base" hangingPunct="0">
        <a:spcBef>
          <a:spcPct val="20000"/>
        </a:spcBef>
        <a:spcAft>
          <a:spcPct val="0"/>
        </a:spcAft>
        <a:buFont typeface="Wingdings" panose="05000000000000000000" pitchFamily="2" charset="2"/>
        <a:buChar char="u"/>
        <a:defRPr sz="2400">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hyperlink" Target="..\vuejs&#35838;&#31243;&#28304;&#30721;&#31034;&#20363;\&#35838;&#31243;&#31034;&#20363;\ch04\&#12304;&#20363;4-1&#12305;%20&#28436;&#31034;&#30417;&#21548;&#20107;&#20214;.html" TargetMode="External"/><Relationship Id="rId2" Type="http://schemas.openxmlformats.org/officeDocument/2006/relationships/image" Target="../media/image6.jpeg"/><Relationship Id="rId1" Type="http://schemas.openxmlformats.org/officeDocument/2006/relationships/image" Target="../media/image5.jpe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8.png"/><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hyperlink" Target="..\vuejs&#35838;&#31243;&#28304;&#30721;&#31034;&#20363;\&#35838;&#31243;&#31034;&#20363;\ch04\&#12304;&#20363;4-2&#12305;%20&#28436;&#31034;&#26041;&#27861;&#20107;&#20214;&#22788;&#29702;&#22120;.html" TargetMode="External"/><Relationship Id="rId2" Type="http://schemas.openxmlformats.org/officeDocument/2006/relationships/image" Target="../media/image10.jpeg"/><Relationship Id="rId1" Type="http://schemas.openxmlformats.org/officeDocument/2006/relationships/image" Target="../media/image9.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12.png"/><Relationship Id="rId1"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jpe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hyperlink" Target="..\vuejs&#35838;&#31243;&#28304;&#30721;&#31034;&#20363;\&#35838;&#31243;&#31034;&#20363;\ch04\&#12304;&#20363;4-3&#12305;&#28436;&#31034;&#20869;&#32852;&#20107;&#20214;&#22788;&#29702;&#22120;.html" TargetMode="External"/><Relationship Id="rId2" Type="http://schemas.openxmlformats.org/officeDocument/2006/relationships/image" Target="../media/image15.jpeg"/><Relationship Id="rId1" Type="http://schemas.openxmlformats.org/officeDocument/2006/relationships/image" Target="../media/image14.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hyperlink" Target="..\vuejs&#35838;&#31243;&#28304;&#30721;&#31034;&#20363;\&#35838;&#31243;&#31034;&#20363;\ch04\event&#20107;&#20214;.html" TargetMode="External"/><Relationship Id="rId2" Type="http://schemas.openxmlformats.org/officeDocument/2006/relationships/image" Target="../media/image17.png"/><Relationship Id="rId1"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hyperlink" Target="../vuejs&#35838;&#31243;&#28304;&#30721;&#31034;&#20363;/&#35838;&#31243;&#31034;&#20363;/ch03/&#12304;&#20363;3-1&#12305;%20&#28436;&#31034;v-if%20&#25193;&#23637;2.html" TargetMode="External"/><Relationship Id="rId1" Type="http://schemas.openxmlformats.org/officeDocument/2006/relationships/hyperlink" Target="../vuejs&#35838;&#31243;&#28304;&#30721;&#31034;&#20363;/&#35838;&#31243;&#31034;&#20363;/ch01/&#12304;&#20363;1-2&#12305;&#25968;&#25454;&#25346;&#36733;&#21040;DOM.html" TargetMode="External"/></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hyperlink" Target="..\vuejs&#35838;&#31243;&#28304;&#30721;&#31034;&#20363;\&#35838;&#31243;&#31034;&#20363;\ch04\&#12304;&#20363;4-4&#12305;Vue&#20107;&#20214;&#22788;&#29702;&#22120;.html" TargetMode="External"/><Relationship Id="rId2" Type="http://schemas.openxmlformats.org/officeDocument/2006/relationships/hyperlink" Target="../vuejs&#35838;&#31243;&#28304;&#30721;&#31034;&#20363;/&#35838;&#31243;&#31034;&#20363;/ch03/&#12304;&#20363;3-1&#12305;%20&#28436;&#31034;v-if%20&#25193;&#23637;2.html" TargetMode="External"/><Relationship Id="rId1" Type="http://schemas.openxmlformats.org/officeDocument/2006/relationships/hyperlink" Target="../vuejs&#35838;&#31243;&#28304;&#30721;&#31034;&#20363;/&#35838;&#31243;&#31034;&#20363;/ch01/&#12304;&#20363;1-2&#12305;&#25968;&#25454;&#25346;&#36733;&#21040;DOM.htm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vuejs&#35838;&#31243;&#28304;&#30721;&#31034;&#20363;\&#35838;&#31243;&#31034;&#20363;\ch04\prevent&#20462;&#39280;&#31526;.html"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hyperlink" Target="..\vuejs&#35838;&#31243;&#28304;&#30721;&#31034;&#20363;\&#35838;&#31243;&#31034;&#20363;\ch04\stop&#20462;&#39280;&#31526;.html" TargetMode="External"/><Relationship Id="rId1" Type="http://schemas.openxmlformats.org/officeDocument/2006/relationships/hyperlink" Target="..\vuejs&#35838;&#31243;&#28304;&#30721;&#31034;&#20363;\&#35838;&#31243;&#31034;&#20363;\ch04\prevent&#20462;&#39280;&#31526;.html" TargetMode="Externa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vuejs&#35838;&#31243;&#28304;&#30721;&#31034;&#20363;\&#35838;&#31243;&#31034;&#20363;\ch04\once&#20462;&#39280;&#31526;.htm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jpe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jpeg"/></Relationships>
</file>

<file path=ppt/slides/_rels/slide2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hyperlink" Target="..\vuejs&#35838;&#31243;&#28304;&#30721;&#31034;&#20363;\&#35838;&#31243;&#31034;&#20363;\ch04\&#12304;&#20363;4-6&#12305;&#30331;&#24405;&#39029;&#38754;&#65292;&#28436;&#31034;&#25353;&#38190;&#20107;&#20214;&#22788;&#29702;.html" TargetMode="External"/><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image" Target="../media/image20.jpe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jpe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jpe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jpe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hyperlink" Target="..\vuejs&#35838;&#31243;&#28304;&#30721;&#31034;&#20363;\&#35838;&#31243;&#31034;&#20363;\ch04\&#12304;&#20363;4-7&#12305;&#20107;&#20214;&#22788;&#29702;&#32508;&#21512;&#26696;&#20363;.html" TargetMode="External"/><Relationship Id="rId1" Type="http://schemas.openxmlformats.org/officeDocument/2006/relationships/image" Target="../media/image26.jpe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8.jpeg"/><Relationship Id="rId1" Type="http://schemas.openxmlformats.org/officeDocument/2006/relationships/image" Target="../media/image27.jpe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vuejs&#35838;&#31243;&#28304;&#30721;&#31034;&#20363;\&#35838;&#31243;&#31034;&#20363;\ch04\&#23454;&#39564;.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389890" y="833755"/>
            <a:ext cx="7772400" cy="1470025"/>
          </a:xfrm>
        </p:spPr>
        <p:txBody>
          <a:bodyPr/>
          <a:lstStyle/>
          <a:p>
            <a:pPr algn="ctr"/>
            <a:r>
              <a:rPr lang="zh-CN" altLang="en-US" sz="4800"/>
              <a:t>  </a:t>
            </a:r>
            <a:endParaRPr lang="zh-CN" altLang="en-US" sz="4800"/>
          </a:p>
        </p:txBody>
      </p:sp>
      <p:sp>
        <p:nvSpPr>
          <p:cNvPr id="4" name="Rectangle 4"/>
          <p:cNvSpPr>
            <a:spLocks noGrp="1"/>
          </p:cNvSpPr>
          <p:nvPr/>
        </p:nvSpPr>
        <p:spPr>
          <a:xfrm>
            <a:off x="-58420" y="2303463"/>
            <a:ext cx="6551613" cy="863600"/>
          </a:xfrm>
          <a:prstGeom prst="rect">
            <a:avLst/>
          </a:prstGeom>
          <a:noFill/>
          <a:ln w="9525">
            <a:noFill/>
          </a:ln>
        </p:spPr>
        <p:txBody>
          <a:bodyPr vert="horz" wrap="square" lIns="91440" tIns="45720" rIns="91440" bIns="45720" anchor="ctr"/>
          <a:lstStyle>
            <a:lvl1pPr algn="r" rtl="0" eaLnBrk="0" fontAlgn="base" hangingPunct="0">
              <a:spcBef>
                <a:spcPct val="0"/>
              </a:spcBef>
              <a:spcAft>
                <a:spcPct val="0"/>
              </a:spcAft>
              <a:defRPr sz="2800">
                <a:solidFill>
                  <a:schemeClr val="tx1"/>
                </a:solidFill>
                <a:latin typeface="+mj-lt"/>
                <a:ea typeface="+mj-ea"/>
                <a:cs typeface="+mj-cs"/>
              </a:defRPr>
            </a:lvl1pPr>
            <a:lvl2pPr algn="r" rtl="0" eaLnBrk="0" fontAlgn="base" hangingPunct="0">
              <a:spcBef>
                <a:spcPct val="0"/>
              </a:spcBef>
              <a:spcAft>
                <a:spcPct val="0"/>
              </a:spcAft>
              <a:defRPr sz="2800">
                <a:solidFill>
                  <a:schemeClr val="tx1"/>
                </a:solidFill>
                <a:latin typeface="黑体" panose="02010609060101010101" pitchFamily="2" charset="-122"/>
                <a:ea typeface="黑体" panose="02010609060101010101" pitchFamily="2" charset="-122"/>
              </a:defRPr>
            </a:lvl2pPr>
            <a:lvl3pPr algn="r" rtl="0" eaLnBrk="0" fontAlgn="base" hangingPunct="0">
              <a:spcBef>
                <a:spcPct val="0"/>
              </a:spcBef>
              <a:spcAft>
                <a:spcPct val="0"/>
              </a:spcAft>
              <a:defRPr sz="2800">
                <a:solidFill>
                  <a:schemeClr val="tx1"/>
                </a:solidFill>
                <a:latin typeface="黑体" panose="02010609060101010101" pitchFamily="2" charset="-122"/>
                <a:ea typeface="黑体" panose="02010609060101010101" pitchFamily="2" charset="-122"/>
              </a:defRPr>
            </a:lvl3pPr>
            <a:lvl4pPr algn="r" rtl="0" eaLnBrk="0" fontAlgn="base" hangingPunct="0">
              <a:spcBef>
                <a:spcPct val="0"/>
              </a:spcBef>
              <a:spcAft>
                <a:spcPct val="0"/>
              </a:spcAft>
              <a:defRPr sz="2800">
                <a:solidFill>
                  <a:schemeClr val="tx1"/>
                </a:solidFill>
                <a:latin typeface="黑体" panose="02010609060101010101" pitchFamily="2" charset="-122"/>
                <a:ea typeface="黑体" panose="02010609060101010101" pitchFamily="2" charset="-122"/>
              </a:defRPr>
            </a:lvl4pPr>
            <a:lvl5pPr algn="r" rtl="0" eaLnBrk="0" fontAlgn="base" hangingPunct="0">
              <a:spcBef>
                <a:spcPct val="0"/>
              </a:spcBef>
              <a:spcAft>
                <a:spcPct val="0"/>
              </a:spcAft>
              <a:defRPr sz="2800">
                <a:solidFill>
                  <a:schemeClr val="tx1"/>
                </a:solidFill>
                <a:latin typeface="黑体" panose="02010609060101010101" pitchFamily="2" charset="-122"/>
                <a:ea typeface="黑体" panose="02010609060101010101" pitchFamily="2" charset="-122"/>
              </a:defRPr>
            </a:lvl5pPr>
            <a:lvl6pPr marL="457200" algn="r" rtl="0" eaLnBrk="0" fontAlgn="base" hangingPunct="0">
              <a:spcBef>
                <a:spcPct val="0"/>
              </a:spcBef>
              <a:spcAft>
                <a:spcPct val="0"/>
              </a:spcAft>
              <a:defRPr sz="2800">
                <a:solidFill>
                  <a:schemeClr val="tx1"/>
                </a:solidFill>
                <a:latin typeface="黑体" panose="02010609060101010101" pitchFamily="2" charset="-122"/>
                <a:ea typeface="黑体" panose="02010609060101010101" pitchFamily="2" charset="-122"/>
              </a:defRPr>
            </a:lvl6pPr>
            <a:lvl7pPr marL="914400" algn="r" rtl="0" eaLnBrk="0" fontAlgn="base" hangingPunct="0">
              <a:spcBef>
                <a:spcPct val="0"/>
              </a:spcBef>
              <a:spcAft>
                <a:spcPct val="0"/>
              </a:spcAft>
              <a:defRPr sz="2800">
                <a:solidFill>
                  <a:schemeClr val="tx1"/>
                </a:solidFill>
                <a:latin typeface="黑体" panose="02010609060101010101" pitchFamily="2" charset="-122"/>
                <a:ea typeface="黑体" panose="02010609060101010101" pitchFamily="2" charset="-122"/>
              </a:defRPr>
            </a:lvl7pPr>
            <a:lvl8pPr marL="1371600" algn="r" rtl="0" eaLnBrk="0" fontAlgn="base" hangingPunct="0">
              <a:spcBef>
                <a:spcPct val="0"/>
              </a:spcBef>
              <a:spcAft>
                <a:spcPct val="0"/>
              </a:spcAft>
              <a:defRPr sz="2800">
                <a:solidFill>
                  <a:schemeClr val="tx1"/>
                </a:solidFill>
                <a:latin typeface="黑体" panose="02010609060101010101" pitchFamily="2" charset="-122"/>
                <a:ea typeface="黑体" panose="02010609060101010101" pitchFamily="2" charset="-122"/>
              </a:defRPr>
            </a:lvl8pPr>
            <a:lvl9pPr marL="1828800" algn="r" rtl="0" eaLnBrk="0" fontAlgn="base" hangingPunct="0">
              <a:spcBef>
                <a:spcPct val="0"/>
              </a:spcBef>
              <a:spcAft>
                <a:spcPct val="0"/>
              </a:spcAft>
              <a:defRPr sz="2800">
                <a:solidFill>
                  <a:schemeClr val="tx1"/>
                </a:solidFill>
                <a:latin typeface="黑体" panose="02010609060101010101" pitchFamily="2" charset="-122"/>
                <a:ea typeface="黑体" panose="02010609060101010101" pitchFamily="2" charset="-122"/>
              </a:defRPr>
            </a:lvl9pPr>
          </a:lstStyle>
          <a:p>
            <a:pPr algn="ctr"/>
            <a:r>
              <a:rPr lang="en-US" altLang="zh-CN" sz="4000" b="1" dirty="0">
                <a:ea typeface="+mj-lt"/>
                <a:cs typeface="+mj-lt"/>
                <a:sym typeface="+mn-ea"/>
              </a:rPr>
              <a:t>     </a:t>
            </a:r>
            <a:r>
              <a:rPr lang="zh-CN" altLang="en-US" sz="4000" dirty="0">
                <a:ea typeface="+mj-lt"/>
                <a:cs typeface="+mj-lt"/>
                <a:sym typeface="+mn-ea"/>
              </a:rPr>
              <a:t>第</a:t>
            </a:r>
            <a:r>
              <a:rPr lang="en-US" altLang="zh-CN" sz="4000" dirty="0">
                <a:ea typeface="+mj-lt"/>
                <a:cs typeface="+mj-lt"/>
                <a:sym typeface="+mn-ea"/>
              </a:rPr>
              <a:t>4</a:t>
            </a:r>
            <a:r>
              <a:rPr lang="zh-CN" altLang="en-US" sz="4000" dirty="0">
                <a:ea typeface="+mj-lt"/>
                <a:cs typeface="+mj-lt"/>
                <a:sym typeface="+mn-ea"/>
              </a:rPr>
              <a:t>章 </a:t>
            </a:r>
            <a:r>
              <a:rPr lang="en-US" altLang="zh-CN" sz="4000">
                <a:ea typeface="+mj-lt"/>
                <a:cs typeface="+mj-lt"/>
                <a:sym typeface="+mn-ea"/>
              </a:rPr>
              <a:t>Vue</a:t>
            </a:r>
            <a:r>
              <a:rPr lang="zh-CN" altLang="en-US" sz="4000">
                <a:ea typeface="+mj-lt"/>
                <a:cs typeface="+mj-lt"/>
                <a:sym typeface="+mn-ea"/>
              </a:rPr>
              <a:t>事件处理</a:t>
            </a:r>
            <a:endParaRPr sz="4000" b="1" dirty="0">
              <a:ea typeface="+mj-lt"/>
              <a:cs typeface="+mj-lt"/>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课程内容</a:t>
            </a:r>
            <a:endParaRPr lang="zh-CN" altLang="en-US"/>
          </a:p>
        </p:txBody>
      </p:sp>
      <p:sp>
        <p:nvSpPr>
          <p:cNvPr id="3" name="内容占位符 2"/>
          <p:cNvSpPr>
            <a:spLocks noGrp="1"/>
          </p:cNvSpPr>
          <p:nvPr>
            <p:ph idx="1"/>
          </p:nvPr>
        </p:nvSpPr>
        <p:spPr/>
        <p:txBody>
          <a:bodyPr/>
          <a:lstStyle/>
          <a:p>
            <a:r>
              <a:rPr lang="en-US" altLang="zh-CN"/>
              <a:t>Vue</a:t>
            </a:r>
            <a:r>
              <a:rPr lang="zh-CN" altLang="en-US"/>
              <a:t>事件处理器</a:t>
            </a:r>
            <a:endParaRPr lang="zh-CN" altLang="en-US"/>
          </a:p>
          <a:p>
            <a:r>
              <a:rPr lang="zh-CN" altLang="en-US"/>
              <a:t>方法事件处理器</a:t>
            </a:r>
            <a:endParaRPr lang="zh-CN" altLang="en-US"/>
          </a:p>
          <a:p>
            <a:r>
              <a:rPr lang="zh-CN" altLang="en-US"/>
              <a:t>内联事件处理器</a:t>
            </a:r>
            <a:endParaRPr lang="zh-CN" altLang="en-US"/>
          </a:p>
          <a:p>
            <a:r>
              <a:rPr lang="zh-CN" altLang="en-US"/>
              <a:t>事件修饰符</a:t>
            </a:r>
            <a:endParaRPr lang="zh-CN" altLang="en-US"/>
          </a:p>
          <a:p>
            <a:r>
              <a:rPr lang="zh-CN" altLang="en-US"/>
              <a:t>按键修饰符</a:t>
            </a:r>
            <a:endParaRPr lang="zh-CN" altLang="en-US"/>
          </a:p>
          <a:p>
            <a:r>
              <a:rPr lang="zh-CN" altLang="en-US"/>
              <a:t>综合案例</a:t>
            </a:r>
            <a:endParaRPr lang="zh-CN" alt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事件的</a:t>
            </a:r>
            <a:r>
              <a:rPr lang="zh-CN" altLang="en-US"/>
              <a:t>定义</a:t>
            </a:r>
            <a:endParaRPr lang="zh-CN" altLang="en-US"/>
          </a:p>
        </p:txBody>
      </p:sp>
      <p:pic>
        <p:nvPicPr>
          <p:cNvPr id="10" name="Picture 7" descr="总结小人"/>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6195" y="1988820"/>
            <a:ext cx="2924810" cy="4250055"/>
          </a:xfrm>
          <a:prstGeom prst="rect">
            <a:avLst/>
          </a:prstGeom>
          <a:noFill/>
          <a:ln>
            <a:noFill/>
          </a:ln>
          <a:effectLst>
            <a:softEdge rad="317500"/>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组合 4"/>
          <p:cNvGrpSpPr/>
          <p:nvPr/>
        </p:nvGrpSpPr>
        <p:grpSpPr bwMode="auto">
          <a:xfrm>
            <a:off x="2987675" y="1196340"/>
            <a:ext cx="5732145" cy="5043170"/>
            <a:chOff x="3403597" y="2536314"/>
            <a:chExt cx="5040490" cy="4519128"/>
          </a:xfrm>
        </p:grpSpPr>
        <p:sp>
          <p:nvSpPr>
            <p:cNvPr id="19" name="圆角矩形标注 11"/>
            <p:cNvSpPr/>
            <p:nvPr/>
          </p:nvSpPr>
          <p:spPr bwMode="auto">
            <a:xfrm rot="5400000">
              <a:off x="3664278" y="2275633"/>
              <a:ext cx="4519128" cy="5040490"/>
            </a:xfrm>
            <a:prstGeom prst="wedgeRoundRectCallout">
              <a:avLst/>
            </a:prstGeom>
            <a:noFill/>
            <a:ln w="28575" cap="flat" cmpd="sng" algn="ctr">
              <a:solidFill>
                <a:schemeClr val="bg1">
                  <a:lumMod val="8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buFont typeface="Arial" panose="020B0604020202020204" pitchFamily="34" charset="0"/>
                <a:buNone/>
                <a:defRPr/>
              </a:pPr>
              <a:endParaRPr lang="zh-CN" altLang="en-US"/>
            </a:p>
          </p:txBody>
        </p:sp>
        <p:sp>
          <p:nvSpPr>
            <p:cNvPr id="20" name="矩形 5"/>
            <p:cNvSpPr>
              <a:spLocks noChangeArrowheads="1"/>
            </p:cNvSpPr>
            <p:nvPr/>
          </p:nvSpPr>
          <p:spPr bwMode="auto">
            <a:xfrm>
              <a:off x="3541514" y="2833316"/>
              <a:ext cx="4598717" cy="3711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50000"/>
                </a:lnSpc>
              </a:pPr>
              <a:r>
                <a:rPr lang="zh-CN" altLang="en-US" sz="2000" b="0" dirty="0">
                  <a:solidFill>
                    <a:srgbClr val="0070C0"/>
                  </a:solidFill>
                  <a:latin typeface="Calibri" panose="020F0502020204030204" pitchFamily="34" charset="0"/>
                </a:rPr>
                <a:t>事件</a:t>
              </a:r>
              <a:r>
                <a:rPr lang="zh-CN" altLang="en-US" sz="2000" b="0" dirty="0">
                  <a:latin typeface="Calibri" panose="020F0502020204030204" pitchFamily="34" charset="0"/>
                </a:rPr>
                <a:t>：在JavaScript中，事件处理是编程中用于响应用户操作或程序运行时发生的事件的核心机制</a:t>
              </a:r>
              <a:endParaRPr lang="zh-CN" altLang="en-US" sz="2000" b="0" dirty="0">
                <a:latin typeface="Calibri" panose="020F0502020204030204" pitchFamily="34" charset="0"/>
              </a:endParaRPr>
            </a:p>
            <a:p>
              <a:pPr algn="just">
                <a:lnSpc>
                  <a:spcPct val="150000"/>
                </a:lnSpc>
              </a:pPr>
              <a:r>
                <a:rPr lang="zh-CN" altLang="en-US" sz="2000" b="0" dirty="0">
                  <a:solidFill>
                    <a:srgbClr val="0070C0"/>
                  </a:solidFill>
                  <a:latin typeface="Calibri" panose="020F0502020204030204" pitchFamily="34" charset="0"/>
                </a:rPr>
                <a:t>事件监听器</a:t>
              </a:r>
              <a:r>
                <a:rPr lang="zh-CN" altLang="en-US" sz="2000" b="0" dirty="0">
                  <a:latin typeface="Calibri" panose="020F0502020204030204" pitchFamily="34" charset="0"/>
                </a:rPr>
                <a:t>：事件监听器是绑定到特定元素上的函数，用于在指定事件发生时执行。</a:t>
              </a:r>
              <a:endParaRPr lang="zh-CN" altLang="en-US" sz="2000" b="0" dirty="0">
                <a:latin typeface="Calibri" panose="020F0502020204030204" pitchFamily="34" charset="0"/>
              </a:endParaRPr>
            </a:p>
            <a:p>
              <a:pPr algn="just">
                <a:lnSpc>
                  <a:spcPct val="150000"/>
                </a:lnSpc>
              </a:pPr>
              <a:r>
                <a:rPr lang="zh-CN" altLang="en-US" sz="2000" b="0" dirty="0">
                  <a:solidFill>
                    <a:srgbClr val="0070C0"/>
                  </a:solidFill>
                  <a:latin typeface="Calibri" panose="020F0502020204030204" pitchFamily="34" charset="0"/>
                </a:rPr>
                <a:t>事件类型</a:t>
              </a:r>
              <a:r>
                <a:rPr lang="zh-CN" altLang="en-US" sz="2000" b="0" dirty="0">
                  <a:latin typeface="Calibri" panose="020F0502020204030204" pitchFamily="34" charset="0"/>
                </a:rPr>
                <a:t>：JavaScript 支持多种类型的事件，其中一些常见的事件类型包括：</a:t>
              </a:r>
              <a:endParaRPr lang="zh-CN" altLang="en-US" sz="2000" b="0" dirty="0">
                <a:latin typeface="Calibri" panose="020F0502020204030204" pitchFamily="34" charset="0"/>
              </a:endParaRPr>
            </a:p>
            <a:p>
              <a:pPr algn="just">
                <a:lnSpc>
                  <a:spcPct val="150000"/>
                </a:lnSpc>
              </a:pPr>
              <a:r>
                <a:rPr lang="zh-CN" altLang="en-US" sz="2000" b="0" dirty="0">
                  <a:latin typeface="Calibri" panose="020F0502020204030204" pitchFamily="34" charset="0"/>
                </a:rPr>
                <a:t>click、submit、blur、focus、</a:t>
              </a:r>
              <a:r>
                <a:rPr lang="en-US" altLang="zh-CN" sz="2000" b="0" dirty="0">
                  <a:latin typeface="Calibri" panose="020F0502020204030204" pitchFamily="34" charset="0"/>
                </a:rPr>
                <a:t>mouseenter</a:t>
              </a:r>
              <a:r>
                <a:rPr lang="zh-CN" altLang="en-US" sz="2000" b="0" dirty="0">
                  <a:latin typeface="Calibri" panose="020F0502020204030204" pitchFamily="34" charset="0"/>
                </a:rPr>
                <a:t>、</a:t>
              </a:r>
              <a:r>
                <a:rPr lang="en-US" altLang="zh-CN" sz="2000" b="0" dirty="0">
                  <a:latin typeface="Calibri" panose="020F0502020204030204" pitchFamily="34" charset="0"/>
                </a:rPr>
                <a:t>mouseout</a:t>
              </a:r>
              <a:endParaRPr lang="zh-CN" altLang="en-US" sz="2000" b="0" dirty="0">
                <a:latin typeface="Calibri" panose="020F0502020204030204" pitchFamily="34" charset="0"/>
              </a:endParaRPr>
            </a:p>
            <a:p>
              <a:pPr indent="0" algn="just">
                <a:lnSpc>
                  <a:spcPct val="150000"/>
                </a:lnSpc>
                <a:buFont typeface="Wingdings" panose="05000000000000000000" pitchFamily="2" charset="2"/>
                <a:buNone/>
              </a:pPr>
              <a:endParaRPr lang="zh-CN" altLang="en-US" sz="2000" b="0" dirty="0">
                <a:solidFill>
                  <a:srgbClr val="1369B2"/>
                </a:solidFill>
                <a:latin typeface="Calibri" panose="020F0502020204030204" pitchFamily="34" charset="0"/>
                <a:ea typeface="微软雅黑" panose="020B0503020204020204" charset="-122"/>
              </a:endParaRPr>
            </a:p>
          </p:txBody>
        </p:sp>
      </p:gr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事件的</a:t>
            </a:r>
            <a:r>
              <a:rPr lang="zh-CN" altLang="en-US"/>
              <a:t>定义</a:t>
            </a:r>
            <a:endParaRPr lang="zh-CN" altLang="en-US"/>
          </a:p>
        </p:txBody>
      </p:sp>
      <p:sp>
        <p:nvSpPr>
          <p:cNvPr id="3" name="矩形 5"/>
          <p:cNvSpPr>
            <a:spLocks noChangeArrowheads="1"/>
          </p:cNvSpPr>
          <p:nvPr/>
        </p:nvSpPr>
        <p:spPr bwMode="auto">
          <a:xfrm>
            <a:off x="899795" y="1196340"/>
            <a:ext cx="6611620" cy="1938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50000"/>
              </a:lnSpc>
            </a:pPr>
            <a:r>
              <a:rPr lang="zh-CN" altLang="en-US" sz="2000" b="0" dirty="0">
                <a:solidFill>
                  <a:srgbClr val="0070C0"/>
                </a:solidFill>
                <a:latin typeface="Calibri" panose="020F0502020204030204" pitchFamily="34" charset="0"/>
              </a:rPr>
              <a:t>事件类型</a:t>
            </a:r>
            <a:r>
              <a:rPr lang="zh-CN" altLang="en-US" sz="2000" b="0" dirty="0">
                <a:latin typeface="Calibri" panose="020F0502020204030204" pitchFamily="34" charset="0"/>
              </a:rPr>
              <a:t>：JavaScript 支持多种类型的事件，其中一些常见的事件类型包括：</a:t>
            </a:r>
            <a:endParaRPr lang="zh-CN" altLang="en-US" sz="2000" b="0" dirty="0">
              <a:latin typeface="Calibri" panose="020F0502020204030204" pitchFamily="34" charset="0"/>
            </a:endParaRPr>
          </a:p>
          <a:p>
            <a:pPr algn="just">
              <a:lnSpc>
                <a:spcPct val="150000"/>
              </a:lnSpc>
            </a:pPr>
            <a:r>
              <a:rPr lang="zh-CN" altLang="en-US" sz="2000" b="0" dirty="0">
                <a:latin typeface="Calibri" panose="020F0502020204030204" pitchFamily="34" charset="0"/>
              </a:rPr>
              <a:t>click、submit、blur、focus、</a:t>
            </a:r>
            <a:r>
              <a:rPr lang="en-US" altLang="zh-CN" sz="2000" b="0" dirty="0">
                <a:latin typeface="Calibri" panose="020F0502020204030204" pitchFamily="34" charset="0"/>
                <a:sym typeface="+mn-ea"/>
              </a:rPr>
              <a:t>mouseenter</a:t>
            </a:r>
            <a:r>
              <a:rPr lang="zh-CN" altLang="en-US" sz="2000" b="0" dirty="0">
                <a:latin typeface="Calibri" panose="020F0502020204030204" pitchFamily="34" charset="0"/>
                <a:sym typeface="+mn-ea"/>
              </a:rPr>
              <a:t>、</a:t>
            </a:r>
            <a:r>
              <a:rPr lang="en-US" altLang="zh-CN" sz="2000" b="0" dirty="0">
                <a:latin typeface="Calibri" panose="020F0502020204030204" pitchFamily="34" charset="0"/>
                <a:sym typeface="+mn-ea"/>
              </a:rPr>
              <a:t>mouseout</a:t>
            </a:r>
            <a:endParaRPr lang="zh-CN" altLang="en-US" sz="2000" b="0" dirty="0">
              <a:latin typeface="Calibri" panose="020F0502020204030204" pitchFamily="34" charset="0"/>
            </a:endParaRPr>
          </a:p>
          <a:p>
            <a:pPr indent="0" algn="just">
              <a:lnSpc>
                <a:spcPct val="150000"/>
              </a:lnSpc>
              <a:buFont typeface="Wingdings" panose="05000000000000000000" pitchFamily="2" charset="2"/>
              <a:buNone/>
            </a:pPr>
            <a:endParaRPr lang="zh-CN" altLang="en-US" sz="2000" b="0" dirty="0">
              <a:solidFill>
                <a:srgbClr val="1369B2"/>
              </a:solidFill>
              <a:latin typeface="Calibri" panose="020F0502020204030204" pitchFamily="34" charset="0"/>
              <a:ea typeface="微软雅黑" panose="020B0503020204020204" charset="-122"/>
            </a:endParaRPr>
          </a:p>
        </p:txBody>
      </p:sp>
      <p:pic>
        <p:nvPicPr>
          <p:cNvPr id="4" name="图片 3"/>
          <p:cNvPicPr>
            <a:picLocks noChangeAspect="1"/>
          </p:cNvPicPr>
          <p:nvPr/>
        </p:nvPicPr>
        <p:blipFill>
          <a:blip r:embed="rId1"/>
          <a:stretch>
            <a:fillRect/>
          </a:stretch>
        </p:blipFill>
        <p:spPr>
          <a:xfrm>
            <a:off x="827405" y="2852420"/>
            <a:ext cx="3395345" cy="3322955"/>
          </a:xfrm>
          <a:prstGeom prst="rect">
            <a:avLst/>
          </a:prstGeom>
        </p:spPr>
      </p:pic>
      <p:pic>
        <p:nvPicPr>
          <p:cNvPr id="6" name="图片 5"/>
          <p:cNvPicPr>
            <a:picLocks noChangeAspect="1"/>
          </p:cNvPicPr>
          <p:nvPr/>
        </p:nvPicPr>
        <p:blipFill>
          <a:blip r:embed="rId2"/>
          <a:stretch>
            <a:fillRect/>
          </a:stretch>
        </p:blipFill>
        <p:spPr>
          <a:xfrm>
            <a:off x="4932045" y="3284855"/>
            <a:ext cx="3632835" cy="2471420"/>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p:cNvSpPr>
          <p:nvPr>
            <p:ph type="title"/>
          </p:nvPr>
        </p:nvSpPr>
        <p:spPr>
          <a:xfrm>
            <a:off x="879475" y="260350"/>
            <a:ext cx="8229600" cy="792163"/>
          </a:xfrm>
        </p:spPr>
        <p:txBody>
          <a:bodyPr vert="horz" wrap="square" lIns="91440" tIns="45720" rIns="91440" bIns="45720" anchor="ctr"/>
          <a:lstStyle/>
          <a:p>
            <a:r>
              <a:rPr lang="en-US" dirty="0"/>
              <a:t>  Vue</a:t>
            </a:r>
            <a:r>
              <a:rPr lang="zh-CN" altLang="en-US" dirty="0"/>
              <a:t>事件处理器</a:t>
            </a:r>
            <a:endParaRPr lang="zh-CN" altLang="en-US" dirty="0"/>
          </a:p>
        </p:txBody>
      </p:sp>
      <p:sp>
        <p:nvSpPr>
          <p:cNvPr id="5123" name="Rectangle 3"/>
          <p:cNvSpPr>
            <a:spLocks noGrp="1"/>
          </p:cNvSpPr>
          <p:nvPr>
            <p:ph type="body" sz="half" idx="1"/>
          </p:nvPr>
        </p:nvSpPr>
        <p:spPr/>
        <p:txBody>
          <a:bodyPr vert="horz" wrap="square" lIns="91440" tIns="45720" rIns="91440" bIns="45720" anchor="t"/>
          <a:lstStyle/>
          <a:p>
            <a:endParaRPr lang="en-US" altLang="zh-CN" sz="2800" dirty="0"/>
          </a:p>
          <a:p>
            <a:endParaRPr lang="en-US" altLang="zh-CN" sz="2800" dirty="0"/>
          </a:p>
          <a:p>
            <a:endParaRPr lang="en-US" altLang="zh-CN" sz="2800" dirty="0"/>
          </a:p>
          <a:p>
            <a:endParaRPr lang="en-US" altLang="zh-CN" sz="2800" dirty="0"/>
          </a:p>
          <a:p>
            <a:pPr>
              <a:buNone/>
            </a:pPr>
            <a:endParaRPr lang="en-US" altLang="zh-CN" sz="2800" dirty="0"/>
          </a:p>
        </p:txBody>
      </p:sp>
      <p:sp>
        <p:nvSpPr>
          <p:cNvPr id="16" name="灯片编号占位符 6"/>
          <p:cNvSpPr txBox="1">
            <a:spLocks noGrp="1"/>
          </p:cNvSpPr>
          <p:nvPr>
            <p:ph type="sldNum" sz="quarter" idx="12"/>
          </p:nvPr>
        </p:nvSpPr>
        <p:spPr>
          <a:noFill/>
        </p:spPr>
        <p:txBody>
          <a:bodyPr vert="horz" lIns="91440" tIns="45720" rIns="91440" bIns="45720" rtlCol="0" anchor="ctr"/>
          <a:lstStyle>
            <a:lvl1pPr marL="0" lvl="0" indent="0" algn="ctr"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zh-CN" altLang="en-US" sz="1200" b="0" dirty="0">
                <a:solidFill>
                  <a:srgbClr val="898989"/>
                </a:solidFill>
                <a:latin typeface="Calibri" panose="020F0502020204030204" pitchFamily="34" charset="0"/>
              </a:rPr>
            </a:fld>
            <a:endParaRPr lang="zh-CN" altLang="en-US" sz="1200" b="0" dirty="0">
              <a:solidFill>
                <a:srgbClr val="898989"/>
              </a:solidFill>
              <a:latin typeface="Calibri" panose="020F0502020204030204" pitchFamily="34" charset="0"/>
            </a:endParaRPr>
          </a:p>
        </p:txBody>
      </p:sp>
      <p:sp>
        <p:nvSpPr>
          <p:cNvPr id="4" name="文本框 3"/>
          <p:cNvSpPr txBox="1"/>
          <p:nvPr/>
        </p:nvSpPr>
        <p:spPr>
          <a:xfrm>
            <a:off x="1063625" y="2852420"/>
            <a:ext cx="6663690" cy="553085"/>
          </a:xfrm>
          <a:prstGeom prst="rect">
            <a:avLst/>
          </a:prstGeom>
          <a:solidFill>
            <a:srgbClr val="F2F2F2"/>
          </a:solidFill>
        </p:spPr>
        <p:txBody>
          <a:bodyPr wrap="square" rtlCol="0">
            <a:spAutoFit/>
          </a:bodyPr>
          <a:lstStyle/>
          <a:p>
            <a:pPr lvl="1">
              <a:lnSpc>
                <a:spcPct val="150000"/>
              </a:lnSpc>
            </a:pPr>
            <a:r>
              <a:rPr lang="en-US" altLang="zh-CN" sz="2000" dirty="0">
                <a:solidFill>
                  <a:srgbClr val="595959"/>
                </a:solidFill>
                <a:latin typeface="微软雅黑" panose="020B0503020204020204" charset="-122"/>
                <a:ea typeface="微软雅黑" panose="020B0503020204020204" charset="-122"/>
                <a:cs typeface="+mn-ea"/>
              </a:rPr>
              <a:t>&lt;</a:t>
            </a:r>
            <a:r>
              <a:rPr lang="zh-CN" altLang="en-US" sz="2000" dirty="0">
                <a:solidFill>
                  <a:srgbClr val="595959"/>
                </a:solidFill>
                <a:latin typeface="微软雅黑" panose="020B0503020204020204" charset="-122"/>
                <a:ea typeface="微软雅黑" panose="020B0503020204020204" charset="-122"/>
                <a:cs typeface="+mn-ea"/>
              </a:rPr>
              <a:t>标签名 </a:t>
            </a:r>
            <a:r>
              <a:rPr lang="en-US" altLang="zh-CN" sz="2000" dirty="0">
                <a:solidFill>
                  <a:srgbClr val="595959"/>
                </a:solidFill>
                <a:latin typeface="微软雅黑" panose="020B0503020204020204" charset="-122"/>
                <a:ea typeface="微软雅黑" panose="020B0503020204020204" charset="-122"/>
                <a:cs typeface="+mn-ea"/>
              </a:rPr>
              <a:t>v-on:</a:t>
            </a:r>
            <a:r>
              <a:rPr lang="zh-CN" altLang="en-US" sz="2000" dirty="0">
                <a:solidFill>
                  <a:srgbClr val="595959"/>
                </a:solidFill>
                <a:latin typeface="微软雅黑" panose="020B0503020204020204" charset="-122"/>
                <a:ea typeface="微软雅黑" panose="020B0503020204020204" charset="-122"/>
                <a:cs typeface="+mn-ea"/>
              </a:rPr>
              <a:t>事件名</a:t>
            </a:r>
            <a:r>
              <a:rPr lang="en-US" altLang="zh-CN" sz="2000" dirty="0">
                <a:solidFill>
                  <a:srgbClr val="595959"/>
                </a:solidFill>
                <a:latin typeface="微软雅黑" panose="020B0503020204020204" charset="-122"/>
                <a:ea typeface="微软雅黑" panose="020B0503020204020204" charset="-122"/>
                <a:cs typeface="+mn-ea"/>
              </a:rPr>
              <a:t>="</a:t>
            </a:r>
            <a:r>
              <a:rPr lang="zh-CN" altLang="en-US" sz="2000" dirty="0">
                <a:solidFill>
                  <a:srgbClr val="595959"/>
                </a:solidFill>
                <a:latin typeface="微软雅黑" panose="020B0503020204020204" charset="-122"/>
                <a:ea typeface="微软雅黑" panose="020B0503020204020204" charset="-122"/>
                <a:cs typeface="+mn-ea"/>
              </a:rPr>
              <a:t>事件处理器</a:t>
            </a:r>
            <a:r>
              <a:rPr lang="en-US" altLang="zh-CN" sz="2000" dirty="0">
                <a:solidFill>
                  <a:srgbClr val="595959"/>
                </a:solidFill>
                <a:latin typeface="微软雅黑" panose="020B0503020204020204" charset="-122"/>
                <a:ea typeface="微软雅黑" panose="020B0503020204020204" charset="-122"/>
                <a:cs typeface="+mn-ea"/>
              </a:rPr>
              <a:t>"&gt;     &lt;/</a:t>
            </a:r>
            <a:r>
              <a:rPr lang="zh-CN" altLang="en-US" sz="2000" dirty="0">
                <a:solidFill>
                  <a:srgbClr val="595959"/>
                </a:solidFill>
                <a:latin typeface="微软雅黑" panose="020B0503020204020204" charset="-122"/>
                <a:ea typeface="微软雅黑" panose="020B0503020204020204" charset="-122"/>
                <a:cs typeface="+mn-ea"/>
              </a:rPr>
              <a:t>标签名</a:t>
            </a:r>
            <a:r>
              <a:rPr lang="en-US" altLang="zh-CN" sz="2000" dirty="0">
                <a:solidFill>
                  <a:srgbClr val="595959"/>
                </a:solidFill>
                <a:latin typeface="微软雅黑" panose="020B0503020204020204" charset="-122"/>
                <a:ea typeface="微软雅黑" panose="020B0503020204020204" charset="-122"/>
                <a:cs typeface="+mn-ea"/>
              </a:rPr>
              <a:t>&gt;</a:t>
            </a:r>
            <a:endParaRPr lang="en-US" altLang="zh-CN" sz="2000" dirty="0">
              <a:solidFill>
                <a:srgbClr val="595959"/>
              </a:solidFill>
              <a:latin typeface="微软雅黑" panose="020B0503020204020204" charset="-122"/>
              <a:ea typeface="微软雅黑" panose="020B0503020204020204" charset="-122"/>
              <a:cs typeface="+mn-ea"/>
            </a:endParaRPr>
          </a:p>
        </p:txBody>
      </p:sp>
      <p:sp>
        <p:nvSpPr>
          <p:cNvPr id="6" name="TextBox 35"/>
          <p:cNvSpPr txBox="1">
            <a:spLocks noChangeArrowheads="1"/>
          </p:cNvSpPr>
          <p:nvPr/>
        </p:nvSpPr>
        <p:spPr bwMode="auto">
          <a:xfrm>
            <a:off x="323850" y="1628775"/>
            <a:ext cx="8183245" cy="1043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b="0" dirty="0"/>
              <a:t>在Vue开发中，有时需要给</a:t>
            </a:r>
            <a:r>
              <a:rPr lang="zh-CN" altLang="en-US" sz="2000" b="0" dirty="0">
                <a:solidFill>
                  <a:srgbClr val="0070C0"/>
                </a:solidFill>
              </a:rPr>
              <a:t>DOM元素</a:t>
            </a:r>
            <a:r>
              <a:rPr lang="zh-CN" altLang="en-US" sz="2000" b="0" dirty="0"/>
              <a:t>绑定事件，从而利用事件实现交互效果，这时可以利用</a:t>
            </a:r>
            <a:r>
              <a:rPr lang="zh-CN" altLang="en-US" sz="2000" b="0" dirty="0">
                <a:solidFill>
                  <a:srgbClr val="0070C0"/>
                </a:solidFill>
              </a:rPr>
              <a:t>事件绑定指令v-on</a:t>
            </a:r>
            <a:r>
              <a:rPr lang="zh-CN" altLang="en-US" sz="2000" b="0" dirty="0"/>
              <a:t>来实现。v-on的语法格式如下。</a:t>
            </a:r>
            <a:endParaRPr lang="zh-CN" altLang="en-US" sz="2000" b="0" dirty="0"/>
          </a:p>
        </p:txBody>
      </p:sp>
      <p:sp>
        <p:nvSpPr>
          <p:cNvPr id="9" name="TextBox 35"/>
          <p:cNvSpPr txBox="1">
            <a:spLocks noChangeArrowheads="1"/>
          </p:cNvSpPr>
          <p:nvPr/>
        </p:nvSpPr>
        <p:spPr bwMode="auto">
          <a:xfrm>
            <a:off x="323850" y="3668395"/>
            <a:ext cx="8183245" cy="1505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b="0" dirty="0"/>
              <a:t>在上述语法格式中，事件名即DOM中的事件名，例如click、input、keyup等；事件处理器可以是</a:t>
            </a:r>
            <a:r>
              <a:rPr lang="zh-CN" altLang="en-US" sz="2000" b="0" dirty="0">
                <a:solidFill>
                  <a:srgbClr val="0070C0"/>
                </a:solidFill>
              </a:rPr>
              <a:t>方法名</a:t>
            </a:r>
            <a:r>
              <a:rPr lang="zh-CN" altLang="en-US" sz="2000" b="0" dirty="0"/>
              <a:t>或</a:t>
            </a:r>
            <a:r>
              <a:rPr lang="zh-CN" altLang="en-US" sz="2000" b="0" dirty="0">
                <a:solidFill>
                  <a:srgbClr val="0070C0"/>
                </a:solidFill>
              </a:rPr>
              <a:t>内联JavaScript语句</a:t>
            </a:r>
            <a:r>
              <a:rPr lang="zh-CN" altLang="en-US" sz="2000" b="0" dirty="0"/>
              <a:t>。另外，v-on还有简写形式，可以将“v-on:事件名”简写为“@事件名”。</a:t>
            </a:r>
            <a:endParaRPr lang="zh-CN" altLang="en-US" sz="2000" b="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 </a:t>
            </a:r>
            <a:r>
              <a:rPr lang="zh-CN" altLang="en-US"/>
              <a:t>监听事件</a:t>
            </a:r>
            <a:endParaRPr lang="zh-CN" altLang="en-US"/>
          </a:p>
        </p:txBody>
      </p:sp>
      <p:sp>
        <p:nvSpPr>
          <p:cNvPr id="3" name="内容占位符 2"/>
          <p:cNvSpPr>
            <a:spLocks noGrp="1"/>
          </p:cNvSpPr>
          <p:nvPr>
            <p:ph idx="1"/>
          </p:nvPr>
        </p:nvSpPr>
        <p:spPr/>
        <p:txBody>
          <a:bodyPr/>
          <a:lstStyle/>
          <a:p>
            <a:r>
              <a:rPr lang="zh-CN" sz="2800" kern="1200" dirty="0">
                <a:latin typeface="Calibri" panose="020F0502020204030204" pitchFamily="34" charset="0"/>
                <a:ea typeface="宋体" panose="02010600030101010101" pitchFamily="2" charset="-122"/>
              </a:rPr>
              <a:t>监听事件直接把事件写在v-on指令中</a:t>
            </a:r>
            <a:endParaRPr lang="zh-CN" sz="2800" kern="1200" dirty="0">
              <a:latin typeface="Calibri" panose="020F0502020204030204" pitchFamily="34" charset="0"/>
              <a:ea typeface="宋体" panose="02010600030101010101" pitchFamily="2" charset="-122"/>
            </a:endParaRPr>
          </a:p>
          <a:p>
            <a:r>
              <a:rPr lang="zh-CN" sz="2800" kern="1200" dirty="0">
                <a:latin typeface="Calibri" panose="020F0502020204030204" pitchFamily="34" charset="0"/>
                <a:ea typeface="宋体" panose="02010600030101010101" pitchFamily="2" charset="-122"/>
              </a:rPr>
              <a:t>演示监听事件</a:t>
            </a:r>
            <a:endParaRPr lang="zh-CN" sz="2800" kern="1200" dirty="0">
              <a:latin typeface="Calibri" panose="020F0502020204030204" pitchFamily="34" charset="0"/>
              <a:ea typeface="宋体" panose="02010600030101010101" pitchFamily="2" charset="-122"/>
            </a:endParaRPr>
          </a:p>
        </p:txBody>
      </p:sp>
      <p:pic>
        <p:nvPicPr>
          <p:cNvPr id="7" name="图片 6" descr="捕获30"/>
          <p:cNvPicPr>
            <a:picLocks noChangeAspect="1"/>
          </p:cNvPicPr>
          <p:nvPr/>
        </p:nvPicPr>
        <p:blipFill>
          <a:blip r:embed="rId1"/>
          <a:stretch>
            <a:fillRect/>
          </a:stretch>
        </p:blipFill>
        <p:spPr>
          <a:xfrm>
            <a:off x="373380" y="2400300"/>
            <a:ext cx="8397875" cy="3909695"/>
          </a:xfrm>
          <a:prstGeom prst="rect">
            <a:avLst/>
          </a:prstGeom>
        </p:spPr>
      </p:pic>
      <p:pic>
        <p:nvPicPr>
          <p:cNvPr id="8" name="图片 7" descr="捕获1"/>
          <p:cNvPicPr>
            <a:picLocks noChangeAspect="1"/>
          </p:cNvPicPr>
          <p:nvPr/>
        </p:nvPicPr>
        <p:blipFill>
          <a:blip r:embed="rId2"/>
          <a:stretch>
            <a:fillRect/>
          </a:stretch>
        </p:blipFill>
        <p:spPr>
          <a:xfrm>
            <a:off x="3984625" y="4542155"/>
            <a:ext cx="4633595" cy="1638300"/>
          </a:xfrm>
          <a:prstGeom prst="rect">
            <a:avLst/>
          </a:prstGeom>
        </p:spPr>
      </p:pic>
      <p:sp>
        <p:nvSpPr>
          <p:cNvPr id="4" name="文本框 3"/>
          <p:cNvSpPr txBox="1"/>
          <p:nvPr/>
        </p:nvSpPr>
        <p:spPr>
          <a:xfrm>
            <a:off x="7020560" y="1844675"/>
            <a:ext cx="1040765" cy="368300"/>
          </a:xfrm>
          <a:prstGeom prst="rect">
            <a:avLst/>
          </a:prstGeom>
          <a:noFill/>
        </p:spPr>
        <p:txBody>
          <a:bodyPr wrap="square" rtlCol="0">
            <a:spAutoFit/>
          </a:bodyPr>
          <a:p>
            <a:r>
              <a:rPr lang="zh-CN" altLang="en-US">
                <a:hlinkClick r:id="rId3" action="ppaction://hlinkfile"/>
              </a:rPr>
              <a:t>运行</a:t>
            </a:r>
            <a:endParaRPr lang="zh-CN" alt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p:cNvSpPr>
          <p:nvPr>
            <p:ph type="title"/>
          </p:nvPr>
        </p:nvSpPr>
        <p:spPr>
          <a:xfrm>
            <a:off x="879475" y="260350"/>
            <a:ext cx="8229600" cy="792163"/>
          </a:xfrm>
        </p:spPr>
        <p:txBody>
          <a:bodyPr vert="horz" wrap="square" lIns="91440" tIns="45720" rIns="91440" bIns="45720" anchor="ctr"/>
          <a:lstStyle/>
          <a:p>
            <a:r>
              <a:rPr lang="en-US" dirty="0"/>
              <a:t>  </a:t>
            </a:r>
            <a:r>
              <a:rPr lang="zh-CN" altLang="en-US" dirty="0"/>
              <a:t>方法事件处理器</a:t>
            </a:r>
            <a:endParaRPr lang="zh-CN" altLang="en-US" dirty="0"/>
          </a:p>
        </p:txBody>
      </p:sp>
      <p:sp>
        <p:nvSpPr>
          <p:cNvPr id="5123" name="Rectangle 3"/>
          <p:cNvSpPr>
            <a:spLocks noGrp="1"/>
          </p:cNvSpPr>
          <p:nvPr>
            <p:ph type="body" sz="half" idx="1"/>
          </p:nvPr>
        </p:nvSpPr>
        <p:spPr/>
        <p:txBody>
          <a:bodyPr vert="horz" wrap="square" lIns="91440" tIns="45720" rIns="91440" bIns="45720" anchor="t"/>
          <a:lstStyle/>
          <a:p>
            <a:endParaRPr lang="en-US" altLang="zh-CN" sz="2800" dirty="0"/>
          </a:p>
          <a:p>
            <a:endParaRPr lang="en-US" altLang="zh-CN" sz="2800" dirty="0"/>
          </a:p>
          <a:p>
            <a:endParaRPr lang="en-US" altLang="zh-CN" sz="2800" dirty="0"/>
          </a:p>
          <a:p>
            <a:endParaRPr lang="en-US" altLang="zh-CN" sz="2800" dirty="0"/>
          </a:p>
          <a:p>
            <a:pPr>
              <a:buNone/>
            </a:pPr>
            <a:endParaRPr lang="en-US" altLang="zh-CN" sz="2800" dirty="0"/>
          </a:p>
        </p:txBody>
      </p:sp>
      <p:sp>
        <p:nvSpPr>
          <p:cNvPr id="16" name="灯片编号占位符 6"/>
          <p:cNvSpPr txBox="1">
            <a:spLocks noGrp="1"/>
          </p:cNvSpPr>
          <p:nvPr>
            <p:ph type="sldNum" sz="quarter" idx="12"/>
          </p:nvPr>
        </p:nvSpPr>
        <p:spPr>
          <a:noFill/>
        </p:spPr>
        <p:txBody>
          <a:bodyPr vert="horz" lIns="91440" tIns="45720" rIns="91440" bIns="45720" rtlCol="0" anchor="ctr"/>
          <a:lstStyle>
            <a:lvl1pPr marL="0" lvl="0" indent="0" algn="ctr"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zh-CN" altLang="en-US" sz="1200" b="0" dirty="0">
                <a:solidFill>
                  <a:srgbClr val="898989"/>
                </a:solidFill>
                <a:latin typeface="Calibri" panose="020F0502020204030204" pitchFamily="34" charset="0"/>
              </a:rPr>
            </a:fld>
            <a:endParaRPr lang="zh-CN" altLang="en-US" sz="1200" b="0" dirty="0">
              <a:solidFill>
                <a:srgbClr val="898989"/>
              </a:solidFill>
              <a:latin typeface="Calibri" panose="020F0502020204030204" pitchFamily="34" charset="0"/>
            </a:endParaRPr>
          </a:p>
        </p:txBody>
      </p:sp>
      <p:sp>
        <p:nvSpPr>
          <p:cNvPr id="6" name="TextBox 35"/>
          <p:cNvSpPr txBox="1">
            <a:spLocks noChangeArrowheads="1"/>
          </p:cNvSpPr>
          <p:nvPr/>
        </p:nvSpPr>
        <p:spPr bwMode="auto">
          <a:xfrm>
            <a:off x="323850" y="1628775"/>
            <a:ext cx="8183245" cy="1043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b="0" dirty="0"/>
              <a:t>事件处理的逻辑往往比较复杂，所以使用</a:t>
            </a:r>
            <a:r>
              <a:rPr lang="en-US" altLang="zh-CN" sz="2000" b="0" dirty="0"/>
              <a:t>JS</a:t>
            </a:r>
            <a:r>
              <a:rPr lang="zh-CN" altLang="en-US" sz="2000" b="0" dirty="0"/>
              <a:t>表达式写在</a:t>
            </a:r>
            <a:r>
              <a:rPr lang="en-US" altLang="zh-CN" sz="2000" b="0" dirty="0"/>
              <a:t>v-on</a:t>
            </a:r>
            <a:r>
              <a:rPr lang="zh-CN" altLang="en-US" sz="2000" b="0" dirty="0"/>
              <a:t>指令中非常麻烦，</a:t>
            </a:r>
            <a:r>
              <a:rPr lang="en-US" altLang="zh-CN" sz="2000" b="0" dirty="0"/>
              <a:t>Vue</a:t>
            </a:r>
            <a:r>
              <a:rPr lang="zh-CN" altLang="en-US" sz="2000" b="0" dirty="0"/>
              <a:t>中可以使用方法来处理事件，即为</a:t>
            </a:r>
            <a:r>
              <a:rPr lang="zh-CN" altLang="en-US" sz="2000" b="0" dirty="0">
                <a:solidFill>
                  <a:srgbClr val="0070C0"/>
                </a:solidFill>
              </a:rPr>
              <a:t>方法事件处理器</a:t>
            </a:r>
            <a:r>
              <a:rPr lang="zh-CN" altLang="en-US" sz="2000" b="0" dirty="0"/>
              <a:t>。</a:t>
            </a:r>
            <a:endParaRPr lang="zh-CN" altLang="en-US" sz="2000" b="0" dirty="0"/>
          </a:p>
        </p:txBody>
      </p:sp>
      <p:sp>
        <p:nvSpPr>
          <p:cNvPr id="9" name="TextBox 35"/>
          <p:cNvSpPr txBox="1">
            <a:spLocks noChangeArrowheads="1"/>
          </p:cNvSpPr>
          <p:nvPr/>
        </p:nvSpPr>
        <p:spPr bwMode="auto">
          <a:xfrm>
            <a:off x="323850" y="2780665"/>
            <a:ext cx="8183245" cy="3265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b="0" dirty="0"/>
              <a:t>方法事件处理器的</a:t>
            </a:r>
            <a:r>
              <a:rPr lang="zh-CN" altLang="en-US" sz="2000" b="0" dirty="0"/>
              <a:t>优点：</a:t>
            </a:r>
            <a:endParaRPr lang="zh-CN" altLang="en-US" sz="2000" b="0" dirty="0"/>
          </a:p>
          <a:p>
            <a:pPr algn="just">
              <a:lnSpc>
                <a:spcPct val="150000"/>
              </a:lnSpc>
            </a:pPr>
            <a:r>
              <a:rPr lang="en-US" altLang="zh-CN" sz="2000" b="0" dirty="0"/>
              <a:t>1.逻辑复用</a:t>
            </a:r>
            <a:endParaRPr lang="en-US" altLang="zh-CN" sz="2000" b="0" dirty="0"/>
          </a:p>
          <a:p>
            <a:pPr algn="just">
              <a:lnSpc>
                <a:spcPct val="150000"/>
              </a:lnSpc>
            </a:pPr>
            <a:r>
              <a:rPr lang="en-US" altLang="zh-CN" sz="2000" b="0" dirty="0"/>
              <a:t>2.可读性</a:t>
            </a:r>
            <a:endParaRPr lang="en-US" altLang="zh-CN" sz="2000" b="0" dirty="0"/>
          </a:p>
          <a:p>
            <a:pPr algn="just">
              <a:lnSpc>
                <a:spcPct val="150000"/>
              </a:lnSpc>
            </a:pPr>
            <a:r>
              <a:rPr lang="en-US" altLang="zh-CN" sz="2000" b="0" dirty="0"/>
              <a:t>3.易于维护</a:t>
            </a:r>
            <a:endParaRPr lang="en-US" altLang="zh-CN" sz="2000" b="0" dirty="0"/>
          </a:p>
        </p:txBody>
      </p:sp>
      <p:pic>
        <p:nvPicPr>
          <p:cNvPr id="2" name="图片 1"/>
          <p:cNvPicPr>
            <a:picLocks noChangeAspect="1"/>
          </p:cNvPicPr>
          <p:nvPr/>
        </p:nvPicPr>
        <p:blipFill>
          <a:blip r:embed="rId1"/>
          <a:stretch>
            <a:fillRect/>
          </a:stretch>
        </p:blipFill>
        <p:spPr>
          <a:xfrm>
            <a:off x="4356100" y="4777105"/>
            <a:ext cx="3188970" cy="1515745"/>
          </a:xfrm>
          <a:prstGeom prst="rect">
            <a:avLst/>
          </a:prstGeom>
        </p:spPr>
      </p:pic>
      <p:pic>
        <p:nvPicPr>
          <p:cNvPr id="3" name="图片 2"/>
          <p:cNvPicPr>
            <a:picLocks noChangeAspect="1"/>
          </p:cNvPicPr>
          <p:nvPr/>
        </p:nvPicPr>
        <p:blipFill>
          <a:blip r:embed="rId2"/>
          <a:stretch>
            <a:fillRect/>
          </a:stretch>
        </p:blipFill>
        <p:spPr>
          <a:xfrm>
            <a:off x="3491865" y="2845435"/>
            <a:ext cx="4869815" cy="1758950"/>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方法事件处理器</a:t>
            </a:r>
            <a:endParaRPr lang="zh-CN" altLang="en-US"/>
          </a:p>
        </p:txBody>
      </p:sp>
      <p:sp>
        <p:nvSpPr>
          <p:cNvPr id="3" name="内容占位符 2"/>
          <p:cNvSpPr>
            <a:spLocks noGrp="1"/>
          </p:cNvSpPr>
          <p:nvPr>
            <p:ph idx="1"/>
          </p:nvPr>
        </p:nvSpPr>
        <p:spPr/>
        <p:txBody>
          <a:bodyPr/>
          <a:lstStyle/>
          <a:p>
            <a:r>
              <a:rPr kern="1200" dirty="0" err="1" smtClean="0">
                <a:latin typeface="Calibri" panose="020F0502020204030204" pitchFamily="34" charset="0"/>
                <a:ea typeface="宋体" panose="02010600030101010101" pitchFamily="2" charset="-122"/>
              </a:rPr>
              <a:t>可以使</a:t>
            </a:r>
            <a:r>
              <a:rPr kern="1200" dirty="0" smtClean="0">
                <a:latin typeface="Calibri" panose="020F0502020204030204" pitchFamily="34" charset="0"/>
                <a:ea typeface="宋体" panose="02010600030101010101" pitchFamily="2" charset="-122"/>
              </a:rPr>
              <a:t> </a:t>
            </a:r>
            <a:r>
              <a:rPr kern="1200" dirty="0">
                <a:latin typeface="Calibri" panose="020F0502020204030204" pitchFamily="34" charset="0"/>
                <a:ea typeface="宋体" panose="02010600030101010101" pitchFamily="2" charset="-122"/>
              </a:rPr>
              <a:t>v-on 接收一个定义的方法来调用。</a:t>
            </a:r>
            <a:endParaRPr kern="1200" dirty="0">
              <a:latin typeface="Calibri" panose="020F0502020204030204" pitchFamily="34" charset="0"/>
              <a:ea typeface="宋体" panose="02010600030101010101" pitchFamily="2" charset="-122"/>
            </a:endParaRPr>
          </a:p>
          <a:p>
            <a:r>
              <a:rPr lang="zh-CN" dirty="0">
                <a:latin typeface="Calibri" panose="020F0502020204030204" pitchFamily="34" charset="0"/>
                <a:sym typeface="+mn-ea"/>
              </a:rPr>
              <a:t>演示方法事件处理器</a:t>
            </a:r>
            <a:endParaRPr lang="zh-CN" b="0" dirty="0">
              <a:latin typeface="Calibri" panose="020F0502020204030204" pitchFamily="34" charset="0"/>
            </a:endParaRPr>
          </a:p>
          <a:p>
            <a:endParaRPr kern="1200" dirty="0">
              <a:latin typeface="Calibri" panose="020F0502020204030204" pitchFamily="34" charset="0"/>
              <a:ea typeface="宋体" panose="02010600030101010101" pitchFamily="2" charset="-122"/>
            </a:endParaRPr>
          </a:p>
        </p:txBody>
      </p:sp>
      <p:pic>
        <p:nvPicPr>
          <p:cNvPr id="7" name="图片 6" descr="捕获2"/>
          <p:cNvPicPr>
            <a:picLocks noChangeAspect="1"/>
          </p:cNvPicPr>
          <p:nvPr/>
        </p:nvPicPr>
        <p:blipFill>
          <a:blip r:embed="rId1"/>
          <a:stretch>
            <a:fillRect/>
          </a:stretch>
        </p:blipFill>
        <p:spPr>
          <a:xfrm>
            <a:off x="775335" y="2407920"/>
            <a:ext cx="5647055" cy="3772535"/>
          </a:xfrm>
          <a:prstGeom prst="rect">
            <a:avLst/>
          </a:prstGeom>
        </p:spPr>
      </p:pic>
      <p:pic>
        <p:nvPicPr>
          <p:cNvPr id="9" name="图片 8" descr="捕获32"/>
          <p:cNvPicPr>
            <a:picLocks noChangeAspect="1"/>
          </p:cNvPicPr>
          <p:nvPr/>
        </p:nvPicPr>
        <p:blipFill>
          <a:blip r:embed="rId2"/>
          <a:stretch>
            <a:fillRect/>
          </a:stretch>
        </p:blipFill>
        <p:spPr>
          <a:xfrm>
            <a:off x="4234180" y="2407920"/>
            <a:ext cx="4709795" cy="2506980"/>
          </a:xfrm>
          <a:prstGeom prst="rect">
            <a:avLst/>
          </a:prstGeom>
        </p:spPr>
      </p:pic>
      <p:sp>
        <p:nvSpPr>
          <p:cNvPr id="4" name="文本框 3"/>
          <p:cNvSpPr txBox="1"/>
          <p:nvPr/>
        </p:nvSpPr>
        <p:spPr>
          <a:xfrm>
            <a:off x="6948170" y="5661025"/>
            <a:ext cx="1040765" cy="368300"/>
          </a:xfrm>
          <a:prstGeom prst="rect">
            <a:avLst/>
          </a:prstGeom>
          <a:noFill/>
        </p:spPr>
        <p:txBody>
          <a:bodyPr wrap="square" rtlCol="0">
            <a:spAutoFit/>
          </a:bodyPr>
          <a:p>
            <a:r>
              <a:rPr lang="zh-CN" altLang="en-US">
                <a:hlinkClick r:id="rId3" action="ppaction://hlinkfile"/>
              </a:rPr>
              <a:t>运行</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p:cNvSpPr>
          <p:nvPr>
            <p:ph type="title"/>
          </p:nvPr>
        </p:nvSpPr>
        <p:spPr>
          <a:xfrm>
            <a:off x="879475" y="260350"/>
            <a:ext cx="8229600" cy="792163"/>
          </a:xfrm>
        </p:spPr>
        <p:txBody>
          <a:bodyPr vert="horz" wrap="square" lIns="91440" tIns="45720" rIns="91440" bIns="45720" anchor="ctr"/>
          <a:lstStyle/>
          <a:p>
            <a:r>
              <a:rPr lang="en-US" dirty="0"/>
              <a:t>  </a:t>
            </a:r>
            <a:r>
              <a:rPr lang="zh-CN" altLang="en-US" dirty="0"/>
              <a:t>事件传递</a:t>
            </a:r>
            <a:r>
              <a:rPr lang="zh-CN" altLang="en-US" dirty="0"/>
              <a:t>参数</a:t>
            </a:r>
            <a:endParaRPr lang="zh-CN" altLang="en-US" dirty="0"/>
          </a:p>
        </p:txBody>
      </p:sp>
      <p:sp>
        <p:nvSpPr>
          <p:cNvPr id="5123" name="Rectangle 3"/>
          <p:cNvSpPr>
            <a:spLocks noGrp="1"/>
          </p:cNvSpPr>
          <p:nvPr>
            <p:ph type="body" sz="half" idx="1"/>
          </p:nvPr>
        </p:nvSpPr>
        <p:spPr/>
        <p:txBody>
          <a:bodyPr vert="horz" wrap="square" lIns="91440" tIns="45720" rIns="91440" bIns="45720" anchor="t"/>
          <a:lstStyle/>
          <a:p>
            <a:endParaRPr lang="en-US" altLang="zh-CN" sz="2800" dirty="0"/>
          </a:p>
          <a:p>
            <a:endParaRPr lang="en-US" altLang="zh-CN" sz="2800" dirty="0"/>
          </a:p>
          <a:p>
            <a:endParaRPr lang="en-US" altLang="zh-CN" sz="2800" dirty="0"/>
          </a:p>
          <a:p>
            <a:endParaRPr lang="en-US" altLang="zh-CN" sz="2800" dirty="0"/>
          </a:p>
          <a:p>
            <a:pPr>
              <a:buNone/>
            </a:pPr>
            <a:endParaRPr lang="en-US" altLang="zh-CN" sz="2800" dirty="0"/>
          </a:p>
        </p:txBody>
      </p:sp>
      <p:sp>
        <p:nvSpPr>
          <p:cNvPr id="16" name="灯片编号占位符 6"/>
          <p:cNvSpPr txBox="1">
            <a:spLocks noGrp="1"/>
          </p:cNvSpPr>
          <p:nvPr>
            <p:ph type="sldNum" sz="quarter" idx="12"/>
          </p:nvPr>
        </p:nvSpPr>
        <p:spPr>
          <a:noFill/>
        </p:spPr>
        <p:txBody>
          <a:bodyPr vert="horz" lIns="91440" tIns="45720" rIns="91440" bIns="45720" rtlCol="0" anchor="ctr"/>
          <a:lstStyle>
            <a:lvl1pPr marL="0" lvl="0" indent="0" algn="ctr"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zh-CN" altLang="en-US" sz="1200" b="0" dirty="0">
                <a:solidFill>
                  <a:srgbClr val="898989"/>
                </a:solidFill>
                <a:latin typeface="Calibri" panose="020F0502020204030204" pitchFamily="34" charset="0"/>
              </a:rPr>
            </a:fld>
            <a:endParaRPr lang="zh-CN" altLang="en-US" sz="1200" b="0" dirty="0">
              <a:solidFill>
                <a:srgbClr val="898989"/>
              </a:solidFill>
              <a:latin typeface="Calibri" panose="020F0502020204030204" pitchFamily="34" charset="0"/>
            </a:endParaRPr>
          </a:p>
        </p:txBody>
      </p:sp>
      <p:sp>
        <p:nvSpPr>
          <p:cNvPr id="6" name="TextBox 35"/>
          <p:cNvSpPr txBox="1">
            <a:spLocks noChangeArrowheads="1"/>
          </p:cNvSpPr>
          <p:nvPr/>
        </p:nvSpPr>
        <p:spPr bwMode="auto">
          <a:xfrm>
            <a:off x="323850" y="1052830"/>
            <a:ext cx="8183245" cy="1043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b="0" dirty="0"/>
              <a:t>事件传递参数是一种常见的需求，它允许我们在触发事件时向事件处理函数传递额外的信息</a:t>
            </a:r>
            <a:endParaRPr lang="zh-CN" altLang="en-US" sz="2000" b="0" dirty="0"/>
          </a:p>
        </p:txBody>
      </p:sp>
      <p:sp>
        <p:nvSpPr>
          <p:cNvPr id="9" name="TextBox 35"/>
          <p:cNvSpPr txBox="1">
            <a:spLocks noChangeArrowheads="1"/>
          </p:cNvSpPr>
          <p:nvPr/>
        </p:nvSpPr>
        <p:spPr bwMode="auto">
          <a:xfrm>
            <a:off x="323850" y="2132965"/>
            <a:ext cx="8183245" cy="415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en-US" altLang="zh-CN" sz="2000" dirty="0"/>
              <a:t>什么时候Vue事件需要传递参数？</a:t>
            </a:r>
            <a:endParaRPr lang="en-US" altLang="zh-CN" sz="2000" dirty="0"/>
          </a:p>
          <a:p>
            <a:pPr algn="just">
              <a:lnSpc>
                <a:spcPct val="150000"/>
              </a:lnSpc>
            </a:pPr>
            <a:r>
              <a:rPr lang="en-US" altLang="zh-CN" sz="2000" b="0" dirty="0">
                <a:solidFill>
                  <a:srgbClr val="0070C0"/>
                </a:solidFill>
              </a:rPr>
              <a:t>动态行为</a:t>
            </a:r>
            <a:r>
              <a:rPr lang="en-US" altLang="zh-CN" sz="2000" b="0" dirty="0"/>
              <a:t>：当事件处理函数需要根据不同的参数执行不同的逻辑时，需要传递参数。例如，一个按钮点击事件可能需要根据按钮的ID或类型来执行不同的操作。</a:t>
            </a:r>
            <a:endParaRPr lang="en-US" altLang="zh-CN" sz="2000" b="0" dirty="0"/>
          </a:p>
          <a:p>
            <a:pPr algn="just">
              <a:lnSpc>
                <a:spcPct val="150000"/>
              </a:lnSpc>
            </a:pPr>
            <a:r>
              <a:rPr lang="en-US" altLang="zh-CN" sz="2000" b="0" dirty="0">
                <a:solidFill>
                  <a:srgbClr val="0070C0"/>
                </a:solidFill>
              </a:rPr>
              <a:t>数据传递</a:t>
            </a:r>
            <a:r>
              <a:rPr lang="en-US" altLang="zh-CN" sz="2000" b="0" dirty="0"/>
              <a:t>：在父子组件通信中，子组件可能需要通过事件向父组件传递数据。</a:t>
            </a:r>
            <a:endParaRPr lang="en-US" altLang="zh-CN" sz="2000" b="0" dirty="0"/>
          </a:p>
          <a:p>
            <a:pPr algn="just">
              <a:lnSpc>
                <a:spcPct val="150000"/>
              </a:lnSpc>
            </a:pPr>
            <a:r>
              <a:rPr lang="en-US" altLang="zh-CN" sz="2000" b="0" dirty="0">
                <a:solidFill>
                  <a:srgbClr val="0070C0"/>
                </a:solidFill>
              </a:rPr>
              <a:t>状态更新</a:t>
            </a:r>
            <a:r>
              <a:rPr lang="en-US" altLang="zh-CN" sz="2000" b="0" dirty="0"/>
              <a:t>：在某些情况下，事件触发时可能需要更新组件的状态或数据，而状态或数据的具体值则通过事件参数传递。</a:t>
            </a:r>
            <a:endParaRPr lang="en-US" altLang="zh-CN" sz="2000" b="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p:cNvSpPr>
          <p:nvPr>
            <p:ph type="title"/>
          </p:nvPr>
        </p:nvSpPr>
        <p:spPr>
          <a:xfrm>
            <a:off x="879475" y="260350"/>
            <a:ext cx="8229600" cy="792163"/>
          </a:xfrm>
        </p:spPr>
        <p:txBody>
          <a:bodyPr vert="horz" wrap="square" lIns="91440" tIns="45720" rIns="91440" bIns="45720" anchor="ctr"/>
          <a:lstStyle/>
          <a:p>
            <a:r>
              <a:rPr lang="en-US" dirty="0"/>
              <a:t>  </a:t>
            </a:r>
            <a:r>
              <a:rPr lang="zh-CN" altLang="en-US" dirty="0"/>
              <a:t>事件传递</a:t>
            </a:r>
            <a:r>
              <a:rPr lang="zh-CN" altLang="en-US" dirty="0"/>
              <a:t>参数</a:t>
            </a:r>
            <a:endParaRPr lang="zh-CN" altLang="en-US" dirty="0"/>
          </a:p>
        </p:txBody>
      </p:sp>
      <p:sp>
        <p:nvSpPr>
          <p:cNvPr id="5123" name="Rectangle 3"/>
          <p:cNvSpPr>
            <a:spLocks noGrp="1"/>
          </p:cNvSpPr>
          <p:nvPr>
            <p:ph type="body" sz="half" idx="1"/>
          </p:nvPr>
        </p:nvSpPr>
        <p:spPr/>
        <p:txBody>
          <a:bodyPr vert="horz" wrap="square" lIns="91440" tIns="45720" rIns="91440" bIns="45720" anchor="t"/>
          <a:lstStyle/>
          <a:p>
            <a:endParaRPr lang="en-US" altLang="zh-CN" sz="2800" dirty="0"/>
          </a:p>
          <a:p>
            <a:endParaRPr lang="en-US" altLang="zh-CN" sz="2800" dirty="0"/>
          </a:p>
          <a:p>
            <a:endParaRPr lang="en-US" altLang="zh-CN" sz="2800" dirty="0"/>
          </a:p>
          <a:p>
            <a:endParaRPr lang="en-US" altLang="zh-CN" sz="2800" dirty="0"/>
          </a:p>
          <a:p>
            <a:pPr>
              <a:buNone/>
            </a:pPr>
            <a:endParaRPr lang="en-US" altLang="zh-CN" sz="2800" dirty="0"/>
          </a:p>
        </p:txBody>
      </p:sp>
      <p:sp>
        <p:nvSpPr>
          <p:cNvPr id="16" name="灯片编号占位符 6"/>
          <p:cNvSpPr txBox="1">
            <a:spLocks noGrp="1"/>
          </p:cNvSpPr>
          <p:nvPr>
            <p:ph type="sldNum" sz="quarter" idx="12"/>
          </p:nvPr>
        </p:nvSpPr>
        <p:spPr>
          <a:noFill/>
        </p:spPr>
        <p:txBody>
          <a:bodyPr vert="horz" lIns="91440" tIns="45720" rIns="91440" bIns="45720" rtlCol="0" anchor="ctr"/>
          <a:lstStyle>
            <a:lvl1pPr marL="0" lvl="0" indent="0" algn="ctr"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zh-CN" altLang="en-US" sz="1200" b="0" dirty="0">
                <a:solidFill>
                  <a:srgbClr val="898989"/>
                </a:solidFill>
                <a:latin typeface="Calibri" panose="020F0502020204030204" pitchFamily="34" charset="0"/>
              </a:rPr>
            </a:fld>
            <a:endParaRPr lang="zh-CN" altLang="en-US" sz="1200" b="0" dirty="0">
              <a:solidFill>
                <a:srgbClr val="898989"/>
              </a:solidFill>
              <a:latin typeface="Calibri" panose="020F0502020204030204" pitchFamily="34" charset="0"/>
            </a:endParaRPr>
          </a:p>
        </p:txBody>
      </p:sp>
      <p:sp>
        <p:nvSpPr>
          <p:cNvPr id="9" name="TextBox 35"/>
          <p:cNvSpPr txBox="1">
            <a:spLocks noChangeArrowheads="1"/>
          </p:cNvSpPr>
          <p:nvPr/>
        </p:nvSpPr>
        <p:spPr bwMode="auto">
          <a:xfrm>
            <a:off x="323850" y="1124585"/>
            <a:ext cx="8183245" cy="5231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t>如何传递参数</a:t>
            </a:r>
            <a:r>
              <a:rPr lang="en-US" altLang="zh-CN" sz="2000" dirty="0"/>
              <a:t>？</a:t>
            </a:r>
            <a:endParaRPr lang="en-US" altLang="zh-CN" sz="2000" dirty="0"/>
          </a:p>
          <a:p>
            <a:pPr algn="just">
              <a:lnSpc>
                <a:spcPct val="150000"/>
              </a:lnSpc>
            </a:pPr>
            <a:r>
              <a:rPr lang="zh-CN" altLang="en-US" sz="2000" b="0" dirty="0"/>
              <a:t>在函数中定义形参，</a:t>
            </a:r>
            <a:r>
              <a:rPr lang="zh-CN" altLang="en-US" sz="2000" b="0" dirty="0"/>
              <a:t>然后直接传递参数</a:t>
            </a:r>
            <a:endParaRPr lang="zh-CN" altLang="en-US" sz="2000" b="0" dirty="0"/>
          </a:p>
          <a:p>
            <a:pPr algn="just">
              <a:lnSpc>
                <a:spcPct val="150000"/>
              </a:lnSpc>
            </a:pPr>
            <a:endParaRPr lang="zh-CN" altLang="en-US" sz="2000" b="0" dirty="0"/>
          </a:p>
          <a:p>
            <a:pPr algn="just">
              <a:lnSpc>
                <a:spcPct val="150000"/>
              </a:lnSpc>
            </a:pPr>
            <a:endParaRPr lang="zh-CN" altLang="en-US" sz="2000" b="0" dirty="0"/>
          </a:p>
          <a:p>
            <a:pPr algn="just">
              <a:lnSpc>
                <a:spcPct val="150000"/>
              </a:lnSpc>
            </a:pPr>
            <a:endParaRPr lang="en-US" altLang="zh-CN" sz="2000" b="0" dirty="0"/>
          </a:p>
          <a:p>
            <a:pPr algn="just">
              <a:lnSpc>
                <a:spcPct val="150000"/>
              </a:lnSpc>
            </a:pPr>
            <a:endParaRPr lang="en-US" altLang="zh-CN" sz="2000" b="0" dirty="0"/>
          </a:p>
        </p:txBody>
      </p:sp>
      <p:pic>
        <p:nvPicPr>
          <p:cNvPr id="2" name="图片 1"/>
          <p:cNvPicPr>
            <a:picLocks noChangeAspect="1"/>
          </p:cNvPicPr>
          <p:nvPr/>
        </p:nvPicPr>
        <p:blipFill>
          <a:blip r:embed="rId1"/>
          <a:stretch>
            <a:fillRect/>
          </a:stretch>
        </p:blipFill>
        <p:spPr>
          <a:xfrm>
            <a:off x="2195830" y="2924810"/>
            <a:ext cx="4705350" cy="939800"/>
          </a:xfrm>
          <a:prstGeom prst="rect">
            <a:avLst/>
          </a:prstGeom>
        </p:spPr>
      </p:pic>
      <p:pic>
        <p:nvPicPr>
          <p:cNvPr id="3" name="图片 2"/>
          <p:cNvPicPr>
            <a:picLocks noChangeAspect="1"/>
          </p:cNvPicPr>
          <p:nvPr/>
        </p:nvPicPr>
        <p:blipFill>
          <a:blip r:embed="rId2"/>
          <a:stretch>
            <a:fillRect/>
          </a:stretch>
        </p:blipFill>
        <p:spPr>
          <a:xfrm>
            <a:off x="2700020" y="4869180"/>
            <a:ext cx="3845560" cy="740410"/>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事件传递</a:t>
            </a:r>
            <a:r>
              <a:rPr lang="zh-CN" altLang="en-US"/>
              <a:t>参数</a:t>
            </a:r>
            <a:endParaRPr lang="zh-CN" altLang="en-US"/>
          </a:p>
        </p:txBody>
      </p:sp>
      <p:sp>
        <p:nvSpPr>
          <p:cNvPr id="3" name="内容占位符 2"/>
          <p:cNvSpPr>
            <a:spLocks noGrp="1"/>
          </p:cNvSpPr>
          <p:nvPr>
            <p:ph idx="1"/>
          </p:nvPr>
        </p:nvSpPr>
        <p:spPr/>
        <p:txBody>
          <a:bodyPr/>
          <a:lstStyle/>
          <a:p>
            <a:pPr marL="0" indent="0">
              <a:buNone/>
            </a:pPr>
            <a:endParaRPr lang="zh-CN" altLang="en-US" dirty="0"/>
          </a:p>
        </p:txBody>
      </p:sp>
      <p:pic>
        <p:nvPicPr>
          <p:cNvPr id="4" name="图片 3" descr="捕获4"/>
          <p:cNvPicPr>
            <a:picLocks noChangeAspect="1"/>
          </p:cNvPicPr>
          <p:nvPr/>
        </p:nvPicPr>
        <p:blipFill>
          <a:blip r:embed="rId1"/>
          <a:stretch>
            <a:fillRect/>
          </a:stretch>
        </p:blipFill>
        <p:spPr>
          <a:xfrm>
            <a:off x="323850" y="1148715"/>
            <a:ext cx="7608570" cy="456057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0" indent="0">
              <a:buNone/>
            </a:pPr>
            <a:endParaRPr lang="zh-CN" altLang="en-US"/>
          </a:p>
        </p:txBody>
      </p:sp>
      <p:pic>
        <p:nvPicPr>
          <p:cNvPr id="2" name="图片 1" descr="捕获5"/>
          <p:cNvPicPr>
            <a:picLocks noChangeAspect="1"/>
          </p:cNvPicPr>
          <p:nvPr/>
        </p:nvPicPr>
        <p:blipFill>
          <a:blip r:embed="rId1"/>
          <a:stretch>
            <a:fillRect/>
          </a:stretch>
        </p:blipFill>
        <p:spPr>
          <a:xfrm>
            <a:off x="788670" y="1268730"/>
            <a:ext cx="7026275" cy="1828800"/>
          </a:xfrm>
          <a:prstGeom prst="rect">
            <a:avLst/>
          </a:prstGeom>
        </p:spPr>
      </p:pic>
      <p:pic>
        <p:nvPicPr>
          <p:cNvPr id="7" name="图片 6" descr="捕获6"/>
          <p:cNvPicPr>
            <a:picLocks noChangeAspect="1"/>
          </p:cNvPicPr>
          <p:nvPr/>
        </p:nvPicPr>
        <p:blipFill>
          <a:blip r:embed="rId2"/>
          <a:stretch>
            <a:fillRect/>
          </a:stretch>
        </p:blipFill>
        <p:spPr>
          <a:xfrm>
            <a:off x="843915" y="3447415"/>
            <a:ext cx="4298315" cy="1645920"/>
          </a:xfrm>
          <a:prstGeom prst="rect">
            <a:avLst/>
          </a:prstGeom>
        </p:spPr>
      </p:pic>
      <p:sp>
        <p:nvSpPr>
          <p:cNvPr id="4" name="文本框 3"/>
          <p:cNvSpPr txBox="1"/>
          <p:nvPr/>
        </p:nvSpPr>
        <p:spPr>
          <a:xfrm>
            <a:off x="6948170" y="5661025"/>
            <a:ext cx="1040765" cy="368300"/>
          </a:xfrm>
          <a:prstGeom prst="rect">
            <a:avLst/>
          </a:prstGeom>
          <a:noFill/>
        </p:spPr>
        <p:txBody>
          <a:bodyPr wrap="square" rtlCol="0">
            <a:spAutoFit/>
          </a:bodyPr>
          <a:p>
            <a:r>
              <a:rPr lang="zh-CN" altLang="en-US">
                <a:hlinkClick r:id="rId3" action="ppaction://hlinkfile"/>
              </a:rPr>
              <a:t>运行</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6" name="TextBox 35"/>
          <p:cNvSpPr txBox="1">
            <a:spLocks noChangeArrowheads="1"/>
          </p:cNvSpPr>
          <p:nvPr/>
        </p:nvSpPr>
        <p:spPr bwMode="auto">
          <a:xfrm>
            <a:off x="179070" y="1268730"/>
            <a:ext cx="8727440" cy="4881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b="0" kern="0">
                <a:latin typeface="+mn-lt"/>
                <a:ea typeface="+mn-ea"/>
                <a:sym typeface="+mn-ea"/>
              </a:rPr>
              <a:t>在内联语句处理器中可以用特殊的变量</a:t>
            </a:r>
            <a:r>
              <a:rPr lang="zh-CN" altLang="en-US" sz="2000" b="0" kern="0">
                <a:solidFill>
                  <a:srgbClr val="0070C0"/>
                </a:solidFill>
                <a:latin typeface="+mn-lt"/>
                <a:ea typeface="+mn-ea"/>
                <a:sym typeface="+mn-ea"/>
              </a:rPr>
              <a:t> $event </a:t>
            </a:r>
            <a:r>
              <a:rPr lang="zh-CN" altLang="en-US" sz="2000" b="0" kern="0">
                <a:latin typeface="+mn-lt"/>
                <a:ea typeface="+mn-ea"/>
                <a:sym typeface="+mn-ea"/>
              </a:rPr>
              <a:t>把它传入方法，以此来访问</a:t>
            </a:r>
            <a:r>
              <a:rPr lang="zh-CN" altLang="en-US" sz="2000" b="0" kern="0">
                <a:solidFill>
                  <a:srgbClr val="0070C0"/>
                </a:solidFill>
                <a:latin typeface="+mn-lt"/>
                <a:ea typeface="+mn-ea"/>
                <a:sym typeface="+mn-ea"/>
              </a:rPr>
              <a:t>原生的 DOM 事件</a:t>
            </a:r>
            <a:r>
              <a:rPr lang="zh-CN" altLang="en-US" sz="2000" b="0" kern="0">
                <a:latin typeface="+mn-lt"/>
                <a:ea typeface="+mn-ea"/>
                <a:sym typeface="+mn-ea"/>
              </a:rPr>
              <a:t>。</a:t>
            </a:r>
            <a:endParaRPr lang="zh-CN" altLang="en-US" sz="2000" b="0" kern="0">
              <a:latin typeface="+mn-lt"/>
              <a:ea typeface="+mn-ea"/>
              <a:sym typeface="+mn-ea"/>
            </a:endParaRPr>
          </a:p>
          <a:p>
            <a:pPr lvl="1" algn="l">
              <a:lnSpc>
                <a:spcPct val="150000"/>
              </a:lnSpc>
            </a:pPr>
            <a:r>
              <a:rPr lang="zh-CN" altLang="en-US" sz="2000" b="0" kern="0">
                <a:latin typeface="+mn-lt"/>
                <a:ea typeface="+mn-ea"/>
                <a:sym typeface="+mn-ea"/>
              </a:rPr>
              <a:t>&lt;button v-on:click="funName('Vue.js', </a:t>
            </a:r>
            <a:r>
              <a:rPr lang="zh-CN" altLang="en-US" sz="2000" b="0" kern="0">
                <a:solidFill>
                  <a:srgbClr val="0070C0"/>
                </a:solidFill>
                <a:latin typeface="+mn-lt"/>
                <a:ea typeface="+mn-ea"/>
                <a:sym typeface="+mn-ea"/>
              </a:rPr>
              <a:t>$event</a:t>
            </a:r>
            <a:r>
              <a:rPr lang="zh-CN" altLang="en-US" sz="2000" b="0" kern="0">
                <a:latin typeface="+mn-lt"/>
                <a:ea typeface="+mn-ea"/>
                <a:sym typeface="+mn-ea"/>
              </a:rPr>
              <a:t>)"&gt;&lt;/button&gt;</a:t>
            </a:r>
            <a:endParaRPr lang="zh-CN" altLang="en-US" sz="2000" b="0" kern="0">
              <a:latin typeface="+mn-lt"/>
              <a:ea typeface="+mn-ea"/>
              <a:sym typeface="+mn-ea"/>
            </a:endParaRPr>
          </a:p>
          <a:p>
            <a:pPr lvl="1" algn="l">
              <a:lnSpc>
                <a:spcPct val="150000"/>
              </a:lnSpc>
            </a:pPr>
            <a:r>
              <a:rPr lang="zh-CN" altLang="en-US" sz="2000" b="0" kern="0">
                <a:latin typeface="+mn-lt"/>
                <a:ea typeface="+mn-ea"/>
              </a:rPr>
              <a:t>methods: {</a:t>
            </a:r>
            <a:endParaRPr lang="zh-CN" altLang="en-US" sz="2000" b="0" kern="0">
              <a:latin typeface="+mn-lt"/>
              <a:ea typeface="+mn-ea"/>
            </a:endParaRPr>
          </a:p>
          <a:p>
            <a:pPr lvl="1" indent="0" algn="l">
              <a:lnSpc>
                <a:spcPct val="150000"/>
              </a:lnSpc>
            </a:pPr>
            <a:r>
              <a:rPr lang="zh-CN" altLang="en-US" sz="2000" b="0" kern="0">
                <a:latin typeface="+mn-lt"/>
                <a:ea typeface="+mn-ea"/>
              </a:rPr>
              <a:t>funName: function (msg, </a:t>
            </a:r>
            <a:r>
              <a:rPr lang="zh-CN" altLang="en-US" sz="2000" b="0" kern="0">
                <a:solidFill>
                  <a:srgbClr val="0070C0"/>
                </a:solidFill>
                <a:latin typeface="+mn-lt"/>
                <a:ea typeface="+mn-ea"/>
              </a:rPr>
              <a:t>event</a:t>
            </a:r>
            <a:r>
              <a:rPr lang="zh-CN" altLang="en-US" sz="2000" b="0" kern="0">
                <a:latin typeface="+mn-lt"/>
                <a:ea typeface="+mn-ea"/>
              </a:rPr>
              <a:t>) {</a:t>
            </a:r>
            <a:endParaRPr lang="zh-CN" altLang="en-US" sz="2000" b="0" kern="0">
              <a:latin typeface="+mn-lt"/>
              <a:ea typeface="+mn-ea"/>
            </a:endParaRPr>
          </a:p>
          <a:p>
            <a:pPr lvl="1" indent="457200" algn="l">
              <a:lnSpc>
                <a:spcPct val="150000"/>
              </a:lnSpc>
            </a:pPr>
            <a:r>
              <a:rPr lang="zh-CN" altLang="en-US" sz="2000" b="0" kern="0">
                <a:solidFill>
                  <a:srgbClr val="0070C0"/>
                </a:solidFill>
                <a:latin typeface="+mn-lt"/>
                <a:ea typeface="+mn-ea"/>
              </a:rPr>
              <a:t>event.preventDefault()</a:t>
            </a:r>
            <a:r>
              <a:rPr lang="zh-CN" altLang="en-US" sz="2000" b="0" kern="0">
                <a:latin typeface="+mn-lt"/>
                <a:ea typeface="+mn-ea"/>
              </a:rPr>
              <a:t>}}</a:t>
            </a:r>
            <a:endParaRPr lang="zh-CN" altLang="en-US" sz="2000" b="0" kern="0">
              <a:latin typeface="+mn-lt"/>
              <a:ea typeface="+mn-ea"/>
              <a:sym typeface="+mn-ea"/>
            </a:endParaRPr>
          </a:p>
          <a:p>
            <a:pPr algn="just">
              <a:lnSpc>
                <a:spcPct val="150000"/>
              </a:lnSpc>
            </a:pPr>
            <a:r>
              <a:rPr lang="zh-CN" altLang="en-US" sz="2000" b="0" kern="0">
                <a:latin typeface="+mn-lt"/>
                <a:ea typeface="+mn-ea"/>
                <a:sym typeface="+mn-ea"/>
              </a:rPr>
              <a:t>原生DOM事件是指直接在浏览器DOM（文档对象模型）中触发的事件。这些事件是浏览器提供的如点击、滚动、键盘输入等。</a:t>
            </a:r>
            <a:endParaRPr lang="zh-CN" altLang="en-US" sz="2000" b="0" kern="0">
              <a:latin typeface="+mn-lt"/>
              <a:ea typeface="+mn-ea"/>
              <a:sym typeface="+mn-ea"/>
            </a:endParaRPr>
          </a:p>
          <a:p>
            <a:pPr algn="just">
              <a:lnSpc>
                <a:spcPct val="150000"/>
              </a:lnSpc>
            </a:pPr>
            <a:r>
              <a:rPr lang="zh-CN" altLang="en-US" sz="2000" b="0" kern="0">
                <a:latin typeface="+mn-lt"/>
                <a:ea typeface="+mn-ea"/>
                <a:sym typeface="+mn-ea"/>
              </a:rPr>
              <a:t>event对象包含了事件发生时与事件相关的所有信息</a:t>
            </a:r>
            <a:endParaRPr lang="zh-CN" altLang="en-US" sz="2000" b="0" kern="0">
              <a:latin typeface="+mn-lt"/>
              <a:ea typeface="+mn-ea"/>
              <a:sym typeface="+mn-ea"/>
            </a:endParaRPr>
          </a:p>
          <a:p>
            <a:pPr algn="just">
              <a:lnSpc>
                <a:spcPct val="150000"/>
              </a:lnSpc>
            </a:pPr>
            <a:endParaRPr lang="zh-CN" altLang="en-US" sz="2000" b="0" kern="0">
              <a:latin typeface="+mn-lt"/>
              <a:ea typeface="+mn-ea"/>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p:txBody>
          <a:bodyPr/>
          <a:lstStyle/>
          <a:p>
            <a:r>
              <a:rPr lang="zh-CN" altLang="en-US" sz="2800"/>
              <a:t>在事件传递</a:t>
            </a:r>
            <a:r>
              <a:rPr lang="zh-CN" altLang="en-US" sz="2800"/>
              <a:t>参数中可以用特殊的变量 $event 把它传入方法，以此来访问原生的 DOM 事件。 </a:t>
            </a:r>
            <a:endParaRPr lang="zh-CN" altLang="en-US" sz="2800"/>
          </a:p>
        </p:txBody>
      </p:sp>
      <p:pic>
        <p:nvPicPr>
          <p:cNvPr id="4" name="图片 3"/>
          <p:cNvPicPr>
            <a:picLocks noChangeAspect="1"/>
          </p:cNvPicPr>
          <p:nvPr/>
        </p:nvPicPr>
        <p:blipFill>
          <a:blip r:embed="rId1"/>
          <a:stretch>
            <a:fillRect/>
          </a:stretch>
        </p:blipFill>
        <p:spPr>
          <a:xfrm>
            <a:off x="687705" y="3644900"/>
            <a:ext cx="7472680" cy="1387475"/>
          </a:xfrm>
          <a:prstGeom prst="rect">
            <a:avLst/>
          </a:prstGeom>
        </p:spPr>
      </p:pic>
      <p:pic>
        <p:nvPicPr>
          <p:cNvPr id="7" name="图片 6"/>
          <p:cNvPicPr>
            <a:picLocks noChangeAspect="1"/>
          </p:cNvPicPr>
          <p:nvPr/>
        </p:nvPicPr>
        <p:blipFill>
          <a:blip r:embed="rId2"/>
          <a:stretch>
            <a:fillRect/>
          </a:stretch>
        </p:blipFill>
        <p:spPr>
          <a:xfrm>
            <a:off x="687705" y="2924810"/>
            <a:ext cx="7897495" cy="368300"/>
          </a:xfrm>
          <a:prstGeom prst="rect">
            <a:avLst/>
          </a:prstGeom>
        </p:spPr>
      </p:pic>
      <p:sp>
        <p:nvSpPr>
          <p:cNvPr id="6" name="文本框 5"/>
          <p:cNvSpPr txBox="1"/>
          <p:nvPr/>
        </p:nvSpPr>
        <p:spPr>
          <a:xfrm>
            <a:off x="6948170" y="5661025"/>
            <a:ext cx="1040765" cy="368300"/>
          </a:xfrm>
          <a:prstGeom prst="rect">
            <a:avLst/>
          </a:prstGeom>
          <a:noFill/>
        </p:spPr>
        <p:txBody>
          <a:bodyPr wrap="square" rtlCol="0">
            <a:spAutoFit/>
          </a:bodyPr>
          <a:p>
            <a:r>
              <a:rPr lang="zh-CN" altLang="en-US">
                <a:hlinkClick r:id="rId3" action="ppaction://hlinkfile"/>
              </a:rPr>
              <a:t>运行</a:t>
            </a:r>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hlinkClick r:id="rId1" action="ppaction://hlinkfile"/>
          </p:cNvPr>
          <p:cNvSpPr txBox="1"/>
          <p:nvPr/>
        </p:nvSpPr>
        <p:spPr>
          <a:xfrm>
            <a:off x="6948488" y="4346734"/>
            <a:ext cx="854869" cy="106680"/>
          </a:xfrm>
          <a:prstGeom prst="rect">
            <a:avLst/>
          </a:prstGeom>
          <a:noFill/>
        </p:spPr>
        <p:txBody>
          <a:bodyPr wrap="square" rtlCol="0">
            <a:spAutoFit/>
          </a:bodyPr>
          <a:lstStyle/>
          <a:p>
            <a:r>
              <a:rPr lang="zh-CN" altLang="en-US" sz="100">
                <a:hlinkClick r:id="rId2" action="ppaction://hlinkfile"/>
              </a:rPr>
              <a:t>运行</a:t>
            </a:r>
            <a:endParaRPr lang="zh-CN" altLang="en-US" sz="100"/>
          </a:p>
        </p:txBody>
      </p:sp>
      <p:sp>
        <p:nvSpPr>
          <p:cNvPr id="8" name="AutoShape 3"/>
          <p:cNvSpPr/>
          <p:nvPr/>
        </p:nvSpPr>
        <p:spPr>
          <a:xfrm>
            <a:off x="859790" y="1268730"/>
            <a:ext cx="6943725" cy="4825365"/>
          </a:xfrm>
          <a:prstGeom prst="roundRect">
            <a:avLst>
              <a:gd name="adj" fmla="val 5861"/>
            </a:avLst>
          </a:prstGeom>
          <a:gradFill rotWithShape="1">
            <a:gsLst>
              <a:gs pos="0">
                <a:srgbClr val="CCFFFF"/>
              </a:gs>
              <a:gs pos="100000">
                <a:srgbClr val="FFFFFF"/>
              </a:gs>
            </a:gsLst>
            <a:lin ang="5400000" scaled="1"/>
            <a:tileRect/>
          </a:gradFill>
          <a:ln w="9525" cap="flat" cmpd="sng">
            <a:solidFill>
              <a:srgbClr val="008080"/>
            </a:solidFill>
            <a:prstDash val="solid"/>
            <a:round/>
            <a:headEnd type="none" w="med" len="med"/>
            <a:tailEnd type="none" w="med" len="med"/>
          </a:ln>
        </p:spPr>
        <p:txBody>
          <a:bodyPr wrap="square" anchor="t">
            <a:noAutofit/>
          </a:bodyPr>
          <a:lstStyle/>
          <a:p>
            <a:pPr algn="l"/>
            <a:r>
              <a:rPr lang="en-US" altLang="zh-CN" sz="2000" b="0" dirty="0">
                <a:latin typeface="+mn-lt"/>
                <a:cs typeface="+mn-lt"/>
              </a:rPr>
              <a:t>&lt;div id="app-2"&gt;</a:t>
            </a:r>
            <a:endParaRPr lang="en-US" altLang="zh-CN" sz="2000" b="0" dirty="0">
              <a:latin typeface="+mn-lt"/>
              <a:cs typeface="+mn-lt"/>
            </a:endParaRPr>
          </a:p>
          <a:p>
            <a:pPr algn="l"/>
            <a:r>
              <a:rPr lang="en-US" altLang="zh-CN" sz="2400" dirty="0"/>
              <a:t>  </a:t>
            </a:r>
            <a:r>
              <a:rPr lang="en-US" altLang="zh-CN" sz="2000" b="0" dirty="0">
                <a:latin typeface="+mn-lt"/>
                <a:cs typeface="+mn-lt"/>
              </a:rPr>
              <a:t>  &lt;p&gt;{{ message }}&lt;/p&gt;</a:t>
            </a:r>
            <a:endParaRPr lang="en-US" altLang="zh-CN" sz="2000" b="0" dirty="0">
              <a:latin typeface="+mn-lt"/>
              <a:cs typeface="+mn-lt"/>
            </a:endParaRPr>
          </a:p>
          <a:p>
            <a:pPr algn="l"/>
            <a:r>
              <a:rPr lang="en-US" altLang="zh-CN" sz="2000" b="0" dirty="0">
                <a:latin typeface="+mn-lt"/>
                <a:cs typeface="+mn-lt"/>
              </a:rPr>
              <a:t>    &lt;button v-on:click="reverseMessage"&gt;逆转消息&lt;/button&gt;</a:t>
            </a:r>
            <a:endParaRPr lang="en-US" altLang="zh-CN" sz="2000" b="0" dirty="0">
              <a:latin typeface="+mn-lt"/>
              <a:cs typeface="+mn-lt"/>
            </a:endParaRPr>
          </a:p>
          <a:p>
            <a:pPr algn="l"/>
            <a:r>
              <a:rPr lang="en-US" altLang="zh-CN" sz="2000" b="0" dirty="0">
                <a:latin typeface="+mn-lt"/>
                <a:cs typeface="+mn-lt"/>
              </a:rPr>
              <a:t>    &lt;button v-on:click="message += ' ' +message"&gt;修改&lt;/button&gt;</a:t>
            </a:r>
            <a:endParaRPr lang="en-US" altLang="zh-CN" sz="2000" b="0" dirty="0">
              <a:latin typeface="+mn-lt"/>
              <a:cs typeface="+mn-lt"/>
            </a:endParaRPr>
          </a:p>
          <a:p>
            <a:pPr algn="l"/>
            <a:endParaRPr lang="en-US" altLang="zh-CN" sz="2000" b="0" dirty="0">
              <a:latin typeface="+mn-lt"/>
              <a:cs typeface="+mn-lt"/>
            </a:endParaRPr>
          </a:p>
          <a:p>
            <a:pPr algn="l"/>
            <a:r>
              <a:rPr lang="en-US" altLang="zh-CN" sz="2000" b="0" dirty="0">
                <a:latin typeface="+mn-lt"/>
                <a:cs typeface="+mn-lt"/>
              </a:rPr>
              <a:t>    &lt;!-- 在v-on 指令中，也可以直接调用Vue实例方法，$event 变量为原始DOM事件对象--&gt;</a:t>
            </a:r>
            <a:endParaRPr lang="en-US" altLang="zh-CN" sz="2000" b="0" dirty="0">
              <a:latin typeface="+mn-lt"/>
              <a:cs typeface="+mn-lt"/>
            </a:endParaRPr>
          </a:p>
          <a:p>
            <a:pPr algn="l"/>
            <a:r>
              <a:rPr lang="en-US" altLang="zh-CN" sz="2000" b="0" dirty="0">
                <a:latin typeface="+mn-lt"/>
                <a:cs typeface="+mn-lt"/>
              </a:rPr>
              <a:t>    &lt;button v-on:click="greet($event);"&gt;welcome&lt;/button&gt;</a:t>
            </a:r>
            <a:endParaRPr lang="en-US" altLang="zh-CN" sz="2000" b="0" dirty="0">
              <a:latin typeface="+mn-lt"/>
              <a:cs typeface="+mn-lt"/>
            </a:endParaRPr>
          </a:p>
          <a:p>
            <a:pPr algn="l"/>
            <a:endParaRPr lang="en-US" altLang="zh-CN" sz="2000" b="0" dirty="0">
              <a:latin typeface="+mn-lt"/>
              <a:cs typeface="+mn-lt"/>
            </a:endParaRPr>
          </a:p>
          <a:p>
            <a:pPr algn="l"/>
            <a:r>
              <a:rPr lang="en-US" altLang="zh-CN" sz="2000" b="0" dirty="0">
                <a:latin typeface="+mn-lt"/>
                <a:cs typeface="+mn-lt"/>
              </a:rPr>
              <a:t>    &lt;!-- 在事件属性中直接调用Vue实例方法--&gt;</a:t>
            </a:r>
            <a:endParaRPr lang="en-US" altLang="zh-CN" sz="2000" b="0" dirty="0">
              <a:latin typeface="+mn-lt"/>
              <a:cs typeface="+mn-lt"/>
            </a:endParaRPr>
          </a:p>
          <a:p>
            <a:pPr algn="l"/>
            <a:r>
              <a:rPr lang="en-US" altLang="zh-CN" sz="2000" b="0" dirty="0">
                <a:latin typeface="+mn-lt"/>
                <a:cs typeface="+mn-lt"/>
              </a:rPr>
              <a:t>    &lt;button onclick="app.greet(event);"&gt;welcome&lt;/button&gt;</a:t>
            </a:r>
            <a:endParaRPr lang="en-US" altLang="zh-CN" sz="2000" b="0" dirty="0">
              <a:latin typeface="+mn-lt"/>
              <a:cs typeface="+mn-lt"/>
            </a:endParaRPr>
          </a:p>
          <a:p>
            <a:pPr algn="l"/>
            <a:r>
              <a:rPr lang="en-US" altLang="zh-CN" sz="2000" b="0" dirty="0">
                <a:latin typeface="+mn-lt"/>
                <a:cs typeface="+mn-lt"/>
              </a:rPr>
              <a:t>&lt;/div&gt;</a:t>
            </a:r>
            <a:br>
              <a:rPr lang="en-US" altLang="zh-CN" sz="1600" dirty="0"/>
            </a:br>
            <a:endParaRPr lang="en-US" altLang="zh-CN" sz="1600" b="0" dirty="0">
              <a:latin typeface="Arial" panose="020B0604020202020204" pitchFamily="34" charset="0"/>
              <a:ea typeface="宋体" panose="02010600030101010101" pitchFamily="2"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000" fill="hold">
                                          <p:stCondLst>
                                            <p:cond delay="0"/>
                                          </p:stCondLst>
                                        </p:cTn>
                                        <p:tgtEl>
                                          <p:spTgt spid="8"/>
                                        </p:tgtEl>
                                        <p:attrNameLst>
                                          <p:attrName>style.visibility</p:attrName>
                                        </p:attrNameLst>
                                      </p:cBhvr>
                                      <p:to>
                                        <p:strVal val="visible"/>
                                      </p:to>
                                    </p:set>
                                    <p:anim calcmode="lin" valueType="num">
                                      <p:cBhvr additive="base">
                                        <p:cTn id="7" dur="1000" fill="hold"/>
                                        <p:tgtEl>
                                          <p:spTgt spid="8"/>
                                        </p:tgtEl>
                                        <p:attrNameLst>
                                          <p:attrName>ppt_x</p:attrName>
                                        </p:attrNameLst>
                                      </p:cBhvr>
                                      <p:tavLst>
                                        <p:tav tm="0">
                                          <p:val>
                                            <p:strVal val="0-#ppt_w/2"/>
                                          </p:val>
                                        </p:tav>
                                        <p:tav tm="100000">
                                          <p:val>
                                            <p:strVal val="#ppt_x"/>
                                          </p:val>
                                        </p:tav>
                                      </p:tavLst>
                                    </p:anim>
                                    <p:anim calcmode="lin" valueType="num">
                                      <p:cBhvr additive="base">
                                        <p:cTn id="8" dur="10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hlinkClick r:id="rId1" action="ppaction://hlinkfile"/>
          </p:cNvPr>
          <p:cNvSpPr txBox="1"/>
          <p:nvPr/>
        </p:nvSpPr>
        <p:spPr>
          <a:xfrm>
            <a:off x="6948488" y="4346734"/>
            <a:ext cx="854869" cy="106680"/>
          </a:xfrm>
          <a:prstGeom prst="rect">
            <a:avLst/>
          </a:prstGeom>
          <a:noFill/>
        </p:spPr>
        <p:txBody>
          <a:bodyPr wrap="square" rtlCol="0">
            <a:spAutoFit/>
          </a:bodyPr>
          <a:lstStyle/>
          <a:p>
            <a:r>
              <a:rPr lang="zh-CN" altLang="en-US" sz="100">
                <a:hlinkClick r:id="rId2" action="ppaction://hlinkfile"/>
              </a:rPr>
              <a:t>运行</a:t>
            </a:r>
            <a:endParaRPr lang="zh-CN" altLang="en-US" sz="100"/>
          </a:p>
        </p:txBody>
      </p:sp>
      <p:sp>
        <p:nvSpPr>
          <p:cNvPr id="8" name="AutoShape 3"/>
          <p:cNvSpPr/>
          <p:nvPr/>
        </p:nvSpPr>
        <p:spPr>
          <a:xfrm>
            <a:off x="859790" y="1268730"/>
            <a:ext cx="6943725" cy="5103495"/>
          </a:xfrm>
          <a:prstGeom prst="roundRect">
            <a:avLst>
              <a:gd name="adj" fmla="val 5861"/>
            </a:avLst>
          </a:prstGeom>
          <a:gradFill rotWithShape="1">
            <a:gsLst>
              <a:gs pos="0">
                <a:srgbClr val="CCFFFF"/>
              </a:gs>
              <a:gs pos="100000">
                <a:srgbClr val="FFFFFF"/>
              </a:gs>
            </a:gsLst>
            <a:lin ang="5400000" scaled="1"/>
            <a:tileRect/>
          </a:gradFill>
          <a:ln w="9525" cap="flat" cmpd="sng">
            <a:solidFill>
              <a:srgbClr val="008080"/>
            </a:solidFill>
            <a:prstDash val="solid"/>
            <a:round/>
            <a:headEnd type="none" w="med" len="med"/>
            <a:tailEnd type="none" w="med" len="med"/>
          </a:ln>
        </p:spPr>
        <p:txBody>
          <a:bodyPr wrap="square" anchor="t">
            <a:noAutofit/>
          </a:bodyPr>
          <a:lstStyle/>
          <a:p>
            <a:pPr algn="l"/>
            <a:r>
              <a:rPr lang="en-US" altLang="zh-CN" sz="2000" b="0" dirty="0">
                <a:latin typeface="+mn-lt"/>
                <a:cs typeface="+mn-lt"/>
              </a:rPr>
              <a:t>var app = new Vue({</a:t>
            </a:r>
            <a:endParaRPr lang="en-US" altLang="zh-CN" sz="2000" b="0" dirty="0">
              <a:latin typeface="+mn-lt"/>
              <a:cs typeface="+mn-lt"/>
            </a:endParaRPr>
          </a:p>
          <a:p>
            <a:pPr algn="l"/>
            <a:r>
              <a:rPr lang="en-US" altLang="zh-CN" sz="2000" b="0" dirty="0">
                <a:latin typeface="+mn-lt"/>
                <a:cs typeface="+mn-lt"/>
              </a:rPr>
              <a:t>        el: '#app-2',</a:t>
            </a:r>
            <a:endParaRPr lang="en-US" altLang="zh-CN" sz="2000" b="0" dirty="0">
              <a:latin typeface="+mn-lt"/>
              <a:cs typeface="+mn-lt"/>
            </a:endParaRPr>
          </a:p>
          <a:p>
            <a:pPr algn="l"/>
            <a:r>
              <a:rPr lang="en-US" altLang="zh-CN" sz="2000" b="0" dirty="0">
                <a:latin typeface="+mn-lt"/>
                <a:cs typeface="+mn-lt"/>
              </a:rPr>
              <a:t>        data: {</a:t>
            </a:r>
            <a:endParaRPr lang="en-US" altLang="zh-CN" sz="2000" b="0" dirty="0">
              <a:latin typeface="+mn-lt"/>
              <a:cs typeface="+mn-lt"/>
            </a:endParaRPr>
          </a:p>
          <a:p>
            <a:pPr algn="l"/>
            <a:r>
              <a:rPr lang="en-US" altLang="zh-CN" sz="2000" b="0" dirty="0">
                <a:latin typeface="+mn-lt"/>
                <a:cs typeface="+mn-lt"/>
              </a:rPr>
              <a:t>            message: 'Hello Vue.js!',</a:t>
            </a:r>
            <a:endParaRPr lang="en-US" altLang="zh-CN" sz="2000" b="0" dirty="0">
              <a:latin typeface="+mn-lt"/>
              <a:cs typeface="+mn-lt"/>
            </a:endParaRPr>
          </a:p>
          <a:p>
            <a:pPr algn="l"/>
            <a:r>
              <a:rPr lang="en-US" altLang="zh-CN" sz="2000" b="0" dirty="0">
                <a:latin typeface="+mn-lt"/>
                <a:cs typeface="+mn-lt"/>
              </a:rPr>
              <a:t>            name: 'nemo-tec.com'</a:t>
            </a:r>
            <a:endParaRPr lang="en-US" altLang="zh-CN" sz="2000" b="0" dirty="0">
              <a:latin typeface="+mn-lt"/>
              <a:cs typeface="+mn-lt"/>
            </a:endParaRPr>
          </a:p>
          <a:p>
            <a:pPr algn="l"/>
            <a:r>
              <a:rPr lang="en-US" altLang="zh-CN" sz="2000" b="0" dirty="0">
                <a:latin typeface="+mn-lt"/>
                <a:cs typeface="+mn-lt"/>
              </a:rPr>
              <a:t>        },</a:t>
            </a:r>
            <a:endParaRPr lang="en-US" altLang="zh-CN" sz="2000" b="0" dirty="0">
              <a:latin typeface="+mn-lt"/>
              <a:cs typeface="+mn-lt"/>
            </a:endParaRPr>
          </a:p>
          <a:p>
            <a:pPr algn="l"/>
            <a:r>
              <a:rPr lang="en-US" altLang="zh-CN" sz="2000" b="0" dirty="0">
                <a:latin typeface="+mn-lt"/>
                <a:cs typeface="+mn-lt"/>
              </a:rPr>
              <a:t>        methods: {</a:t>
            </a:r>
            <a:endParaRPr lang="en-US" altLang="zh-CN" sz="2000" b="0" dirty="0">
              <a:latin typeface="+mn-lt"/>
              <a:cs typeface="+mn-lt"/>
            </a:endParaRPr>
          </a:p>
          <a:p>
            <a:pPr algn="l"/>
            <a:r>
              <a:rPr lang="en-US" altLang="zh-CN" sz="2000" b="0" dirty="0">
                <a:latin typeface="+mn-lt"/>
                <a:cs typeface="+mn-lt"/>
              </a:rPr>
              <a:t>            reverseMessage: function (event) {</a:t>
            </a:r>
            <a:endParaRPr lang="en-US" altLang="zh-CN" sz="2000" b="0" dirty="0">
              <a:latin typeface="+mn-lt"/>
              <a:cs typeface="+mn-lt"/>
            </a:endParaRPr>
          </a:p>
          <a:p>
            <a:pPr algn="l"/>
            <a:r>
              <a:rPr lang="en-US" altLang="zh-CN" sz="2000" b="0" dirty="0">
                <a:latin typeface="+mn-lt"/>
                <a:cs typeface="+mn-lt"/>
              </a:rPr>
              <a:t>                // 方法内 `this` 指向 app, `event` 是原生 DOM 事件</a:t>
            </a:r>
            <a:endParaRPr lang="en-US" altLang="zh-CN" sz="2000" b="0" dirty="0">
              <a:latin typeface="+mn-lt"/>
              <a:cs typeface="+mn-lt"/>
            </a:endParaRPr>
          </a:p>
          <a:p>
            <a:pPr algn="l"/>
            <a:r>
              <a:rPr lang="en-US" altLang="zh-CN" sz="2000" b="0" dirty="0">
                <a:latin typeface="+mn-lt"/>
                <a:cs typeface="+mn-lt"/>
              </a:rPr>
              <a:t>                this.message = this.message.split('').reverse().join('');</a:t>
            </a:r>
            <a:endParaRPr lang="en-US" altLang="zh-CN" sz="2000" b="0" dirty="0">
              <a:latin typeface="+mn-lt"/>
              <a:cs typeface="+mn-lt"/>
            </a:endParaRPr>
          </a:p>
          <a:p>
            <a:pPr algn="l"/>
            <a:r>
              <a:rPr lang="en-US" altLang="zh-CN" sz="2000" b="0" dirty="0">
                <a:latin typeface="+mn-lt"/>
                <a:cs typeface="+mn-lt"/>
              </a:rPr>
              <a:t>                alert(event.target.tagName)</a:t>
            </a:r>
            <a:endParaRPr lang="en-US" altLang="zh-CN" sz="2000" b="0" dirty="0">
              <a:latin typeface="+mn-lt"/>
              <a:cs typeface="+mn-lt"/>
            </a:endParaRPr>
          </a:p>
          <a:p>
            <a:pPr algn="l"/>
            <a:r>
              <a:rPr lang="en-US" altLang="zh-CN" sz="2000" b="0" dirty="0">
                <a:latin typeface="+mn-lt"/>
                <a:cs typeface="+mn-lt"/>
              </a:rPr>
              <a:t>            },</a:t>
            </a:r>
            <a:endParaRPr lang="en-US" altLang="zh-CN" sz="2000" b="0" dirty="0">
              <a:latin typeface="+mn-lt"/>
              <a:cs typeface="+mn-lt"/>
            </a:endParaRPr>
          </a:p>
          <a:p>
            <a:pPr algn="l"/>
            <a:r>
              <a:rPr lang="en-US" altLang="zh-CN" sz="2000" b="0" dirty="0">
                <a:latin typeface="+mn-lt"/>
                <a:cs typeface="+mn-lt"/>
              </a:rPr>
              <a:t>            greet: function (event) {</a:t>
            </a:r>
            <a:endParaRPr lang="en-US" altLang="zh-CN" sz="2000" b="0" dirty="0">
              <a:latin typeface="+mn-lt"/>
              <a:cs typeface="+mn-lt"/>
            </a:endParaRPr>
          </a:p>
          <a:p>
            <a:pPr algn="l"/>
            <a:r>
              <a:rPr lang="en-US" altLang="zh-CN" sz="2000" b="0" dirty="0">
                <a:latin typeface="+mn-lt"/>
                <a:cs typeface="+mn-lt"/>
              </a:rPr>
              <a:t>                alert(this.message+" welcome to "+this.name) ;</a:t>
            </a:r>
            <a:endParaRPr lang="en-US" altLang="zh-CN" sz="2000" b="0" dirty="0">
              <a:latin typeface="+mn-lt"/>
              <a:cs typeface="+mn-lt"/>
            </a:endParaRPr>
          </a:p>
          <a:p>
            <a:pPr algn="l"/>
            <a:r>
              <a:rPr lang="en-US" altLang="zh-CN" sz="2000" b="0" dirty="0">
                <a:latin typeface="+mn-lt"/>
                <a:cs typeface="+mn-lt"/>
              </a:rPr>
              <a:t>                alert(event.target.tagName)</a:t>
            </a:r>
            <a:endParaRPr lang="en-US" altLang="zh-CN" sz="2000" b="0" dirty="0">
              <a:latin typeface="+mn-lt"/>
              <a:cs typeface="+mn-lt"/>
            </a:endParaRPr>
          </a:p>
          <a:p>
            <a:pPr algn="l"/>
            <a:r>
              <a:rPr lang="en-US" altLang="zh-CN" sz="2000" b="0" dirty="0">
                <a:latin typeface="+mn-lt"/>
                <a:cs typeface="+mn-lt"/>
              </a:rPr>
              <a:t>           }}})</a:t>
            </a:r>
            <a:br>
              <a:rPr lang="en-US" altLang="zh-CN" sz="1600" dirty="0"/>
            </a:br>
            <a:endParaRPr lang="en-US" altLang="zh-CN" sz="1600" b="0" dirty="0">
              <a:latin typeface="Arial" panose="020B0604020202020204" pitchFamily="34" charset="0"/>
              <a:ea typeface="宋体" panose="02010600030101010101" pitchFamily="2" charset="-122"/>
            </a:endParaRPr>
          </a:p>
        </p:txBody>
      </p:sp>
      <p:sp>
        <p:nvSpPr>
          <p:cNvPr id="6" name="文本框 5"/>
          <p:cNvSpPr txBox="1"/>
          <p:nvPr/>
        </p:nvSpPr>
        <p:spPr>
          <a:xfrm>
            <a:off x="6516370" y="5805170"/>
            <a:ext cx="1040765" cy="368300"/>
          </a:xfrm>
          <a:prstGeom prst="rect">
            <a:avLst/>
          </a:prstGeom>
          <a:noFill/>
        </p:spPr>
        <p:txBody>
          <a:bodyPr wrap="square" rtlCol="0">
            <a:spAutoFit/>
          </a:bodyPr>
          <a:p>
            <a:r>
              <a:rPr lang="zh-CN" altLang="en-US">
                <a:hlinkClick r:id="rId3" action="ppaction://hlinkfile"/>
              </a:rPr>
              <a:t>运行</a:t>
            </a:r>
            <a:endParaRPr lang="zh-CN" altLang="en-US"/>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000" fill="hold">
                                          <p:stCondLst>
                                            <p:cond delay="0"/>
                                          </p:stCondLst>
                                        </p:cTn>
                                        <p:tgtEl>
                                          <p:spTgt spid="8"/>
                                        </p:tgtEl>
                                        <p:attrNameLst>
                                          <p:attrName>style.visibility</p:attrName>
                                        </p:attrNameLst>
                                      </p:cBhvr>
                                      <p:to>
                                        <p:strVal val="visible"/>
                                      </p:to>
                                    </p:set>
                                    <p:anim calcmode="lin" valueType="num">
                                      <p:cBhvr additive="base">
                                        <p:cTn id="7" dur="1000" fill="hold"/>
                                        <p:tgtEl>
                                          <p:spTgt spid="8"/>
                                        </p:tgtEl>
                                        <p:attrNameLst>
                                          <p:attrName>ppt_x</p:attrName>
                                        </p:attrNameLst>
                                      </p:cBhvr>
                                      <p:tavLst>
                                        <p:tav tm="0">
                                          <p:val>
                                            <p:strVal val="0-#ppt_w/2"/>
                                          </p:val>
                                        </p:tav>
                                        <p:tav tm="100000">
                                          <p:val>
                                            <p:strVal val="#ppt_x"/>
                                          </p:val>
                                        </p:tav>
                                      </p:tavLst>
                                    </p:anim>
                                    <p:anim calcmode="lin" valueType="num">
                                      <p:cBhvr additive="base">
                                        <p:cTn id="8" dur="10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事件修饰符</a:t>
            </a:r>
            <a:endParaRPr lang="zh-CN" altLang="en-US"/>
          </a:p>
        </p:txBody>
      </p:sp>
      <p:sp>
        <p:nvSpPr>
          <p:cNvPr id="3" name="内容占位符 2"/>
          <p:cNvSpPr>
            <a:spLocks noGrp="1"/>
          </p:cNvSpPr>
          <p:nvPr>
            <p:ph idx="1"/>
          </p:nvPr>
        </p:nvSpPr>
        <p:spPr>
          <a:xfrm>
            <a:off x="323850" y="980123"/>
            <a:ext cx="8329613" cy="4911725"/>
          </a:xfrm>
        </p:spPr>
        <p:txBody>
          <a:bodyPr/>
          <a:lstStyle/>
          <a:p>
            <a:pPr marL="0" indent="0">
              <a:buNone/>
            </a:pPr>
            <a:r>
              <a:rPr lang="zh-CN" altLang="en-US" sz="2400">
                <a:sym typeface="+mn-ea"/>
              </a:rPr>
              <a:t>Vue事件修饰符是Vue.js框架中提供的一种特殊语法，用于在模板中监听事件时添加一些特殊的行为或效果。</a:t>
            </a:r>
            <a:endParaRPr lang="zh-CN" altLang="en-US" sz="2400">
              <a:sym typeface="+mn-ea"/>
            </a:endParaRPr>
          </a:p>
          <a:p>
            <a:pPr marL="0" indent="0">
              <a:buNone/>
            </a:pPr>
            <a:r>
              <a:rPr lang="zh-CN" altLang="en-US" sz="2400">
                <a:solidFill>
                  <a:srgbClr val="0070C0"/>
                </a:solidFill>
              </a:rPr>
              <a:t>写法</a:t>
            </a:r>
            <a:r>
              <a:rPr lang="zh-CN" altLang="en-US" sz="2400"/>
              <a:t>：</a:t>
            </a:r>
            <a:r>
              <a:rPr lang="en-US" altLang="zh-CN" sz="2400"/>
              <a:t>以.开头，并放事件名</a:t>
            </a:r>
            <a:r>
              <a:rPr lang="zh-CN" altLang="en-US" sz="2400"/>
              <a:t>后面</a:t>
            </a:r>
            <a:r>
              <a:rPr lang="en-US" altLang="zh-CN" sz="2400"/>
              <a:t>。</a:t>
            </a:r>
            <a:r>
              <a:rPr lang="zh-CN" altLang="en-US" sz="2400"/>
              <a:t>例如：@submit</a:t>
            </a:r>
            <a:r>
              <a:rPr lang="zh-CN" altLang="en-US" sz="2400">
                <a:solidFill>
                  <a:srgbClr val="0070C0"/>
                </a:solidFill>
              </a:rPr>
              <a:t>.prevent</a:t>
            </a:r>
            <a:endParaRPr lang="zh-CN" altLang="en-US" sz="2400"/>
          </a:p>
          <a:p>
            <a:pPr marL="0" indent="0">
              <a:buNone/>
            </a:pPr>
            <a:r>
              <a:rPr lang="en-US" altLang="zh-CN" sz="2400"/>
              <a:t>事件修饰符的作用是简化事件处理函数的编写，让开发者能够更便捷地处理DOM事件。</a:t>
            </a:r>
            <a:endParaRPr lang="en-US" altLang="zh-CN" sz="2400"/>
          </a:p>
          <a:p>
            <a:pPr marL="0" indent="0">
              <a:buNone/>
            </a:pPr>
            <a:endParaRPr lang="zh-CN" altLang="en-US" sz="2400"/>
          </a:p>
        </p:txBody>
      </p:sp>
      <p:sp>
        <p:nvSpPr>
          <p:cNvPr id="5" name="TextBox 38"/>
          <p:cNvSpPr txBox="1"/>
          <p:nvPr/>
        </p:nvSpPr>
        <p:spPr>
          <a:xfrm>
            <a:off x="438785" y="2955925"/>
            <a:ext cx="7171055" cy="2338070"/>
          </a:xfrm>
          <a:prstGeom prst="rect">
            <a:avLst/>
          </a:prstGeom>
          <a:noFill/>
        </p:spPr>
        <p:txBody>
          <a:bodyPr wrap="square" lIns="0" tIns="0" rIns="0" bIns="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2000" dirty="0">
                <a:solidFill>
                  <a:srgbClr val="595959"/>
                </a:solidFill>
                <a:latin typeface="微软雅黑" panose="020B0503020204020204" charset="-122"/>
                <a:ea typeface="微软雅黑" panose="020B0503020204020204" charset="-122"/>
                <a:cs typeface="+mn-ea"/>
              </a:rPr>
              <a:t>通过</a:t>
            </a:r>
            <a:r>
              <a:rPr lang="zh-CN" altLang="en-US" sz="2000" dirty="0">
                <a:solidFill>
                  <a:srgbClr val="1369B2"/>
                </a:solidFill>
                <a:latin typeface="微软雅黑" panose="020B0503020204020204" charset="-122"/>
                <a:ea typeface="微软雅黑" panose="020B0503020204020204" charset="-122"/>
                <a:cs typeface="+mn-ea"/>
              </a:rPr>
              <a:t>事件修饰符</a:t>
            </a:r>
            <a:r>
              <a:rPr lang="zh-CN" altLang="en-US" sz="2000" dirty="0">
                <a:solidFill>
                  <a:srgbClr val="595959"/>
                </a:solidFill>
                <a:latin typeface="微软雅黑" panose="020B0503020204020204" charset="-122"/>
                <a:ea typeface="微软雅黑" panose="020B0503020204020204" charset="-122"/>
                <a:cs typeface="+mn-ea"/>
              </a:rPr>
              <a:t>可以实现的一些</a:t>
            </a:r>
            <a:r>
              <a:rPr lang="zh-CN" altLang="en-US" sz="2000" dirty="0">
                <a:solidFill>
                  <a:srgbClr val="1369B2"/>
                </a:solidFill>
                <a:latin typeface="微软雅黑" panose="020B0503020204020204" charset="-122"/>
                <a:ea typeface="微软雅黑" panose="020B0503020204020204" charset="-122"/>
                <a:cs typeface="+mn-ea"/>
              </a:rPr>
              <a:t>功能</a:t>
            </a:r>
            <a:r>
              <a:rPr lang="zh-CN" altLang="en-US" sz="2000" dirty="0">
                <a:solidFill>
                  <a:srgbClr val="595959"/>
                </a:solidFill>
                <a:latin typeface="微软雅黑" panose="020B0503020204020204" charset="-122"/>
                <a:ea typeface="微软雅黑" panose="020B0503020204020204" charset="-122"/>
                <a:cs typeface="+mn-ea"/>
              </a:rPr>
              <a:t>。</a:t>
            </a:r>
            <a:endParaRPr lang="en-US" altLang="zh-CN" sz="2000" dirty="0">
              <a:solidFill>
                <a:srgbClr val="595959"/>
              </a:solidFill>
              <a:latin typeface="微软雅黑" panose="020B0503020204020204" charset="-122"/>
              <a:ea typeface="微软雅黑" panose="020B0503020204020204" charset="-122"/>
              <a:cs typeface="+mn-ea"/>
            </a:endParaRPr>
          </a:p>
          <a:p>
            <a:pPr marL="342900" indent="-342900">
              <a:lnSpc>
                <a:spcPct val="150000"/>
              </a:lnSpc>
              <a:buFont typeface="Wingdings" panose="05000000000000000000" pitchFamily="2" charset="2"/>
              <a:buChar char="l"/>
            </a:pPr>
            <a:r>
              <a:rPr lang="zh-CN" altLang="en-US" sz="2000" dirty="0">
                <a:solidFill>
                  <a:srgbClr val="1369B2"/>
                </a:solidFill>
                <a:latin typeface="微软雅黑" panose="020B0503020204020204" charset="-122"/>
                <a:ea typeface="微软雅黑" panose="020B0503020204020204" charset="-122"/>
                <a:cs typeface="+mn-ea"/>
              </a:rPr>
              <a:t>阻止默认事件行为</a:t>
            </a:r>
            <a:endParaRPr lang="en-US" altLang="zh-CN" sz="2000" dirty="0">
              <a:solidFill>
                <a:srgbClr val="1369B2"/>
              </a:solidFill>
              <a:latin typeface="微软雅黑" panose="020B0503020204020204" charset="-122"/>
              <a:ea typeface="微软雅黑" panose="020B0503020204020204" charset="-122"/>
              <a:cs typeface="+mn-ea"/>
            </a:endParaRPr>
          </a:p>
          <a:p>
            <a:pPr marL="342900" indent="-342900">
              <a:lnSpc>
                <a:spcPct val="150000"/>
              </a:lnSpc>
              <a:buFont typeface="Wingdings" panose="05000000000000000000" pitchFamily="2" charset="2"/>
              <a:buChar char="l"/>
            </a:pPr>
            <a:r>
              <a:rPr lang="zh-CN" altLang="en-US" sz="2000" dirty="0">
                <a:solidFill>
                  <a:srgbClr val="1369B2"/>
                </a:solidFill>
                <a:latin typeface="微软雅黑" panose="020B0503020204020204" charset="-122"/>
                <a:ea typeface="微软雅黑" panose="020B0503020204020204" charset="-122"/>
                <a:cs typeface="+mn-ea"/>
              </a:rPr>
              <a:t>阻止事件冒泡</a:t>
            </a:r>
            <a:endParaRPr lang="en-US" altLang="zh-CN" sz="2000" dirty="0">
              <a:solidFill>
                <a:srgbClr val="1369B2"/>
              </a:solidFill>
              <a:latin typeface="微软雅黑" panose="020B0503020204020204" charset="-122"/>
              <a:ea typeface="微软雅黑" panose="020B0503020204020204" charset="-122"/>
              <a:cs typeface="+mn-ea"/>
            </a:endParaRPr>
          </a:p>
          <a:p>
            <a:pPr marL="342900" indent="-342900">
              <a:lnSpc>
                <a:spcPct val="150000"/>
              </a:lnSpc>
              <a:buFont typeface="Wingdings" panose="05000000000000000000" pitchFamily="2" charset="2"/>
              <a:buChar char="l"/>
            </a:pPr>
            <a:r>
              <a:rPr lang="zh-CN" altLang="en-US" sz="2000" dirty="0">
                <a:solidFill>
                  <a:srgbClr val="1369B2"/>
                </a:solidFill>
                <a:latin typeface="微软雅黑" panose="020B0503020204020204" charset="-122"/>
                <a:ea typeface="微软雅黑" panose="020B0503020204020204" charset="-122"/>
                <a:cs typeface="+mn-ea"/>
              </a:rPr>
              <a:t>事件捕获</a:t>
            </a:r>
            <a:endParaRPr lang="en-US" altLang="zh-CN" sz="2000" dirty="0">
              <a:solidFill>
                <a:srgbClr val="1369B2"/>
              </a:solidFill>
              <a:latin typeface="微软雅黑" panose="020B0503020204020204" charset="-122"/>
              <a:ea typeface="微软雅黑" panose="020B0503020204020204" charset="-122"/>
              <a:cs typeface="+mn-ea"/>
            </a:endParaRPr>
          </a:p>
          <a:p>
            <a:pPr marL="342900" indent="-342900">
              <a:lnSpc>
                <a:spcPct val="150000"/>
              </a:lnSpc>
              <a:buFont typeface="Wingdings" panose="05000000000000000000" pitchFamily="2" charset="2"/>
              <a:buChar char="l"/>
            </a:pPr>
            <a:r>
              <a:rPr lang="zh-CN" altLang="en-US" sz="2000" dirty="0">
                <a:solidFill>
                  <a:srgbClr val="1369B2"/>
                </a:solidFill>
                <a:latin typeface="微软雅黑" panose="020B0503020204020204" charset="-122"/>
                <a:ea typeface="微软雅黑" panose="020B0503020204020204" charset="-122"/>
                <a:cs typeface="+mn-ea"/>
              </a:rPr>
              <a:t>使事件只触发一次</a:t>
            </a:r>
            <a:endParaRPr lang="en-US" altLang="zh-CN" sz="2000" dirty="0">
              <a:solidFill>
                <a:srgbClr val="1369B2"/>
              </a:solidFill>
              <a:latin typeface="微软雅黑" panose="020B0503020204020204" charset="-122"/>
              <a:ea typeface="微软雅黑" panose="020B0503020204020204" charset="-122"/>
              <a:cs typeface="+mn-ea"/>
            </a:endParaRPr>
          </a:p>
          <a:p>
            <a:pPr marL="342900" indent="-342900">
              <a:lnSpc>
                <a:spcPct val="150000"/>
              </a:lnSpc>
              <a:buFont typeface="Wingdings" panose="05000000000000000000" pitchFamily="2" charset="2"/>
              <a:buChar char="l"/>
            </a:pPr>
            <a:r>
              <a:rPr lang="zh-CN" altLang="en-US" sz="2000" dirty="0">
                <a:solidFill>
                  <a:srgbClr val="1369B2"/>
                </a:solidFill>
                <a:latin typeface="微软雅黑" panose="020B0503020204020204" charset="-122"/>
                <a:ea typeface="微软雅黑" panose="020B0503020204020204" charset="-122"/>
                <a:cs typeface="+mn-ea"/>
              </a:rPr>
              <a:t>捕获特定按键</a:t>
            </a:r>
            <a:endParaRPr lang="en-US" altLang="zh-CN" sz="2000" dirty="0">
              <a:solidFill>
                <a:srgbClr val="1369B2"/>
              </a:solidFill>
              <a:latin typeface="微软雅黑" panose="020B0503020204020204" charset="-122"/>
              <a:ea typeface="微软雅黑" panose="020B0503020204020204" charset="-122"/>
              <a:cs typeface="+mn-ea"/>
            </a:endParaRPr>
          </a:p>
          <a:p>
            <a:pPr marL="342900" indent="-342900">
              <a:lnSpc>
                <a:spcPct val="150000"/>
              </a:lnSpc>
              <a:buFont typeface="Wingdings" panose="05000000000000000000" pitchFamily="2" charset="2"/>
              <a:buChar char="l"/>
            </a:pPr>
            <a:r>
              <a:rPr lang="zh-CN" altLang="en-US" sz="2000" dirty="0">
                <a:solidFill>
                  <a:srgbClr val="1369B2"/>
                </a:solidFill>
                <a:latin typeface="微软雅黑" panose="020B0503020204020204" charset="-122"/>
                <a:ea typeface="微软雅黑" panose="020B0503020204020204" charset="-122"/>
                <a:cs typeface="+mn-ea"/>
              </a:rPr>
              <a:t>捕获鼠标按键</a:t>
            </a:r>
            <a:endParaRPr lang="zh-CN" altLang="en-US" sz="2000" dirty="0">
              <a:solidFill>
                <a:srgbClr val="1369B2"/>
              </a:solidFill>
              <a:latin typeface="微软雅黑" panose="020B0503020204020204" charset="-122"/>
              <a:ea typeface="微软雅黑" panose="020B0503020204020204" charset="-122"/>
              <a:cs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8" name="直接连接符 17"/>
          <p:cNvCxnSpPr/>
          <p:nvPr/>
        </p:nvCxnSpPr>
        <p:spPr>
          <a:xfrm>
            <a:off x="771525" y="1687830"/>
            <a:ext cx="7586186" cy="14288"/>
          </a:xfrm>
          <a:prstGeom prst="line">
            <a:avLst/>
          </a:prstGeom>
          <a:ln w="12700" cmpd="sng">
            <a:solidFill>
              <a:schemeClr val="tx1"/>
            </a:solidFill>
            <a:prstDash val="solid"/>
          </a:ln>
        </p:spPr>
        <p:style>
          <a:lnRef idx="2">
            <a:schemeClr val="accent1"/>
          </a:lnRef>
          <a:fillRef idx="0">
            <a:srgbClr val="FFFFFF"/>
          </a:fillRef>
          <a:effectRef idx="0">
            <a:srgbClr val="FFFFFF"/>
          </a:effectRef>
          <a:fontRef idx="minor">
            <a:schemeClr val="tx1"/>
          </a:fontRef>
        </p:style>
      </p:cxnSp>
      <p:sp>
        <p:nvSpPr>
          <p:cNvPr id="9" name="文本框 8"/>
          <p:cNvSpPr txBox="1"/>
          <p:nvPr/>
        </p:nvSpPr>
        <p:spPr>
          <a:xfrm>
            <a:off x="539115" y="4704080"/>
            <a:ext cx="7219315" cy="402590"/>
          </a:xfrm>
          <a:prstGeom prst="rect">
            <a:avLst/>
          </a:prstGeom>
          <a:solidFill>
            <a:srgbClr val="F2F2F2"/>
          </a:solidFill>
        </p:spPr>
        <p:txBody>
          <a:bodyPr wrap="square" rtlCol="0">
            <a:spAutoFit/>
          </a:bodyPr>
          <a:lstStyle/>
          <a:p>
            <a:pPr lvl="1">
              <a:lnSpc>
                <a:spcPct val="150000"/>
              </a:lnSpc>
            </a:pPr>
            <a:r>
              <a:rPr sz="1350">
                <a:solidFill>
                  <a:srgbClr val="595959"/>
                </a:solidFill>
                <a:latin typeface="微软雅黑" panose="020B0503020204020204" charset="-122"/>
                <a:ea typeface="微软雅黑" panose="020B0503020204020204" charset="-122"/>
                <a:cs typeface="+mn-ea"/>
              </a:rPr>
              <a:t>&lt;a href="https://www.baidu.com/" v-on:click.prevent&gt;阻止默认行为&lt;/a&gt;</a:t>
            </a:r>
            <a:endParaRPr sz="1350">
              <a:solidFill>
                <a:srgbClr val="595959"/>
              </a:solidFill>
              <a:latin typeface="微软雅黑" panose="020B0503020204020204" charset="-122"/>
              <a:ea typeface="微软雅黑" panose="020B0503020204020204" charset="-122"/>
              <a:cs typeface="+mn-ea"/>
            </a:endParaRPr>
          </a:p>
        </p:txBody>
      </p:sp>
      <p:sp>
        <p:nvSpPr>
          <p:cNvPr id="10" name="矩形 9"/>
          <p:cNvSpPr/>
          <p:nvPr/>
        </p:nvSpPr>
        <p:spPr>
          <a:xfrm>
            <a:off x="737576" y="2186126"/>
            <a:ext cx="3294366" cy="377666"/>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latin typeface="微软雅黑" panose="020B0503020204020204" charset="-122"/>
                <a:ea typeface="微软雅黑" panose="020B0503020204020204" charset="-122"/>
              </a:rPr>
              <a:t>1. </a:t>
            </a:r>
            <a:r>
              <a:rPr lang="zh-CN" altLang="en-US" sz="1500" dirty="0">
                <a:latin typeface="微软雅黑" panose="020B0503020204020204" charset="-122"/>
                <a:ea typeface="微软雅黑" panose="020B0503020204020204" charset="-122"/>
              </a:rPr>
              <a:t>阻止默认事件行为</a:t>
            </a:r>
            <a:endParaRPr lang="zh-CN" altLang="en-US" sz="1500" dirty="0">
              <a:latin typeface="微软雅黑" panose="020B0503020204020204" charset="-122"/>
              <a:ea typeface="微软雅黑" panose="020B0503020204020204" charset="-122"/>
            </a:endParaRPr>
          </a:p>
        </p:txBody>
      </p:sp>
      <p:sp>
        <p:nvSpPr>
          <p:cNvPr id="11" name="TextBox 35"/>
          <p:cNvSpPr txBox="1">
            <a:spLocks noChangeArrowheads="1"/>
          </p:cNvSpPr>
          <p:nvPr/>
        </p:nvSpPr>
        <p:spPr bwMode="auto">
          <a:xfrm>
            <a:off x="622942" y="2775401"/>
            <a:ext cx="7891376" cy="1821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7" tIns="45718" rIns="91437" bIns="4571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1500" dirty="0">
                <a:solidFill>
                  <a:srgbClr val="595959"/>
                </a:solidFill>
                <a:latin typeface="微软雅黑" panose="020B0503020204020204" charset="-122"/>
                <a:ea typeface="微软雅黑" panose="020B0503020204020204" charset="-122"/>
              </a:rPr>
              <a:t>通过</a:t>
            </a:r>
            <a:r>
              <a:rPr lang="en-US" altLang="zh-CN" sz="1500" dirty="0">
                <a:solidFill>
                  <a:srgbClr val="1369B2"/>
                </a:solidFill>
                <a:latin typeface="微软雅黑" panose="020B0503020204020204" charset="-122"/>
                <a:ea typeface="微软雅黑" panose="020B0503020204020204" charset="-122"/>
              </a:rPr>
              <a:t>.prevent</a:t>
            </a:r>
            <a:r>
              <a:rPr lang="zh-CN" altLang="en-US" sz="1500" dirty="0">
                <a:solidFill>
                  <a:srgbClr val="1369B2"/>
                </a:solidFill>
                <a:latin typeface="微软雅黑" panose="020B0503020204020204" charset="-122"/>
                <a:ea typeface="微软雅黑" panose="020B0503020204020204" charset="-122"/>
              </a:rPr>
              <a:t>事件修饰符</a:t>
            </a:r>
            <a:r>
              <a:rPr lang="zh-CN" altLang="en-US" sz="1500" dirty="0">
                <a:solidFill>
                  <a:srgbClr val="595959"/>
                </a:solidFill>
                <a:latin typeface="微软雅黑" panose="020B0503020204020204" charset="-122"/>
                <a:ea typeface="微软雅黑" panose="020B0503020204020204" charset="-122"/>
              </a:rPr>
              <a:t>可以实现</a:t>
            </a:r>
            <a:r>
              <a:rPr lang="zh-CN" altLang="en-US" sz="1500" dirty="0">
                <a:solidFill>
                  <a:srgbClr val="1369B2"/>
                </a:solidFill>
                <a:latin typeface="微软雅黑" panose="020B0503020204020204" charset="-122"/>
                <a:ea typeface="微软雅黑" panose="020B0503020204020204" charset="-122"/>
              </a:rPr>
              <a:t>阻止默认事件行为</a:t>
            </a:r>
            <a:r>
              <a:rPr lang="zh-CN" altLang="en-US" sz="1500" dirty="0">
                <a:solidFill>
                  <a:srgbClr val="595959"/>
                </a:solidFill>
                <a:latin typeface="微软雅黑" panose="020B0503020204020204" charset="-122"/>
                <a:ea typeface="微软雅黑" panose="020B0503020204020204" charset="-122"/>
              </a:rPr>
              <a:t>的功能。例如，在单击</a:t>
            </a:r>
            <a:r>
              <a:rPr lang="en-US" altLang="zh-CN" sz="1500" dirty="0">
                <a:solidFill>
                  <a:srgbClr val="595959"/>
                </a:solidFill>
                <a:latin typeface="微软雅黑" panose="020B0503020204020204" charset="-122"/>
                <a:ea typeface="微软雅黑" panose="020B0503020204020204" charset="-122"/>
              </a:rPr>
              <a:t>&lt;a&gt;</a:t>
            </a:r>
            <a:r>
              <a:rPr lang="zh-CN" altLang="en-US" sz="1500" dirty="0">
                <a:solidFill>
                  <a:srgbClr val="595959"/>
                </a:solidFill>
                <a:latin typeface="微软雅黑" panose="020B0503020204020204" charset="-122"/>
                <a:ea typeface="微软雅黑" panose="020B0503020204020204" charset="-122"/>
              </a:rPr>
              <a:t>标签时页面会自动跳转，这就是</a:t>
            </a:r>
            <a:r>
              <a:rPr lang="en-US" altLang="zh-CN" sz="1500" dirty="0">
                <a:solidFill>
                  <a:srgbClr val="595959"/>
                </a:solidFill>
                <a:latin typeface="微软雅黑" panose="020B0503020204020204" charset="-122"/>
                <a:ea typeface="微软雅黑" panose="020B0503020204020204" charset="-122"/>
              </a:rPr>
              <a:t>&lt;a&gt;</a:t>
            </a:r>
            <a:r>
              <a:rPr lang="zh-CN" altLang="en-US" sz="1500" dirty="0">
                <a:solidFill>
                  <a:srgbClr val="595959"/>
                </a:solidFill>
                <a:latin typeface="微软雅黑" panose="020B0503020204020204" charset="-122"/>
                <a:ea typeface="微软雅黑" panose="020B0503020204020204" charset="-122"/>
              </a:rPr>
              <a:t>标签的默认事件行为。</a:t>
            </a:r>
            <a:endParaRPr lang="en-US" altLang="zh-CN" sz="1500" dirty="0">
              <a:solidFill>
                <a:srgbClr val="595959"/>
              </a:solidFill>
              <a:latin typeface="微软雅黑" panose="020B0503020204020204" charset="-122"/>
              <a:ea typeface="微软雅黑" panose="020B0503020204020204" charset="-122"/>
            </a:endParaRPr>
          </a:p>
          <a:p>
            <a:pPr algn="just">
              <a:lnSpc>
                <a:spcPct val="150000"/>
              </a:lnSpc>
            </a:pPr>
            <a:endParaRPr lang="en-US" altLang="zh-CN" sz="1500" dirty="0">
              <a:solidFill>
                <a:srgbClr val="595959"/>
              </a:solidFill>
              <a:latin typeface="微软雅黑" panose="020B0503020204020204" charset="-122"/>
              <a:ea typeface="微软雅黑" panose="020B0503020204020204" charset="-122"/>
            </a:endParaRPr>
          </a:p>
          <a:p>
            <a:pPr algn="just">
              <a:lnSpc>
                <a:spcPct val="150000"/>
              </a:lnSpc>
            </a:pPr>
            <a:r>
              <a:rPr lang="zh-CN" altLang="en-US" sz="1500" dirty="0">
                <a:solidFill>
                  <a:srgbClr val="595959"/>
                </a:solidFill>
                <a:latin typeface="微软雅黑" panose="020B0503020204020204" charset="-122"/>
                <a:ea typeface="微软雅黑" panose="020B0503020204020204" charset="-122"/>
              </a:rPr>
              <a:t>在实际开发中，如果默认事件行为与事件发生冲突，可以使用</a:t>
            </a:r>
            <a:r>
              <a:rPr lang="en-US" altLang="zh-CN" sz="1500" dirty="0">
                <a:solidFill>
                  <a:srgbClr val="595959"/>
                </a:solidFill>
                <a:latin typeface="微软雅黑" panose="020B0503020204020204" charset="-122"/>
                <a:ea typeface="微软雅黑" panose="020B0503020204020204" charset="-122"/>
              </a:rPr>
              <a:t>.prevent</a:t>
            </a:r>
            <a:r>
              <a:rPr lang="zh-CN" altLang="en-US" sz="1500" dirty="0">
                <a:solidFill>
                  <a:srgbClr val="595959"/>
                </a:solidFill>
                <a:latin typeface="微软雅黑" panose="020B0503020204020204" charset="-122"/>
                <a:ea typeface="微软雅黑" panose="020B0503020204020204" charset="-122"/>
              </a:rPr>
              <a:t>事件修饰符阻止默认事件行为，示例代码如下。</a:t>
            </a:r>
            <a:endParaRPr lang="zh-CN" altLang="en-US" sz="1500" dirty="0">
              <a:solidFill>
                <a:srgbClr val="595959"/>
              </a:solidFill>
              <a:latin typeface="微软雅黑" panose="020B0503020204020204" charset="-122"/>
              <a:ea typeface="微软雅黑" panose="020B0503020204020204" charset="-122"/>
            </a:endParaRPr>
          </a:p>
        </p:txBody>
      </p:sp>
      <p:sp>
        <p:nvSpPr>
          <p:cNvPr id="2" name="文本框 1"/>
          <p:cNvSpPr txBox="1"/>
          <p:nvPr/>
        </p:nvSpPr>
        <p:spPr>
          <a:xfrm>
            <a:off x="6948170" y="5661025"/>
            <a:ext cx="1040765" cy="368300"/>
          </a:xfrm>
          <a:prstGeom prst="rect">
            <a:avLst/>
          </a:prstGeom>
          <a:noFill/>
        </p:spPr>
        <p:txBody>
          <a:bodyPr wrap="square" rtlCol="0">
            <a:spAutoFit/>
          </a:bodyPr>
          <a:p>
            <a:r>
              <a:rPr lang="zh-CN" altLang="en-US">
                <a:hlinkClick r:id="rId1" action="ppaction://hlinkfile"/>
              </a:rPr>
              <a:t>运行</a:t>
            </a:r>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8" name="直接连接符 17"/>
          <p:cNvCxnSpPr/>
          <p:nvPr/>
        </p:nvCxnSpPr>
        <p:spPr>
          <a:xfrm>
            <a:off x="771525" y="1687830"/>
            <a:ext cx="7586186" cy="14288"/>
          </a:xfrm>
          <a:prstGeom prst="line">
            <a:avLst/>
          </a:prstGeom>
          <a:ln w="12700" cmpd="sng">
            <a:solidFill>
              <a:schemeClr val="tx1"/>
            </a:solidFill>
            <a:prstDash val="solid"/>
          </a:ln>
        </p:spPr>
        <p:style>
          <a:lnRef idx="2">
            <a:schemeClr val="accent1"/>
          </a:lnRef>
          <a:fillRef idx="0">
            <a:srgbClr val="FFFFFF"/>
          </a:fillRef>
          <a:effectRef idx="0">
            <a:srgbClr val="FFFFFF"/>
          </a:effectRef>
          <a:fontRef idx="minor">
            <a:schemeClr val="tx1"/>
          </a:fontRef>
        </p:style>
      </p:cxnSp>
      <p:sp>
        <p:nvSpPr>
          <p:cNvPr id="10" name="矩形 9"/>
          <p:cNvSpPr/>
          <p:nvPr/>
        </p:nvSpPr>
        <p:spPr>
          <a:xfrm>
            <a:off x="737576" y="2186126"/>
            <a:ext cx="3294366" cy="377666"/>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latin typeface="微软雅黑" panose="020B0503020204020204" charset="-122"/>
                <a:ea typeface="微软雅黑" panose="020B0503020204020204" charset="-122"/>
              </a:rPr>
              <a:t>2. </a:t>
            </a:r>
            <a:r>
              <a:rPr lang="zh-CN" altLang="en-US" sz="1500" dirty="0">
                <a:latin typeface="微软雅黑" panose="020B0503020204020204" charset="-122"/>
                <a:ea typeface="微软雅黑" panose="020B0503020204020204" charset="-122"/>
              </a:rPr>
              <a:t>阻止事件</a:t>
            </a:r>
            <a:r>
              <a:rPr lang="zh-CN" altLang="en-US" sz="1500" dirty="0">
                <a:latin typeface="微软雅黑" panose="020B0503020204020204" charset="-122"/>
                <a:ea typeface="微软雅黑" panose="020B0503020204020204" charset="-122"/>
              </a:rPr>
              <a:t>冒泡</a:t>
            </a:r>
            <a:endParaRPr lang="zh-CN" altLang="en-US" sz="1500" dirty="0">
              <a:latin typeface="微软雅黑" panose="020B0503020204020204" charset="-122"/>
              <a:ea typeface="微软雅黑" panose="020B0503020204020204" charset="-122"/>
            </a:endParaRPr>
          </a:p>
        </p:txBody>
      </p:sp>
      <p:sp>
        <p:nvSpPr>
          <p:cNvPr id="11" name="TextBox 35"/>
          <p:cNvSpPr txBox="1">
            <a:spLocks noChangeArrowheads="1"/>
          </p:cNvSpPr>
          <p:nvPr/>
        </p:nvSpPr>
        <p:spPr bwMode="auto">
          <a:xfrm>
            <a:off x="622942" y="2775401"/>
            <a:ext cx="7891376" cy="1821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7" tIns="45718" rIns="91437" bIns="4571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en-US" altLang="zh-CN" sz="1500" dirty="0">
                <a:solidFill>
                  <a:srgbClr val="595959"/>
                </a:solidFill>
                <a:latin typeface="微软雅黑" panose="020B0503020204020204" charset="-122"/>
                <a:ea typeface="微软雅黑" panose="020B0503020204020204" charset="-122"/>
              </a:rPr>
              <a:t>在Vue中，阻止事件冒泡通常用于避免当子元素触发事件时，这个事件也被传播到父元素上。当你只想在特定元素上处理事件，而不希望这个事件影响到其他元素时</a:t>
            </a:r>
            <a:r>
              <a:rPr lang="zh-CN" altLang="en-US" sz="1500" dirty="0">
                <a:solidFill>
                  <a:srgbClr val="595959"/>
                </a:solidFill>
                <a:latin typeface="微软雅黑" panose="020B0503020204020204" charset="-122"/>
                <a:ea typeface="微软雅黑" panose="020B0503020204020204" charset="-122"/>
              </a:rPr>
              <a:t>可以使用</a:t>
            </a:r>
            <a:r>
              <a:rPr lang="en-US" altLang="zh-CN" sz="1500" dirty="0">
                <a:solidFill>
                  <a:srgbClr val="595959"/>
                </a:solidFill>
                <a:latin typeface="微软雅黑" panose="020B0503020204020204" charset="-122"/>
                <a:ea typeface="微软雅黑" panose="020B0503020204020204" charset="-122"/>
              </a:rPr>
              <a:t>。</a:t>
            </a:r>
            <a:endParaRPr lang="en-US" altLang="zh-CN" sz="1500" dirty="0">
              <a:solidFill>
                <a:srgbClr val="595959"/>
              </a:solidFill>
              <a:latin typeface="微软雅黑" panose="020B0503020204020204" charset="-122"/>
              <a:ea typeface="微软雅黑" panose="020B0503020204020204" charset="-122"/>
            </a:endParaRPr>
          </a:p>
          <a:p>
            <a:pPr algn="just">
              <a:lnSpc>
                <a:spcPct val="150000"/>
              </a:lnSpc>
            </a:pPr>
            <a:endParaRPr lang="en-US" altLang="zh-CN" sz="1500" dirty="0">
              <a:solidFill>
                <a:srgbClr val="595959"/>
              </a:solidFill>
              <a:latin typeface="微软雅黑" panose="020B0503020204020204" charset="-122"/>
              <a:ea typeface="微软雅黑" panose="020B0503020204020204" charset="-122"/>
            </a:endParaRPr>
          </a:p>
          <a:p>
            <a:pPr algn="just">
              <a:lnSpc>
                <a:spcPct val="150000"/>
              </a:lnSpc>
            </a:pPr>
            <a:r>
              <a:rPr lang="en-US" altLang="zh-CN" sz="1500" dirty="0">
                <a:solidFill>
                  <a:srgbClr val="595959"/>
                </a:solidFill>
                <a:latin typeface="微软雅黑" panose="020B0503020204020204" charset="-122"/>
                <a:ea typeface="微软雅黑" panose="020B0503020204020204" charset="-122"/>
              </a:rPr>
              <a:t>Vue提供了 </a:t>
            </a:r>
            <a:r>
              <a:rPr lang="en-US" altLang="zh-CN" sz="1500" dirty="0">
                <a:solidFill>
                  <a:srgbClr val="0070C0"/>
                </a:solidFill>
                <a:latin typeface="微软雅黑" panose="020B0503020204020204" charset="-122"/>
                <a:ea typeface="微软雅黑" panose="020B0503020204020204" charset="-122"/>
              </a:rPr>
              <a:t>.stop</a:t>
            </a:r>
            <a:r>
              <a:rPr lang="en-US" altLang="zh-CN" sz="1500" dirty="0">
                <a:solidFill>
                  <a:srgbClr val="595959"/>
                </a:solidFill>
                <a:latin typeface="微软雅黑" panose="020B0503020204020204" charset="-122"/>
                <a:ea typeface="微软雅黑" panose="020B0503020204020204" charset="-122"/>
              </a:rPr>
              <a:t> 修饰符来阻止事件冒泡。当你在事件处理函数上添加这个修饰符时，Vue 会自动调用 event.stopPropagation() 方法。</a:t>
            </a:r>
            <a:endParaRPr lang="zh-CN" altLang="en-US" sz="1500" dirty="0">
              <a:solidFill>
                <a:srgbClr val="595959"/>
              </a:solidFill>
              <a:latin typeface="微软雅黑" panose="020B0503020204020204" charset="-122"/>
              <a:ea typeface="微软雅黑" panose="020B050302020402020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3"/>
          <p:cNvSpPr/>
          <p:nvPr/>
        </p:nvSpPr>
        <p:spPr>
          <a:xfrm>
            <a:off x="179705" y="980440"/>
            <a:ext cx="8355965" cy="5544185"/>
          </a:xfrm>
          <a:prstGeom prst="roundRect">
            <a:avLst>
              <a:gd name="adj" fmla="val 5861"/>
            </a:avLst>
          </a:prstGeom>
          <a:gradFill rotWithShape="1">
            <a:gsLst>
              <a:gs pos="0">
                <a:srgbClr val="CCFFFF"/>
              </a:gs>
              <a:gs pos="100000">
                <a:srgbClr val="FFFFFF"/>
              </a:gs>
            </a:gsLst>
            <a:lin ang="5400000" scaled="1"/>
            <a:tileRect/>
          </a:gradFill>
          <a:ln w="9525" cap="flat" cmpd="sng">
            <a:solidFill>
              <a:srgbClr val="008080"/>
            </a:solidFill>
            <a:prstDash val="solid"/>
            <a:round/>
            <a:headEnd type="none" w="med" len="med"/>
            <a:tailEnd type="none" w="med" len="med"/>
          </a:ln>
        </p:spPr>
        <p:txBody>
          <a:bodyPr wrap="square" anchor="t">
            <a:noAutofit/>
          </a:bodyPr>
          <a:lstStyle>
            <a:defPPr>
              <a:defRPr lang="zh-CN"/>
            </a:defPPr>
            <a:lvl1pPr marL="0" lvl="0"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9pPr>
          </a:lstStyle>
          <a:p>
            <a:pPr algn="l"/>
            <a:endParaRPr lang="en-US" altLang="zh-CN" sz="2000" b="0" dirty="0">
              <a:latin typeface="+mn-lt"/>
              <a:cs typeface="+mn-lt"/>
            </a:endParaRPr>
          </a:p>
          <a:p>
            <a:pPr algn="l"/>
            <a:endParaRPr lang="en-US" altLang="zh-CN" sz="2000" b="0" dirty="0">
              <a:latin typeface="+mn-lt"/>
              <a:cs typeface="+mn-lt"/>
            </a:endParaRPr>
          </a:p>
          <a:p>
            <a:pPr algn="l"/>
            <a:endParaRPr lang="en-US" altLang="zh-CN" sz="2000" b="0" dirty="0">
              <a:latin typeface="+mn-lt"/>
              <a:cs typeface="+mn-lt"/>
            </a:endParaRPr>
          </a:p>
          <a:p>
            <a:pPr algn="l"/>
            <a:r>
              <a:rPr lang="en-US" altLang="zh-CN" sz="2000" b="0" dirty="0">
                <a:latin typeface="+mn-lt"/>
                <a:cs typeface="+mn-lt"/>
              </a:rPr>
              <a:t>&lt;div id="app"&gt;</a:t>
            </a:r>
            <a:endParaRPr lang="en-US" altLang="zh-CN" sz="2000" b="0" dirty="0">
              <a:latin typeface="+mn-lt"/>
              <a:cs typeface="+mn-lt"/>
            </a:endParaRPr>
          </a:p>
          <a:p>
            <a:pPr algn="l"/>
            <a:r>
              <a:rPr lang="en-US" altLang="zh-CN" sz="2000" b="0" dirty="0">
                <a:latin typeface="+mn-lt"/>
                <a:cs typeface="+mn-lt"/>
              </a:rPr>
              <a:t>    </a:t>
            </a:r>
            <a:r>
              <a:rPr lang="en-US" altLang="zh-CN" sz="2000" b="0" dirty="0">
                <a:solidFill>
                  <a:srgbClr val="FF0000"/>
                </a:solidFill>
                <a:latin typeface="+mn-lt"/>
                <a:cs typeface="+mn-lt"/>
              </a:rPr>
              <a:t>&lt;div @click="parentClick"&gt;</a:t>
            </a:r>
            <a:endParaRPr lang="en-US" altLang="zh-CN" sz="2000" b="0" dirty="0">
              <a:solidFill>
                <a:srgbClr val="FF0000"/>
              </a:solidFill>
              <a:latin typeface="+mn-lt"/>
              <a:cs typeface="+mn-lt"/>
            </a:endParaRPr>
          </a:p>
          <a:p>
            <a:pPr algn="l"/>
            <a:r>
              <a:rPr lang="en-US" altLang="zh-CN" sz="2000" b="0" dirty="0">
                <a:latin typeface="+mn-lt"/>
                <a:cs typeface="+mn-lt"/>
              </a:rPr>
              <a:t>            &lt;button @click.stop="childClick1"&gt;点击我（子元素，阻止冒泡）                    &lt;/button&gt; </a:t>
            </a:r>
            <a:endParaRPr lang="en-US" altLang="zh-CN" sz="2000" b="0" dirty="0">
              <a:latin typeface="+mn-lt"/>
              <a:cs typeface="+mn-lt"/>
            </a:endParaRPr>
          </a:p>
          <a:p>
            <a:pPr algn="l"/>
            <a:r>
              <a:rPr lang="en-US" altLang="zh-CN" sz="2000" b="0" dirty="0">
                <a:latin typeface="+mn-lt"/>
                <a:cs typeface="+mn-lt"/>
              </a:rPr>
              <a:t>            &lt;button @click="childClick2"&gt;点击我（子元素，不阻止冒泡）	&lt;/button&gt;</a:t>
            </a:r>
            <a:endParaRPr lang="en-US" altLang="zh-CN" sz="2000" b="0" dirty="0">
              <a:latin typeface="+mn-lt"/>
              <a:cs typeface="+mn-lt"/>
            </a:endParaRPr>
          </a:p>
          <a:p>
            <a:pPr algn="l"/>
            <a:r>
              <a:rPr lang="en-US" altLang="zh-CN" sz="2000" b="0" dirty="0">
                <a:latin typeface="+mn-lt"/>
                <a:cs typeface="+mn-lt"/>
              </a:rPr>
              <a:t>    </a:t>
            </a:r>
            <a:r>
              <a:rPr lang="en-US" altLang="zh-CN" sz="2000" b="0" dirty="0">
                <a:solidFill>
                  <a:srgbClr val="FF0000"/>
                </a:solidFill>
                <a:latin typeface="+mn-lt"/>
                <a:cs typeface="+mn-lt"/>
              </a:rPr>
              <a:t>&lt;/div&gt;</a:t>
            </a:r>
            <a:endParaRPr lang="en-US" altLang="zh-CN" sz="2000" b="0" dirty="0">
              <a:latin typeface="+mn-lt"/>
              <a:cs typeface="+mn-lt"/>
            </a:endParaRPr>
          </a:p>
          <a:p>
            <a:pPr algn="l"/>
            <a:r>
              <a:rPr lang="en-US" altLang="zh-CN" sz="2000" b="0" dirty="0">
                <a:latin typeface="+mn-lt"/>
                <a:cs typeface="+mn-lt"/>
              </a:rPr>
              <a:t>&lt;/div&gt;</a:t>
            </a:r>
            <a:endParaRPr lang="en-US" altLang="zh-CN" sz="2000" b="0" dirty="0">
              <a:latin typeface="+mn-lt"/>
              <a:cs typeface="+mn-l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740650" y="5300980"/>
            <a:ext cx="1040765" cy="368300"/>
          </a:xfrm>
          <a:prstGeom prst="rect">
            <a:avLst/>
          </a:prstGeom>
          <a:noFill/>
        </p:spPr>
        <p:txBody>
          <a:bodyPr wrap="square" rtlCol="0">
            <a:spAutoFit/>
          </a:bodyPr>
          <a:p>
            <a:r>
              <a:rPr lang="zh-CN" altLang="en-US">
                <a:hlinkClick r:id="rId1" action="ppaction://hlinkfile"/>
              </a:rPr>
              <a:t>运行</a:t>
            </a:r>
            <a:endParaRPr lang="zh-CN" altLang="en-US"/>
          </a:p>
        </p:txBody>
      </p:sp>
      <p:sp>
        <p:nvSpPr>
          <p:cNvPr id="8" name="AutoShape 3"/>
          <p:cNvSpPr/>
          <p:nvPr/>
        </p:nvSpPr>
        <p:spPr>
          <a:xfrm>
            <a:off x="323850" y="1052830"/>
            <a:ext cx="8355965" cy="5544185"/>
          </a:xfrm>
          <a:prstGeom prst="roundRect">
            <a:avLst>
              <a:gd name="adj" fmla="val 5861"/>
            </a:avLst>
          </a:prstGeom>
          <a:gradFill rotWithShape="1">
            <a:gsLst>
              <a:gs pos="0">
                <a:srgbClr val="CCFFFF"/>
              </a:gs>
              <a:gs pos="100000">
                <a:srgbClr val="FFFFFF"/>
              </a:gs>
            </a:gsLst>
            <a:lin ang="5400000" scaled="1"/>
            <a:tileRect/>
          </a:gradFill>
          <a:ln w="9525" cap="flat" cmpd="sng">
            <a:solidFill>
              <a:srgbClr val="008080"/>
            </a:solidFill>
            <a:prstDash val="solid"/>
            <a:round/>
            <a:headEnd type="none" w="med" len="med"/>
            <a:tailEnd type="none" w="med" len="med"/>
          </a:ln>
        </p:spPr>
        <p:txBody>
          <a:bodyPr wrap="square" anchor="t">
            <a:noAutofit/>
          </a:bodyPr>
          <a:lstStyle>
            <a:defPPr>
              <a:defRPr lang="zh-CN"/>
            </a:defPPr>
            <a:lvl1pPr marL="0" lvl="0"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9pPr>
          </a:lstStyle>
          <a:p>
            <a:pPr algn="l"/>
            <a:endParaRPr lang="en-US" altLang="zh-CN" sz="2000" b="0" dirty="0">
              <a:latin typeface="+mn-lt"/>
              <a:cs typeface="+mn-lt"/>
            </a:endParaRPr>
          </a:p>
          <a:p>
            <a:pPr algn="l"/>
            <a:r>
              <a:rPr lang="en-US" altLang="zh-CN" sz="2000" b="0" dirty="0">
                <a:latin typeface="+mn-lt"/>
                <a:cs typeface="+mn-lt"/>
              </a:rPr>
              <a:t>var example1 = new Vue({</a:t>
            </a:r>
            <a:endParaRPr lang="en-US" altLang="zh-CN" sz="2000" b="0" dirty="0">
              <a:latin typeface="+mn-lt"/>
              <a:cs typeface="+mn-lt"/>
            </a:endParaRPr>
          </a:p>
          <a:p>
            <a:pPr algn="l"/>
            <a:r>
              <a:rPr lang="en-US" altLang="zh-CN" sz="2000" b="0" dirty="0">
                <a:latin typeface="+mn-lt"/>
                <a:cs typeface="+mn-lt"/>
              </a:rPr>
              <a:t>      el: '#app',</a:t>
            </a:r>
            <a:endParaRPr lang="en-US" altLang="zh-CN" sz="2000" b="0" dirty="0">
              <a:latin typeface="+mn-lt"/>
              <a:cs typeface="+mn-lt"/>
            </a:endParaRPr>
          </a:p>
          <a:p>
            <a:pPr algn="l"/>
            <a:r>
              <a:rPr lang="en-US" altLang="zh-CN" sz="2000" b="0" dirty="0">
                <a:latin typeface="+mn-lt"/>
                <a:cs typeface="+mn-lt"/>
              </a:rPr>
              <a:t>      methods: {</a:t>
            </a:r>
            <a:endParaRPr lang="en-US" altLang="zh-CN" sz="2000" b="0" dirty="0">
              <a:latin typeface="+mn-lt"/>
              <a:cs typeface="+mn-lt"/>
            </a:endParaRPr>
          </a:p>
          <a:p>
            <a:pPr algn="l"/>
            <a:r>
              <a:rPr lang="en-US" altLang="zh-CN" sz="2000" b="0" dirty="0">
                <a:latin typeface="+mn-lt"/>
                <a:cs typeface="+mn-lt"/>
              </a:rPr>
              <a:t>        parentClick () {</a:t>
            </a:r>
            <a:endParaRPr lang="en-US" altLang="zh-CN" sz="2000" b="0" dirty="0">
              <a:latin typeface="+mn-lt"/>
              <a:cs typeface="+mn-lt"/>
            </a:endParaRPr>
          </a:p>
          <a:p>
            <a:pPr algn="l"/>
            <a:r>
              <a:rPr lang="en-US" altLang="zh-CN" sz="2000" b="0" dirty="0">
                <a:latin typeface="+mn-lt"/>
                <a:cs typeface="+mn-lt"/>
              </a:rPr>
              <a:t>          alert('父元素被点击了')</a:t>
            </a:r>
            <a:endParaRPr lang="en-US" altLang="zh-CN" sz="2000" b="0" dirty="0">
              <a:latin typeface="+mn-lt"/>
              <a:cs typeface="+mn-lt"/>
            </a:endParaRPr>
          </a:p>
          <a:p>
            <a:pPr algn="l"/>
            <a:r>
              <a:rPr lang="en-US" altLang="zh-CN" sz="2000" b="0" dirty="0">
                <a:latin typeface="+mn-lt"/>
                <a:cs typeface="+mn-lt"/>
              </a:rPr>
              <a:t>        },</a:t>
            </a:r>
            <a:endParaRPr lang="en-US" altLang="zh-CN" sz="2000" b="0" dirty="0">
              <a:latin typeface="+mn-lt"/>
              <a:cs typeface="+mn-lt"/>
            </a:endParaRPr>
          </a:p>
          <a:p>
            <a:pPr algn="l"/>
            <a:r>
              <a:rPr lang="en-US" altLang="zh-CN" sz="2000" b="0" dirty="0">
                <a:latin typeface="+mn-lt"/>
                <a:cs typeface="+mn-lt"/>
              </a:rPr>
              <a:t>        childClick1 () {</a:t>
            </a:r>
            <a:endParaRPr lang="en-US" altLang="zh-CN" sz="2000" b="0" dirty="0">
              <a:latin typeface="+mn-lt"/>
              <a:cs typeface="+mn-lt"/>
            </a:endParaRPr>
          </a:p>
          <a:p>
            <a:pPr algn="l"/>
            <a:r>
              <a:rPr lang="en-US" altLang="zh-CN" sz="2000" b="0" dirty="0">
                <a:latin typeface="+mn-lt"/>
                <a:cs typeface="+mn-lt"/>
              </a:rPr>
              <a:t>          alert('子元素被点击了，但不会触发父元素的点击事件')</a:t>
            </a:r>
            <a:endParaRPr lang="en-US" altLang="zh-CN" sz="2000" b="0" dirty="0">
              <a:latin typeface="+mn-lt"/>
              <a:cs typeface="+mn-lt"/>
            </a:endParaRPr>
          </a:p>
          <a:p>
            <a:pPr algn="l"/>
            <a:r>
              <a:rPr lang="en-US" altLang="zh-CN" sz="2000" b="0" dirty="0">
                <a:latin typeface="+mn-lt"/>
                <a:cs typeface="+mn-lt"/>
              </a:rPr>
              <a:t>        },</a:t>
            </a:r>
            <a:endParaRPr lang="en-US" altLang="zh-CN" sz="2000" b="0" dirty="0">
              <a:latin typeface="+mn-lt"/>
              <a:cs typeface="+mn-lt"/>
            </a:endParaRPr>
          </a:p>
          <a:p>
            <a:pPr algn="l"/>
            <a:r>
              <a:rPr lang="en-US" altLang="zh-CN" sz="2000" b="0" dirty="0">
                <a:latin typeface="+mn-lt"/>
                <a:cs typeface="+mn-lt"/>
              </a:rPr>
              <a:t>        childClick2 () {</a:t>
            </a:r>
            <a:endParaRPr lang="en-US" altLang="zh-CN" sz="2000" b="0" dirty="0">
              <a:latin typeface="+mn-lt"/>
              <a:cs typeface="+mn-lt"/>
            </a:endParaRPr>
          </a:p>
          <a:p>
            <a:pPr algn="l"/>
            <a:r>
              <a:rPr lang="en-US" altLang="zh-CN" sz="2000" b="0" dirty="0">
                <a:latin typeface="+mn-lt"/>
                <a:cs typeface="+mn-lt"/>
              </a:rPr>
              <a:t>          alert('子元素被点击了，同时触发父元素的点击事件')</a:t>
            </a:r>
            <a:endParaRPr lang="en-US" altLang="zh-CN" sz="2000" b="0" dirty="0">
              <a:latin typeface="+mn-lt"/>
              <a:cs typeface="+mn-lt"/>
            </a:endParaRPr>
          </a:p>
          <a:p>
            <a:pPr algn="l"/>
            <a:r>
              <a:rPr lang="en-US" altLang="zh-CN" sz="2000" b="0" dirty="0">
                <a:latin typeface="+mn-lt"/>
                <a:cs typeface="+mn-lt"/>
              </a:rPr>
              <a:t>        }</a:t>
            </a:r>
            <a:endParaRPr lang="en-US" altLang="zh-CN" sz="2000" b="0" dirty="0">
              <a:latin typeface="+mn-lt"/>
              <a:cs typeface="+mn-lt"/>
            </a:endParaRPr>
          </a:p>
          <a:p>
            <a:pPr algn="l"/>
            <a:r>
              <a:rPr lang="en-US" altLang="zh-CN" sz="2000" b="0" dirty="0">
                <a:latin typeface="+mn-lt"/>
                <a:cs typeface="+mn-lt"/>
              </a:rPr>
              <a:t>      }</a:t>
            </a:r>
            <a:endParaRPr lang="en-US" altLang="zh-CN" sz="2000" b="0" dirty="0">
              <a:latin typeface="+mn-lt"/>
              <a:cs typeface="+mn-lt"/>
            </a:endParaRPr>
          </a:p>
          <a:p>
            <a:pPr algn="l"/>
            <a:r>
              <a:rPr lang="en-US" altLang="zh-CN" sz="2000" b="0" dirty="0">
                <a:latin typeface="+mn-lt"/>
                <a:cs typeface="+mn-lt"/>
              </a:rPr>
              <a:t>    })</a:t>
            </a:r>
            <a:endParaRPr lang="en-US" altLang="zh-CN" sz="2000" b="0" dirty="0">
              <a:latin typeface="+mn-lt"/>
              <a:cs typeface="+mn-lt"/>
            </a:endParaRPr>
          </a:p>
        </p:txBody>
      </p:sp>
      <p:sp>
        <p:nvSpPr>
          <p:cNvPr id="3" name="文本框 2"/>
          <p:cNvSpPr txBox="1"/>
          <p:nvPr/>
        </p:nvSpPr>
        <p:spPr>
          <a:xfrm>
            <a:off x="7020560" y="5805170"/>
            <a:ext cx="1040765" cy="368300"/>
          </a:xfrm>
          <a:prstGeom prst="rect">
            <a:avLst/>
          </a:prstGeom>
          <a:noFill/>
        </p:spPr>
        <p:txBody>
          <a:bodyPr wrap="square" rtlCol="0">
            <a:spAutoFit/>
          </a:bodyPr>
          <a:p>
            <a:r>
              <a:rPr lang="zh-CN" altLang="en-US">
                <a:hlinkClick r:id="rId2" action="ppaction://hlinkfile"/>
              </a:rPr>
              <a:t>运行</a:t>
            </a:r>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37100" y="1854179"/>
            <a:ext cx="3294366" cy="377666"/>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latin typeface="微软雅黑" panose="020B0503020204020204" charset="-122"/>
                <a:ea typeface="微软雅黑" panose="020B0503020204020204" charset="-122"/>
              </a:rPr>
              <a:t>3. </a:t>
            </a:r>
            <a:r>
              <a:rPr lang="zh-CN" altLang="en-US" sz="1500" dirty="0">
                <a:latin typeface="微软雅黑" panose="020B0503020204020204" charset="-122"/>
                <a:ea typeface="微软雅黑" panose="020B0503020204020204" charset="-122"/>
              </a:rPr>
              <a:t>使事件只触发一次</a:t>
            </a:r>
            <a:r>
              <a:rPr lang="en-US" altLang="zh-CN" sz="1500" dirty="0">
                <a:latin typeface="微软雅黑" panose="020B0503020204020204" charset="-122"/>
                <a:ea typeface="微软雅黑" panose="020B0503020204020204" charset="-122"/>
              </a:rPr>
              <a:t> </a:t>
            </a:r>
            <a:endParaRPr lang="zh-CN" altLang="en-US" sz="1500" dirty="0">
              <a:latin typeface="微软雅黑" panose="020B0503020204020204" charset="-122"/>
              <a:ea typeface="微软雅黑" panose="020B0503020204020204" charset="-122"/>
            </a:endParaRPr>
          </a:p>
        </p:txBody>
      </p:sp>
      <p:sp>
        <p:nvSpPr>
          <p:cNvPr id="6" name="TextBox 35"/>
          <p:cNvSpPr txBox="1">
            <a:spLocks noChangeArrowheads="1"/>
          </p:cNvSpPr>
          <p:nvPr/>
        </p:nvSpPr>
        <p:spPr bwMode="auto">
          <a:xfrm>
            <a:off x="622466" y="2443455"/>
            <a:ext cx="7891376" cy="3552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7" tIns="45718" rIns="91437" bIns="4571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1500" dirty="0">
                <a:solidFill>
                  <a:srgbClr val="595959"/>
                </a:solidFill>
                <a:latin typeface="微软雅黑" panose="020B0503020204020204" charset="-122"/>
                <a:ea typeface="微软雅黑" panose="020B0503020204020204" charset="-122"/>
              </a:rPr>
              <a:t>通过</a:t>
            </a:r>
            <a:r>
              <a:rPr lang="en-US" altLang="zh-CN" sz="1500" dirty="0">
                <a:solidFill>
                  <a:srgbClr val="1369B2"/>
                </a:solidFill>
                <a:latin typeface="微软雅黑" panose="020B0503020204020204" charset="-122"/>
                <a:ea typeface="微软雅黑" panose="020B0503020204020204" charset="-122"/>
              </a:rPr>
              <a:t>.once</a:t>
            </a:r>
            <a:r>
              <a:rPr lang="zh-CN" altLang="en-US" sz="1500" dirty="0">
                <a:solidFill>
                  <a:srgbClr val="1369B2"/>
                </a:solidFill>
                <a:latin typeface="微软雅黑" panose="020B0503020204020204" charset="-122"/>
                <a:ea typeface="微软雅黑" panose="020B0503020204020204" charset="-122"/>
              </a:rPr>
              <a:t>事件修饰符</a:t>
            </a:r>
            <a:r>
              <a:rPr lang="zh-CN" altLang="en-US" sz="1500" dirty="0">
                <a:solidFill>
                  <a:srgbClr val="595959"/>
                </a:solidFill>
                <a:latin typeface="微软雅黑" panose="020B0503020204020204" charset="-122"/>
                <a:ea typeface="微软雅黑" panose="020B0503020204020204" charset="-122"/>
              </a:rPr>
              <a:t>可以实现使</a:t>
            </a:r>
            <a:r>
              <a:rPr lang="zh-CN" altLang="en-US" sz="1500" dirty="0">
                <a:solidFill>
                  <a:srgbClr val="1369B2"/>
                </a:solidFill>
                <a:latin typeface="微软雅黑" panose="020B0503020204020204" charset="-122"/>
                <a:ea typeface="微软雅黑" panose="020B0503020204020204" charset="-122"/>
              </a:rPr>
              <a:t>事件只触发一次</a:t>
            </a:r>
            <a:r>
              <a:rPr lang="zh-CN" altLang="en-US" sz="1500" dirty="0">
                <a:solidFill>
                  <a:srgbClr val="595959"/>
                </a:solidFill>
                <a:latin typeface="微软雅黑" panose="020B0503020204020204" charset="-122"/>
                <a:ea typeface="微软雅黑" panose="020B0503020204020204" charset="-122"/>
              </a:rPr>
              <a:t>的功能。</a:t>
            </a:r>
            <a:r>
              <a:rPr lang="en-US" altLang="zh-CN" sz="1500" dirty="0">
                <a:solidFill>
                  <a:srgbClr val="595959"/>
                </a:solidFill>
                <a:latin typeface="微软雅黑" panose="020B0503020204020204" charset="-122"/>
                <a:ea typeface="微软雅黑" panose="020B0503020204020204" charset="-122"/>
              </a:rPr>
              <a:t>.once</a:t>
            </a:r>
            <a:r>
              <a:rPr lang="zh-CN" altLang="en-US" sz="1500" dirty="0">
                <a:solidFill>
                  <a:srgbClr val="595959"/>
                </a:solidFill>
                <a:latin typeface="微软雅黑" panose="020B0503020204020204" charset="-122"/>
                <a:ea typeface="微软雅黑" panose="020B0503020204020204" charset="-122"/>
              </a:rPr>
              <a:t>事件修饰符用于阻止事件的多次触发，让事件只触发一次，示例代码如下。</a:t>
            </a:r>
            <a:endParaRPr lang="zh-CN" altLang="en-US" sz="1500" dirty="0">
              <a:solidFill>
                <a:srgbClr val="595959"/>
              </a:solidFill>
              <a:latin typeface="微软雅黑" panose="020B0503020204020204" charset="-122"/>
              <a:ea typeface="微软雅黑" panose="020B0503020204020204" charset="-122"/>
            </a:endParaRPr>
          </a:p>
          <a:p>
            <a:pPr algn="just">
              <a:lnSpc>
                <a:spcPct val="150000"/>
              </a:lnSpc>
            </a:pPr>
            <a:endParaRPr lang="en-US" altLang="zh-CN" sz="1500" dirty="0">
              <a:solidFill>
                <a:srgbClr val="595959"/>
              </a:solidFill>
              <a:latin typeface="微软雅黑" panose="020B0503020204020204" charset="-122"/>
              <a:ea typeface="微软雅黑" panose="020B0503020204020204" charset="-122"/>
            </a:endParaRPr>
          </a:p>
          <a:p>
            <a:pPr algn="just">
              <a:lnSpc>
                <a:spcPct val="150000"/>
              </a:lnSpc>
            </a:pPr>
            <a:r>
              <a:rPr lang="en-US" altLang="zh-CN" sz="1500" dirty="0">
                <a:solidFill>
                  <a:srgbClr val="595959"/>
                </a:solidFill>
                <a:latin typeface="微软雅黑" panose="020B0503020204020204" charset="-122"/>
                <a:ea typeface="微软雅黑" panose="020B0503020204020204" charset="-122"/>
              </a:rPr>
              <a:t>&lt;button @click.once="handleClick"&gt;点击我（只响应一次）&lt;/button&gt;</a:t>
            </a:r>
            <a:endParaRPr lang="en-US" altLang="zh-CN" sz="1500" dirty="0">
              <a:solidFill>
                <a:srgbClr val="595959"/>
              </a:solidFill>
              <a:latin typeface="微软雅黑" panose="020B0503020204020204" charset="-122"/>
              <a:ea typeface="微软雅黑" panose="020B0503020204020204" charset="-122"/>
            </a:endParaRPr>
          </a:p>
          <a:p>
            <a:pPr algn="just">
              <a:lnSpc>
                <a:spcPct val="150000"/>
              </a:lnSpc>
            </a:pPr>
            <a:endParaRPr lang="en-US" altLang="zh-CN" sz="1500" dirty="0">
              <a:solidFill>
                <a:srgbClr val="595959"/>
              </a:solidFill>
              <a:latin typeface="微软雅黑" panose="020B0503020204020204" charset="-122"/>
              <a:ea typeface="微软雅黑" panose="020B0503020204020204" charset="-122"/>
            </a:endParaRPr>
          </a:p>
          <a:p>
            <a:pPr algn="just">
              <a:lnSpc>
                <a:spcPct val="150000"/>
              </a:lnSpc>
            </a:pPr>
            <a:r>
              <a:rPr lang="en-US" altLang="zh-CN" sz="1500" dirty="0">
                <a:solidFill>
                  <a:srgbClr val="595959"/>
                </a:solidFill>
                <a:latin typeface="微软雅黑" panose="020B0503020204020204" charset="-122"/>
                <a:ea typeface="微软雅黑" panose="020B0503020204020204" charset="-122"/>
              </a:rPr>
              <a:t>methods: {</a:t>
            </a:r>
            <a:endParaRPr lang="en-US" altLang="zh-CN" sz="1500" dirty="0">
              <a:solidFill>
                <a:srgbClr val="595959"/>
              </a:solidFill>
              <a:latin typeface="微软雅黑" panose="020B0503020204020204" charset="-122"/>
              <a:ea typeface="微软雅黑" panose="020B0503020204020204" charset="-122"/>
            </a:endParaRPr>
          </a:p>
          <a:p>
            <a:pPr algn="just">
              <a:lnSpc>
                <a:spcPct val="150000"/>
              </a:lnSpc>
            </a:pPr>
            <a:r>
              <a:rPr lang="en-US" altLang="zh-CN" sz="1500" dirty="0">
                <a:solidFill>
                  <a:srgbClr val="595959"/>
                </a:solidFill>
                <a:latin typeface="微软雅黑" panose="020B0503020204020204" charset="-122"/>
                <a:ea typeface="微软雅黑" panose="020B0503020204020204" charset="-122"/>
              </a:rPr>
              <a:t>	handleClick () {</a:t>
            </a:r>
            <a:endParaRPr lang="en-US" altLang="zh-CN" sz="1500" dirty="0">
              <a:solidFill>
                <a:srgbClr val="595959"/>
              </a:solidFill>
              <a:latin typeface="微软雅黑" panose="020B0503020204020204" charset="-122"/>
              <a:ea typeface="微软雅黑" panose="020B0503020204020204" charset="-122"/>
            </a:endParaRPr>
          </a:p>
          <a:p>
            <a:pPr algn="just">
              <a:lnSpc>
                <a:spcPct val="150000"/>
              </a:lnSpc>
            </a:pPr>
            <a:r>
              <a:rPr lang="en-US" altLang="zh-CN" sz="1500" dirty="0">
                <a:solidFill>
                  <a:srgbClr val="595959"/>
                </a:solidFill>
                <a:latin typeface="微软雅黑" panose="020B0503020204020204" charset="-122"/>
                <a:ea typeface="微软雅黑" panose="020B0503020204020204" charset="-122"/>
              </a:rPr>
              <a:t>		alert('按钮被点击了，但只会有一次响应。')</a:t>
            </a:r>
            <a:endParaRPr lang="en-US" altLang="zh-CN" sz="1500" dirty="0">
              <a:solidFill>
                <a:srgbClr val="595959"/>
              </a:solidFill>
              <a:latin typeface="微软雅黑" panose="020B0503020204020204" charset="-122"/>
              <a:ea typeface="微软雅黑" panose="020B0503020204020204" charset="-122"/>
            </a:endParaRPr>
          </a:p>
          <a:p>
            <a:pPr algn="just">
              <a:lnSpc>
                <a:spcPct val="150000"/>
              </a:lnSpc>
            </a:pPr>
            <a:r>
              <a:rPr lang="en-US" altLang="zh-CN" sz="1500" dirty="0">
                <a:solidFill>
                  <a:srgbClr val="595959"/>
                </a:solidFill>
                <a:latin typeface="微软雅黑" panose="020B0503020204020204" charset="-122"/>
                <a:ea typeface="微软雅黑" panose="020B0503020204020204" charset="-122"/>
              </a:rPr>
              <a:t>		}</a:t>
            </a:r>
            <a:endParaRPr lang="en-US" altLang="zh-CN" sz="1500" dirty="0">
              <a:solidFill>
                <a:srgbClr val="595959"/>
              </a:solidFill>
              <a:latin typeface="微软雅黑" panose="020B0503020204020204" charset="-122"/>
              <a:ea typeface="微软雅黑" panose="020B0503020204020204" charset="-122"/>
            </a:endParaRPr>
          </a:p>
          <a:p>
            <a:pPr algn="just">
              <a:lnSpc>
                <a:spcPct val="150000"/>
              </a:lnSpc>
            </a:pPr>
            <a:r>
              <a:rPr lang="en-US" altLang="zh-CN" sz="1500" dirty="0">
                <a:solidFill>
                  <a:srgbClr val="595959"/>
                </a:solidFill>
                <a:latin typeface="微软雅黑" panose="020B0503020204020204" charset="-122"/>
                <a:ea typeface="微软雅黑" panose="020B0503020204020204" charset="-122"/>
              </a:rPr>
              <a:t>	}</a:t>
            </a:r>
            <a:endParaRPr lang="en-US" altLang="zh-CN" sz="1500" dirty="0">
              <a:solidFill>
                <a:srgbClr val="595959"/>
              </a:solidFill>
              <a:latin typeface="微软雅黑" panose="020B0503020204020204" charset="-122"/>
              <a:ea typeface="微软雅黑" panose="020B0503020204020204" charset="-122"/>
            </a:endParaRPr>
          </a:p>
        </p:txBody>
      </p:sp>
      <p:sp>
        <p:nvSpPr>
          <p:cNvPr id="2" name="文本框 1"/>
          <p:cNvSpPr txBox="1"/>
          <p:nvPr/>
        </p:nvSpPr>
        <p:spPr>
          <a:xfrm>
            <a:off x="6948170" y="5661025"/>
            <a:ext cx="1040765" cy="368300"/>
          </a:xfrm>
          <a:prstGeom prst="rect">
            <a:avLst/>
          </a:prstGeom>
          <a:noFill/>
        </p:spPr>
        <p:txBody>
          <a:bodyPr wrap="square" rtlCol="0">
            <a:spAutoFit/>
          </a:bodyPr>
          <a:p>
            <a:r>
              <a:rPr lang="zh-CN" altLang="en-US">
                <a:hlinkClick r:id="rId1" action="ppaction://hlinkfile"/>
              </a:rPr>
              <a:t>运行</a:t>
            </a:r>
            <a:endParaRPr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按键修饰符</a:t>
            </a:r>
            <a:endParaRPr lang="zh-CN" altLang="en-US"/>
          </a:p>
        </p:txBody>
      </p:sp>
      <p:sp>
        <p:nvSpPr>
          <p:cNvPr id="3" name="内容占位符 2"/>
          <p:cNvSpPr>
            <a:spLocks noGrp="1"/>
          </p:cNvSpPr>
          <p:nvPr>
            <p:ph idx="1"/>
          </p:nvPr>
        </p:nvSpPr>
        <p:spPr/>
        <p:txBody>
          <a:bodyPr/>
          <a:lstStyle/>
          <a:p>
            <a:r>
              <a:rPr lang="zh-CN" altLang="en-US" sz="2000"/>
              <a:t>在监听键盘事件的时候，我们常常需要监测一些常用的键值（keyCode）。为此，Vue 允许为 v-on 在监听键盘事件时添加关键修饰符，以此来接受一个表示 keyCode 的参数并判断。 Vue 提供的一些常用的按键别名为</a:t>
            </a:r>
            <a:r>
              <a:rPr lang="en-US" altLang="zh-CN" sz="2000"/>
              <a:t>:</a:t>
            </a:r>
            <a:endParaRPr lang="zh-CN" altLang="en-US" sz="2000"/>
          </a:p>
          <a:p>
            <a:pPr marL="0" indent="0">
              <a:buNone/>
            </a:pPr>
            <a:r>
              <a:rPr lang="zh-CN" altLang="en-US" sz="2400"/>
              <a:t>   </a:t>
            </a:r>
            <a:r>
              <a:rPr lang="zh-CN" altLang="en-US" sz="2000"/>
              <a:t>  .enter </a:t>
            </a:r>
            <a:endParaRPr lang="zh-CN" altLang="en-US" sz="2000"/>
          </a:p>
          <a:p>
            <a:pPr marL="0" indent="0">
              <a:buNone/>
            </a:pPr>
            <a:r>
              <a:rPr lang="zh-CN" altLang="en-US" sz="2000"/>
              <a:t>     .tab </a:t>
            </a:r>
            <a:endParaRPr lang="zh-CN" altLang="en-US" sz="2000"/>
          </a:p>
          <a:p>
            <a:pPr marL="0" indent="0">
              <a:buNone/>
            </a:pPr>
            <a:r>
              <a:rPr lang="zh-CN" altLang="en-US" sz="2000"/>
              <a:t>     .delete (捕获 “删除” 和 “退格” 键) </a:t>
            </a:r>
            <a:endParaRPr lang="zh-CN" altLang="en-US" sz="2000"/>
          </a:p>
          <a:p>
            <a:pPr marL="0" indent="0">
              <a:buNone/>
            </a:pPr>
            <a:r>
              <a:rPr lang="zh-CN" altLang="en-US" sz="2000"/>
              <a:t>     .esc </a:t>
            </a:r>
            <a:endParaRPr lang="zh-CN" altLang="en-US" sz="2000"/>
          </a:p>
          <a:p>
            <a:pPr marL="0" indent="0">
              <a:buNone/>
            </a:pPr>
            <a:r>
              <a:rPr lang="zh-CN" altLang="en-US" sz="2000"/>
              <a:t>     .space </a:t>
            </a:r>
            <a:endParaRPr lang="zh-CN" altLang="en-US" sz="2000"/>
          </a:p>
          <a:p>
            <a:pPr marL="0" indent="0">
              <a:buNone/>
            </a:pPr>
            <a:r>
              <a:rPr lang="zh-CN" altLang="en-US" sz="2000"/>
              <a:t>     .up </a:t>
            </a:r>
            <a:endParaRPr lang="zh-CN" altLang="en-US" sz="2000"/>
          </a:p>
          <a:p>
            <a:pPr marL="0" indent="0">
              <a:buNone/>
            </a:pPr>
            <a:r>
              <a:rPr lang="zh-CN" altLang="en-US" sz="2000"/>
              <a:t>     .down </a:t>
            </a:r>
            <a:endParaRPr lang="zh-CN" altLang="en-US" sz="2000"/>
          </a:p>
          <a:p>
            <a:pPr marL="0" indent="0">
              <a:buNone/>
            </a:pPr>
            <a:r>
              <a:rPr lang="zh-CN" altLang="en-US" sz="2000"/>
              <a:t>     .left</a:t>
            </a:r>
            <a:endParaRPr lang="zh-CN" altLang="en-US" sz="2000"/>
          </a:p>
          <a:p>
            <a:pPr marL="0" indent="0">
              <a:buNone/>
            </a:pPr>
            <a:r>
              <a:rPr lang="zh-CN" altLang="en-US" sz="2000"/>
              <a:t>     .right </a:t>
            </a:r>
            <a:endParaRPr lang="zh-CN" altLang="en-US" sz="2000"/>
          </a:p>
          <a:p>
            <a:pPr marL="0" indent="0">
              <a:buNone/>
            </a:pPr>
            <a:r>
              <a:rPr lang="zh-CN" altLang="en-US" sz="2000"/>
              <a:t> </a:t>
            </a:r>
            <a:endParaRPr lang="zh-CN" altLang="en-US" sz="2000"/>
          </a:p>
          <a:p>
            <a:pPr marL="0" indent="0">
              <a:buNone/>
            </a:pPr>
            <a:endParaRPr lang="zh-CN" altLang="en-US" sz="24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a:p>
            <a:endParaRPr lang="zh-CN" altLang="en-US"/>
          </a:p>
          <a:p>
            <a:pPr marL="0" indent="0">
              <a:buNone/>
            </a:pPr>
            <a:endParaRPr lang="zh-CN" altLang="en-US" sz="2400"/>
          </a:p>
          <a:p>
            <a:pPr marL="0" indent="0">
              <a:buNone/>
            </a:pPr>
            <a:endParaRPr lang="zh-CN" altLang="en-US" sz="2400"/>
          </a:p>
          <a:p>
            <a:pPr marL="0" indent="0">
              <a:buNone/>
            </a:pPr>
            <a:endParaRPr lang="zh-CN" altLang="en-US" sz="2400"/>
          </a:p>
          <a:p>
            <a:pPr marL="0" indent="0">
              <a:buNone/>
            </a:pPr>
            <a:endParaRPr lang="zh-CN" altLang="en-US" sz="2400"/>
          </a:p>
          <a:p>
            <a:pPr marL="0" indent="0">
              <a:buNone/>
            </a:pPr>
            <a:r>
              <a:rPr lang="zh-CN" altLang="en-US" sz="2400"/>
              <a:t>上面代码中 v-on 指令绑定 enter 键事件，点击执行 submit() 函数事件。 </a:t>
            </a:r>
            <a:endParaRPr lang="zh-CN" altLang="en-US" sz="2400"/>
          </a:p>
          <a:p>
            <a:pPr marL="0" indent="0">
              <a:buNone/>
            </a:pPr>
            <a:endParaRPr lang="zh-CN" altLang="en-US" sz="2400"/>
          </a:p>
          <a:p>
            <a:pPr marL="0" indent="0">
              <a:buNone/>
            </a:pPr>
            <a:endParaRPr lang="zh-CN" altLang="en-US" sz="2400"/>
          </a:p>
          <a:p>
            <a:pPr marL="0" indent="0">
              <a:buNone/>
            </a:pPr>
            <a:endParaRPr lang="zh-CN" altLang="en-US" sz="2400"/>
          </a:p>
          <a:p>
            <a:pPr marL="0" indent="0">
              <a:buNone/>
            </a:pPr>
            <a:endParaRPr lang="zh-CN" altLang="en-US" sz="2400"/>
          </a:p>
        </p:txBody>
      </p:sp>
      <p:pic>
        <p:nvPicPr>
          <p:cNvPr id="4" name="图片 3" descr="捕获20"/>
          <p:cNvPicPr>
            <a:picLocks noChangeAspect="1"/>
          </p:cNvPicPr>
          <p:nvPr/>
        </p:nvPicPr>
        <p:blipFill>
          <a:blip r:embed="rId1" cstate="print"/>
          <a:stretch>
            <a:fillRect/>
          </a:stretch>
        </p:blipFill>
        <p:spPr>
          <a:xfrm>
            <a:off x="395605" y="2060575"/>
            <a:ext cx="8197215" cy="130365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sz="2400"/>
              <a:t>登录页面，演示按键事件处理 </a:t>
            </a:r>
            <a:endParaRPr lang="zh-CN" altLang="en-US" sz="2400"/>
          </a:p>
        </p:txBody>
      </p:sp>
      <p:pic>
        <p:nvPicPr>
          <p:cNvPr id="5" name="图片 4" descr="捕获16"/>
          <p:cNvPicPr>
            <a:picLocks noChangeAspect="1"/>
          </p:cNvPicPr>
          <p:nvPr/>
        </p:nvPicPr>
        <p:blipFill>
          <a:blip r:embed="rId1"/>
          <a:stretch>
            <a:fillRect/>
          </a:stretch>
        </p:blipFill>
        <p:spPr>
          <a:xfrm>
            <a:off x="611505" y="1772920"/>
            <a:ext cx="7970520" cy="497649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pic>
        <p:nvPicPr>
          <p:cNvPr id="7" name="图片 6" descr="捕获17"/>
          <p:cNvPicPr>
            <a:picLocks noChangeAspect="1"/>
          </p:cNvPicPr>
          <p:nvPr/>
        </p:nvPicPr>
        <p:blipFill>
          <a:blip r:embed="rId1"/>
          <a:stretch>
            <a:fillRect/>
          </a:stretch>
        </p:blipFill>
        <p:spPr>
          <a:xfrm>
            <a:off x="323850" y="1268730"/>
            <a:ext cx="7033895" cy="4504055"/>
          </a:xfrm>
          <a:prstGeom prst="rect">
            <a:avLst/>
          </a:prstGeom>
        </p:spPr>
      </p:pic>
      <p:pic>
        <p:nvPicPr>
          <p:cNvPr id="8" name="图片 7" descr="捕获18"/>
          <p:cNvPicPr>
            <a:picLocks noChangeAspect="1"/>
          </p:cNvPicPr>
          <p:nvPr/>
        </p:nvPicPr>
        <p:blipFill>
          <a:blip r:embed="rId2"/>
          <a:stretch>
            <a:fillRect/>
          </a:stretch>
        </p:blipFill>
        <p:spPr>
          <a:xfrm>
            <a:off x="4111625" y="1268730"/>
            <a:ext cx="4542155" cy="2293620"/>
          </a:xfrm>
          <a:prstGeom prst="rect">
            <a:avLst/>
          </a:prstGeom>
        </p:spPr>
      </p:pic>
      <p:pic>
        <p:nvPicPr>
          <p:cNvPr id="9" name="图片 8" descr="捕获19"/>
          <p:cNvPicPr>
            <a:picLocks noChangeAspect="1"/>
          </p:cNvPicPr>
          <p:nvPr/>
        </p:nvPicPr>
        <p:blipFill>
          <a:blip r:embed="rId3"/>
          <a:stretch>
            <a:fillRect/>
          </a:stretch>
        </p:blipFill>
        <p:spPr>
          <a:xfrm>
            <a:off x="4111625" y="4370070"/>
            <a:ext cx="4542155" cy="2286000"/>
          </a:xfrm>
          <a:prstGeom prst="rect">
            <a:avLst/>
          </a:prstGeom>
        </p:spPr>
      </p:pic>
      <p:sp>
        <p:nvSpPr>
          <p:cNvPr id="4" name="文本框 3"/>
          <p:cNvSpPr txBox="1"/>
          <p:nvPr/>
        </p:nvSpPr>
        <p:spPr>
          <a:xfrm>
            <a:off x="1547495" y="6236970"/>
            <a:ext cx="1040765" cy="368300"/>
          </a:xfrm>
          <a:prstGeom prst="rect">
            <a:avLst/>
          </a:prstGeom>
          <a:noFill/>
        </p:spPr>
        <p:txBody>
          <a:bodyPr wrap="square" rtlCol="0">
            <a:spAutoFit/>
          </a:bodyPr>
          <a:p>
            <a:r>
              <a:rPr lang="zh-CN" altLang="en-US">
                <a:hlinkClick r:id="rId4" action="ppaction://hlinkfile"/>
              </a:rPr>
              <a:t>运行</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to="" calcmode="lin" valueType="num">
                                      <p:cBhvr>
                                        <p:cTn id="7" dur="1" fill="hold"/>
                                        <p:tgtEl>
                                          <p:spTgt spid="8"/>
                                        </p:tgtEl>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 to="" calcmode="lin" valueType="num">
                                      <p:cBhvr>
                                        <p:cTn id="12" dur="1" fill="hold"/>
                                        <p:tgtEl>
                                          <p:spTgt spid="9"/>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综合案例</a:t>
            </a:r>
            <a:endParaRPr lang="zh-CN" altLang="en-US"/>
          </a:p>
        </p:txBody>
      </p:sp>
      <p:sp>
        <p:nvSpPr>
          <p:cNvPr id="3" name="内容占位符 2"/>
          <p:cNvSpPr>
            <a:spLocks noGrp="1"/>
          </p:cNvSpPr>
          <p:nvPr>
            <p:ph idx="1"/>
          </p:nvPr>
        </p:nvSpPr>
        <p:spPr/>
        <p:txBody>
          <a:bodyPr/>
          <a:lstStyle/>
          <a:p>
            <a:r>
              <a:rPr lang="zh-CN" altLang="en-US" sz="2400"/>
              <a:t>事件处理包括</a:t>
            </a:r>
            <a:r>
              <a:rPr lang="en-US" altLang="zh-CN" sz="2400"/>
              <a:t>:</a:t>
            </a:r>
            <a:endParaRPr lang="en-US" altLang="zh-CN" sz="2400"/>
          </a:p>
          <a:p>
            <a:pPr marL="0" indent="0">
              <a:buNone/>
            </a:pPr>
            <a:r>
              <a:rPr lang="en-US" altLang="zh-CN" sz="2400">
                <a:sym typeface="+mn-ea"/>
              </a:rPr>
              <a:t>       按钮、下拉列表、输入框及表单</a:t>
            </a:r>
            <a:endParaRPr lang="en-US" altLang="zh-CN" sz="2400"/>
          </a:p>
          <a:p>
            <a:r>
              <a:rPr lang="zh-CN" altLang="en-US" sz="2400"/>
              <a:t>实现功能</a:t>
            </a:r>
            <a:r>
              <a:rPr lang="en-US" altLang="zh-CN" sz="2400"/>
              <a:t>:</a:t>
            </a:r>
            <a:endParaRPr lang="zh-CN" altLang="en-US" sz="2400"/>
          </a:p>
          <a:p>
            <a:pPr marL="0" indent="0">
              <a:buNone/>
            </a:pPr>
            <a:r>
              <a:rPr lang="en-US" altLang="zh-CN" sz="2400"/>
              <a:t>      </a:t>
            </a:r>
            <a:r>
              <a:rPr lang="zh-CN" altLang="en-US" sz="2400"/>
              <a:t>实</a:t>
            </a:r>
            <a:r>
              <a:rPr lang="en-US" altLang="zh-CN" sz="2400"/>
              <a:t>现注册账户时候的信息处理，如是否同意本站协议的事件处理</a:t>
            </a:r>
            <a:r>
              <a:rPr lang="zh-CN" altLang="en-US" sz="2400"/>
              <a:t>等。</a:t>
            </a:r>
            <a:endParaRPr lang="en-US" altLang="zh-CN" sz="2400"/>
          </a:p>
          <a:p>
            <a:pPr marL="0" indent="0">
              <a:buNone/>
            </a:pPr>
            <a:endParaRPr lang="en-US" altLang="zh-CN" sz="2400"/>
          </a:p>
        </p:txBody>
      </p:sp>
      <p:pic>
        <p:nvPicPr>
          <p:cNvPr id="6" name="图片 5" descr="捕获22"/>
          <p:cNvPicPr>
            <a:picLocks noChangeAspect="1"/>
          </p:cNvPicPr>
          <p:nvPr/>
        </p:nvPicPr>
        <p:blipFill>
          <a:blip r:embed="rId1"/>
          <a:stretch>
            <a:fillRect/>
          </a:stretch>
        </p:blipFill>
        <p:spPr>
          <a:xfrm>
            <a:off x="465455" y="3744595"/>
            <a:ext cx="8428355" cy="218694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pic>
        <p:nvPicPr>
          <p:cNvPr id="5" name="图片 4" descr="捕获23"/>
          <p:cNvPicPr>
            <a:picLocks noChangeAspect="1"/>
          </p:cNvPicPr>
          <p:nvPr/>
        </p:nvPicPr>
        <p:blipFill>
          <a:blip r:embed="rId1"/>
          <a:stretch>
            <a:fillRect/>
          </a:stretch>
        </p:blipFill>
        <p:spPr>
          <a:xfrm>
            <a:off x="323850" y="1268730"/>
            <a:ext cx="8405495" cy="5494655"/>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pic>
        <p:nvPicPr>
          <p:cNvPr id="6" name="图片 5" descr="捕获25"/>
          <p:cNvPicPr>
            <a:picLocks noChangeAspect="1"/>
          </p:cNvPicPr>
          <p:nvPr/>
        </p:nvPicPr>
        <p:blipFill>
          <a:blip r:embed="rId1"/>
          <a:stretch>
            <a:fillRect/>
          </a:stretch>
        </p:blipFill>
        <p:spPr>
          <a:xfrm>
            <a:off x="390525" y="1268730"/>
            <a:ext cx="7011035" cy="5045075"/>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a:p>
            <a:endParaRPr lang="zh-CN" altLang="en-US"/>
          </a:p>
          <a:p>
            <a:endParaRPr lang="zh-CN" altLang="en-US"/>
          </a:p>
          <a:p>
            <a:endParaRPr lang="zh-CN" altLang="en-US"/>
          </a:p>
          <a:p>
            <a:endParaRPr lang="zh-CN" altLang="en-US"/>
          </a:p>
          <a:p>
            <a:r>
              <a:rPr lang="zh-CN" altLang="en-US" sz="2800"/>
              <a:t>运行示例发现开始按钮是禁用的如图</a:t>
            </a:r>
            <a:r>
              <a:rPr lang="en-US" altLang="zh-CN" sz="2800"/>
              <a:t>1</a:t>
            </a:r>
            <a:r>
              <a:rPr lang="zh-CN" altLang="en-US" sz="2800"/>
              <a:t>所示，当单击选择复选框后，按钮可以使用如图 </a:t>
            </a:r>
            <a:r>
              <a:rPr lang="en-US" altLang="zh-CN" sz="2800"/>
              <a:t>2</a:t>
            </a:r>
            <a:r>
              <a:rPr lang="zh-CN" altLang="en-US" sz="2800"/>
              <a:t> 所示，选择爱好中如果选择的瑜伽，handleChange 函数会执行输出选择选项的值</a:t>
            </a:r>
            <a:r>
              <a:rPr lang="zh-CN" altLang="en-US"/>
              <a:t>。</a:t>
            </a:r>
            <a:endParaRPr lang="zh-CN" altLang="en-US"/>
          </a:p>
        </p:txBody>
      </p:sp>
      <p:pic>
        <p:nvPicPr>
          <p:cNvPr id="5" name="图片 4" descr="捕获27"/>
          <p:cNvPicPr>
            <a:picLocks noChangeAspect="1"/>
          </p:cNvPicPr>
          <p:nvPr/>
        </p:nvPicPr>
        <p:blipFill>
          <a:blip r:embed="rId1"/>
          <a:stretch>
            <a:fillRect/>
          </a:stretch>
        </p:blipFill>
        <p:spPr>
          <a:xfrm>
            <a:off x="838835" y="914400"/>
            <a:ext cx="7033895" cy="3017520"/>
          </a:xfrm>
          <a:prstGeom prst="rect">
            <a:avLst/>
          </a:prstGeom>
        </p:spPr>
      </p:pic>
      <p:sp>
        <p:nvSpPr>
          <p:cNvPr id="6" name="文本框 5"/>
          <p:cNvSpPr txBox="1"/>
          <p:nvPr/>
        </p:nvSpPr>
        <p:spPr>
          <a:xfrm>
            <a:off x="1547495" y="6236970"/>
            <a:ext cx="1040765" cy="368300"/>
          </a:xfrm>
          <a:prstGeom prst="rect">
            <a:avLst/>
          </a:prstGeom>
          <a:noFill/>
        </p:spPr>
        <p:txBody>
          <a:bodyPr wrap="square" rtlCol="0">
            <a:spAutoFit/>
          </a:bodyPr>
          <a:p>
            <a:r>
              <a:rPr lang="zh-CN" altLang="en-US">
                <a:hlinkClick r:id="rId2" action="ppaction://hlinkfile"/>
              </a:rPr>
              <a:t>运行</a:t>
            </a:r>
            <a:endParaRPr lang="zh-CN"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a:p>
            <a:endParaRPr lang="zh-CN" altLang="en-US"/>
          </a:p>
          <a:p>
            <a:endParaRPr lang="zh-CN" altLang="en-US"/>
          </a:p>
          <a:p>
            <a:endParaRPr lang="zh-CN" altLang="en-US"/>
          </a:p>
          <a:p>
            <a:endParaRPr lang="zh-CN" altLang="en-US"/>
          </a:p>
          <a:p>
            <a:endParaRPr lang="zh-CN" altLang="en-US"/>
          </a:p>
          <a:p>
            <a:endParaRPr lang="zh-CN" altLang="en-US"/>
          </a:p>
          <a:p>
            <a:pPr marL="0" indent="0">
              <a:buNone/>
            </a:pPr>
            <a:r>
              <a:rPr lang="zh-CN" altLang="en-US"/>
              <a:t>                  图</a:t>
            </a:r>
            <a:r>
              <a:rPr lang="en-US" altLang="zh-CN"/>
              <a:t>1</a:t>
            </a:r>
            <a:r>
              <a:rPr lang="zh-CN" altLang="en-US"/>
              <a:t>                                          图</a:t>
            </a:r>
            <a:r>
              <a:rPr lang="en-US" altLang="zh-CN"/>
              <a:t>2</a:t>
            </a:r>
            <a:endParaRPr lang="en-US" altLang="zh-CN"/>
          </a:p>
        </p:txBody>
      </p:sp>
      <p:pic>
        <p:nvPicPr>
          <p:cNvPr id="6" name="图片 5" descr="捕获28"/>
          <p:cNvPicPr>
            <a:picLocks noChangeAspect="1"/>
          </p:cNvPicPr>
          <p:nvPr/>
        </p:nvPicPr>
        <p:blipFill>
          <a:blip r:embed="rId1"/>
          <a:stretch>
            <a:fillRect/>
          </a:stretch>
        </p:blipFill>
        <p:spPr>
          <a:xfrm>
            <a:off x="581025" y="1268730"/>
            <a:ext cx="3543300" cy="3726815"/>
          </a:xfrm>
          <a:prstGeom prst="rect">
            <a:avLst/>
          </a:prstGeom>
        </p:spPr>
      </p:pic>
      <p:pic>
        <p:nvPicPr>
          <p:cNvPr id="7" name="图片 6" descr="捕获29"/>
          <p:cNvPicPr>
            <a:picLocks noChangeAspect="1"/>
          </p:cNvPicPr>
          <p:nvPr/>
        </p:nvPicPr>
        <p:blipFill>
          <a:blip r:embed="rId2"/>
          <a:stretch>
            <a:fillRect/>
          </a:stretch>
        </p:blipFill>
        <p:spPr>
          <a:xfrm>
            <a:off x="5034280" y="1238250"/>
            <a:ext cx="3619500" cy="37877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checkerboard(across)">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本章小结</a:t>
            </a:r>
            <a:endParaRPr lang="zh-CN" altLang="en-US"/>
          </a:p>
        </p:txBody>
      </p:sp>
      <p:sp>
        <p:nvSpPr>
          <p:cNvPr id="3" name="内容占位符 2"/>
          <p:cNvSpPr>
            <a:spLocks noGrp="1"/>
          </p:cNvSpPr>
          <p:nvPr>
            <p:ph idx="1"/>
          </p:nvPr>
        </p:nvSpPr>
        <p:spPr/>
        <p:txBody>
          <a:bodyPr/>
          <a:lstStyle/>
          <a:p>
            <a:r>
              <a:rPr lang="zh-CN" altLang="en-US"/>
              <a:t> 掌握</a:t>
            </a:r>
            <a:r>
              <a:rPr lang="en-US" altLang="zh-CN"/>
              <a:t>Vue</a:t>
            </a:r>
            <a:r>
              <a:rPr lang="zh-CN" altLang="en-US"/>
              <a:t>事件、方法事件等处理器的用法。</a:t>
            </a:r>
            <a:endParaRPr lang="zh-CN" altLang="en-US"/>
          </a:p>
          <a:p>
            <a:r>
              <a:rPr lang="zh-CN" altLang="en-US"/>
              <a:t>掌握事件修饰符和按键修饰符的作用以及使</a:t>
            </a:r>
            <a:r>
              <a:rPr lang="zh-CN" altLang="en-US"/>
              <a:t>用。 </a:t>
            </a:r>
            <a:endParaRPr lang="zh-CN" altLang="en-US"/>
          </a:p>
          <a:p>
            <a:r>
              <a:rPr lang="zh-CN" altLang="en-US">
                <a:sym typeface="+mn-ea"/>
              </a:rPr>
              <a:t>能够灵活编写事件监听的方法。</a:t>
            </a:r>
            <a:endParaRPr lang="zh-CN" altLang="en-US">
              <a:sym typeface="+mn-e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本章小结</a:t>
            </a:r>
            <a:endParaRPr lang="zh-CN" altLang="en-US"/>
          </a:p>
        </p:txBody>
      </p:sp>
      <p:sp>
        <p:nvSpPr>
          <p:cNvPr id="4" name="文本框 3"/>
          <p:cNvSpPr txBox="1"/>
          <p:nvPr/>
        </p:nvSpPr>
        <p:spPr>
          <a:xfrm>
            <a:off x="5076190" y="3789045"/>
            <a:ext cx="1040765" cy="368300"/>
          </a:xfrm>
          <a:prstGeom prst="rect">
            <a:avLst/>
          </a:prstGeom>
          <a:noFill/>
        </p:spPr>
        <p:txBody>
          <a:bodyPr wrap="square" rtlCol="0">
            <a:spAutoFit/>
          </a:bodyPr>
          <a:p>
            <a:r>
              <a:rPr lang="zh-CN" altLang="en-US">
                <a:hlinkClick r:id="rId1" tooltip="" action="ppaction://hlinkfile"/>
              </a:rPr>
              <a:t>运行</a:t>
            </a:r>
            <a:endParaRPr lang="zh-CN" altLang="en-US"/>
          </a:p>
        </p:txBody>
      </p:sp>
    </p:spTree>
  </p:cSld>
  <p:clrMapOvr>
    <a:masterClrMapping/>
  </p:clrMapOvr>
</p:sld>
</file>

<file path=ppt/tags/tag1.xml><?xml version="1.0" encoding="utf-8"?>
<p:tagLst xmlns:p="http://schemas.openxmlformats.org/presentationml/2006/main">
  <p:tag name="KSO_WM_DOC_GUID" val="{80910a9c-fd18-4292-b082-5f5bbe4e23f8}"/>
  <p:tag name="commondata" val="eyJoZGlkIjoiZjBlNDM4ZjU1ZGI3YzQwMDk5ZjExZjgyZTc3ZDI2NDMifQ=="/>
</p:tagLst>
</file>

<file path=ppt/theme/theme1.xml><?xml version="1.0" encoding="utf-8"?>
<a:theme xmlns:a="http://schemas.openxmlformats.org/drawingml/2006/main" name="3_Office 主题">
  <a:themeElements>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3_Office 主题">
      <a:majorFont>
        <a:latin typeface="黑体"/>
        <a:ea typeface="黑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第1章集合</Template>
  <TotalTime>0</TotalTime>
  <Words>4013</Words>
  <Application>WPS 演示</Application>
  <PresentationFormat>全屏显示(4:3)</PresentationFormat>
  <Paragraphs>294</Paragraphs>
  <Slides>33</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33</vt:i4>
      </vt:variant>
    </vt:vector>
  </HeadingPairs>
  <TitlesOfParts>
    <vt:vector size="41" baseType="lpstr">
      <vt:lpstr>Arial</vt:lpstr>
      <vt:lpstr>宋体</vt:lpstr>
      <vt:lpstr>Wingdings</vt:lpstr>
      <vt:lpstr>Calibri</vt:lpstr>
      <vt:lpstr>黑体</vt:lpstr>
      <vt:lpstr>微软雅黑</vt:lpstr>
      <vt:lpstr>Arial Unicode MS</vt:lpstr>
      <vt:lpstr>3_Office 主题</vt:lpstr>
      <vt:lpstr>  </vt:lpstr>
      <vt:lpstr>课程内容</vt:lpstr>
      <vt:lpstr>事件的定义</vt:lpstr>
      <vt:lpstr>事件的定义</vt:lpstr>
      <vt:lpstr>  Vue事件处理器</vt:lpstr>
      <vt:lpstr> 监听事件</vt:lpstr>
      <vt:lpstr>  方法事件处理器</vt:lpstr>
      <vt:lpstr>方法事件处理器</vt:lpstr>
      <vt:lpstr>  事件传递参数</vt:lpstr>
      <vt:lpstr>  事件传递参数</vt:lpstr>
      <vt:lpstr>事件传递参数</vt:lpstr>
      <vt:lpstr>PowerPoint 演示文稿</vt:lpstr>
      <vt:lpstr>PowerPoint 演示文稿</vt:lpstr>
      <vt:lpstr>PowerPoint 演示文稿</vt:lpstr>
      <vt:lpstr>PowerPoint 演示文稿</vt:lpstr>
      <vt:lpstr>PowerPoint 演示文稿</vt:lpstr>
      <vt:lpstr>事件修饰符</vt:lpstr>
      <vt:lpstr>PowerPoint 演示文稿</vt:lpstr>
      <vt:lpstr>PowerPoint 演示文稿</vt:lpstr>
      <vt:lpstr>PowerPoint 演示文稿</vt:lpstr>
      <vt:lpstr>PowerPoint 演示文稿</vt:lpstr>
      <vt:lpstr>PowerPoint 演示文稿</vt:lpstr>
      <vt:lpstr>按键修饰符</vt:lpstr>
      <vt:lpstr>PowerPoint 演示文稿</vt:lpstr>
      <vt:lpstr>PowerPoint 演示文稿</vt:lpstr>
      <vt:lpstr>PowerPoint 演示文稿</vt:lpstr>
      <vt:lpstr>综合案例</vt:lpstr>
      <vt:lpstr>PowerPoint 演示文稿</vt:lpstr>
      <vt:lpstr>PowerPoint 演示文稿</vt:lpstr>
      <vt:lpstr>PowerPoint 演示文稿</vt:lpstr>
      <vt:lpstr>PowerPoint 演示文稿</vt:lpstr>
      <vt:lpstr>本章小结</vt:lpstr>
      <vt:lpstr>本章小结</vt:lpstr>
    </vt:vector>
  </TitlesOfParts>
  <Company>BeiJing</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YAOYUAN</dc:creator>
  <cp:lastModifiedBy>章晟昱</cp:lastModifiedBy>
  <cp:revision>869</cp:revision>
  <dcterms:created xsi:type="dcterms:W3CDTF">2005-06-22T06:00:00Z</dcterms:created>
  <dcterms:modified xsi:type="dcterms:W3CDTF">2024-09-17T16:19:39Z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2052-12.1.0.17857</vt:lpwstr>
  </property>
  <property fmtid="{D5CDD505-2E9C-101B-9397-08002B2CF9AE}" pid="3" name="ICV">
    <vt:lpwstr>CBC6745F010B460A826A01C9D18C17E0_12</vt:lpwstr>
  </property>
</Properties>
</file>