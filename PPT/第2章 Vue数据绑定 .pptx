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1" r:id="rId3"/>
    <p:sldId id="257" r:id="rId4"/>
    <p:sldId id="423" r:id="rId5"/>
    <p:sldId id="398" r:id="rId6"/>
    <p:sldId id="420" r:id="rId7"/>
    <p:sldId id="262" r:id="rId8"/>
    <p:sldId id="421" r:id="rId9"/>
    <p:sldId id="419" r:id="rId10"/>
    <p:sldId id="314" r:id="rId12"/>
    <p:sldId id="380" r:id="rId13"/>
    <p:sldId id="425" r:id="rId14"/>
    <p:sldId id="353" r:id="rId15"/>
    <p:sldId id="471" r:id="rId16"/>
    <p:sldId id="355" r:id="rId17"/>
    <p:sldId id="312" r:id="rId18"/>
    <p:sldId id="426" r:id="rId19"/>
    <p:sldId id="428" r:id="rId20"/>
    <p:sldId id="357" r:id="rId21"/>
    <p:sldId id="430" r:id="rId22"/>
    <p:sldId id="358" r:id="rId23"/>
    <p:sldId id="359" r:id="rId24"/>
    <p:sldId id="431" r:id="rId25"/>
    <p:sldId id="455" r:id="rId26"/>
    <p:sldId id="432" r:id="rId27"/>
    <p:sldId id="472" r:id="rId28"/>
    <p:sldId id="433" r:id="rId29"/>
    <p:sldId id="434" r:id="rId30"/>
    <p:sldId id="456" r:id="rId31"/>
    <p:sldId id="364" r:id="rId32"/>
    <p:sldId id="382" r:id="rId33"/>
    <p:sldId id="506" r:id="rId34"/>
    <p:sldId id="366" r:id="rId35"/>
    <p:sldId id="367" r:id="rId36"/>
    <p:sldId id="459" r:id="rId37"/>
    <p:sldId id="460" r:id="rId38"/>
    <p:sldId id="369" r:id="rId39"/>
    <p:sldId id="370" r:id="rId40"/>
    <p:sldId id="371" r:id="rId41"/>
    <p:sldId id="474" r:id="rId42"/>
    <p:sldId id="473" r:id="rId43"/>
    <p:sldId id="475" r:id="rId44"/>
    <p:sldId id="476" r:id="rId45"/>
    <p:sldId id="477" r:id="rId46"/>
    <p:sldId id="383" r:id="rId47"/>
    <p:sldId id="478" r:id="rId48"/>
    <p:sldId id="479" r:id="rId49"/>
    <p:sldId id="480" r:id="rId50"/>
    <p:sldId id="378" r:id="rId51"/>
  </p:sldIdLst>
  <p:sldSz cx="12192000" cy="6858000"/>
  <p:notesSz cx="6858000" cy="9144000"/>
  <p:custDataLst>
    <p:tags r:id="rId55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orient="horz" pos="2554" userDrawn="1">
          <p15:clr>
            <a:srgbClr val="A4A3A4"/>
          </p15:clr>
        </p15:guide>
        <p15:guide id="3" orient="horz" pos="2107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pos="3989" userDrawn="1">
          <p15:clr>
            <a:srgbClr val="A4A3A4"/>
          </p15:clr>
        </p15:guide>
        <p15:guide id="6" pos="529" userDrawn="1">
          <p15:clr>
            <a:srgbClr val="A4A3A4"/>
          </p15:clr>
        </p15:guide>
        <p15:guide id="7" pos="1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DF1"/>
    <a:srgbClr val="EDECB2"/>
    <a:srgbClr val="0099FF"/>
    <a:srgbClr val="FFFFCC"/>
    <a:srgbClr val="659B68"/>
    <a:srgbClr val="AAE66E"/>
    <a:srgbClr val="99FF33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585"/>
  </p:normalViewPr>
  <p:slideViewPr>
    <p:cSldViewPr showGuides="1">
      <p:cViewPr varScale="1">
        <p:scale>
          <a:sx n="85" d="100"/>
          <a:sy n="85" d="100"/>
        </p:scale>
        <p:origin x="666" y="60"/>
      </p:cViewPr>
      <p:guideLst>
        <p:guide orient="horz" pos="2166"/>
        <p:guide orient="horz" pos="2554"/>
        <p:guide orient="horz" pos="2107"/>
        <p:guide orient="horz" pos="754"/>
        <p:guide pos="3989"/>
        <p:guide pos="529"/>
        <p:guide pos="1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gs" Target="tags/tag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F99F7-35F3-467D-B6D6-D596F19F0FAC}" type="doc">
      <dgm:prSet loTypeId="urn:microsoft.com/office/officeart/2005/8/layout/arrow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A16F46-2D78-433A-A743-B86A61BF0D91}">
      <dgm:prSet phldrT="[文本]"/>
      <dgm:spPr/>
      <dgm:t>
        <a:bodyPr/>
        <a:lstStyle/>
        <a:p>
          <a:r>
            <a:rPr lang="en-US" altLang="zh-CN" dirty="0" smtClean="0"/>
            <a:t>MVC</a:t>
          </a:r>
          <a:endParaRPr lang="zh-CN" altLang="en-US" dirty="0"/>
        </a:p>
      </dgm:t>
    </dgm:pt>
    <dgm:pt modelId="{3881DCEE-B9CD-4E3A-8171-8450337299B9}" cxnId="{C80905A9-2FB7-4730-8E80-00A60459CCA4}" type="parTrans">
      <dgm:prSet/>
      <dgm:spPr/>
      <dgm:t>
        <a:bodyPr/>
        <a:lstStyle/>
        <a:p>
          <a:endParaRPr lang="zh-CN" altLang="en-US"/>
        </a:p>
      </dgm:t>
    </dgm:pt>
    <dgm:pt modelId="{AE459732-A8C0-46F8-BFD0-A492989650DF}" cxnId="{C80905A9-2FB7-4730-8E80-00A60459CCA4}" type="sibTrans">
      <dgm:prSet/>
      <dgm:spPr/>
      <dgm:t>
        <a:bodyPr/>
        <a:lstStyle/>
        <a:p>
          <a:endParaRPr lang="zh-CN" altLang="en-US"/>
        </a:p>
      </dgm:t>
    </dgm:pt>
    <dgm:pt modelId="{A0FB2341-97F3-45E3-A216-FFD4217574C0}">
      <dgm:prSet phldrT="[文本]"/>
      <dgm:spPr/>
      <dgm:t>
        <a:bodyPr/>
        <a:lstStyle/>
        <a:p>
          <a:r>
            <a:rPr lang="en-US" altLang="zh-CN" dirty="0" smtClean="0"/>
            <a:t>MVVM</a:t>
          </a:r>
          <a:endParaRPr lang="zh-CN" altLang="en-US" dirty="0"/>
        </a:p>
      </dgm:t>
    </dgm:pt>
    <dgm:pt modelId="{0E7E0EC6-6297-4D98-9F62-C6291922C8E9}" cxnId="{993A52ED-E657-4C59-8FAF-CE7DC3C22AC8}" type="parTrans">
      <dgm:prSet/>
      <dgm:spPr/>
      <dgm:t>
        <a:bodyPr/>
        <a:lstStyle/>
        <a:p>
          <a:endParaRPr lang="zh-CN" altLang="en-US"/>
        </a:p>
      </dgm:t>
    </dgm:pt>
    <dgm:pt modelId="{76A7502C-9058-4009-BCB4-5877A08DA7E6}" cxnId="{993A52ED-E657-4C59-8FAF-CE7DC3C22AC8}" type="sibTrans">
      <dgm:prSet/>
      <dgm:spPr/>
      <dgm:t>
        <a:bodyPr/>
        <a:lstStyle/>
        <a:p>
          <a:endParaRPr lang="zh-CN" altLang="en-US"/>
        </a:p>
      </dgm:t>
    </dgm:pt>
    <dgm:pt modelId="{18350DEE-EBA2-4A67-A5FC-98842A92CE4C}" type="pres">
      <dgm:prSet presAssocID="{F18F99F7-35F3-467D-B6D6-D596F19F0FAC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4F36DEF-AEA2-4858-B0BF-7337D5B181BA}" type="pres">
      <dgm:prSet presAssocID="{10A16F46-2D78-433A-A743-B86A61BF0D91}" presName="upArrow" presStyleLbl="node1" presStyleIdx="0" presStyleCnt="2" custLinFactNeighborX="4203" custLinFactNeighborY="-6505"/>
      <dgm:spPr/>
    </dgm:pt>
    <dgm:pt modelId="{24A48226-B2A9-430A-B4D4-6C16FB514C0C}" type="pres">
      <dgm:prSet presAssocID="{10A16F46-2D78-433A-A743-B86A61BF0D91}" presName="upArrowText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793294-E47E-49CF-9C89-0297BD423BD8}" type="pres">
      <dgm:prSet presAssocID="{A0FB2341-97F3-45E3-A216-FFD4217574C0}" presName="downArrow" presStyleLbl="node1" presStyleIdx="1" presStyleCnt="2" custAng="5400000"/>
      <dgm:spPr/>
    </dgm:pt>
    <dgm:pt modelId="{00EBE818-C408-4B06-A249-6AF9A2B466C9}" type="pres">
      <dgm:prSet presAssocID="{A0FB2341-97F3-45E3-A216-FFD4217574C0}" presName="downArrowText" presStyleLbl="revTx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80905A9-2FB7-4730-8E80-00A60459CCA4}" srcId="{F18F99F7-35F3-467D-B6D6-D596F19F0FAC}" destId="{10A16F46-2D78-433A-A743-B86A61BF0D91}" srcOrd="0" destOrd="0" parTransId="{3881DCEE-B9CD-4E3A-8171-8450337299B9}" sibTransId="{AE459732-A8C0-46F8-BFD0-A492989650DF}"/>
    <dgm:cxn modelId="{993A52ED-E657-4C59-8FAF-CE7DC3C22AC8}" srcId="{F18F99F7-35F3-467D-B6D6-D596F19F0FAC}" destId="{A0FB2341-97F3-45E3-A216-FFD4217574C0}" srcOrd="1" destOrd="0" parTransId="{0E7E0EC6-6297-4D98-9F62-C6291922C8E9}" sibTransId="{76A7502C-9058-4009-BCB4-5877A08DA7E6}"/>
    <dgm:cxn modelId="{77AAC39F-F01C-4E68-B137-E23D3962AD54}" type="presOf" srcId="{F18F99F7-35F3-467D-B6D6-D596F19F0FAC}" destId="{18350DEE-EBA2-4A67-A5FC-98842A92CE4C}" srcOrd="0" destOrd="0" presId="urn:microsoft.com/office/officeart/2005/8/layout/arrow4"/>
    <dgm:cxn modelId="{E7D6E1B7-79EB-4CDC-B9CC-AC303D1A640C}" type="presOf" srcId="{10A16F46-2D78-433A-A743-B86A61BF0D91}" destId="{24A48226-B2A9-430A-B4D4-6C16FB514C0C}" srcOrd="0" destOrd="0" presId="urn:microsoft.com/office/officeart/2005/8/layout/arrow4"/>
    <dgm:cxn modelId="{A3A6E190-DD1F-425F-8F98-4744D258FE64}" type="presOf" srcId="{A0FB2341-97F3-45E3-A216-FFD4217574C0}" destId="{00EBE818-C408-4B06-A249-6AF9A2B466C9}" srcOrd="0" destOrd="0" presId="urn:microsoft.com/office/officeart/2005/8/layout/arrow4"/>
    <dgm:cxn modelId="{9CB3CF77-5480-4877-ABE9-3AD001D97233}" type="presParOf" srcId="{18350DEE-EBA2-4A67-A5FC-98842A92CE4C}" destId="{14F36DEF-AEA2-4858-B0BF-7337D5B181BA}" srcOrd="0" destOrd="0" presId="urn:microsoft.com/office/officeart/2005/8/layout/arrow4"/>
    <dgm:cxn modelId="{4F930B59-236D-4826-9035-5134C9384340}" type="presParOf" srcId="{18350DEE-EBA2-4A67-A5FC-98842A92CE4C}" destId="{24A48226-B2A9-430A-B4D4-6C16FB514C0C}" srcOrd="1" destOrd="0" presId="urn:microsoft.com/office/officeart/2005/8/layout/arrow4"/>
    <dgm:cxn modelId="{F4099887-59C9-40AF-9366-FC1110BB4403}" type="presParOf" srcId="{18350DEE-EBA2-4A67-A5FC-98842A92CE4C}" destId="{8B793294-E47E-49CF-9C89-0297BD423BD8}" srcOrd="2" destOrd="0" presId="urn:microsoft.com/office/officeart/2005/8/layout/arrow4"/>
    <dgm:cxn modelId="{10B76284-5061-4346-8D71-6208C22AED1C}" type="presParOf" srcId="{18350DEE-EBA2-4A67-A5FC-98842A92CE4C}" destId="{00EBE818-C408-4B06-A249-6AF9A2B466C9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08226" cy="2153413"/>
        <a:chOff x="0" y="0"/>
        <a:chExt cx="2908226" cy="2153413"/>
      </a:xfrm>
    </dsp:grpSpPr>
    <dsp:sp modelId="{14F36DEF-AEA2-4858-B0BF-7337D5B181BA}">
      <dsp:nvSpPr>
        <dsp:cNvPr id="3" name="上箭头 2"/>
        <dsp:cNvSpPr/>
      </dsp:nvSpPr>
      <dsp:spPr bwMode="white">
        <a:xfrm>
          <a:off x="41936" y="0"/>
          <a:ext cx="959715" cy="1033638"/>
        </a:xfrm>
        <a:prstGeom prst="upArrow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1936" y="0"/>
        <a:ext cx="959715" cy="1033638"/>
      </dsp:txXfrm>
    </dsp:sp>
    <dsp:sp modelId="{24A48226-B2A9-430A-B4D4-6C16FB514C0C}">
      <dsp:nvSpPr>
        <dsp:cNvPr id="4" name="矩形 3"/>
        <dsp:cNvSpPr/>
      </dsp:nvSpPr>
      <dsp:spPr bwMode="white">
        <a:xfrm>
          <a:off x="990106" y="0"/>
          <a:ext cx="1628607" cy="10336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27584" tIns="0" rIns="227584" bIns="227584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tx1"/>
              </a:solidFill>
            </a:rPr>
            <a:t>MVC</a:t>
          </a:r>
          <a:endParaRPr lang="zh-CN" altLang="en-US" dirty="0">
            <a:solidFill>
              <a:schemeClr val="tx1"/>
            </a:solidFill>
          </a:endParaRPr>
        </a:p>
      </dsp:txBody>
      <dsp:txXfrm>
        <a:off x="990106" y="0"/>
        <a:ext cx="1628607" cy="1033638"/>
      </dsp:txXfrm>
    </dsp:sp>
    <dsp:sp modelId="{8B793294-E47E-49CF-9C89-0297BD423BD8}">
      <dsp:nvSpPr>
        <dsp:cNvPr id="5" name="下箭头 4"/>
        <dsp:cNvSpPr/>
      </dsp:nvSpPr>
      <dsp:spPr bwMode="white">
        <a:xfrm rot="5400000">
          <a:off x="289514" y="1119775"/>
          <a:ext cx="959715" cy="1033638"/>
        </a:xfrm>
        <a:prstGeom prst="downArrow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 rot="5400000">
        <a:off x="289514" y="1119775"/>
        <a:ext cx="959715" cy="1033638"/>
      </dsp:txXfrm>
    </dsp:sp>
    <dsp:sp modelId="{00EBE818-C408-4B06-A249-6AF9A2B466C9}">
      <dsp:nvSpPr>
        <dsp:cNvPr id="6" name="矩形 5"/>
        <dsp:cNvSpPr/>
      </dsp:nvSpPr>
      <dsp:spPr bwMode="white">
        <a:xfrm>
          <a:off x="1278020" y="1119775"/>
          <a:ext cx="1628607" cy="10336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27584" tIns="0" rIns="227584" bIns="227584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tx1"/>
              </a:solidFill>
            </a:rPr>
            <a:t>MVVM</a:t>
          </a:r>
          <a:endParaRPr lang="zh-CN" altLang="en-US" dirty="0">
            <a:solidFill>
              <a:schemeClr val="tx1"/>
            </a:solidFill>
          </a:endParaRPr>
        </a:p>
      </dsp:txBody>
      <dsp:txXfrm>
        <a:off x="1278020" y="1119775"/>
        <a:ext cx="1628607" cy="1033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2333" y="260350"/>
            <a:ext cx="2832100" cy="5919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0"/>
            <a:ext cx="8297333" cy="5919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31800" y="1268413"/>
            <a:ext cx="11106151" cy="491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Photoshop</a:t>
            </a:r>
            <a:r>
              <a:rPr lang="zh-CN" altLang="en-US" dirty="0"/>
              <a:t>与</a:t>
            </a:r>
            <a:r>
              <a:rPr lang="en-US" altLang="zh-CN" dirty="0"/>
              <a:t>Flash</a:t>
            </a:r>
            <a:endParaRPr lang="en-US" altLang="zh-CN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262186"/>
            <a:ext cx="1707423" cy="652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hyperlink" Target="..\vuejs&#35838;&#31243;&#28304;&#30721;&#31034;&#20363;\&#35838;&#31243;&#31034;&#20363;\ch02\&#12304;&#20363;2-1&#12305;&#28436;&#31034;&#27169;&#29256;&#35821;&#27861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hyperlink" Target="..\vuejs&#35838;&#31243;&#28304;&#30721;&#31034;&#20363;\&#35838;&#31243;&#31034;&#20363;\ch02\&#12304;&#20363;2-2&#12305;&#28436;&#31034;&#36755;&#20986;HTML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hyperlink" Target="..\vuejs&#35838;&#31243;&#28304;&#30721;&#31034;&#20363;\&#35838;&#31243;&#31034;&#20363;\ch02\&#12304;&#20363;2-3&#12305;&#28436;&#31034;&#25968;&#25454;&#22914;&#20309;&#28210;&#26579;&#21040;DOM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4&#12305;&#28436;&#31034;&#21709;&#24212;&#24335;&#22768;&#26126;&#28210;&#26579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5&#12305;&#28436;&#31034;&#23646;&#24615;&#32465;&#23450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7&#12305;&#28436;&#31034;&#35745;&#31639;&#23646;&#24615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8&#12305;&#28436;&#31034;&#35745;&#31639;&#23646;&#24615;setter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9&#12305;&#28436;&#31034;methods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10&#12305;Vue&#29983;&#21629;&#21608;&#26399;&#35814;&#35299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hyperlink" Target="..\vuejs&#35838;&#31243;&#28304;&#30721;&#31034;&#20363;\&#35838;&#31243;&#31034;&#20363;\ch02\&#12304;&#20363;2-10&#12305;Vue&#29983;&#21629;&#21608;&#26399;&#35814;&#35299;.html" TargetMode="External"/><Relationship Id="rId1" Type="http://schemas.openxmlformats.org/officeDocument/2006/relationships/hyperlink" Target="..\vuejs&#35838;&#31243;&#28304;&#30721;&#31034;&#20363;\&#35838;&#31243;&#31034;&#20363;\ch01\&#12304;&#20363;1-2&#12305;&#25968;&#25454;&#25346;&#36733;&#21040;DOM.html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/>
          </p:cNvSpPr>
          <p:nvPr>
            <p:ph type="ctrTitle"/>
          </p:nvPr>
        </p:nvSpPr>
        <p:spPr>
          <a:xfrm>
            <a:off x="1465580" y="2303463"/>
            <a:ext cx="6551613" cy="863600"/>
          </a:xfrm>
        </p:spPr>
        <p:txBody>
          <a:bodyPr vert="horz" wrap="square" lIns="91440" tIns="45720" rIns="91440" bIns="45720" anchor="ctr"/>
          <a:lstStyle/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    </a:t>
            </a:r>
            <a:r>
              <a:rPr lang="zh-CN" altLang="en-US" sz="4000" b="1" dirty="0">
                <a:ea typeface="+mj-lt"/>
                <a:cs typeface="+mj-lt"/>
                <a:sym typeface="+mn-ea"/>
              </a:rPr>
              <a:t>第2章 </a:t>
            </a:r>
            <a:r>
              <a:rPr sz="4000" b="1" dirty="0">
                <a:ea typeface="+mj-lt"/>
                <a:cs typeface="+mj-lt"/>
              </a:rPr>
              <a:t>Vue数据绑定</a:t>
            </a:r>
            <a:endParaRPr sz="4000" b="1" dirty="0">
              <a:ea typeface="+mj-lt"/>
              <a:cs typeface="+mj-lt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sym typeface="+mn-ea"/>
              </a:rPr>
              <a:t>课程内容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2208213" y="1341438"/>
            <a:ext cx="8229600" cy="4525962"/>
          </a:xfrm>
        </p:spPr>
        <p:txBody>
          <a:bodyPr vert="horz" wrap="square" lIns="91440" tIns="45720" rIns="91440" bIns="45720" anchor="t"/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模板语法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响应式声明渲染机制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Vue属性绑定 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Vue双向数据绑定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Vue计算属性Computed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计算属性与methods的区别</a:t>
            </a:r>
            <a:endParaRPr sz="2800" dirty="0"/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/>
              <a:t>Vue生命周期</a:t>
            </a:r>
            <a:endParaRPr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51957" y="3137069"/>
            <a:ext cx="4187338" cy="706755"/>
            <a:chOff x="4709928" y="3369901"/>
            <a:chExt cx="4187338" cy="706755"/>
          </a:xfrm>
        </p:grpSpPr>
        <p:sp>
          <p:nvSpPr>
            <p:cNvPr id="3" name="文本框 2"/>
            <p:cNvSpPr txBox="1"/>
            <p:nvPr/>
          </p:nvSpPr>
          <p:spPr>
            <a:xfrm>
              <a:off x="4709928" y="3369901"/>
              <a:ext cx="695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01</a:t>
              </a:r>
              <a:endParaRPr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99966" y="3369901"/>
              <a:ext cx="3797300" cy="7067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模板语法</a:t>
              </a:r>
              <a:endParaRPr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984375" y="250190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 Vue 模板语法</a:t>
            </a:r>
            <a:endParaRPr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云形标注 5"/>
          <p:cNvSpPr/>
          <p:nvPr/>
        </p:nvSpPr>
        <p:spPr>
          <a:xfrm>
            <a:off x="2063750" y="1219835"/>
            <a:ext cx="4223385" cy="182499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    什么是模板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语法？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为什么要使用模板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语法？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7392670" y="1052830"/>
            <a:ext cx="1464945" cy="232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圆角矩形标注 11"/>
          <p:cNvSpPr/>
          <p:nvPr/>
        </p:nvSpPr>
        <p:spPr bwMode="auto">
          <a:xfrm rot="5400000">
            <a:off x="4852035" y="77470"/>
            <a:ext cx="2824480" cy="9946005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2" name="矩形 5"/>
          <p:cNvSpPr>
            <a:spLocks noChangeArrowheads="1"/>
          </p:cNvSpPr>
          <p:nvPr/>
        </p:nvSpPr>
        <p:spPr bwMode="auto">
          <a:xfrm>
            <a:off x="1774825" y="3875405"/>
            <a:ext cx="4173855" cy="244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/>
              <a:t>  在JavaScript中，如果我们想要根据数据动态更新页面内容，通常需要编写大量的</a:t>
            </a:r>
            <a:r>
              <a:rPr sz="2000" b="0" dirty="0">
                <a:solidFill>
                  <a:srgbClr val="0070C0"/>
                </a:solidFill>
              </a:rPr>
              <a:t>DOM操作代码</a:t>
            </a:r>
            <a:r>
              <a:rPr sz="2000" b="0" dirty="0"/>
              <a:t>。这些代码不仅冗长，而且难以维护，特别是当页面结构变得复杂时。</a:t>
            </a:r>
            <a:endParaRPr sz="2000" b="0" dirty="0"/>
          </a:p>
        </p:txBody>
      </p:sp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6312535" y="3875405"/>
            <a:ext cx="4286250" cy="2288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sz="2000" b="0" dirty="0"/>
              <a:t> 模板语法允许我们以一种更简洁、更声明式的方式来描述页面结构，Vue等现代前端框架会</a:t>
            </a:r>
            <a:r>
              <a:rPr sz="2000" b="0" dirty="0">
                <a:solidFill>
                  <a:srgbClr val="0070C0"/>
                </a:solidFill>
              </a:rPr>
              <a:t>自动处理DOM的更新</a:t>
            </a:r>
            <a:r>
              <a:rPr sz="2000" b="0" dirty="0"/>
              <a:t>，我们只需要关注</a:t>
            </a:r>
            <a:r>
              <a:rPr sz="2000" b="0" dirty="0">
                <a:solidFill>
                  <a:srgbClr val="0070C0"/>
                </a:solidFill>
              </a:rPr>
              <a:t>数据的变化</a:t>
            </a:r>
            <a:r>
              <a:rPr sz="2000" b="0" dirty="0"/>
              <a:t>即可。</a:t>
            </a:r>
            <a:endParaRPr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984375" y="250190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 Vue 模板语法</a:t>
            </a:r>
            <a:endParaRPr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" y="2536190"/>
            <a:ext cx="4363085" cy="584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4021455"/>
            <a:ext cx="5344795" cy="18878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270" y="3661410"/>
            <a:ext cx="4199255" cy="2509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565" y="2284095"/>
            <a:ext cx="2970530" cy="11449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6395" y="1409700"/>
            <a:ext cx="5491480" cy="5012055"/>
          </a:xfrm>
          <a:prstGeom prst="rect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lvl="1">
              <a:lnSpc>
                <a:spcPct val="150000"/>
              </a:lnSpc>
            </a:pPr>
            <a:r>
              <a:rPr lang="zh-CN" altLang="en-US" sz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打完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5"/>
          <p:cNvSpPr>
            <a:spLocks noChangeArrowheads="1"/>
          </p:cNvSpPr>
          <p:nvPr/>
        </p:nvSpPr>
        <p:spPr bwMode="auto">
          <a:xfrm>
            <a:off x="335814" y="1629053"/>
            <a:ext cx="5682501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JS</a:t>
            </a:r>
            <a:r>
              <a:rPr lang="zh-CN" altLang="en-US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直接操纵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DOM</a:t>
            </a:r>
            <a:endParaRPr lang="en-US" altLang="zh-CN" sz="2000" dirty="0" err="1">
              <a:solidFill>
                <a:srgbClr val="1369B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4445" y="1409700"/>
            <a:ext cx="4913630" cy="5012055"/>
          </a:xfrm>
          <a:prstGeom prst="rect">
            <a:avLst/>
          </a:prstGeom>
          <a:ln w="6350" cap="flat" cmpd="sng" algn="ctr">
            <a:solidFill>
              <a:schemeClr val="accent5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lvl="1">
              <a:lnSpc>
                <a:spcPct val="150000"/>
              </a:lnSpc>
            </a:pPr>
            <a:r>
              <a:rPr lang="zh-CN" altLang="en-US" sz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打完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5"/>
          <p:cNvSpPr>
            <a:spLocks noChangeArrowheads="1"/>
          </p:cNvSpPr>
          <p:nvPr/>
        </p:nvSpPr>
        <p:spPr bwMode="auto">
          <a:xfrm>
            <a:off x="5944769" y="1629053"/>
            <a:ext cx="5682501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Vue</a:t>
            </a:r>
            <a:r>
              <a:rPr lang="zh-CN" altLang="en-US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模板</a:t>
            </a:r>
            <a:r>
              <a:rPr lang="zh-CN" altLang="en-US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语法</a:t>
            </a:r>
            <a:endParaRPr lang="zh-CN" altLang="en-US" sz="2000" dirty="0" err="1">
              <a:solidFill>
                <a:srgbClr val="1369B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984375" y="250190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 Vue 模板语法</a:t>
            </a:r>
            <a:endParaRPr dirty="0"/>
          </a:p>
        </p:txBody>
      </p:sp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916430" y="1268730"/>
            <a:ext cx="8365490" cy="45231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Vue 将模板中的文本</a:t>
            </a:r>
            <a:r>
              <a:rPr sz="2800" b="0" dirty="0">
                <a:solidFill>
                  <a:srgbClr val="0070C0"/>
                </a:solidFill>
                <a:latin typeface="Calibri" panose="020F0502020204030204" pitchFamily="34" charset="0"/>
              </a:rPr>
              <a:t>数据</a:t>
            </a:r>
            <a:r>
              <a:rPr sz="2800" b="0" dirty="0">
                <a:latin typeface="Calibri" panose="020F0502020204030204" pitchFamily="34" charset="0"/>
              </a:rPr>
              <a:t>放入 DOM 中</a:t>
            </a:r>
            <a:r>
              <a:rPr lang="zh-CN" sz="2800" b="0" dirty="0">
                <a:latin typeface="Calibri" panose="020F0502020204030204" pitchFamily="34" charset="0"/>
              </a:rPr>
              <a:t>。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sym typeface="+mn-ea"/>
              </a:rPr>
              <a:t>Vue 支持动态渲染文本，以 {{ }}形式插入，输出纯文本。</a:t>
            </a:r>
            <a:endParaRPr sz="2800" b="0" dirty="0">
              <a:sym typeface="+mn-ea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sym typeface="+mn-ea"/>
              </a:rPr>
              <a:t>如果要解析为 HTML，需要使用 v-html 指令</a:t>
            </a:r>
            <a:endParaRPr sz="2800" b="0" dirty="0">
              <a:sym typeface="+mn-ea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  <a:sym typeface="+mn-ea"/>
              </a:rPr>
              <a:t>主要从文本，HTML，JavaScript 表达式这几个方面来介绍模板语法。</a:t>
            </a:r>
            <a:endParaRPr sz="28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984375" y="250190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 Vue 模板语法</a:t>
            </a:r>
            <a:endParaRPr dirty="0"/>
          </a:p>
        </p:txBody>
      </p:sp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3635" y="1042670"/>
            <a:ext cx="10106660" cy="42329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/>
              <a:t>（1）文本插值：</a:t>
            </a:r>
            <a:endParaRPr sz="2000" b="0" dirty="0"/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>
                <a:sym typeface="+mn-ea"/>
              </a:rPr>
              <a:t>最基本的数据绑定形式是</a:t>
            </a:r>
            <a:r>
              <a:rPr sz="2000" b="0" dirty="0">
                <a:solidFill>
                  <a:srgbClr val="0070C0"/>
                </a:solidFill>
                <a:sym typeface="+mn-ea"/>
              </a:rPr>
              <a:t>文本插值</a:t>
            </a:r>
            <a:endParaRPr sz="2000" b="0" dirty="0">
              <a:sym typeface="+mn-ea"/>
            </a:endParaRPr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/>
              <a:t>功能:用于解析标签体内容</a:t>
            </a:r>
            <a:endParaRPr sz="2000" b="0" dirty="0"/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/>
              <a:t>写法:{{xxx}}，xxx 是js 表达式，可以直接读取到 data 中的所有</a:t>
            </a:r>
            <a:r>
              <a:rPr lang="zh-CN" sz="2000" b="0" dirty="0"/>
              <a:t>数据</a:t>
            </a:r>
            <a:endParaRPr sz="2000" b="0" dirty="0"/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20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20" y="2925445"/>
            <a:ext cx="5513070" cy="1362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4365625"/>
            <a:ext cx="6316345" cy="2225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35" y="3082925"/>
            <a:ext cx="4768850" cy="1282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4931093" y="45910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演示</a:t>
            </a:r>
            <a:r>
              <a:rPr dirty="0">
                <a:sym typeface="+mn-ea"/>
              </a:rPr>
              <a:t>模板语法</a:t>
            </a:r>
            <a:br>
              <a:rPr dirty="0"/>
            </a:br>
            <a:r>
              <a:rPr dirty="0">
                <a:sym typeface="+mn-ea"/>
              </a:rPr>
              <a:t>  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2026285" y="1113155"/>
            <a:ext cx="8531860" cy="616204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819275" y="1222375"/>
            <a:ext cx="8554085" cy="3536444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&lt;div id="app"&gt;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457200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{{text}}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&lt;script src="../js/vue.js" &gt;&lt;/script&gt;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var vm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el:"#app",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data:{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text:'文本数据被渲染到html中了哦！'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544560" y="270891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4931093" y="45910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dirty="0">
                <a:sym typeface="+mn-ea"/>
              </a:rPr>
              <a:t>演示输出</a:t>
            </a:r>
            <a:r>
              <a:rPr lang="en-US" altLang="zh-CN" dirty="0">
                <a:sym typeface="+mn-ea"/>
              </a:rPr>
              <a:t>HTML</a:t>
            </a:r>
            <a:br>
              <a:rPr dirty="0"/>
            </a:br>
            <a:r>
              <a:rPr dirty="0">
                <a:sym typeface="+mn-ea"/>
              </a:rPr>
              <a:t>  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2026285" y="1113155"/>
            <a:ext cx="8531860" cy="616204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819275" y="1222375"/>
            <a:ext cx="8554085" cy="4110509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&lt;div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&lt;div v-html="message"&gt;&lt;/div&gt;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el: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data: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message: '用户名&lt;input type="text" value="中文名"/&gt;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'+'密码&lt;input type="password"/&gt;'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//这里不支持换行，如果要换行用单引号括起来用+号连接。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400415" y="414909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984375" y="250190"/>
            <a:ext cx="8229600" cy="792163"/>
          </a:xfrm>
        </p:spPr>
        <p:txBody>
          <a:bodyPr vert="horz" wrap="square" lIns="91440" tIns="45720" rIns="91440" bIns="45720" anchor="ctr"/>
          <a:lstStyle/>
          <a:p>
            <a:r>
              <a:rPr lang="en-US" dirty="0"/>
              <a:t>  </a:t>
            </a:r>
            <a:r>
              <a:rPr dirty="0"/>
              <a:t>表达式</a:t>
            </a:r>
            <a:endParaRPr dirty="0"/>
          </a:p>
        </p:txBody>
      </p:sp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3635" y="1557655"/>
            <a:ext cx="5519420" cy="1870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/>
              <a:t>表达式：</a:t>
            </a:r>
            <a:endParaRPr sz="2000" b="0" dirty="0"/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>
                <a:sym typeface="+mn-ea"/>
              </a:rPr>
              <a:t>Vue.js模板中除了可以绑定简单的属性名，还支持完整的</a:t>
            </a:r>
            <a:r>
              <a:rPr sz="2000" b="0" dirty="0">
                <a:solidFill>
                  <a:srgbClr val="0070C0"/>
                </a:solidFill>
                <a:sym typeface="+mn-ea"/>
              </a:rPr>
              <a:t>JavaScript表达式</a:t>
            </a:r>
            <a:r>
              <a:rPr sz="2000" b="0" dirty="0">
                <a:ea typeface="宋体" panose="02010600030101010101" pitchFamily="2" charset="-122"/>
                <a:sym typeface="+mn-ea"/>
              </a:rPr>
              <a:t>。</a:t>
            </a:r>
            <a:endParaRPr sz="2000" b="0" dirty="0">
              <a:ea typeface="宋体" panose="02010600030101010101" pitchFamily="2" charset="-122"/>
            </a:endParaRPr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635" y="4082415"/>
            <a:ext cx="5519420" cy="1870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>
                <a:solidFill>
                  <a:srgbClr val="FF0000"/>
                </a:solidFill>
              </a:rPr>
              <a:t>注意</a:t>
            </a:r>
            <a:r>
              <a:rPr sz="2000" b="0" dirty="0"/>
              <a:t>：</a:t>
            </a:r>
            <a:endParaRPr sz="2000" b="0" dirty="0"/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000" b="0" dirty="0">
                <a:sym typeface="+mn-ea"/>
              </a:rPr>
              <a:t>每个绑定</a:t>
            </a:r>
            <a:r>
              <a:rPr sz="2000" b="0" dirty="0">
                <a:solidFill>
                  <a:srgbClr val="FF0000"/>
                </a:solidFill>
                <a:sym typeface="+mn-ea"/>
              </a:rPr>
              <a:t>仅支持单一表达式</a:t>
            </a:r>
            <a:r>
              <a:rPr sz="2000" b="0" dirty="0">
                <a:sym typeface="+mn-ea"/>
              </a:rPr>
              <a:t>，也就是一段能够被求值的JavaScript代码</a:t>
            </a:r>
            <a:r>
              <a:rPr sz="2000" b="0" dirty="0"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4655" y="4525010"/>
            <a:ext cx="4220845" cy="15690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055" y="1608455"/>
            <a:ext cx="4645660" cy="170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03622" y="2925614"/>
            <a:ext cx="5684520" cy="706755"/>
            <a:chOff x="4709928" y="3369901"/>
            <a:chExt cx="5684520" cy="706755"/>
          </a:xfrm>
        </p:grpSpPr>
        <p:sp>
          <p:nvSpPr>
            <p:cNvPr id="3" name="文本框 2"/>
            <p:cNvSpPr txBox="1"/>
            <p:nvPr/>
          </p:nvSpPr>
          <p:spPr>
            <a:xfrm>
              <a:off x="4709928" y="3369901"/>
              <a:ext cx="695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0</a:t>
              </a:r>
              <a:r>
                <a:rPr lang="en-US" sz="4000" kern="0" dirty="0">
                  <a:latin typeface="+mj-lt"/>
                  <a:ea typeface="+mj-lt"/>
                  <a:cs typeface="+mj-lt"/>
                  <a:sym typeface="+mn-lt"/>
                </a:rPr>
                <a:t>2</a:t>
              </a:r>
              <a:endParaRPr 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99818" y="3369901"/>
              <a:ext cx="5294630" cy="7067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响应式声明渲染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机制</a:t>
              </a:r>
              <a:endParaRPr lang="zh-CN" alt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5167313" y="28956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响应式声明渲染机制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07670" y="1196975"/>
            <a:ext cx="8541385" cy="616204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r>
              <a:rPr sz="2800" dirty="0"/>
              <a:t>响应式</a:t>
            </a:r>
            <a:r>
              <a:rPr lang="zh-CN" sz="2800" dirty="0"/>
              <a:t>声明渲染机制主要包含</a:t>
            </a:r>
            <a:r>
              <a:rPr lang="zh-CN" sz="2800" dirty="0"/>
              <a:t>两部分。</a:t>
            </a:r>
            <a:endParaRPr sz="2800" dirty="0"/>
          </a:p>
          <a:p>
            <a:r>
              <a:rPr lang="zh-CN" dirty="0"/>
              <a:t>声明式</a:t>
            </a:r>
            <a:r>
              <a:rPr lang="zh-CN" dirty="0"/>
              <a:t>渲染</a:t>
            </a:r>
            <a:endParaRPr lang="zh-CN" dirty="0"/>
          </a:p>
          <a:p>
            <a:pPr marL="0" indent="0">
              <a:buNone/>
            </a:pPr>
            <a:r>
              <a:rPr lang="zh-CN" sz="2800" dirty="0"/>
              <a:t>声明式渲染是 Vue的一个核心特性，它允许开发者以</a:t>
            </a:r>
            <a:r>
              <a:rPr lang="zh-CN" sz="2800" dirty="0">
                <a:solidFill>
                  <a:srgbClr val="FF0000"/>
                </a:solidFill>
              </a:rPr>
              <a:t>声明的</a:t>
            </a:r>
            <a:r>
              <a:rPr lang="zh-CN" sz="2800" dirty="0"/>
              <a:t>方式将底层 Vue 实例的数据</a:t>
            </a:r>
            <a:r>
              <a:rPr lang="zh-CN" sz="2800" dirty="0">
                <a:sym typeface="+mn-ea"/>
              </a:rPr>
              <a:t>绑定到</a:t>
            </a:r>
            <a:r>
              <a:rPr lang="zh-CN" sz="2800" dirty="0">
                <a:sym typeface="+mn-ea"/>
              </a:rPr>
              <a:t>DOM </a:t>
            </a:r>
            <a:r>
              <a:rPr lang="zh-CN" sz="2800" dirty="0"/>
              <a:t>上</a:t>
            </a:r>
            <a:endParaRPr lang="zh-CN" sz="2800" dirty="0"/>
          </a:p>
          <a:p>
            <a:pPr marL="0" indent="0">
              <a:buNone/>
            </a:pPr>
            <a:r>
              <a:rPr lang="zh-CN" sz="2800" dirty="0"/>
              <a:t>可以通过 Vue 的</a:t>
            </a:r>
            <a:r>
              <a:rPr lang="zh-CN" sz="2800" dirty="0">
                <a:solidFill>
                  <a:srgbClr val="FF0000"/>
                </a:solidFill>
              </a:rPr>
              <a:t>模板语法</a:t>
            </a:r>
            <a:r>
              <a:rPr lang="zh-CN" sz="2800" dirty="0"/>
              <a:t>来描述视图应该长什么样，而不是直接操作 DOM 来更新视图。</a:t>
            </a:r>
            <a:endParaRPr lang="zh-CN" sz="2800" dirty="0"/>
          </a:p>
          <a:p>
            <a:pPr marL="0" indent="0">
              <a:buNone/>
            </a:pPr>
            <a:r>
              <a:rPr lang="zh-CN" sz="2800" dirty="0"/>
              <a:t>Vue 会</a:t>
            </a:r>
            <a:r>
              <a:rPr lang="zh-CN" sz="2800" dirty="0">
                <a:solidFill>
                  <a:srgbClr val="FF0000"/>
                </a:solidFill>
              </a:rPr>
              <a:t>自动监测</a:t>
            </a:r>
            <a:r>
              <a:rPr lang="zh-CN" sz="2800" dirty="0"/>
              <a:t>数据的变化，并在数据变化时重新渲染 DOM，以保持视图和数据之间的同步</a:t>
            </a:r>
            <a:endParaRPr lang="zh-CN"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315" y="3851275"/>
            <a:ext cx="3467735" cy="2505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360" y="1701165"/>
            <a:ext cx="2651760" cy="127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5167313" y="28956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响应式声明渲染机制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479425" y="1125220"/>
            <a:ext cx="7129780" cy="6162040"/>
          </a:xfrm>
        </p:spPr>
        <p:txBody>
          <a:bodyPr vert="horz" wrap="square" lIns="91440" tIns="45720" rIns="91440" bIns="45720" anchor="t"/>
          <a:lstStyle/>
          <a:p>
            <a:r>
              <a:rPr sz="2400" dirty="0"/>
              <a:t>响应式</a:t>
            </a:r>
            <a:endParaRPr sz="2400" dirty="0"/>
          </a:p>
          <a:p>
            <a:pPr marL="0" indent="0">
              <a:buNone/>
            </a:pPr>
            <a:r>
              <a:rPr sz="2800" dirty="0"/>
              <a:t>响应式系统 是 Vue.js 的另一个核心特性，它使得 Vue 能够</a:t>
            </a:r>
            <a:r>
              <a:rPr sz="2800" dirty="0">
                <a:solidFill>
                  <a:srgbClr val="FF0000"/>
                </a:solidFill>
              </a:rPr>
              <a:t>自动追踪和响应数据的变化</a:t>
            </a:r>
            <a:r>
              <a:rPr sz="2800" dirty="0"/>
              <a:t>。</a:t>
            </a:r>
            <a:endParaRPr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假设有一个 Vue 实例，并且修改了 message 的值</a:t>
            </a:r>
            <a:r>
              <a:rPr lang="zh-CN" sz="2800" dirty="0"/>
              <a:t>，由于 message 是响应式的，Vue 会知道 message 的值已经改变，并自动触发更新过程，重新渲染所有依赖 message 的视图部分。</a:t>
            </a:r>
            <a:endParaRPr lang="zh-CN"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790" y="2061210"/>
            <a:ext cx="4356100" cy="3059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5167313" y="250825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dirty="0">
                <a:sym typeface="+mn-ea"/>
              </a:rPr>
              <a:t>演示响应式声明渲染</a:t>
            </a:r>
            <a:endParaRPr dirty="0">
              <a:sym typeface="+mn-ea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1716405" y="1130935"/>
            <a:ext cx="8759190" cy="6162040"/>
          </a:xfrm>
        </p:spPr>
        <p:txBody>
          <a:bodyPr vert="horz" wrap="square" lIns="91440" tIns="45720" rIns="91440" bIns="45720" anchor="t"/>
          <a:lstStyle/>
          <a:p>
            <a:endParaRPr 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1734820" y="992188"/>
            <a:ext cx="8721725" cy="583138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&lt;head&gt;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&lt;meta charset="UTF-8"&gt;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&lt;title&gt;hello,world!&lt;/title&gt;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&lt;/head&gt;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 id="myApp"&gt;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&lt;p&gt;{{ message }}&lt;/p&gt;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&lt;script src="lib/Vue.js"&gt;&lt;/script&gt;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var myData =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message: 'Hello Vue'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var app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el: '#myApp',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data: myData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&lt;/html&gt;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765" name="AutoShape 21"/>
          <p:cNvSpPr>
            <a:spLocks noChangeArrowheads="1"/>
          </p:cNvSpPr>
          <p:nvPr/>
        </p:nvSpPr>
        <p:spPr bwMode="auto">
          <a:xfrm>
            <a:off x="5340350" y="1562735"/>
            <a:ext cx="4697730" cy="1715770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数据和 DOM 已经绑定在一起，所有元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素都是响应式的</a:t>
            </a:r>
            <a:r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，页面中的&lt;p&gt;标签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中的数据自动更新。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616315" y="414909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59765" grpId="1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913255" y="1141095"/>
            <a:ext cx="836549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7172" name="Rectangle 3"/>
          <p:cNvSpPr>
            <a:spLocks noGrp="1"/>
          </p:cNvSpPr>
          <p:nvPr/>
        </p:nvSpPr>
        <p:spPr>
          <a:xfrm>
            <a:off x="1899920" y="943610"/>
            <a:ext cx="8541385" cy="61620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sz="2800" b="0" dirty="0"/>
              <a:t>使用 v-model 绑定文本框</a:t>
            </a:r>
            <a:endParaRPr sz="2800" b="0" dirty="0"/>
          </a:p>
          <a:p>
            <a:r>
              <a:rPr sz="2800" b="0" dirty="0">
                <a:sym typeface="+mn-ea"/>
              </a:rPr>
              <a:t>使用 Vue 中 v-on:click 来绑定事件，缩写形式@click</a:t>
            </a:r>
            <a:r>
              <a:rPr lang="zh-CN" sz="2800" b="0" dirty="0">
                <a:latin typeface="Calibri" panose="020F0502020204030204" pitchFamily="34" charset="0"/>
                <a:sym typeface="+mn-ea"/>
              </a:rPr>
              <a:t>（在上示例基础的</a:t>
            </a:r>
            <a:r>
              <a:rPr lang="en-US" altLang="zh-CN" sz="2800" b="0" dirty="0">
                <a:latin typeface="Calibri" panose="020F0502020204030204" pitchFamily="34" charset="0"/>
                <a:sym typeface="+mn-ea"/>
              </a:rPr>
              <a:t>&lt;div&gt;</a:t>
            </a:r>
            <a:r>
              <a:rPr lang="zh-CN" altLang="en-US" sz="2800" b="0" dirty="0">
                <a:latin typeface="Calibri" panose="020F0502020204030204" pitchFamily="34" charset="0"/>
                <a:sym typeface="+mn-ea"/>
              </a:rPr>
              <a:t>标签中添加</a:t>
            </a:r>
            <a:r>
              <a:rPr lang="zh-CN" sz="2800" b="0" dirty="0">
                <a:latin typeface="Calibri" panose="020F0502020204030204" pitchFamily="34" charset="0"/>
                <a:sym typeface="+mn-ea"/>
              </a:rPr>
              <a:t>）</a:t>
            </a:r>
            <a:endParaRPr dirty="0">
              <a:sym typeface="+mn-ea"/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5167313" y="289560"/>
            <a:ext cx="5043487" cy="654050"/>
          </a:xfrm>
        </p:spPr>
        <p:txBody>
          <a:bodyPr vert="horz" wrap="square" lIns="91440" tIns="45720" rIns="91440" bIns="45720" anchor="ctr"/>
          <a:p>
            <a:r>
              <a:rPr dirty="0">
                <a:sym typeface="+mn-ea"/>
              </a:rPr>
              <a:t>响应式声明渲染</a:t>
            </a:r>
            <a:endParaRPr dirty="0">
              <a:sym typeface="+mn-ea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1703705" y="2348865"/>
            <a:ext cx="8435975" cy="4397119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 id="myApp"&gt;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&lt;p&gt; {{ message }} &lt;/p&gt;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&lt;input v-model="message"&gt;&lt;/input&gt;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&lt;button v-on:click="alert('message='+app.message);"&gt; 点击看看 &lt;/button&gt;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&lt;button @click="alert('message='+app.message);"&gt; 点击看看 &lt;/button&gt;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var myData =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message: 'Hello Vue.js!'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var app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el: '#myApp',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data: myData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112760" y="472567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03622" y="2925614"/>
            <a:ext cx="5684520" cy="706755"/>
            <a:chOff x="4709928" y="3369901"/>
            <a:chExt cx="5684520" cy="706755"/>
          </a:xfrm>
        </p:grpSpPr>
        <p:sp>
          <p:nvSpPr>
            <p:cNvPr id="3" name="文本框 2"/>
            <p:cNvSpPr txBox="1"/>
            <p:nvPr/>
          </p:nvSpPr>
          <p:spPr>
            <a:xfrm>
              <a:off x="4709928" y="3369901"/>
              <a:ext cx="695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0</a:t>
              </a:r>
              <a:r>
                <a:rPr lang="en-US" sz="4000" kern="0" dirty="0">
                  <a:latin typeface="+mj-lt"/>
                  <a:ea typeface="+mj-lt"/>
                  <a:cs typeface="+mj-lt"/>
                  <a:sym typeface="+mn-lt"/>
                </a:rPr>
                <a:t>3</a:t>
              </a:r>
              <a:endParaRPr 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99818" y="3369901"/>
              <a:ext cx="5294630" cy="7067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4000" kern="0" dirty="0">
                  <a:latin typeface="+mj-lt"/>
                  <a:ea typeface="+mj-lt"/>
                  <a:cs typeface="+mj-lt"/>
                  <a:sym typeface="+mn-lt"/>
                </a:rPr>
                <a:t>vue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属性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绑定</a:t>
              </a:r>
              <a:endParaRPr lang="zh-CN" alt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6680200" y="1948815"/>
            <a:ext cx="2557145" cy="405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云形标注 5"/>
          <p:cNvSpPr/>
          <p:nvPr/>
        </p:nvSpPr>
        <p:spPr>
          <a:xfrm>
            <a:off x="1532255" y="2078990"/>
            <a:ext cx="4152900" cy="2397125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</a:t>
            </a:r>
            <a:r>
              <a:rPr dirty="0">
                <a:latin typeface="Calibri" panose="020F0502020204030204" pitchFamily="34" charset="0"/>
                <a:sym typeface="+mn-ea"/>
              </a:rPr>
              <a:t>如果页面需要超链接</a:t>
            </a:r>
            <a:r>
              <a:rPr lang="zh-CN" dirty="0">
                <a:latin typeface="Calibri" panose="020F0502020204030204" pitchFamily="34" charset="0"/>
                <a:sym typeface="+mn-ea"/>
              </a:rPr>
              <a:t>？</a:t>
            </a:r>
            <a:endParaRPr lang="zh-CN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828800" y="612140"/>
            <a:ext cx="85337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如果页面需要超链接</a:t>
            </a:r>
            <a:r>
              <a:rPr lang="zh-CN" sz="2800" b="0" dirty="0">
                <a:latin typeface="Calibri" panose="020F0502020204030204" pitchFamily="34" charset="0"/>
              </a:rPr>
              <a:t>，初学者会写如下的代码，运行后会发现并没有生成超链接</a:t>
            </a:r>
            <a:endParaRPr lang="zh-CN"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20840" y="374650"/>
            <a:ext cx="3568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Vue 属性绑定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1828800" y="2444750"/>
            <a:ext cx="8593455" cy="382380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&lt;div id="myApp"&gt;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&lt;a href={{url}} &gt;&lt;/a&gt;  &lt;!--&lt;a href=url&gt;&lt;/a&gt; --&gt; //初学者可能会这样写这是一个错误演示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&lt;script&gt;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var app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el: '#myApp',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data: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      bookName: 'Vue.js 编程入门',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      url: 'https://cn.vuejs.org/'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/>
      <p:bldP spid="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085" y="3610610"/>
            <a:ext cx="3263900" cy="23495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60" y="1668780"/>
            <a:ext cx="2713990" cy="1576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05" y="1668780"/>
            <a:ext cx="4538980" cy="3100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20840" y="374650"/>
            <a:ext cx="3568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Vue 属性绑定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828800" y="861695"/>
            <a:ext cx="85337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这时需要用 v-bind，修改代码再次运行后发现超链接可以跳转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  <a:sym typeface="+mn-ea"/>
              </a:rPr>
              <a:t>    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  <a:sym typeface="+mn-ea"/>
              </a:rPr>
              <a:t> v-bind 主要用于属性绑定，Vue 官方提供了一个简   写方式例如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42735" y="424180"/>
            <a:ext cx="3568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Vue 属性绑定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292985" y="2653030"/>
            <a:ext cx="7646670" cy="381394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&lt;a v-bind:href="url"&gt;&lt;/a&gt;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2292985" y="4318000"/>
            <a:ext cx="7646670" cy="124150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&lt;!—完整语法--&gt;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&lt;a v-bind:href="url"&gt;&lt;/a&gt;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&lt;!—缩写--&gt;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&lt;a:href="url"&gt;&lt;/a&gt;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  <p:bldP spid="4" grpId="0" bldLvl="0" animBg="1"/>
      <p:bldP spid="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828800" y="836930"/>
            <a:ext cx="85337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en-US" sz="2800" b="0" dirty="0">
                <a:latin typeface="Calibri" panose="020F0502020204030204" pitchFamily="34" charset="0"/>
              </a:rPr>
              <a:t>   </a:t>
            </a:r>
            <a:r>
              <a:rPr sz="2800" b="0" dirty="0">
                <a:latin typeface="Calibri" panose="020F0502020204030204" pitchFamily="34" charset="0"/>
              </a:rPr>
              <a:t>v-bind 主要用于属性绑定</a:t>
            </a:r>
            <a:r>
              <a:rPr lang="zh-CN" sz="2800" b="0" dirty="0">
                <a:latin typeface="Calibri" panose="020F0502020204030204" pitchFamily="34" charset="0"/>
              </a:rPr>
              <a:t>，</a:t>
            </a:r>
            <a:r>
              <a:rPr sz="2800" b="0" dirty="0">
                <a:latin typeface="Calibri" panose="020F0502020204030204" pitchFamily="34" charset="0"/>
                <a:sym typeface="+mn-ea"/>
              </a:rPr>
              <a:t>绑定到文本框中</a:t>
            </a:r>
            <a:r>
              <a:rPr lang="zh-CN" sz="2800" b="0" dirty="0">
                <a:latin typeface="Calibri" panose="020F0502020204030204" pitchFamily="34" charset="0"/>
                <a:sym typeface="+mn-ea"/>
              </a:rPr>
              <a:t>。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    </a:t>
            </a: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94500" y="365125"/>
            <a:ext cx="3568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Vue 属性绑定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139315" y="1463040"/>
            <a:ext cx="7646670" cy="38140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&lt;input type="text" v-bind:value="bookName"&gt;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2063750" y="1917065"/>
            <a:ext cx="7646670" cy="481711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&lt;div id="myApp"&gt;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&lt;a v-bind:href="url"&gt;跳转&lt;/a&gt;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&lt;input type="text" v-bind:value="bookName"&gt;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&lt;script src="../js/vue.js"&gt;&lt;/script&gt;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var app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el: '#myApp',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data: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	bookName: 'vue',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	url: 'https://www.baidu.com'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&lt;/script&gt;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&lt;/body&gt;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112760" y="472567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  <p:bldP spid="4" grpId="0" bldLvl="0" animBg="1"/>
      <p:bldP spid="5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03622" y="2925614"/>
            <a:ext cx="5684520" cy="706755"/>
            <a:chOff x="4709928" y="3369901"/>
            <a:chExt cx="5684520" cy="706755"/>
          </a:xfrm>
        </p:grpSpPr>
        <p:sp>
          <p:nvSpPr>
            <p:cNvPr id="3" name="文本框 2"/>
            <p:cNvSpPr txBox="1"/>
            <p:nvPr/>
          </p:nvSpPr>
          <p:spPr>
            <a:xfrm>
              <a:off x="4709928" y="3369901"/>
              <a:ext cx="695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0</a:t>
              </a:r>
              <a:r>
                <a:rPr lang="en-US" sz="4000" kern="0" dirty="0">
                  <a:latin typeface="+mj-lt"/>
                  <a:ea typeface="+mj-lt"/>
                  <a:cs typeface="+mj-lt"/>
                  <a:sym typeface="+mn-lt"/>
                </a:rPr>
                <a:t>4</a:t>
              </a:r>
              <a:endParaRPr 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99818" y="3369901"/>
              <a:ext cx="5294630" cy="7067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4000" kern="0" dirty="0">
                  <a:latin typeface="+mj-lt"/>
                  <a:ea typeface="+mj-lt"/>
                  <a:cs typeface="+mj-lt"/>
                  <a:sym typeface="+mn-lt"/>
                </a:rPr>
                <a:t>vue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双向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数据绑定</a:t>
              </a:r>
              <a:endParaRPr lang="zh-CN" alt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407669" y="3572996"/>
            <a:ext cx="6276640" cy="31682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83614" y="1125334"/>
            <a:ext cx="4031104" cy="1015663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最典型的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MVC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JSP </a:t>
            </a: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+Servlet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altLang="zh-CN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+JavaBean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模式（</a:t>
            </a:r>
            <a:r>
              <a:rPr lang="en-US" altLang="zh-CN" sz="2000" b="1" dirty="0" err="1" smtClean="0">
                <a:latin typeface="微软雅黑" panose="020B0503020204020204" charset="-122"/>
                <a:ea typeface="微软雅黑" panose="020B0503020204020204" charset="-122"/>
              </a:rPr>
              <a:t>JavaEE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endParaRPr lang="en-US" altLang="zh-CN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 smtClean="0"/>
              <a:t>Spring MVC</a:t>
            </a:r>
            <a:endParaRPr lang="en-US" altLang="zh-CN" sz="2000" b="1" dirty="0"/>
          </a:p>
        </p:txBody>
      </p:sp>
      <p:pic>
        <p:nvPicPr>
          <p:cNvPr id="10" name="图片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4005" y="261246"/>
            <a:ext cx="6304663" cy="3595913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839702" y="2492850"/>
            <a:ext cx="3475310" cy="1353345"/>
            <a:chOff x="216132" y="2532855"/>
            <a:chExt cx="3475310" cy="1353345"/>
          </a:xfrm>
        </p:grpSpPr>
        <p:sp>
          <p:nvSpPr>
            <p:cNvPr id="5" name="矩形 4"/>
            <p:cNvSpPr/>
            <p:nvPr/>
          </p:nvSpPr>
          <p:spPr>
            <a:xfrm>
              <a:off x="216132" y="2532855"/>
              <a:ext cx="3475310" cy="707886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000" b="1" dirty="0" err="1">
                  <a:latin typeface="微软雅黑" panose="020B0503020204020204" charset="-122"/>
                  <a:ea typeface="微软雅黑" panose="020B0503020204020204" charset="-122"/>
                </a:rPr>
                <a:t>AngularJS</a:t>
              </a:r>
              <a:r>
                <a:rPr lang="zh-CN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React</a:t>
              </a:r>
              <a:r>
                <a:rPr lang="zh-CN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2000" b="1" dirty="0" smtClean="0">
                  <a:latin typeface="微软雅黑" panose="020B0503020204020204" charset="-122"/>
                  <a:ea typeface="微软雅黑" panose="020B0503020204020204" charset="-122"/>
                </a:rPr>
                <a:t>Vue.js</a:t>
              </a:r>
              <a:endPara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2000" b="1" dirty="0" smtClean="0">
                  <a:latin typeface="微软雅黑" panose="020B0503020204020204" charset="-122"/>
                  <a:ea typeface="微软雅黑" panose="020B0503020204020204" charset="-122"/>
                </a:rPr>
                <a:t>三大 主流</a:t>
              </a:r>
              <a:r>
                <a:rPr lang="en-US" altLang="zh-CN" sz="2000" b="1" dirty="0" smtClean="0">
                  <a:latin typeface="微软雅黑" panose="020B0503020204020204" charset="-122"/>
                  <a:ea typeface="微软雅黑" panose="020B0503020204020204" charset="-122"/>
                </a:rPr>
                <a:t>MVVM</a:t>
              </a:r>
              <a:r>
                <a:rPr lang="zh-CN" altLang="en-US" sz="2000" b="1" dirty="0" smtClean="0">
                  <a:latin typeface="微软雅黑" panose="020B0503020204020204" charset="-122"/>
                  <a:ea typeface="微软雅黑" panose="020B0503020204020204" charset="-122"/>
                </a:rPr>
                <a:t>框架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下箭头 11"/>
            <p:cNvSpPr/>
            <p:nvPr/>
          </p:nvSpPr>
          <p:spPr>
            <a:xfrm>
              <a:off x="946493" y="3240741"/>
              <a:ext cx="406799" cy="64545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8" name="图示 7"/>
          <p:cNvGraphicFramePr/>
          <p:nvPr/>
        </p:nvGraphicFramePr>
        <p:xfrm>
          <a:off x="8040108" y="4221406"/>
          <a:ext cx="2908226" cy="2153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2083435" y="208598"/>
            <a:ext cx="8229600" cy="792162"/>
          </a:xfrm>
        </p:spPr>
        <p:txBody>
          <a:bodyPr vert="horz" wrap="square" lIns="91440" tIns="45720" rIns="91440" bIns="45720" anchor="ctr"/>
          <a:p>
            <a:r>
              <a:rPr dirty="0">
                <a:ea typeface="+mj-lt"/>
                <a:sym typeface="+mn-ea"/>
              </a:rPr>
              <a:t> Vue 双向数据绑定</a:t>
            </a:r>
            <a:endParaRPr lang="zh-CN" altLang="en-US" dirty="0"/>
          </a:p>
        </p:txBody>
      </p:sp>
      <p:sp>
        <p:nvSpPr>
          <p:cNvPr id="173059" name="Rectangle 3"/>
          <p:cNvSpPr>
            <a:spLocks noGrp="1"/>
          </p:cNvSpPr>
          <p:nvPr>
            <p:ph idx="1"/>
          </p:nvPr>
        </p:nvSpPr>
        <p:spPr>
          <a:xfrm>
            <a:off x="1457960" y="1412875"/>
            <a:ext cx="8855075" cy="4940300"/>
          </a:xfrm>
        </p:spPr>
        <p:txBody>
          <a:bodyPr vert="horz" wrap="square" lIns="91440" tIns="45720" rIns="91440" bIns="45720" anchor="t"/>
          <a:p>
            <a:pPr>
              <a:spcAft>
                <a:spcPct val="10000"/>
              </a:spcAft>
            </a:pPr>
            <a:r>
              <a:rPr sz="2800" dirty="0">
                <a:cs typeface="+mn-lt"/>
                <a:sym typeface="+mn-ea"/>
              </a:rPr>
              <a:t>Vue 是一个 MVVM 框架，即数据双向绑定，当数据发生变化的时，视图也发生变化，当视图发生变化时，数据也会同步变化。</a:t>
            </a:r>
            <a:endParaRPr sz="280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r>
              <a:rPr sz="2800" dirty="0">
                <a:cs typeface="+mn-lt"/>
                <a:sym typeface="+mn-ea"/>
              </a:rPr>
              <a:t>Vue.js</a:t>
            </a:r>
            <a:r>
              <a:rPr lang="zh-CN" sz="2800" dirty="0">
                <a:cs typeface="+mn-lt"/>
                <a:sym typeface="+mn-ea"/>
              </a:rPr>
              <a:t>主要</a:t>
            </a:r>
            <a:r>
              <a:rPr sz="2800" dirty="0">
                <a:cs typeface="+mn-lt"/>
                <a:sym typeface="+mn-ea"/>
              </a:rPr>
              <a:t>通过</a:t>
            </a:r>
            <a:r>
              <a:rPr sz="2800" dirty="0">
                <a:solidFill>
                  <a:srgbClr val="0070C0"/>
                </a:solidFill>
                <a:cs typeface="+mn-lt"/>
                <a:sym typeface="+mn-ea"/>
              </a:rPr>
              <a:t>v-model指令</a:t>
            </a:r>
            <a:r>
              <a:rPr sz="2800" dirty="0">
                <a:cs typeface="+mn-lt"/>
                <a:sym typeface="+mn-ea"/>
              </a:rPr>
              <a:t>实现双向数据绑定。</a:t>
            </a:r>
            <a:endParaRPr sz="2800" dirty="0">
              <a:cs typeface="+mn-lt"/>
              <a:sym typeface="+mn-ea"/>
            </a:endParaRPr>
          </a:p>
          <a:p>
            <a:pPr marR="0" lvl="0" indent="0" algn="l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sz="2800" dirty="0">
                <a:cs typeface="+mn-lt"/>
                <a:sym typeface="+mn-ea"/>
              </a:rPr>
              <a:t>双向绑定一般都应用在表单类元素上，如&lt;input&gt;&lt;select&gt;&lt;textarea&gt;等</a:t>
            </a:r>
            <a:endParaRPr sz="2800" dirty="0">
              <a:cs typeface="+mn-lt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28435" y="4149090"/>
            <a:ext cx="4121150" cy="17900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2083435" y="208598"/>
            <a:ext cx="8229600" cy="792162"/>
          </a:xfrm>
        </p:spPr>
        <p:txBody>
          <a:bodyPr vert="horz" wrap="square" lIns="91440" tIns="45720" rIns="91440" bIns="45720" anchor="ctr"/>
          <a:p>
            <a:r>
              <a:rPr dirty="0">
                <a:ea typeface="+mj-lt"/>
                <a:sym typeface="+mn-ea"/>
              </a:rPr>
              <a:t> Vue 双向数据绑定</a:t>
            </a:r>
            <a:endParaRPr lang="zh-CN" altLang="en-US" dirty="0"/>
          </a:p>
        </p:txBody>
      </p:sp>
      <p:sp>
        <p:nvSpPr>
          <p:cNvPr id="173059" name="Rectangle 3"/>
          <p:cNvSpPr>
            <a:spLocks noGrp="1"/>
          </p:cNvSpPr>
          <p:nvPr>
            <p:ph idx="1"/>
          </p:nvPr>
        </p:nvSpPr>
        <p:spPr>
          <a:xfrm>
            <a:off x="839470" y="1125220"/>
            <a:ext cx="10671175" cy="5231130"/>
          </a:xfrm>
        </p:spPr>
        <p:txBody>
          <a:bodyPr vert="horz" wrap="square" lIns="91440" tIns="45720" rIns="91440" bIns="45720" anchor="t"/>
          <a:p>
            <a:pPr>
              <a:spcAft>
                <a:spcPct val="10000"/>
              </a:spcAft>
            </a:pPr>
            <a:r>
              <a:rPr lang="zh-CN" altLang="en-US" sz="2800" dirty="0"/>
              <a:t>响应式声明渲染机制与双向数据绑定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作用范围：响应式声明渲染机制是整个Vue应用的</a:t>
            </a:r>
            <a:r>
              <a:rPr lang="zh-CN" altLang="en-US" sz="2800" dirty="0">
                <a:solidFill>
                  <a:srgbClr val="FF0000"/>
                </a:solidFill>
              </a:rPr>
              <a:t>基础</a:t>
            </a:r>
            <a:r>
              <a:rPr lang="zh-CN" altLang="en-US" sz="2800" dirty="0"/>
              <a:t>，它负责数据变化时视图的自动更新。而双向数据绑定只是这个机制中的一个具体</a:t>
            </a:r>
            <a:r>
              <a:rPr lang="zh-CN" altLang="en-US" sz="2800" dirty="0">
                <a:solidFill>
                  <a:srgbClr val="FF0000"/>
                </a:solidFill>
              </a:rPr>
              <a:t>应用</a:t>
            </a:r>
            <a:r>
              <a:rPr lang="zh-CN" altLang="en-US" sz="2800" dirty="0"/>
              <a:t>，它特别关注于表单元素的值与数据之间的双向同步。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endParaRPr lang="en-US" altLang="zh-CN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关注点：响应式声明渲染机制更关注于数据的响应性和视图的自动更新，而双向数据绑定则更关注于用户输入与数据之间的实时同步。</a:t>
            </a:r>
            <a:endParaRPr lang="zh-CN" altLang="en-US" sz="2800" dirty="0"/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03622" y="2925614"/>
            <a:ext cx="5684520" cy="706755"/>
            <a:chOff x="4709928" y="3369901"/>
            <a:chExt cx="5684520" cy="706755"/>
          </a:xfrm>
        </p:grpSpPr>
        <p:sp>
          <p:nvSpPr>
            <p:cNvPr id="3" name="文本框 2"/>
            <p:cNvSpPr txBox="1"/>
            <p:nvPr/>
          </p:nvSpPr>
          <p:spPr>
            <a:xfrm>
              <a:off x="4709928" y="3369901"/>
              <a:ext cx="695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sz="4000" kern="0" dirty="0">
                  <a:latin typeface="+mj-lt"/>
                  <a:ea typeface="+mj-lt"/>
                  <a:cs typeface="+mj-lt"/>
                  <a:sym typeface="+mn-lt"/>
                </a:rPr>
                <a:t>0</a:t>
              </a:r>
              <a:r>
                <a:rPr lang="en-US" sz="4000" kern="0" dirty="0">
                  <a:latin typeface="+mj-lt"/>
                  <a:ea typeface="+mj-lt"/>
                  <a:cs typeface="+mj-lt"/>
                  <a:sym typeface="+mn-lt"/>
                </a:rPr>
                <a:t>5</a:t>
              </a:r>
              <a:endParaRPr 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99818" y="3369901"/>
              <a:ext cx="5294630" cy="7067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计算</a:t>
              </a:r>
              <a:r>
                <a:rPr lang="zh-CN" altLang="en-US" sz="4000" kern="0" dirty="0">
                  <a:latin typeface="+mj-lt"/>
                  <a:ea typeface="+mj-lt"/>
                  <a:cs typeface="+mj-lt"/>
                  <a:sym typeface="+mn-lt"/>
                </a:rPr>
                <a:t>属性</a:t>
              </a:r>
              <a:endParaRPr lang="zh-CN" altLang="en-US" sz="4000" kern="0" dirty="0">
                <a:latin typeface="+mj-lt"/>
                <a:ea typeface="+mj-lt"/>
                <a:cs typeface="+mj-lt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27835" y="12687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+mn-lt"/>
                <a:cs typeface="+mn-lt"/>
              </a:rPr>
              <a:t>模板语法只用于简单运算，当表达式过于复杂</a:t>
            </a:r>
            <a:r>
              <a:rPr lang="zh-CN" sz="2800" b="0" dirty="0">
                <a:latin typeface="+mn-lt"/>
                <a:cs typeface="+mn-lt"/>
              </a:rPr>
              <a:t>时</a:t>
            </a:r>
            <a:r>
              <a:rPr sz="2800" b="0" dirty="0">
                <a:latin typeface="+mn-lt"/>
                <a:cs typeface="+mn-lt"/>
              </a:rPr>
              <a:t>，Vue 提供了计算属性 computed</a:t>
            </a:r>
            <a:r>
              <a:rPr lang="en-US" sz="2800" b="0" dirty="0">
                <a:latin typeface="+mn-lt"/>
                <a:cs typeface="+mn-lt"/>
              </a:rPr>
              <a:t>,用于</a:t>
            </a:r>
            <a:r>
              <a:rPr lang="en-US" sz="2800" b="0" dirty="0">
                <a:solidFill>
                  <a:srgbClr val="0070C0"/>
                </a:solidFill>
                <a:latin typeface="+mn-lt"/>
                <a:cs typeface="+mn-lt"/>
              </a:rPr>
              <a:t>对数据进行处理</a:t>
            </a:r>
            <a:r>
              <a:rPr lang="en-US" sz="2800" b="0" dirty="0">
                <a:latin typeface="+mn-lt"/>
                <a:cs typeface="+mn-lt"/>
              </a:rPr>
              <a:t>和转换，以及动态生成一些需要的数据。‌</a:t>
            </a:r>
            <a:endParaRPr lang="en-US" sz="2800" b="0" dirty="0">
              <a:latin typeface="+mn-lt"/>
              <a:cs typeface="+mn-lt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+mn-lt"/>
                <a:cs typeface="+mn-lt"/>
              </a:rPr>
              <a:t>Vue中的计算属性（computed）是基于它们的依赖进行缓存的响应式属性。只有当</a:t>
            </a:r>
            <a:r>
              <a:rPr sz="2800" b="0" dirty="0">
                <a:solidFill>
                  <a:srgbClr val="0070C0"/>
                </a:solidFill>
                <a:latin typeface="+mn-lt"/>
                <a:cs typeface="+mn-lt"/>
              </a:rPr>
              <a:t>相关依赖发生改变时</a:t>
            </a:r>
            <a:r>
              <a:rPr sz="2800" b="0" dirty="0">
                <a:latin typeface="+mn-lt"/>
                <a:cs typeface="+mn-lt"/>
              </a:rPr>
              <a:t>，计算属性才会重新求值。这意味着只要依赖没有改变，多次访问计算属性会立即返回之前的计算结果，而不需要再次执行函数。</a:t>
            </a:r>
            <a:endParaRPr sz="2800" b="0" dirty="0">
              <a:latin typeface="+mn-lt"/>
              <a:cs typeface="+mn-lt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84315" y="325120"/>
            <a:ext cx="38804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Vue 计算属性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27835" y="12687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solidFill>
                  <a:srgbClr val="0070C0"/>
                </a:solidFill>
                <a:latin typeface="Calibri" panose="020F0502020204030204" pitchFamily="34" charset="0"/>
              </a:rPr>
              <a:t>作用</a:t>
            </a:r>
            <a:r>
              <a:rPr sz="2800" b="0" dirty="0">
                <a:latin typeface="Calibri" panose="020F0502020204030204" pitchFamily="34" charset="0"/>
              </a:rPr>
              <a:t>：</a:t>
            </a:r>
            <a:endParaRPr sz="2800" b="0" dirty="0">
              <a:latin typeface="Calibri" panose="020F0502020204030204" pitchFamily="34" charset="0"/>
            </a:endParaRPr>
          </a:p>
          <a:p>
            <a:pPr indent="4572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性能优化：通过缓存来避免不必要的计算和DOM更新，提高应用性能。</a:t>
            </a:r>
            <a:endParaRPr sz="2800" b="0" dirty="0">
              <a:latin typeface="Calibri" panose="020F0502020204030204" pitchFamily="34" charset="0"/>
            </a:endParaRPr>
          </a:p>
          <a:p>
            <a:pPr indent="4572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声明式描述：以声明方式描述依赖关系，让代码更加简洁和易于理解。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solidFill>
                  <a:srgbClr val="0070C0"/>
                </a:solidFill>
                <a:latin typeface="Calibri" panose="020F0502020204030204" pitchFamily="34" charset="0"/>
              </a:rPr>
              <a:t>使用场景</a:t>
            </a:r>
            <a:r>
              <a:rPr sz="2800" b="0" dirty="0">
                <a:latin typeface="Calibri" panose="020F0502020204030204" pitchFamily="34" charset="0"/>
              </a:rPr>
              <a:t>：</a:t>
            </a:r>
            <a:endParaRPr sz="2800" b="0" dirty="0">
              <a:latin typeface="Calibri" panose="020F0502020204030204" pitchFamily="34" charset="0"/>
            </a:endParaRPr>
          </a:p>
          <a:p>
            <a:pPr indent="4572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有一些数据依赖于其他数据变化时。</a:t>
            </a:r>
            <a:endParaRPr sz="2800" b="0" dirty="0">
              <a:latin typeface="Calibri" panose="020F0502020204030204" pitchFamily="34" charset="0"/>
            </a:endParaRPr>
          </a:p>
          <a:p>
            <a:pPr indent="4572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需要根据一些数据计算出新的值时。</a:t>
            </a: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84315" y="325120"/>
            <a:ext cx="38804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Vue 计算属性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27835" y="12687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84315" y="325120"/>
            <a:ext cx="38804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演示计算属性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1799590" y="959485"/>
            <a:ext cx="8593455" cy="583138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&lt;h2&gt;图书&lt;/h2&gt;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&lt;div&gt; 您购买了{{book.name}} 共{{book.count}}本===￥{{book.price}}/本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&lt;div&gt;总价：{{totalPrice}}  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&lt;sciprt&gt;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var vm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el: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data:{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book:{id:1,price:10,name:'Vue 入门 ',count:1},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discount:0.8,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deliver:12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</a:t>
            </a:r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computed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totalPrice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return (this.book.price*this.book.count)*this.discount+this.deliver;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&lt;/sciprt&gt;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8328660" y="443738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tooltip="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9" name="Rectangle 3"/>
          <p:cNvSpPr>
            <a:spLocks noGrp="1"/>
          </p:cNvSpPr>
          <p:nvPr>
            <p:ph idx="1"/>
          </p:nvPr>
        </p:nvSpPr>
        <p:spPr>
          <a:xfrm>
            <a:off x="909320" y="1125220"/>
            <a:ext cx="9782810" cy="5389245"/>
          </a:xfrm>
        </p:spPr>
        <p:txBody>
          <a:bodyPr vert="horz" wrap="square" lIns="91440" tIns="45720" rIns="91440" bIns="45720" anchor="t"/>
          <a:p>
            <a:pPr marL="0" indent="0">
              <a:spcAft>
                <a:spcPct val="10000"/>
              </a:spcAft>
              <a:buNone/>
            </a:pPr>
            <a:r>
              <a:rPr lang="en-US" altLang="zh-CN" dirty="0"/>
              <a:t>1.get</a:t>
            </a:r>
            <a:r>
              <a:rPr lang="zh-CN" altLang="en-US" dirty="0"/>
              <a:t>的作用</a:t>
            </a:r>
            <a:endParaRPr lang="en-US" altLang="zh-CN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读取计算属性的值</a:t>
            </a:r>
            <a:r>
              <a:rPr lang="zh-CN" altLang="en-US" sz="2800" dirty="0"/>
              <a:t>：当我们访问计算属性时，Vue 会调用 get 方法来返回计算属性的值。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自动依赖追踪</a:t>
            </a:r>
            <a:r>
              <a:rPr lang="zh-CN" altLang="en-US" sz="2800" dirty="0"/>
              <a:t>：get 会根据使用的数据自动追踪依赖，当依赖的数据发生变化时，Vue 会重新计算这个属性的值。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纯函数</a:t>
            </a:r>
            <a:r>
              <a:rPr lang="zh-CN" altLang="en-US" sz="2800" dirty="0"/>
              <a:t>：get 通常是一个纯函数，它不应该修改数据，只负责返回值。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endParaRPr lang="zh-CN" altLang="en-US"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80100" y="384175"/>
            <a:ext cx="48120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计算属性</a:t>
            </a:r>
            <a:r>
              <a:rPr sz="2800" dirty="0">
                <a:cs typeface="+mn-lt"/>
                <a:sym typeface="+mn-ea"/>
              </a:rPr>
              <a:t>set 和 get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4941570"/>
            <a:ext cx="7751445" cy="13538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7305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9" name="Rectangle 3"/>
          <p:cNvSpPr>
            <a:spLocks noGrp="1"/>
          </p:cNvSpPr>
          <p:nvPr>
            <p:ph idx="1"/>
          </p:nvPr>
        </p:nvSpPr>
        <p:spPr>
          <a:xfrm>
            <a:off x="909320" y="1125220"/>
            <a:ext cx="9782810" cy="5389245"/>
          </a:xfrm>
        </p:spPr>
        <p:txBody>
          <a:bodyPr vert="horz" wrap="square" lIns="91440" tIns="45720" rIns="91440" bIns="45720" anchor="t"/>
          <a:p>
            <a:pPr marL="0" indent="0">
              <a:spcAft>
                <a:spcPct val="10000"/>
              </a:spcAft>
              <a:buNone/>
            </a:pPr>
            <a:r>
              <a:rPr lang="en-US" altLang="zh-CN" dirty="0"/>
              <a:t>1.set</a:t>
            </a:r>
            <a:r>
              <a:rPr lang="zh-CN" altLang="en-US" dirty="0"/>
              <a:t>的作用</a:t>
            </a:r>
            <a:endParaRPr lang="en-US" altLang="zh-CN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响应赋值操作</a:t>
            </a:r>
            <a:r>
              <a:rPr lang="zh-CN" altLang="en-US" sz="2800" dirty="0"/>
              <a:t>：当我们对计算属性赋值时，Vue 会调用 set 方法。set 允许我们自定义赋值后的行为。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更新依赖数据</a:t>
            </a:r>
            <a:r>
              <a:rPr lang="zh-CN" altLang="en-US" sz="2800" dirty="0"/>
              <a:t>：通过 set 方法，我们可以控制赋值时如何更新其他相关的数据。</a:t>
            </a:r>
            <a:endParaRPr lang="zh-CN" altLang="en-US" sz="2800" dirty="0"/>
          </a:p>
          <a:p>
            <a:pPr marL="0" indent="0">
              <a:spcAft>
                <a:spcPct val="10000"/>
              </a:spcAft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复杂逻辑处理</a:t>
            </a:r>
            <a:r>
              <a:rPr lang="zh-CN" altLang="en-US" sz="2800" dirty="0"/>
              <a:t>：你可以在 set 中进行拆分、格式化或校验等复杂逻辑。</a:t>
            </a:r>
            <a:endParaRPr lang="zh-CN" altLang="en-US" sz="2800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80100" y="384175"/>
            <a:ext cx="48120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计算属性</a:t>
            </a:r>
            <a:r>
              <a:rPr sz="2800" dirty="0">
                <a:cs typeface="+mn-lt"/>
                <a:sym typeface="+mn-ea"/>
              </a:rPr>
              <a:t>set 和 get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4941570"/>
            <a:ext cx="6993255" cy="11328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73059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27835" y="12687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84315" y="344805"/>
            <a:ext cx="38804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Vue 计算属性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1199515" y="965200"/>
            <a:ext cx="8593455" cy="575627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&lt;input v-model="firstName"/&gt;  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&lt;input v-model="lastName"/&gt;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&lt;input v-model="fullName" /&gt;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&lt;script&gt;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var vm = new Vue({   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el: '#app',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data: {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firstName: 'Foo',  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71600" lvl="3" indent="457200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lastName: 'Bar'     },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computed: {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	fullName: {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get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function () {   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return this.firstName + ' ' + this.lastName},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set</a:t>
            </a:r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: function (newValue) { </a:t>
            </a:r>
            <a:r>
              <a:rPr lang="en-US" altLang="zh-CN" sz="1800" b="0" dirty="0">
                <a:sym typeface="+mn-ea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var names = newValue.split(' ')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this.firstName = names[0]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this.lastName = names[names.length - 1]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}}}})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&lt;/script&gt;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hlinkClick r:id="rId1" action="ppaction://hlinkfile"/>
          </p:cNvPr>
          <p:cNvSpPr txBox="1"/>
          <p:nvPr/>
        </p:nvSpPr>
        <p:spPr>
          <a:xfrm>
            <a:off x="8472805" y="551751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0410" y="374015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计算属性与 methods 的区别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1776095" y="996315"/>
            <a:ext cx="8855075" cy="5259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1. 缓存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计算属性</a:t>
            </a:r>
            <a:r>
              <a:rPr lang="en-US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: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是基于它们的响应式依赖进行缓存的。只有当相关响应式依赖发生改变时，计算属性才会重新求值。这意味着只要依赖没有变化，多次访问计算属性会立即返回之前的计算结果，而不需要再次执行函数。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方法</a:t>
            </a:r>
            <a:r>
              <a:rPr lang="en-US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: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在每次调用时都会执行函数体，不论依赖项是否已经改变。它们没有缓存机制。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0410" y="374015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计算属性与 methods 的区别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1776095" y="996315"/>
            <a:ext cx="8855075" cy="5259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r>
              <a:rPr lang="en-US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. </a:t>
            </a: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性能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由于计算属性具有</a:t>
            </a:r>
            <a:r>
              <a:rPr sz="28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缓存机制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，所以当数据没有变化时，它们可以避免不必要的计算，从而提高性能。这对于复杂的计算或大数据集来说尤其重要。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方法则每次调用都会执行，不论数据是否变化，因此在处理大量数据或进行复杂计算时，如果不加限制，可能会导致</a:t>
            </a:r>
            <a:r>
              <a:rPr sz="28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性能问题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endParaRPr lang="zh-CN" altLang="en-US" dirty="0">
              <a:latin typeface="Calibri" panose="020F0502020204030204" pitchFamily="34" charset="0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0410" y="374015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 计算属性与 methods 的区别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173059" name="Rectangle 3"/>
          <p:cNvSpPr>
            <a:spLocks noGrp="1"/>
          </p:cNvSpPr>
          <p:nvPr/>
        </p:nvSpPr>
        <p:spPr>
          <a:xfrm>
            <a:off x="1776095" y="996315"/>
            <a:ext cx="8855075" cy="5259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Aft>
                <a:spcPct val="10000"/>
              </a:spcAft>
              <a:buNone/>
            </a:pPr>
            <a:r>
              <a:rPr lang="en-US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. </a:t>
            </a: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用途</a:t>
            </a:r>
            <a:endParaRPr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计算属性： 适用于需要根据响应式</a:t>
            </a:r>
            <a:r>
              <a:rPr lang="zh-CN" sz="28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数据计算</a:t>
            </a: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并返回一个新值的场景。它们应该是纯粹的（即不改变任何外部状态），并且它们的结果应该只依赖于响应式数据的当前值。</a:t>
            </a:r>
            <a:endParaRPr lang="zh-CN"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endParaRPr lang="zh-CN"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spcAft>
                <a:spcPct val="10000"/>
              </a:spcAft>
              <a:buNone/>
            </a:pP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方法： 更适用于执行</a:t>
            </a:r>
            <a:r>
              <a:rPr lang="zh-CN" sz="28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复杂的逻辑</a:t>
            </a: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，这些逻辑可能需要访问数据属性，也可能需要改变组件的状态，或者执行异步操作。方法通常包含更多的</a:t>
            </a:r>
            <a:r>
              <a:rPr lang="zh-CN" sz="2800" b="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业务逻辑</a:t>
            </a:r>
            <a:r>
              <a:rPr lang="zh-CN" sz="2800" b="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，而不仅仅是基于数据的计算。</a:t>
            </a:r>
            <a:endParaRPr lang="zh-CN" sz="2800" b="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  <a:p>
            <a:pPr marL="536575" lvl="1" indent="0">
              <a:spcAft>
                <a:spcPct val="10000"/>
              </a:spcAft>
              <a:buNone/>
            </a:pPr>
            <a:endParaRPr lang="zh-CN" altLang="en-US" dirty="0"/>
          </a:p>
          <a:p>
            <a:pPr marL="812800" lvl="1" indent="-276225">
              <a:spcAft>
                <a:spcPct val="10000"/>
              </a:spcAft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268730"/>
            <a:ext cx="6875780" cy="4911725"/>
          </a:xfrm>
        </p:spPr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0410" y="354330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0" dirty="0">
                <a:latin typeface="+mj-lt"/>
                <a:ea typeface="+mj-lt"/>
                <a:sym typeface="+mn-ea"/>
              </a:rPr>
              <a:t>计算属性与 methods 的区别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1798955" y="965200"/>
            <a:ext cx="8593455" cy="583138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&lt;h2&gt;图书&lt;/h2&gt;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&lt;div&gt; 您购买了{{book.name}}共{{book.count}}本===￥{{book.price}}/本  &lt;/div&gt; &lt;div&gt;总价：{{totalPrice()}}  &lt;/div&gt; //注意括号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&lt;sciprt&gt;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var vm = 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el: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data:{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book:{id:1,price:10,name:'Vue 入门 ',count:1},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discount:0.8,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deliver:12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methods:{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totalPrice:function(){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return (this.book.price*this.book.count)*this.discount+this.deliver;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 })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&lt;/sciprt&gt;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6422" name="AutoShape 6"/>
          <p:cNvSpPr>
            <a:spLocks noChangeArrowheads="1"/>
          </p:cNvSpPr>
          <p:nvPr/>
        </p:nvSpPr>
        <p:spPr bwMode="auto">
          <a:xfrm>
            <a:off x="2230755" y="4034155"/>
            <a:ext cx="2160588" cy="408144"/>
          </a:xfrm>
          <a:prstGeom prst="wedgeRoundRectCallout">
            <a:avLst>
              <a:gd name="adj1" fmla="val 38817"/>
              <a:gd name="adj2" fmla="val 10402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// </a:t>
            </a:r>
            <a:r>
              <a:rPr lang="en-US" altLang="zh-CN" sz="1800" dirty="0">
                <a:sym typeface="+mn-ea"/>
              </a:rPr>
              <a:t>methods</a:t>
            </a:r>
            <a:r>
              <a:rPr kumimoji="0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</a:t>
            </a:r>
            <a:endParaRPr kumimoji="0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59765" name="AutoShape 21"/>
          <p:cNvSpPr>
            <a:spLocks noChangeArrowheads="1"/>
          </p:cNvSpPr>
          <p:nvPr/>
        </p:nvSpPr>
        <p:spPr bwMode="auto">
          <a:xfrm>
            <a:off x="5513070" y="2383155"/>
            <a:ext cx="4697730" cy="670560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两种方式的最终结果确实是完全相同的</a:t>
            </a:r>
            <a:r>
              <a:rPr kumimoji="0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。</a:t>
            </a:r>
            <a:endParaRPr kumimoji="0" lang="zh-CN" alt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7824470" y="594931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56422" grpId="0" bldLvl="0" animBg="1"/>
      <p:bldP spid="159765" grpId="1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27835" y="12687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数据处理结构清晰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依赖于数据，处理结果自动更新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计算属性内部 this 指向 vm 实例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在模板调用时，直接写计算属性名即可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常用 getter 方法获取数据</a:t>
            </a:r>
            <a:r>
              <a:rPr lang="zh-CN" sz="2800" b="0" dirty="0">
                <a:latin typeface="Calibri" panose="020F0502020204030204" pitchFamily="34" charset="0"/>
              </a:rPr>
              <a:t>；</a:t>
            </a:r>
            <a:r>
              <a:rPr sz="2800" b="0" dirty="0">
                <a:latin typeface="Calibri" panose="020F0502020204030204" pitchFamily="34" charset="0"/>
              </a:rPr>
              <a:t>也可用 setter 方法改变数据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依赖数据不变时 </a:t>
            </a:r>
            <a:r>
              <a:rPr lang="zh-CN" sz="2800" b="0" dirty="0">
                <a:latin typeface="Calibri" panose="020F0502020204030204" pitchFamily="34" charset="0"/>
              </a:rPr>
              <a:t>，</a:t>
            </a:r>
            <a:r>
              <a:rPr sz="2800" b="0" dirty="0">
                <a:latin typeface="Calibri" panose="020F0502020204030204" pitchFamily="34" charset="0"/>
              </a:rPr>
              <a:t>computed 从缓存中获取，不会重新计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0410" y="403860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</a:t>
            </a:r>
            <a:r>
              <a:rPr sz="2800" b="0" dirty="0">
                <a:latin typeface="+mj-lt"/>
                <a:ea typeface="+mj-lt"/>
                <a:sym typeface="+mn-ea"/>
              </a:rPr>
              <a:t>计算属性的特点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956421" name="AutoShape 5"/>
          <p:cNvSpPr>
            <a:spLocks noChangeArrowheads="1"/>
          </p:cNvSpPr>
          <p:nvPr/>
        </p:nvSpPr>
        <p:spPr bwMode="auto">
          <a:xfrm>
            <a:off x="2547620" y="5772150"/>
            <a:ext cx="7663180" cy="408144"/>
          </a:xfrm>
          <a:prstGeom prst="wedgeRoundRectCallout">
            <a:avLst>
              <a:gd name="adj1" fmla="val -43884"/>
              <a:gd name="adj2" fmla="val -14583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Ctr="1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800" dirty="0">
                <a:latin typeface="Calibri" panose="020F0502020204030204" pitchFamily="34" charset="0"/>
                <a:sym typeface="+mn-ea"/>
              </a:rPr>
              <a:t>相较于 methods ，不管依赖的数据变不变，methods 都会重新计算</a:t>
            </a:r>
            <a:endParaRPr kumimoji="0" lang="zh-CN" altLang="en-US" sz="180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  <p:bldP spid="956421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636905" y="991870"/>
            <a:ext cx="985329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学习Vue生命周期对于开发高质量的Vue应用至关重要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solidFill>
                  <a:srgbClr val="FF0000"/>
                </a:solidFill>
                <a:latin typeface="Calibri" panose="020F0502020204030204" pitchFamily="34" charset="0"/>
              </a:rPr>
              <a:t>理解组件行为</a:t>
            </a:r>
            <a:r>
              <a:rPr sz="2400" b="0" dirty="0">
                <a:latin typeface="Calibri" panose="020F0502020204030204" pitchFamily="34" charset="0"/>
              </a:rPr>
              <a:t>：通过了解Vue的生命周期，可以更深入地理解Vue组件是如何创建、更新和销毁的。这有助于</a:t>
            </a:r>
            <a:r>
              <a:rPr lang="zh-CN" sz="2400" b="0" dirty="0">
                <a:latin typeface="Calibri" panose="020F0502020204030204" pitchFamily="34" charset="0"/>
              </a:rPr>
              <a:t>开发者</a:t>
            </a:r>
            <a:r>
              <a:rPr sz="2400" b="0" dirty="0">
                <a:latin typeface="Calibri" panose="020F0502020204030204" pitchFamily="34" charset="0"/>
              </a:rPr>
              <a:t>预测组件在不同阶段的行为，并避免潜在的问题。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solidFill>
                  <a:srgbClr val="FF0000"/>
                </a:solidFill>
                <a:latin typeface="Calibri" panose="020F0502020204030204" pitchFamily="34" charset="0"/>
              </a:rPr>
              <a:t>优化性能</a:t>
            </a:r>
            <a:r>
              <a:rPr sz="2400" b="0" dirty="0">
                <a:latin typeface="Calibri" panose="020F0502020204030204" pitchFamily="34" charset="0"/>
              </a:rPr>
              <a:t>：在生命周期的不同阶段，可以执行特定的操作来优化应用的性能。例如，在created阶段，可以进行数据的初始化或发送网络请求，以避免在模板渲染时产生不必要的延迟。在beforeDestroy阶段，可以清除定时器、解绑全局事件或销毁子组件，以防止内存泄漏。</a:t>
            </a:r>
            <a:endParaRPr sz="24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5810" y="321310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</a:t>
            </a:r>
            <a:r>
              <a:rPr sz="2800" b="0" dirty="0">
                <a:latin typeface="+mj-lt"/>
                <a:ea typeface="+mj-lt"/>
                <a:sym typeface="+mn-ea"/>
              </a:rPr>
              <a:t> Vue 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636905" y="991870"/>
            <a:ext cx="985329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latin typeface="Calibri" panose="020F0502020204030204" pitchFamily="34" charset="0"/>
              </a:rPr>
              <a:t>学习Vue生命周期对于开发高质量的Vue应用至关重要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800" b="0" dirty="0">
                <a:solidFill>
                  <a:srgbClr val="FF0000"/>
                </a:solidFill>
                <a:latin typeface="Calibri" panose="020F0502020204030204" pitchFamily="34" charset="0"/>
              </a:rPr>
              <a:t>更好的状态管理</a:t>
            </a:r>
            <a:r>
              <a:rPr sz="2800" b="0" dirty="0">
                <a:latin typeface="Calibri" panose="020F0502020204030204" pitchFamily="34" charset="0"/>
              </a:rPr>
              <a:t>：Vue的生命周期允许</a:t>
            </a:r>
            <a:r>
              <a:rPr lang="zh-CN" sz="2800" b="0" dirty="0">
                <a:latin typeface="Calibri" panose="020F0502020204030204" pitchFamily="34" charset="0"/>
              </a:rPr>
              <a:t>开发者</a:t>
            </a:r>
            <a:r>
              <a:rPr sz="2800" b="0" dirty="0">
                <a:latin typeface="Calibri" panose="020F0502020204030204" pitchFamily="34" charset="0"/>
              </a:rPr>
              <a:t>在组件的不同状态下执行特定的逻辑。例如，在updated阶段，可以检查数据的变化并据此更新DOM或触发其他操作。这有助于更好地管理组件的状态和响应数据的变化。</a:t>
            </a: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5810" y="321310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</a:t>
            </a:r>
            <a:r>
              <a:rPr sz="2800" b="0" dirty="0">
                <a:latin typeface="+mj-lt"/>
                <a:ea typeface="+mj-lt"/>
                <a:sym typeface="+mn-ea"/>
              </a:rPr>
              <a:t> Vue 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01165" y="991870"/>
            <a:ext cx="878903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Vue 实例被创建前都有初始化过程，有完整生命周期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  <a:sym typeface="+mn-ea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  <a:sym typeface="+mn-ea"/>
              </a:rPr>
              <a:t>Vue 生命周期共分为 8 个阶段</a:t>
            </a:r>
            <a:r>
              <a:rPr lang="zh-CN" sz="2800" b="0" dirty="0">
                <a:latin typeface="Calibri" panose="020F0502020204030204" pitchFamily="34" charset="0"/>
                <a:sym typeface="+mn-ea"/>
              </a:rPr>
              <a:t>：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5810" y="321310"/>
            <a:ext cx="5914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</a:t>
            </a:r>
            <a:r>
              <a:rPr sz="2800" b="0" dirty="0">
                <a:latin typeface="+mj-lt"/>
                <a:ea typeface="+mj-lt"/>
                <a:sym typeface="+mn-ea"/>
              </a:rPr>
              <a:t> Vue 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275840" y="3984625"/>
            <a:ext cx="5072380" cy="1241502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beforeCreate（创建前）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  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created（创建后）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beforeMount(载入前) 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 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mounted（载入后）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beforeUpdate（更新前）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 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updated（更新后）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beforeDestroy（销毁前）</a:t>
            </a:r>
            <a:r>
              <a:rPr lang="en-US" sz="1800" b="0" dirty="0">
                <a:latin typeface="Calibri" panose="020F0502020204030204" pitchFamily="34" charset="0"/>
                <a:sym typeface="+mn-ea"/>
              </a:rPr>
              <a:t>--- </a:t>
            </a:r>
            <a:r>
              <a:rPr sz="1800" b="0" dirty="0">
                <a:latin typeface="Calibri" panose="020F0502020204030204" pitchFamily="34" charset="0"/>
                <a:sym typeface="+mn-ea"/>
              </a:rPr>
              <a:t>destroyed（销毁后）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2137410" y="1848485"/>
            <a:ext cx="7915910" cy="66809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sz="1800" b="0" dirty="0">
                <a:latin typeface="Calibri" panose="020F0502020204030204" pitchFamily="34" charset="0"/>
                <a:sym typeface="+mn-ea"/>
              </a:rPr>
              <a:t>从开始创建、初始化数据、编译模板、挂载 DOM 、渲染→更新→渲染、卸载等一系列过程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AutoShape 21"/>
          <p:cNvSpPr>
            <a:spLocks noChangeArrowheads="1"/>
          </p:cNvSpPr>
          <p:nvPr/>
        </p:nvSpPr>
        <p:spPr bwMode="auto">
          <a:xfrm>
            <a:off x="3795395" y="2625725"/>
            <a:ext cx="6177915" cy="563245"/>
          </a:xfrm>
          <a:prstGeom prst="flowChartAlternateProcess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lt"/>
              </a:rPr>
              <a:t>通俗说 Vue 实例从创建到销毁的过程，就是生命周期</a:t>
            </a: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  <p:bldP spid="4" grpId="0" bldLvl="0" animBg="1"/>
      <p:bldP spid="6" grpId="0" bldLvl="0" animBg="1"/>
      <p:bldP spid="7" grpId="1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72205" y="403860"/>
            <a:ext cx="6950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       vue</a:t>
            </a:r>
            <a:r>
              <a:rPr sz="2800" b="0" dirty="0">
                <a:latin typeface="+mj-lt"/>
                <a:ea typeface="+mj-lt"/>
                <a:sym typeface="+mn-ea"/>
              </a:rPr>
              <a:t>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Rectangle 36"/>
          <p:cNvSpPr/>
          <p:nvPr/>
        </p:nvSpPr>
        <p:spPr>
          <a:xfrm>
            <a:off x="1271905" y="10528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en-US" sz="2400" b="0" dirty="0">
                <a:latin typeface="Calibri" panose="020F0502020204030204" pitchFamily="34" charset="0"/>
              </a:rPr>
              <a:t>1.</a:t>
            </a:r>
            <a:r>
              <a:rPr sz="2400" b="0" dirty="0">
                <a:latin typeface="Calibri" panose="020F0502020204030204" pitchFamily="34" charset="0"/>
              </a:rPr>
              <a:t>beforeCreate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组件实例刚刚被初始化，数据观察和事件尚未设置。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在这个函数中，无法访问 data、computed 和 methods。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en-US" sz="2400" b="0" dirty="0">
                <a:latin typeface="Calibri" panose="020F0502020204030204" pitchFamily="34" charset="0"/>
              </a:rPr>
              <a:t>2.</a:t>
            </a:r>
            <a:r>
              <a:rPr sz="2400" b="0" dirty="0">
                <a:latin typeface="Calibri" panose="020F0502020204030204" pitchFamily="34" charset="0"/>
              </a:rPr>
              <a:t>created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组件实例已经创建完成，数据观察和事件机制已经设置，但还未挂载到 DOM。此时可以访问 data、methods 和 computed，但尚未有任何 DOM 渲染。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3. beforeMount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在挂载开始之前调用，此时模板编译完成，但还未渲染到页面上。相关的虚拟 DOM 已经创建好。</a:t>
            </a:r>
            <a:endParaRPr sz="24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6"/>
          <p:cNvSpPr/>
          <p:nvPr/>
        </p:nvSpPr>
        <p:spPr>
          <a:xfrm>
            <a:off x="1271905" y="10528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en-US" sz="2400" b="0" dirty="0">
                <a:latin typeface="Calibri" panose="020F0502020204030204" pitchFamily="34" charset="0"/>
              </a:rPr>
              <a:t>4.</a:t>
            </a:r>
            <a:r>
              <a:rPr sz="2400" b="0" dirty="0">
                <a:latin typeface="Calibri" panose="020F0502020204030204" pitchFamily="34" charset="0"/>
              </a:rPr>
              <a:t>mounted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组件挂载完成，已经渲染到真实 DOM 中。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在这个阶段可以访问 DOM 节点，例如使用 this.$refs。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5. beforeUpdate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当响应式数据更新时调用，但在虚拟 DOM 重新渲染和打补丁之前。你可以在这个阶段访问当前的 DOM，数据还未被更新。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6. updated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组件的 DOM 已经重新渲染并更新完成。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这个阶段可以操作更新后的 DOM</a:t>
            </a:r>
            <a:endParaRPr sz="2400" b="0" dirty="0">
              <a:latin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2205" y="403860"/>
            <a:ext cx="6950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       vue</a:t>
            </a:r>
            <a:r>
              <a:rPr sz="2800" b="0" dirty="0">
                <a:latin typeface="+mj-lt"/>
                <a:ea typeface="+mj-lt"/>
                <a:sym typeface="+mn-ea"/>
              </a:rPr>
              <a:t>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6"/>
          <p:cNvSpPr/>
          <p:nvPr/>
        </p:nvSpPr>
        <p:spPr>
          <a:xfrm>
            <a:off x="1271905" y="105283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7. beforeDestroy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组件实例销毁之前调用，此时实例仍然完全可用，可以进行清理操作（如取消事件监听等）。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8. destroyed</a:t>
            </a:r>
            <a:endParaRPr sz="24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sz="2400" b="0" dirty="0">
                <a:latin typeface="Calibri" panose="020F0502020204030204" pitchFamily="34" charset="0"/>
              </a:rPr>
              <a:t>组件销毁后调用，此时所有的绑定、事件监听等都被移除，组件的 DOM 结构也被销毁。</a:t>
            </a:r>
            <a:endParaRPr sz="2400" b="0" dirty="0">
              <a:latin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2205" y="403860"/>
            <a:ext cx="6950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         vue</a:t>
            </a:r>
            <a:r>
              <a:rPr sz="2800" b="0" dirty="0">
                <a:latin typeface="+mj-lt"/>
                <a:ea typeface="+mj-lt"/>
                <a:sym typeface="+mn-ea"/>
              </a:rPr>
              <a:t>生命周期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72205" y="403860"/>
            <a:ext cx="6950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</a:t>
            </a:r>
            <a:r>
              <a:rPr sz="2800" b="0" dirty="0">
                <a:latin typeface="+mj-lt"/>
                <a:ea typeface="+mj-lt"/>
                <a:sym typeface="+mn-ea"/>
              </a:rPr>
              <a:t>生命周期开发的业务逻辑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Rectangle 36"/>
          <p:cNvSpPr/>
          <p:nvPr/>
        </p:nvSpPr>
        <p:spPr>
          <a:xfrm>
            <a:off x="911860" y="134112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created：进行 ajax </a:t>
            </a:r>
            <a:r>
              <a:rPr lang="zh-CN" sz="2800" b="0" dirty="0">
                <a:latin typeface="Calibri" panose="020F0502020204030204" pitchFamily="34" charset="0"/>
              </a:rPr>
              <a:t>、</a:t>
            </a:r>
            <a:r>
              <a:rPr lang="en-US" altLang="zh-CN" sz="2800" b="0" dirty="0">
                <a:latin typeface="Calibri" panose="020F0502020204030204" pitchFamily="34" charset="0"/>
              </a:rPr>
              <a:t>axios</a:t>
            </a:r>
            <a:r>
              <a:rPr sz="2800" b="0" dirty="0">
                <a:latin typeface="Calibri" panose="020F0502020204030204" pitchFamily="34" charset="0"/>
              </a:rPr>
              <a:t>请求异步数据获取、初始化数据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mounted：挂载元素内 dom 节点的获取</a:t>
            </a:r>
            <a:r>
              <a:rPr lang="zh-CN" sz="2800" b="0" dirty="0">
                <a:latin typeface="Calibri" panose="020F0502020204030204" pitchFamily="34" charset="0"/>
              </a:rPr>
              <a:t>，获取页面加载后的数据或状态并显示给用户。</a:t>
            </a:r>
            <a:endParaRPr lang="zh-CN"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sz="2800" b="0" dirty="0">
                <a:latin typeface="Calibri" panose="020F0502020204030204" pitchFamily="34" charset="0"/>
              </a:rPr>
              <a:t>beforeUpdate：当你需要对即将发生的更改进行校验，或在数据更新前执行某些优化。</a:t>
            </a:r>
            <a:endParaRPr lang="zh-CN"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updated：数据更新统一的业务逻辑处理</a:t>
            </a:r>
            <a:r>
              <a:rPr lang="zh-CN" sz="2800" b="0" dirty="0">
                <a:latin typeface="Calibri" panose="020F0502020204030204" pitchFamily="34" charset="0"/>
              </a:rPr>
              <a:t>，重新计算布局，或更新基于 DOM 状态的插件。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72205" y="403860"/>
            <a:ext cx="6950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       </a:t>
            </a:r>
            <a:r>
              <a:rPr sz="2800" b="0" dirty="0">
                <a:latin typeface="+mj-lt"/>
                <a:ea typeface="+mj-lt"/>
                <a:sym typeface="+mn-ea"/>
              </a:rPr>
              <a:t>生命周期开发的业务逻辑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  <p:sp>
        <p:nvSpPr>
          <p:cNvPr id="4" name="Rectangle 36"/>
          <p:cNvSpPr/>
          <p:nvPr/>
        </p:nvSpPr>
        <p:spPr>
          <a:xfrm>
            <a:off x="911860" y="1341120"/>
            <a:ext cx="8736965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beforeDestroy</a:t>
            </a:r>
            <a:r>
              <a:rPr lang="zh-CN" sz="2800" b="0" dirty="0">
                <a:latin typeface="Calibri" panose="020F0502020204030204" pitchFamily="34" charset="0"/>
              </a:rPr>
              <a:t>：</a:t>
            </a:r>
            <a:endParaRPr lang="zh-CN"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sz="2800" b="0" dirty="0">
                <a:latin typeface="Calibri" panose="020F0502020204030204" pitchFamily="34" charset="0"/>
                <a:sym typeface="+mn-ea"/>
              </a:rPr>
              <a:t>停止正在执行的动画或网络请求，将组件的当前状态保存到本地存储。</a:t>
            </a:r>
            <a:endParaRPr lang="zh-CN"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lang="zh-CN"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sz="2800" b="0" dirty="0">
                <a:latin typeface="Calibri" panose="020F0502020204030204" pitchFamily="34" charset="0"/>
              </a:rPr>
              <a:t>destroyed</a:t>
            </a:r>
            <a:endParaRPr lang="zh-CN"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sz="2800" b="0" dirty="0">
                <a:latin typeface="Calibri" panose="020F0502020204030204" pitchFamily="34" charset="0"/>
              </a:rPr>
              <a:t>执行最终的清理工作，确保组件完全从内存中移除。完成内存释放，解除所有的引用，防止内存泄漏。</a:t>
            </a:r>
            <a:endParaRPr lang="zh-CN" sz="2800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268730"/>
            <a:ext cx="6875780" cy="4911725"/>
          </a:xfrm>
        </p:spPr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2783840" y="549275"/>
            <a:ext cx="8593455" cy="5831386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&lt;div id="app"&gt;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&lt;p&gt;{{ message }}&lt;/p&gt;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&lt;button @click="updateMessage"&gt;Update Message&lt;/button&gt;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&lt;/div&gt;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&lt;script&gt;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new Vue({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el: '#app',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data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return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	message: 'Hello, Vue!'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// 生命周期钩子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beforeCreate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console.log('beforeCreate: 实例初始化之前')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created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console.log('created: 实例已创建')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console.log('Initial message:', this.message)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983615" y="407733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tooltip="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268730"/>
            <a:ext cx="6875780" cy="4911725"/>
          </a:xfrm>
        </p:spPr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2856230" y="189230"/>
            <a:ext cx="8593455" cy="6118088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beforeMount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console.log('beforeMount: 模板编译完成，挂载前')},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mounted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console.log('mounted: 组件已挂载')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beforeUpdate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console.log('beforeUpdate: 数据更新前')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updated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console.log('updated: DOM 已更新')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console.log('Updated message:', this.message)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beforeDestroy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console.log('beforeDestroy: 组件销毁前')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destroyed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console.log('destroyed: 组件已销毁')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},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methods: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updateMessage () {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l"/>
            <a:r>
              <a:rPr lang="en-US" altLang="zh-CN" sz="1800" b="0" dirty="0">
                <a:latin typeface="Arial" panose="020B0604020202020204" pitchFamily="34" charset="0"/>
                <a:ea typeface="宋体" panose="02010600030101010101" pitchFamily="2" charset="-122"/>
              </a:rPr>
              <a:t>			this.message = 'Hello, Vue Lifecycle!'}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839470" y="371729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 sz="half" idx="1"/>
          </p:nvPr>
        </p:nvSpPr>
        <p:spPr/>
        <p:txBody>
          <a:bodyPr vert="horz" wrap="square" lIns="91440" tIns="45720" rIns="91440" bIns="45720" anchor="t"/>
          <a:lstStyle/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6" name="灯片编号占位符 6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31" name="Rectangle 36"/>
          <p:cNvSpPr/>
          <p:nvPr/>
        </p:nvSpPr>
        <p:spPr>
          <a:xfrm>
            <a:off x="1703070" y="1375410"/>
            <a:ext cx="8785860" cy="6224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介绍 Vue 模板语法，响应式声明渲染机制</a:t>
            </a:r>
            <a:r>
              <a:rPr lang="zh-CN" sz="2800" b="0" dirty="0">
                <a:latin typeface="Calibri" panose="020F0502020204030204" pitchFamily="34" charset="0"/>
              </a:rPr>
              <a:t>。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Vue 属性绑定，Vue 双向数据绑定</a:t>
            </a:r>
            <a:r>
              <a:rPr lang="zh-CN" sz="2800" b="0" dirty="0">
                <a:latin typeface="Calibri" panose="020F0502020204030204" pitchFamily="34" charset="0"/>
              </a:rPr>
              <a:t>。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Vue计算属性 Computed，计算属性与 methods 区别</a:t>
            </a:r>
            <a:r>
              <a:rPr lang="zh-CN" sz="2800" b="0" dirty="0">
                <a:latin typeface="Calibri" panose="020F0502020204030204" pitchFamily="34" charset="0"/>
              </a:rPr>
              <a:t>。</a:t>
            </a: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sz="2800" b="0" dirty="0">
                <a:latin typeface="Calibri" panose="020F0502020204030204" pitchFamily="34" charset="0"/>
              </a:rPr>
              <a:t>什么是 Vue 生命周期，Vue 生命周期详解，Vue 各生命周期适合开发的业务逻辑。</a:t>
            </a: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marL="342900" indent="-34290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</a:pPr>
            <a:endParaRPr sz="2800" b="0" dirty="0"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65215" y="423545"/>
            <a:ext cx="40455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0" dirty="0">
                <a:latin typeface="+mj-lt"/>
                <a:ea typeface="+mj-lt"/>
                <a:sym typeface="+mn-ea"/>
              </a:rPr>
              <a:t>      </a:t>
            </a:r>
            <a:r>
              <a:rPr sz="2800" b="0" dirty="0">
                <a:latin typeface="+mj-lt"/>
                <a:ea typeface="+mj-lt"/>
                <a:sym typeface="+mn-ea"/>
              </a:rPr>
              <a:t>本章小结</a:t>
            </a:r>
            <a:endParaRPr sz="2800" b="0" dirty="0">
              <a:latin typeface="+mj-lt"/>
              <a:ea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uiExpand="1" build="p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OC_GUID" val="{017dceb5-99f8-43ef-bf94-833c75cc0c61}"/>
  <p:tag name="commondata" val="eyJoZGlkIjoiZjBlNDM4ZjU1ZGI3YzQwMDk5ZjExZjgyZTc3ZDI2NDMifQ==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黑体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第1章集合</Template>
  <TotalTime>0</TotalTime>
  <Words>10138</Words>
  <Application>WPS 演示</Application>
  <PresentationFormat>全屏显示(4:3)</PresentationFormat>
  <Paragraphs>762</Paragraphs>
  <Slides>48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黑体</vt:lpstr>
      <vt:lpstr>微软雅黑</vt:lpstr>
      <vt:lpstr>Arial Unicode MS</vt:lpstr>
      <vt:lpstr>3_Office 主题</vt:lpstr>
      <vt:lpstr>     第2章 Vue数据绑定</vt:lpstr>
      <vt:lpstr>课程内容</vt:lpstr>
      <vt:lpstr>PowerPoint 演示文稿</vt:lpstr>
      <vt:lpstr>   Vue 模板语法</vt:lpstr>
      <vt:lpstr>   Vue 模板语法</vt:lpstr>
      <vt:lpstr>   Vue 模板语法</vt:lpstr>
      <vt:lpstr>   Vue 模板语法</vt:lpstr>
      <vt:lpstr>演示模板语法   </vt:lpstr>
      <vt:lpstr>演示输出HTML   </vt:lpstr>
      <vt:lpstr>  表达式</vt:lpstr>
      <vt:lpstr>PowerPoint 演示文稿</vt:lpstr>
      <vt:lpstr>响应式声明渲染机制</vt:lpstr>
      <vt:lpstr>响应式声明渲染机制</vt:lpstr>
      <vt:lpstr>演示响应式声明渲染</vt:lpstr>
      <vt:lpstr>响应式声明渲染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Vue 双向数据绑定</vt:lpstr>
      <vt:lpstr> Vue 双向数据绑定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BeiJing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YAOYUAN</dc:creator>
  <cp:lastModifiedBy>章晟昱</cp:lastModifiedBy>
  <cp:revision>1036</cp:revision>
  <dcterms:created xsi:type="dcterms:W3CDTF">2005-06-22T06:00:00Z</dcterms:created>
  <dcterms:modified xsi:type="dcterms:W3CDTF">2024-09-08T03:50:48Z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63EF040AAAD74CB6A89D2B78DD69D3B8_12</vt:lpwstr>
  </property>
</Properties>
</file>