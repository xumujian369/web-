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411" r:id="rId3"/>
    <p:sldId id="409" r:id="rId4"/>
    <p:sldId id="410" r:id="rId5"/>
    <p:sldId id="412" r:id="rId6"/>
    <p:sldId id="413" r:id="rId7"/>
    <p:sldId id="261" r:id="rId8"/>
    <p:sldId id="257" r:id="rId9"/>
    <p:sldId id="384" r:id="rId10"/>
    <p:sldId id="374" r:id="rId11"/>
    <p:sldId id="375" r:id="rId12"/>
    <p:sldId id="262" r:id="rId13"/>
    <p:sldId id="317" r:id="rId14"/>
    <p:sldId id="318" r:id="rId15"/>
    <p:sldId id="323" r:id="rId17"/>
    <p:sldId id="325" r:id="rId18"/>
    <p:sldId id="326" r:id="rId19"/>
    <p:sldId id="327" r:id="rId20"/>
    <p:sldId id="380" r:id="rId21"/>
    <p:sldId id="381" r:id="rId22"/>
    <p:sldId id="382" r:id="rId23"/>
    <p:sldId id="383" r:id="rId24"/>
    <p:sldId id="331" r:id="rId25"/>
    <p:sldId id="367" r:id="rId26"/>
    <p:sldId id="368" r:id="rId27"/>
    <p:sldId id="353" r:id="rId28"/>
    <p:sldId id="335" r:id="rId29"/>
    <p:sldId id="340" r:id="rId30"/>
    <p:sldId id="345" r:id="rId31"/>
    <p:sldId id="284" r:id="rId32"/>
    <p:sldId id="440" r:id="rId33"/>
    <p:sldId id="441" r:id="rId34"/>
    <p:sldId id="442" r:id="rId35"/>
  </p:sldIdLst>
  <p:sldSz cx="9144000" cy="6858000" type="screen4x3"/>
  <p:notesSz cx="6858000" cy="9144000"/>
  <p:custDataLst>
    <p:tags r:id="rId39"/>
  </p:custDataLst>
  <p:defaultTextStyle>
    <a:defPPr>
      <a:defRPr lang="zh-CN"/>
    </a:defPPr>
    <a:lvl1pPr marL="0" lvl="0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7" userDrawn="1">
          <p15:clr>
            <a:srgbClr val="A4A3A4"/>
          </p15:clr>
        </p15:guide>
        <p15:guide id="2" orient="horz" pos="2522" userDrawn="1">
          <p15:clr>
            <a:srgbClr val="A4A3A4"/>
          </p15:clr>
        </p15:guide>
        <p15:guide id="3" orient="horz" pos="2120" userDrawn="1">
          <p15:clr>
            <a:srgbClr val="A4A3A4"/>
          </p15:clr>
        </p15:guide>
        <p15:guide id="4" orient="horz" pos="708" userDrawn="1">
          <p15:clr>
            <a:srgbClr val="A4A3A4"/>
          </p15:clr>
        </p15:guide>
        <p15:guide id="5" pos="2942" userDrawn="1">
          <p15:clr>
            <a:srgbClr val="A4A3A4"/>
          </p15:clr>
        </p15:guide>
        <p15:guide id="6" pos="452" userDrawn="1">
          <p15:clr>
            <a:srgbClr val="A4A3A4"/>
          </p15:clr>
        </p15:guide>
        <p15:guide id="7" pos="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DADF1"/>
    <a:srgbClr val="EDECB2"/>
    <a:srgbClr val="0099FF"/>
    <a:srgbClr val="FFFFCC"/>
    <a:srgbClr val="659B68"/>
    <a:srgbClr val="AAE66E"/>
    <a:srgbClr val="99FF33"/>
    <a:srgbClr val="3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8"/>
    <p:restoredTop sz="94585"/>
  </p:normalViewPr>
  <p:slideViewPr>
    <p:cSldViewPr showGuides="1">
      <p:cViewPr varScale="1">
        <p:scale>
          <a:sx n="65" d="100"/>
          <a:sy n="65" d="100"/>
        </p:scale>
        <p:origin x="-1536" y="-114"/>
      </p:cViewPr>
      <p:guideLst>
        <p:guide orient="horz" pos="2177"/>
        <p:guide orient="horz" pos="2522"/>
        <p:guide orient="horz" pos="2120"/>
        <p:guide orient="horz" pos="708"/>
        <p:guide pos="2942"/>
        <p:guide pos="452"/>
        <p:guide pos="83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9" Type="http://schemas.openxmlformats.org/officeDocument/2006/relationships/tags" Target="tags/tag3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556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19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9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9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/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3850" y="1268413"/>
            <a:ext cx="4087813" cy="4911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64063" y="1268413"/>
            <a:ext cx="4089400" cy="4911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99250" y="260350"/>
            <a:ext cx="2124075" cy="591978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23850" y="260350"/>
            <a:ext cx="6223000" cy="591978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779838" y="260350"/>
            <a:ext cx="5043487" cy="6540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23850" y="1268413"/>
            <a:ext cx="4087813" cy="4911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64063" y="1268413"/>
            <a:ext cx="4089400" cy="4911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文本占位符 2"/>
          <p:cNvSpPr>
            <a:spLocks noGrp="1"/>
          </p:cNvSpPr>
          <p:nvPr>
            <p:ph type="body" idx="1"/>
          </p:nvPr>
        </p:nvSpPr>
        <p:spPr>
          <a:xfrm>
            <a:off x="323850" y="1268413"/>
            <a:ext cx="8329613" cy="49117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7" name="标题占位符 1"/>
          <p:cNvSpPr>
            <a:spLocks noGrp="1"/>
          </p:cNvSpPr>
          <p:nvPr>
            <p:ph type="title"/>
          </p:nvPr>
        </p:nvSpPr>
        <p:spPr>
          <a:xfrm>
            <a:off x="3779838" y="260350"/>
            <a:ext cx="5043487" cy="65405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en-US" altLang="zh-CN" dirty="0"/>
              <a:t>Photoshop</a:t>
            </a:r>
            <a:r>
              <a:rPr lang="zh-CN" altLang="en-US" dirty="0"/>
              <a:t>与</a:t>
            </a:r>
            <a:r>
              <a:rPr lang="en-US" altLang="zh-CN" dirty="0"/>
              <a:t>Flash</a:t>
            </a:r>
            <a:endParaRPr lang="en-US" altLang="zh-CN" dirty="0"/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fontAlgn="auto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262186"/>
            <a:ext cx="1280567" cy="65221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黑体" panose="02010609060101010101" pitchFamily="2" charset="-122"/>
          <a:ea typeface="黑体" panose="02010609060101010101" pitchFamily="2" charset="-122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黑体" panose="02010609060101010101" pitchFamily="2" charset="-122"/>
          <a:ea typeface="黑体" panose="02010609060101010101" pitchFamily="2" charset="-122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黑体" panose="02010609060101010101" pitchFamily="2" charset="-122"/>
          <a:ea typeface="黑体" panose="02010609060101010101" pitchFamily="2" charset="-122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黑体" panose="02010609060101010101" pitchFamily="2" charset="-122"/>
          <a:ea typeface="黑体" panose="02010609060101010101" pitchFamily="2" charset="-122"/>
        </a:defRPr>
      </a:lvl5pPr>
      <a:lvl6pPr marL="457200"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黑体" panose="02010609060101010101" pitchFamily="2" charset="-122"/>
          <a:ea typeface="黑体" panose="02010609060101010101" pitchFamily="2" charset="-122"/>
        </a:defRPr>
      </a:lvl6pPr>
      <a:lvl7pPr marL="914400"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黑体" panose="02010609060101010101" pitchFamily="2" charset="-122"/>
          <a:ea typeface="黑体" panose="02010609060101010101" pitchFamily="2" charset="-122"/>
        </a:defRPr>
      </a:lvl7pPr>
      <a:lvl8pPr marL="1371600"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黑体" panose="02010609060101010101" pitchFamily="2" charset="-122"/>
          <a:ea typeface="黑体" panose="02010609060101010101" pitchFamily="2" charset="-122"/>
        </a:defRPr>
      </a:lvl8pPr>
      <a:lvl9pPr marL="1828800"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黑体" panose="02010609060101010101" pitchFamily="2" charset="-122"/>
          <a:ea typeface="黑体" panose="0201060906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p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u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hyperlink" Target="..\vuejs&#35838;&#31243;&#28304;&#30721;&#31034;&#20363;\&#35838;&#31243;&#31034;&#20363;\ch01\&#12304;&#20363;1-1&#12305;&#28436;&#31034;&#21019;&#24314;Vue&#23454;&#20363;.html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hyperlink" Target="..\vuejs&#35838;&#31243;&#28304;&#30721;&#31034;&#20363;\&#35838;&#31243;&#31034;&#20363;\ch01\&#12304;&#20363;1-2&#12305;&#25968;&#25454;&#25346;&#36733;&#21040;DOM.html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2.xml"/><Relationship Id="rId4" Type="http://schemas.openxmlformats.org/officeDocument/2006/relationships/hyperlink" Target="..\vuejs&#35838;&#31243;&#28304;&#30721;&#31034;&#20363;\&#35838;&#31243;&#31034;&#20363;\ch01\&#12304;&#20363;1-4&#12305;&#28436;&#31034;MVVM&#27169;&#24335;.html" TargetMode="External"/><Relationship Id="rId3" Type="http://schemas.openxmlformats.org/officeDocument/2006/relationships/hyperlink" Target="..\vuejs&#35838;&#31243;&#28304;&#30721;&#31034;&#20363;\&#35838;&#31243;&#31034;&#20363;\ch01\&#12304;&#20363;1-2&#12305;&#25968;&#25454;&#25346;&#36733;&#21040;DOM.html" TargetMode="External"/><Relationship Id="rId2" Type="http://schemas.openxmlformats.org/officeDocument/2006/relationships/image" Target="../media/image23.png"/><Relationship Id="rId1" Type="http://schemas.openxmlformats.org/officeDocument/2006/relationships/image" Target="../media/image22.jpe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95" y="1052830"/>
            <a:ext cx="3256280" cy="533781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6190" y="1048385"/>
            <a:ext cx="3162300" cy="52647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/>
          </p:cNvSpPr>
          <p:nvPr/>
        </p:nvSpPr>
        <p:spPr>
          <a:xfrm>
            <a:off x="1188085" y="2420620"/>
            <a:ext cx="6551930" cy="83439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/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5pPr>
            <a:lvl6pPr marL="457200"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6pPr>
            <a:lvl7pPr marL="914400"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7pPr>
            <a:lvl8pPr marL="1371600"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8pPr>
            <a:lvl9pPr marL="1828800"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9pPr>
          </a:lstStyle>
          <a:p>
            <a:pPr algn="ctr"/>
            <a:r>
              <a:rPr lang="en-US" altLang="zh-CN" sz="4000" b="1" dirty="0">
                <a:ea typeface="+mj-lt"/>
                <a:cs typeface="+mj-lt"/>
                <a:sym typeface="+mn-ea"/>
              </a:rPr>
              <a:t> </a:t>
            </a:r>
            <a:r>
              <a:rPr lang="zh-CN" altLang="en-US" sz="4000" b="1" dirty="0">
                <a:ea typeface="+mj-lt"/>
                <a:cs typeface="+mj-lt"/>
                <a:sym typeface="+mn-ea"/>
              </a:rPr>
              <a:t>课程名</a:t>
            </a:r>
            <a:r>
              <a:rPr lang="zh-CN" altLang="en-US" sz="4000" dirty="0">
                <a:ea typeface="+mj-lt"/>
                <a:cs typeface="+mj-lt"/>
                <a:sym typeface="+mn-ea"/>
              </a:rPr>
              <a:t> </a:t>
            </a:r>
            <a:r>
              <a:rPr lang="en-US" altLang="zh-CN" sz="4000" dirty="0">
                <a:ea typeface="+mj-lt"/>
                <a:cs typeface="+mj-lt"/>
                <a:sym typeface="+mn-ea"/>
              </a:rPr>
              <a:t>WEB</a:t>
            </a:r>
            <a:r>
              <a:rPr lang="zh-CN" altLang="en-US" sz="4000" dirty="0">
                <a:ea typeface="+mj-lt"/>
                <a:cs typeface="+mj-lt"/>
                <a:sym typeface="+mn-ea"/>
              </a:rPr>
              <a:t>前端框架技术</a:t>
            </a:r>
            <a:endParaRPr lang="zh-CN" altLang="en-US" sz="4000" b="1" dirty="0">
              <a:ea typeface="+mj-lt"/>
              <a:cs typeface="+mj-lt"/>
              <a:sym typeface="+mn-ea"/>
            </a:endParaRPr>
          </a:p>
        </p:txBody>
      </p:sp>
      <p:sp>
        <p:nvSpPr>
          <p:cNvPr id="3" name="Rectangle 4"/>
          <p:cNvSpPr>
            <a:spLocks noGrp="1"/>
          </p:cNvSpPr>
          <p:nvPr/>
        </p:nvSpPr>
        <p:spPr>
          <a:xfrm>
            <a:off x="1115695" y="4149090"/>
            <a:ext cx="6551930" cy="83439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/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5pPr>
            <a:lvl6pPr marL="457200"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6pPr>
            <a:lvl7pPr marL="914400"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7pPr>
            <a:lvl8pPr marL="1371600"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8pPr>
            <a:lvl9pPr marL="1828800"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9pPr>
          </a:lstStyle>
          <a:p>
            <a:pPr algn="ctr"/>
            <a:r>
              <a:rPr lang="en-US" altLang="zh-CN" sz="4000" b="1" dirty="0">
                <a:ea typeface="+mj-lt"/>
                <a:cs typeface="+mj-lt"/>
                <a:sym typeface="+mn-ea"/>
              </a:rPr>
              <a:t> </a:t>
            </a:r>
            <a:r>
              <a:rPr lang="zh-CN" altLang="en-US" sz="3200" b="1" dirty="0">
                <a:ea typeface="+mj-lt"/>
                <a:cs typeface="+mj-lt"/>
                <a:sym typeface="+mn-ea"/>
              </a:rPr>
              <a:t>授课教师</a:t>
            </a:r>
            <a:r>
              <a:rPr lang="zh-CN" altLang="en-US" sz="3200" dirty="0">
                <a:ea typeface="+mj-lt"/>
                <a:cs typeface="+mj-lt"/>
                <a:sym typeface="+mn-ea"/>
              </a:rPr>
              <a:t> 范宏涛</a:t>
            </a:r>
            <a:endParaRPr lang="zh-CN" altLang="en-US" sz="3200" b="1" dirty="0">
              <a:ea typeface="+mj-lt"/>
              <a:cs typeface="+mj-lt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>
            <p:ph type="title"/>
          </p:nvPr>
        </p:nvSpPr>
        <p:spPr>
          <a:xfrm>
            <a:off x="3643313" y="260350"/>
            <a:ext cx="5043487" cy="654050"/>
          </a:xfrm>
        </p:spPr>
        <p:txBody>
          <a:bodyPr vert="horz" wrap="square" lIns="91440" tIns="45720" rIns="91440" bIns="45720" anchor="ctr"/>
          <a:lstStyle/>
          <a:p>
            <a:r>
              <a:rPr lang="zh-CN" altLang="en-US" dirty="0">
                <a:sym typeface="+mn-ea"/>
              </a:rPr>
              <a:t>课程说明</a:t>
            </a:r>
            <a:endParaRPr lang="zh-CN" altLang="en-US" dirty="0"/>
          </a:p>
        </p:txBody>
      </p:sp>
      <p:sp>
        <p:nvSpPr>
          <p:cNvPr id="34819" name="Rectangle 3"/>
          <p:cNvSpPr>
            <a:spLocks noGrp="1"/>
          </p:cNvSpPr>
          <p:nvPr>
            <p:ph idx="1"/>
          </p:nvPr>
        </p:nvSpPr>
        <p:spPr>
          <a:xfrm>
            <a:off x="684213" y="1341438"/>
            <a:ext cx="8229600" cy="4525962"/>
          </a:xfrm>
        </p:spPr>
        <p:txBody>
          <a:bodyPr vert="horz" wrap="square" lIns="91440" tIns="45720" rIns="91440" bIns="45720" anchor="t"/>
          <a:lstStyle/>
          <a:p>
            <a:pPr marL="0" indent="45720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WEB</a:t>
            </a:r>
            <a:r>
              <a:rPr lang="zh-CN" altLang="en-US" sz="2800" dirty="0"/>
              <a:t>前端框架技术，一周</a:t>
            </a:r>
            <a:r>
              <a:rPr lang="en-US" altLang="zh-CN" sz="2800" dirty="0"/>
              <a:t>6</a:t>
            </a:r>
            <a:r>
              <a:rPr lang="zh-CN" altLang="en-US" sz="2800" dirty="0"/>
              <a:t>课时，共</a:t>
            </a:r>
            <a:r>
              <a:rPr lang="en-US" altLang="zh-CN" sz="2800" dirty="0"/>
              <a:t>12</a:t>
            </a:r>
            <a:r>
              <a:rPr lang="zh-CN" altLang="en-US" sz="2800" dirty="0"/>
              <a:t>周课</a:t>
            </a:r>
            <a:endParaRPr lang="zh-CN" altLang="en-US" sz="2800" dirty="0"/>
          </a:p>
          <a:p>
            <a:pPr marL="0" indent="45720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dirty="0"/>
          </a:p>
          <a:p>
            <a:pPr marL="0" indent="45720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dirty="0"/>
              <a:t>本课程为考试课程，期末考试采用百分制的闭卷考试模式。学生的考试成绩由平时成绩（30%）和期末考试（70%）组成，其中，平时成绩包括出勤和课堂表现（10%）、作业（20%）。</a:t>
            </a:r>
            <a:endParaRPr sz="2800" dirty="0"/>
          </a:p>
          <a:p>
            <a:pPr marL="0" indent="45720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dirty="0"/>
          </a:p>
          <a:p>
            <a:pPr marL="0" indent="45720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dirty="0"/>
              <a:t>禁止旷课、上课玩手机。有事情提前请假。</a:t>
            </a:r>
            <a:endParaRPr lang="zh-CN" altLang="en-US" sz="2800" dirty="0"/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  <p:bldLst>
      <p:bldP spid="34819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>
            <p:ph type="title"/>
          </p:nvPr>
        </p:nvSpPr>
        <p:spPr>
          <a:xfrm>
            <a:off x="3643313" y="260350"/>
            <a:ext cx="5043487" cy="654050"/>
          </a:xfrm>
        </p:spPr>
        <p:txBody>
          <a:bodyPr vert="horz" wrap="square" lIns="91440" tIns="45720" rIns="91440" bIns="45720" anchor="ctr"/>
          <a:lstStyle/>
          <a:p>
            <a:r>
              <a:rPr dirty="0">
                <a:sym typeface="+mn-ea"/>
              </a:rPr>
              <a:t>Vue 简述</a:t>
            </a:r>
            <a:endParaRPr lang="zh-CN" altLang="en-US" dirty="0"/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3985" y="1412875"/>
            <a:ext cx="6195695" cy="9550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60" y="2636520"/>
            <a:ext cx="8444865" cy="342265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>
            <p:ph type="title"/>
          </p:nvPr>
        </p:nvSpPr>
        <p:spPr>
          <a:xfrm>
            <a:off x="3643313" y="260350"/>
            <a:ext cx="5043487" cy="654050"/>
          </a:xfrm>
        </p:spPr>
        <p:txBody>
          <a:bodyPr vert="horz" wrap="square" lIns="91440" tIns="45720" rIns="91440" bIns="45720" anchor="ctr"/>
          <a:lstStyle/>
          <a:p>
            <a:r>
              <a:rPr dirty="0">
                <a:sym typeface="+mn-ea"/>
              </a:rPr>
              <a:t>Vue 简述</a:t>
            </a:r>
            <a:endParaRPr lang="zh-CN" altLang="en-US" dirty="0"/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3013710"/>
            <a:ext cx="7345680" cy="284226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785" y="1484630"/>
            <a:ext cx="5721985" cy="10287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/>
          </p:cNvSpPr>
          <p:nvPr/>
        </p:nvSpPr>
        <p:spPr>
          <a:xfrm>
            <a:off x="-58420" y="2332990"/>
            <a:ext cx="6551930" cy="83439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/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5pPr>
            <a:lvl6pPr marL="457200"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6pPr>
            <a:lvl7pPr marL="914400"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7pPr>
            <a:lvl8pPr marL="1371600"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8pPr>
            <a:lvl9pPr marL="1828800"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9pPr>
          </a:lstStyle>
          <a:p>
            <a:pPr algn="ctr"/>
            <a:r>
              <a:rPr lang="en-US" altLang="zh-CN" sz="4000" b="1" dirty="0">
                <a:ea typeface="+mj-lt"/>
                <a:cs typeface="+mj-lt"/>
                <a:sym typeface="+mn-ea"/>
              </a:rPr>
              <a:t> </a:t>
            </a:r>
            <a:r>
              <a:rPr lang="zh-CN" altLang="en-US" sz="4000" dirty="0">
                <a:ea typeface="+mj-lt"/>
                <a:cs typeface="+mj-lt"/>
                <a:sym typeface="+mn-ea"/>
              </a:rPr>
              <a:t>第1章 </a:t>
            </a:r>
            <a:r>
              <a:rPr sz="4000" dirty="0">
                <a:ea typeface="+mj-lt"/>
                <a:cs typeface="+mj-lt"/>
                <a:sym typeface="+mn-ea"/>
              </a:rPr>
              <a:t>Vue入门</a:t>
            </a:r>
            <a:endParaRPr sz="4000" b="1" dirty="0">
              <a:ea typeface="+mj-lt"/>
              <a:cs typeface="+mj-lt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>
            <p:ph type="title"/>
          </p:nvPr>
        </p:nvSpPr>
        <p:spPr>
          <a:xfrm>
            <a:off x="3643313" y="260350"/>
            <a:ext cx="5043487" cy="654050"/>
          </a:xfrm>
        </p:spPr>
        <p:txBody>
          <a:bodyPr vert="horz" wrap="square" lIns="91440" tIns="45720" rIns="91440" bIns="45720" anchor="ctr"/>
          <a:lstStyle/>
          <a:p>
            <a:r>
              <a:rPr lang="zh-CN" altLang="en-US" dirty="0">
                <a:sym typeface="+mn-ea"/>
              </a:rPr>
              <a:t>课程内容</a:t>
            </a:r>
            <a:endParaRPr lang="zh-CN" altLang="en-US" dirty="0"/>
          </a:p>
        </p:txBody>
      </p:sp>
      <p:sp>
        <p:nvSpPr>
          <p:cNvPr id="34819" name="Rectangle 3"/>
          <p:cNvSpPr>
            <a:spLocks noGrp="1"/>
          </p:cNvSpPr>
          <p:nvPr>
            <p:ph idx="1"/>
          </p:nvPr>
        </p:nvSpPr>
        <p:spPr>
          <a:xfrm>
            <a:off x="684213" y="1341438"/>
            <a:ext cx="8229600" cy="4525962"/>
          </a:xfrm>
        </p:spPr>
        <p:txBody>
          <a:bodyPr vert="horz" wrap="square" lIns="91440" tIns="45720" rIns="91440" bIns="45720" anchor="t"/>
          <a:lstStyle/>
          <a:p>
            <a:pPr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/>
              <a:t> Vue是什么及Vue的特点</a:t>
            </a:r>
            <a:endParaRPr sz="2800" dirty="0"/>
          </a:p>
          <a:p>
            <a:pPr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/>
              <a:t> Vue的下载以及如何引入并应用</a:t>
            </a:r>
            <a:endParaRPr sz="2800" dirty="0"/>
          </a:p>
          <a:p>
            <a:pPr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/>
              <a:t> 实例化Vue对象、数据和方法</a:t>
            </a:r>
            <a:endParaRPr sz="2800" dirty="0"/>
          </a:p>
          <a:p>
            <a:pPr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/>
              <a:t> 数据挂载到DOM页面</a:t>
            </a:r>
            <a:endParaRPr sz="2800" dirty="0"/>
          </a:p>
          <a:p>
            <a:pPr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/>
              <a:t> Vue中的MVVM模式</a:t>
            </a:r>
            <a:endParaRPr sz="2800" dirty="0"/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>
            <p:ph type="title"/>
          </p:nvPr>
        </p:nvSpPr>
        <p:spPr>
          <a:xfrm>
            <a:off x="3643313" y="260350"/>
            <a:ext cx="5043487" cy="654050"/>
          </a:xfrm>
        </p:spPr>
        <p:txBody>
          <a:bodyPr vert="horz" wrap="square" lIns="91440" tIns="45720" rIns="91440" bIns="45720" anchor="ctr"/>
          <a:lstStyle/>
          <a:p>
            <a:r>
              <a:rPr lang="zh-CN" altLang="en-US" dirty="0">
                <a:sym typeface="+mn-lt"/>
              </a:rPr>
              <a:t>前端技术的发展</a:t>
            </a:r>
            <a:endParaRPr lang="zh-CN" altLang="en-US" dirty="0"/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矩形 5"/>
          <p:cNvSpPr>
            <a:spLocks noChangeArrowheads="1"/>
          </p:cNvSpPr>
          <p:nvPr/>
        </p:nvSpPr>
        <p:spPr bwMode="auto">
          <a:xfrm>
            <a:off x="755650" y="1268730"/>
            <a:ext cx="7983220" cy="3230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150000"/>
              </a:lnSpc>
            </a:pPr>
            <a:r>
              <a:rPr sz="2400" b="0" kern="0" dirty="0">
                <a:latin typeface="+mn-lt"/>
                <a:ea typeface="+mn-ea"/>
                <a:sym typeface="+mn-ea"/>
              </a:rPr>
              <a:t>前端开发的基础语言为</a:t>
            </a:r>
            <a:r>
              <a:rPr sz="2400" b="0" kern="0" dirty="0">
                <a:solidFill>
                  <a:srgbClr val="0070C0"/>
                </a:solidFill>
                <a:latin typeface="+mn-lt"/>
                <a:ea typeface="+mn-ea"/>
                <a:sym typeface="+mn-ea"/>
              </a:rPr>
              <a:t>HTML、CSS和JavaScript</a:t>
            </a:r>
            <a:r>
              <a:rPr sz="2400" b="0" kern="0" dirty="0">
                <a:latin typeface="+mn-lt"/>
                <a:ea typeface="+mn-ea"/>
                <a:sym typeface="+mn-ea"/>
              </a:rPr>
              <a:t>，其中，HTML用于搭建页面的内容结构；CSS用于美化页面的显示效果；JavaScript用于处理用户和页面之间的交互行为</a:t>
            </a:r>
            <a:r>
              <a:rPr lang="zh-CN" sz="2400" b="0" kern="0" dirty="0">
                <a:latin typeface="+mn-lt"/>
                <a:ea typeface="+mn-ea"/>
                <a:sym typeface="+mn-ea"/>
              </a:rPr>
              <a:t>。</a:t>
            </a:r>
            <a:endParaRPr lang="zh-CN" altLang="en-US" sz="2400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endParaRPr sz="2400" b="0" kern="0" dirty="0">
              <a:latin typeface="+mn-lt"/>
              <a:ea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3485" y="3356610"/>
            <a:ext cx="4271645" cy="280733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>
            <p:ph type="title"/>
          </p:nvPr>
        </p:nvSpPr>
        <p:spPr>
          <a:xfrm>
            <a:off x="3643313" y="260350"/>
            <a:ext cx="5043487" cy="654050"/>
          </a:xfrm>
        </p:spPr>
        <p:txBody>
          <a:bodyPr vert="horz" wrap="square" lIns="91440" tIns="45720" rIns="91440" bIns="45720" anchor="ctr"/>
          <a:lstStyle/>
          <a:p>
            <a:r>
              <a:rPr lang="zh-CN" altLang="en-US" dirty="0">
                <a:sym typeface="+mn-lt"/>
              </a:rPr>
              <a:t>前端技术的发展</a:t>
            </a:r>
            <a:endParaRPr lang="zh-CN" altLang="en-US" dirty="0"/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矩形 5"/>
          <p:cNvSpPr>
            <a:spLocks noChangeArrowheads="1"/>
          </p:cNvSpPr>
          <p:nvPr/>
        </p:nvSpPr>
        <p:spPr bwMode="auto">
          <a:xfrm>
            <a:off x="618490" y="1124585"/>
            <a:ext cx="7983220" cy="3415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150000"/>
              </a:lnSpc>
            </a:pPr>
            <a:r>
              <a:rPr sz="2400" b="0" kern="0" dirty="0">
                <a:latin typeface="+mn-lt"/>
                <a:ea typeface="+mn-ea"/>
                <a:sym typeface="+mn-ea"/>
              </a:rPr>
              <a:t>jQuery是一个快速、小巧、功能丰富的</a:t>
            </a:r>
            <a:r>
              <a:rPr sz="2400" b="0" kern="0" dirty="0">
                <a:solidFill>
                  <a:srgbClr val="0070C0"/>
                </a:solidFill>
                <a:latin typeface="+mn-lt"/>
                <a:ea typeface="+mn-ea"/>
                <a:sym typeface="+mn-ea"/>
              </a:rPr>
              <a:t>JavaScript库</a:t>
            </a:r>
            <a:r>
              <a:rPr sz="2400" b="0" kern="0" dirty="0">
                <a:latin typeface="+mn-lt"/>
                <a:ea typeface="+mn-ea"/>
                <a:sym typeface="+mn-ea"/>
              </a:rPr>
              <a:t>。利用一些容易上手的API，它使一些任务，譬如HTML文档遍历和操纵、事件处理、动画，以及Ajax更简单</a:t>
            </a:r>
            <a:endParaRPr sz="2400" b="0" kern="0" dirty="0">
              <a:latin typeface="+mn-lt"/>
              <a:ea typeface="+mn-ea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sz="2400" b="0" kern="0" dirty="0">
                <a:latin typeface="+mn-lt"/>
                <a:ea typeface="+mn-ea"/>
                <a:sym typeface="+mn-ea"/>
              </a:rPr>
              <a:t>jQuery的</a:t>
            </a:r>
            <a:r>
              <a:rPr sz="2400" b="0" kern="0" dirty="0">
                <a:solidFill>
                  <a:srgbClr val="0070C0"/>
                </a:solidFill>
                <a:latin typeface="+mn-lt"/>
                <a:ea typeface="+mn-ea"/>
                <a:sym typeface="+mn-ea"/>
              </a:rPr>
              <a:t>核心思想</a:t>
            </a:r>
            <a:r>
              <a:rPr sz="2400" b="0" kern="0" dirty="0">
                <a:latin typeface="+mn-lt"/>
                <a:ea typeface="+mn-ea"/>
                <a:sym typeface="+mn-ea"/>
              </a:rPr>
              <a:t>是使开发人员仅编写少量的代码就能实现更多的功能。</a:t>
            </a:r>
            <a:endParaRPr lang="en-US" altLang="zh-CN" sz="2400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algn="l">
              <a:lnSpc>
                <a:spcPct val="150000"/>
              </a:lnSpc>
            </a:pPr>
            <a:endParaRPr sz="2400" b="0" kern="0" dirty="0">
              <a:latin typeface="+mn-lt"/>
              <a:ea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1686" y="4508907"/>
            <a:ext cx="3086100" cy="14478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>
            <p:ph type="title"/>
          </p:nvPr>
        </p:nvSpPr>
        <p:spPr>
          <a:xfrm>
            <a:off x="3643313" y="260350"/>
            <a:ext cx="5043487" cy="654050"/>
          </a:xfrm>
        </p:spPr>
        <p:txBody>
          <a:bodyPr vert="horz" wrap="square" lIns="91440" tIns="45720" rIns="91440" bIns="45720" anchor="ctr"/>
          <a:lstStyle/>
          <a:p>
            <a:r>
              <a:rPr lang="zh-CN" altLang="en-US" dirty="0">
                <a:sym typeface="+mn-lt"/>
              </a:rPr>
              <a:t>前端技术的发展</a:t>
            </a:r>
            <a:endParaRPr lang="zh-CN" altLang="en-US" dirty="0"/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87450" y="1268730"/>
            <a:ext cx="6407150" cy="3794760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algn="l">
              <a:lnSpc>
                <a:spcPct val="150000"/>
              </a:lnSpc>
            </a:pPr>
            <a:r>
              <a:rPr sz="2400" b="0" kern="0" dirty="0">
                <a:latin typeface="+mn-lt"/>
                <a:ea typeface="+mn-ea"/>
              </a:rPr>
              <a:t>为了提高开发效率，市面上出现了基于MVVM模式的前端开发框架，例如</a:t>
            </a:r>
            <a:r>
              <a:rPr sz="2400" b="0" kern="0" dirty="0">
                <a:solidFill>
                  <a:srgbClr val="0070C0"/>
                </a:solidFill>
                <a:latin typeface="+mn-lt"/>
                <a:ea typeface="+mn-ea"/>
              </a:rPr>
              <a:t>Angular、React、Vue</a:t>
            </a:r>
            <a:r>
              <a:rPr sz="2400" b="0" kern="0" dirty="0">
                <a:latin typeface="+mn-lt"/>
                <a:ea typeface="+mn-ea"/>
              </a:rPr>
              <a:t>等。这些框架以数据为核心，使用户关注业务逻辑的处理，减少了手动的DOM操作。在Angular、React和Vue这3个框架中，Vue体积较小，在使用上更容易上手、更加灵活。</a:t>
            </a:r>
            <a:endParaRPr sz="2400" b="0" kern="0" dirty="0">
              <a:latin typeface="+mn-lt"/>
              <a:ea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33" y="4725047"/>
            <a:ext cx="7836611" cy="104866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/>
          </p:cNvSpPr>
          <p:nvPr>
            <p:ph type="title"/>
          </p:nvPr>
        </p:nvSpPr>
        <p:spPr>
          <a:xfrm>
            <a:off x="528320" y="250825"/>
            <a:ext cx="8229600" cy="792163"/>
          </a:xfrm>
        </p:spPr>
        <p:txBody>
          <a:bodyPr vert="horz" wrap="square" lIns="91440" tIns="45720" rIns="91440" bIns="45720" anchor="ctr"/>
          <a:lstStyle/>
          <a:p>
            <a:r>
              <a:rPr lang="en-US" dirty="0"/>
              <a:t>  </a:t>
            </a:r>
            <a:r>
              <a:rPr dirty="0"/>
              <a:t>Vue 简述</a:t>
            </a:r>
            <a:endParaRPr dirty="0"/>
          </a:p>
        </p:txBody>
      </p:sp>
      <p:sp>
        <p:nvSpPr>
          <p:cNvPr id="5123" name="Rectangle 3"/>
          <p:cNvSpPr>
            <a:spLocks noGrp="1"/>
          </p:cNvSpPr>
          <p:nvPr>
            <p:ph type="body" sz="half" idx="1"/>
          </p:nvPr>
        </p:nvSpPr>
        <p:spPr/>
        <p:txBody>
          <a:bodyPr vert="horz" wrap="square" lIns="91440" tIns="45720" rIns="91440" bIns="45720" anchor="t"/>
          <a:lstStyle/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pPr>
              <a:buNone/>
            </a:pPr>
            <a:endParaRPr lang="en-US" altLang="zh-CN" sz="2800" dirty="0"/>
          </a:p>
        </p:txBody>
      </p:sp>
      <p:sp>
        <p:nvSpPr>
          <p:cNvPr id="16" name="灯片编号占位符 6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5131" name="Rectangle 36"/>
          <p:cNvSpPr/>
          <p:nvPr/>
        </p:nvSpPr>
        <p:spPr>
          <a:xfrm>
            <a:off x="395536" y="1124744"/>
            <a:ext cx="8430329" cy="5733256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algn="l" eaLnBrk="0" hangingPunct="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r>
              <a:rPr lang="zh-CN" altLang="en-US" sz="2800" b="0" dirty="0" smtClean="0">
                <a:latin typeface="Calibri" panose="020F0502020204030204" pitchFamily="34" charset="0"/>
              </a:rPr>
              <a:t>什么是</a:t>
            </a:r>
            <a:r>
              <a:rPr lang="en-US" altLang="zh-CN" sz="2800" b="0" dirty="0" err="1" smtClean="0">
                <a:latin typeface="Calibri" panose="020F0502020204030204" pitchFamily="34" charset="0"/>
              </a:rPr>
              <a:t>Vue.js</a:t>
            </a:r>
            <a:endParaRPr lang="en-US" altLang="zh-CN" sz="2800" b="0" dirty="0" smtClean="0">
              <a:latin typeface="Calibri" panose="020F0502020204030204" pitchFamily="34" charset="0"/>
            </a:endParaRPr>
          </a:p>
          <a:p>
            <a:pPr marL="800100" lvl="1" indent="-342900" algn="l" eaLnBrk="0" hangingPunct="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sz="2400" b="0" dirty="0" err="1" smtClean="0">
                <a:latin typeface="Calibri" panose="020F0502020204030204" pitchFamily="34" charset="0"/>
              </a:rPr>
              <a:t>Vue.js</a:t>
            </a:r>
            <a:r>
              <a:rPr sz="2400" b="0" dirty="0" smtClean="0">
                <a:latin typeface="Calibri" panose="020F0502020204030204" pitchFamily="34" charset="0"/>
              </a:rPr>
              <a:t> </a:t>
            </a:r>
            <a:r>
              <a:rPr sz="2400" b="0" dirty="0" err="1">
                <a:latin typeface="Calibri" panose="020F0502020204030204" pitchFamily="34" charset="0"/>
              </a:rPr>
              <a:t>是一套响应式系统，</a:t>
            </a:r>
            <a:r>
              <a:rPr sz="2400" b="0" dirty="0" err="1" smtClean="0">
                <a:latin typeface="Calibri" panose="020F0502020204030204" pitchFamily="34" charset="0"/>
              </a:rPr>
              <a:t>前端开发库</a:t>
            </a:r>
            <a:endParaRPr lang="en-US" sz="2400" b="0" dirty="0" smtClean="0">
              <a:latin typeface="Calibri" panose="020F0502020204030204" pitchFamily="34" charset="0"/>
            </a:endParaRPr>
          </a:p>
          <a:p>
            <a:pPr marL="800100" lvl="1" indent="-342900" algn="l" eaLnBrk="0" hangingPunct="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sz="2400" b="0" dirty="0" smtClean="0">
                <a:latin typeface="Calibri" panose="020F0502020204030204" pitchFamily="34" charset="0"/>
              </a:rPr>
              <a:t> </a:t>
            </a:r>
            <a:r>
              <a:rPr sz="2400" b="0" dirty="0" err="1" smtClean="0">
                <a:latin typeface="Calibri" panose="020F0502020204030204" pitchFamily="34" charset="0"/>
                <a:sym typeface="+mn-ea"/>
              </a:rPr>
              <a:t>Vue.js</a:t>
            </a:r>
            <a:r>
              <a:rPr sz="2400" b="0" dirty="0" smtClean="0">
                <a:latin typeface="Calibri" panose="020F0502020204030204" pitchFamily="34" charset="0"/>
                <a:sym typeface="+mn-ea"/>
              </a:rPr>
              <a:t> </a:t>
            </a:r>
            <a:r>
              <a:rPr sz="2400" b="0" dirty="0">
                <a:latin typeface="Calibri" panose="020F0502020204030204" pitchFamily="34" charset="0"/>
                <a:sym typeface="+mn-ea"/>
              </a:rPr>
              <a:t>是一套构建用户界面的渐进式框架。 采用自底向上增量开发的设计</a:t>
            </a:r>
            <a:endParaRPr sz="2400" b="0" dirty="0">
              <a:latin typeface="Calibri" panose="020F0502020204030204" pitchFamily="34" charset="0"/>
              <a:sym typeface="+mn-ea"/>
            </a:endParaRPr>
          </a:p>
          <a:p>
            <a:pPr marL="800100" lvl="1" indent="-342900" algn="l" eaLnBrk="0" hangingPunct="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sz="2400" b="0" dirty="0">
                <a:latin typeface="Calibri" panose="020F0502020204030204" pitchFamily="34" charset="0"/>
                <a:sym typeface="+mn-ea"/>
              </a:rPr>
              <a:t>Vue 的核心库只关注视图层</a:t>
            </a:r>
            <a:endParaRPr sz="2400" b="0" dirty="0">
              <a:latin typeface="Calibri" panose="020F0502020204030204" pitchFamily="34" charset="0"/>
              <a:sym typeface="+mn-ea"/>
            </a:endParaRPr>
          </a:p>
          <a:p>
            <a:pPr marL="800100" lvl="1" indent="-342900" algn="l" eaLnBrk="0" hangingPunct="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sz="2400" b="0" dirty="0">
                <a:latin typeface="Calibri" panose="020F0502020204030204" pitchFamily="34" charset="0"/>
                <a:sym typeface="+mn-ea"/>
              </a:rPr>
              <a:t>Vue 采用单文件组件和生态系统支持的库开发的复杂单页应用</a:t>
            </a:r>
            <a:endParaRPr sz="2400" b="0" dirty="0">
              <a:latin typeface="Calibri" panose="020F0502020204030204" pitchFamily="34" charset="0"/>
              <a:sym typeface="+mn-ea"/>
            </a:endParaRPr>
          </a:p>
          <a:p>
            <a:pPr marL="800100" lvl="1" indent="-342900" algn="l" eaLnBrk="0" hangingPunct="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sz="2400" b="0" dirty="0">
                <a:latin typeface="Calibri" panose="020F0502020204030204" pitchFamily="34" charset="0"/>
                <a:sym typeface="+mn-ea"/>
              </a:rPr>
              <a:t>提供了 MVVM 数据绑定和一个可组合的组件系统</a:t>
            </a:r>
            <a:endParaRPr sz="2400" b="0" dirty="0">
              <a:latin typeface="Calibri" panose="020F0502020204030204" pitchFamily="34" charset="0"/>
              <a:sym typeface="+mn-ea"/>
            </a:endParaRPr>
          </a:p>
          <a:p>
            <a:pPr marL="342900" indent="-342900" algn="l" eaLnBrk="0" hangingPunct="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endParaRPr sz="2800" b="0" dirty="0">
              <a:latin typeface="Calibri" panose="020F0502020204030204" pitchFamily="34" charset="0"/>
            </a:endParaRPr>
          </a:p>
          <a:p>
            <a:pPr algn="l" eaLnBrk="0" hangingPunct="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</a:pPr>
            <a:endParaRPr sz="2800" b="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5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5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5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5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5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5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1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/>
          </p:cNvSpPr>
          <p:nvPr>
            <p:ph type="title"/>
          </p:nvPr>
        </p:nvSpPr>
        <p:spPr>
          <a:xfrm>
            <a:off x="3643313" y="334645"/>
            <a:ext cx="5043487" cy="654050"/>
          </a:xfrm>
        </p:spPr>
        <p:txBody>
          <a:bodyPr vert="horz" wrap="square" lIns="91440" tIns="45720" rIns="91440" bIns="45720" anchor="ctr"/>
          <a:lstStyle/>
          <a:p>
            <a:r>
              <a:rPr dirty="0">
                <a:sym typeface="+mn-ea"/>
              </a:rPr>
              <a:t> 为什么使用 Vue.js</a:t>
            </a:r>
            <a:endParaRPr dirty="0">
              <a:sym typeface="+mn-ea"/>
            </a:endParaRPr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73059" name="Rectangle 3"/>
          <p:cNvSpPr>
            <a:spLocks noGrp="1"/>
          </p:cNvSpPr>
          <p:nvPr/>
        </p:nvSpPr>
        <p:spPr>
          <a:xfrm>
            <a:off x="450850" y="741680"/>
            <a:ext cx="8369622" cy="22288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spcAft>
                <a:spcPct val="10000"/>
              </a:spcAft>
              <a:buNone/>
            </a:pPr>
            <a:endParaRPr sz="2800" dirty="0">
              <a:latin typeface="Calibri" panose="020F0502020204030204" pitchFamily="34" charset="0"/>
              <a:sym typeface="+mn-ea"/>
            </a:endParaRPr>
          </a:p>
          <a:p>
            <a:pPr>
              <a:spcAft>
                <a:spcPct val="10000"/>
              </a:spcAft>
            </a:pPr>
            <a:r>
              <a:rPr sz="2800" dirty="0">
                <a:cs typeface="+mn-lt"/>
                <a:sym typeface="+mn-ea"/>
              </a:rPr>
              <a:t> </a:t>
            </a:r>
            <a:r>
              <a:rPr sz="2800" b="0" dirty="0">
                <a:cs typeface="+mn-lt"/>
                <a:sym typeface="+mn-ea"/>
              </a:rPr>
              <a:t>Vue 核心库</a:t>
            </a:r>
            <a:r>
              <a:rPr lang="zh-CN" sz="2800" b="0" dirty="0">
                <a:cs typeface="+mn-lt"/>
                <a:sym typeface="+mn-ea"/>
              </a:rPr>
              <a:t>只</a:t>
            </a:r>
            <a:r>
              <a:rPr sz="2800" b="0" dirty="0">
                <a:cs typeface="+mn-lt"/>
                <a:sym typeface="+mn-ea"/>
              </a:rPr>
              <a:t>关注</a:t>
            </a:r>
            <a:r>
              <a:rPr lang="zh-CN" sz="2800" b="0" dirty="0">
                <a:cs typeface="+mn-lt"/>
                <a:sym typeface="+mn-ea"/>
              </a:rPr>
              <a:t>视图层</a:t>
            </a:r>
            <a:endParaRPr sz="2800" b="0" dirty="0">
              <a:cs typeface="+mn-lt"/>
              <a:sym typeface="+mn-ea"/>
            </a:endParaRPr>
          </a:p>
          <a:p>
            <a:pPr marL="812800" lvl="1" indent="-276225">
              <a:spcAft>
                <a:spcPct val="10000"/>
              </a:spcAft>
            </a:pPr>
            <a:r>
              <a:rPr lang="zh-CN" sz="2400" b="0" dirty="0">
                <a:cs typeface="+mn-lt"/>
                <a:sym typeface="+mn-ea"/>
              </a:rPr>
              <a:t>解决网页</a:t>
            </a:r>
            <a:r>
              <a:rPr sz="2400" b="0" dirty="0">
                <a:cs typeface="+mn-lt"/>
                <a:sym typeface="+mn-ea"/>
              </a:rPr>
              <a:t>结构之间存在依赖或依存关系</a:t>
            </a:r>
            <a:r>
              <a:rPr lang="zh-CN" sz="2400" b="0" dirty="0">
                <a:cs typeface="+mn-lt"/>
                <a:sym typeface="+mn-ea"/>
              </a:rPr>
              <a:t>，不需要数据和视图全混合在一起</a:t>
            </a:r>
            <a:endParaRPr lang="zh-CN" sz="2400" b="0" dirty="0">
              <a:cs typeface="+mn-lt"/>
              <a:sym typeface="+mn-ea"/>
            </a:endParaRPr>
          </a:p>
          <a:p>
            <a:pPr marL="536575" lvl="1" indent="0">
              <a:spcAft>
                <a:spcPct val="10000"/>
              </a:spcAft>
              <a:buNone/>
            </a:pPr>
            <a:endParaRPr b="0" dirty="0">
              <a:cs typeface="+mn-lt"/>
              <a:sym typeface="+mn-ea"/>
            </a:endParaRPr>
          </a:p>
          <a:p>
            <a:pPr marL="536575" lvl="1" indent="0">
              <a:spcAft>
                <a:spcPct val="10000"/>
              </a:spcAft>
              <a:buNone/>
            </a:pPr>
            <a:endParaRPr lang="zh-CN" altLang="en-US" dirty="0">
              <a:latin typeface="Calibri" panose="020F0502020204030204" pitchFamily="34" charset="0"/>
              <a:sym typeface="+mn-ea"/>
            </a:endParaRPr>
          </a:p>
          <a:p>
            <a:pPr marL="536575" lvl="1" indent="0">
              <a:spcAft>
                <a:spcPct val="10000"/>
              </a:spcAft>
              <a:buNone/>
            </a:pPr>
            <a:endParaRPr lang="zh-CN" altLang="en-US" dirty="0"/>
          </a:p>
          <a:p>
            <a:pPr marL="812800" lvl="1" indent="-276225">
              <a:spcAft>
                <a:spcPct val="10000"/>
              </a:spcAft>
            </a:pPr>
            <a:endParaRPr lang="en-US" altLang="zh-CN" dirty="0"/>
          </a:p>
        </p:txBody>
      </p:sp>
      <p:sp>
        <p:nvSpPr>
          <p:cNvPr id="3" name="Rectangle 3"/>
          <p:cNvSpPr>
            <a:spLocks noGrp="1"/>
          </p:cNvSpPr>
          <p:nvPr/>
        </p:nvSpPr>
        <p:spPr>
          <a:xfrm>
            <a:off x="506730" y="2420888"/>
            <a:ext cx="8313742" cy="419227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spcAft>
                <a:spcPct val="10000"/>
              </a:spcAft>
              <a:buNone/>
            </a:pPr>
            <a:endParaRPr sz="2800" dirty="0">
              <a:latin typeface="Calibri" panose="020F0502020204030204" pitchFamily="34" charset="0"/>
              <a:sym typeface="+mn-ea"/>
            </a:endParaRPr>
          </a:p>
          <a:p>
            <a:pPr>
              <a:spcAft>
                <a:spcPct val="10000"/>
              </a:spcAft>
            </a:pPr>
            <a:r>
              <a:rPr sz="2800" b="0" dirty="0">
                <a:cs typeface="+mn-lt"/>
                <a:sym typeface="+mn-ea"/>
              </a:rPr>
              <a:t> </a:t>
            </a:r>
            <a:r>
              <a:rPr lang="zh-CN" sz="2800" b="0" dirty="0">
                <a:cs typeface="+mn-lt"/>
                <a:sym typeface="+mn-ea"/>
              </a:rPr>
              <a:t>避免使用</a:t>
            </a:r>
            <a:r>
              <a:rPr sz="2800" b="0" dirty="0">
                <a:cs typeface="+mn-lt"/>
                <a:sym typeface="+mn-ea"/>
              </a:rPr>
              <a:t>jQuery 选择器及 DOM 操作本身存在性能缺失</a:t>
            </a:r>
            <a:endParaRPr sz="2800" dirty="0">
              <a:cs typeface="+mn-lt"/>
              <a:sym typeface="+mn-ea"/>
            </a:endParaRPr>
          </a:p>
          <a:p>
            <a:pPr marL="812800" lvl="1" indent="-276225">
              <a:spcAft>
                <a:spcPct val="10000"/>
              </a:spcAft>
            </a:pPr>
            <a:r>
              <a:rPr lang="zh-CN" sz="2400" b="0" dirty="0">
                <a:cs typeface="+mn-lt"/>
                <a:sym typeface="+mn-ea"/>
              </a:rPr>
              <a:t>提供了更声明式、更高效的方式来管理 DOM 和应用状态</a:t>
            </a:r>
            <a:endParaRPr lang="zh-CN" sz="2400" b="0" dirty="0">
              <a:cs typeface="+mn-lt"/>
              <a:sym typeface="+mn-ea"/>
            </a:endParaRPr>
          </a:p>
          <a:p>
            <a:pPr marL="812800" lvl="1" indent="-276225">
              <a:spcAft>
                <a:spcPct val="10000"/>
              </a:spcAft>
            </a:pPr>
            <a:r>
              <a:rPr sz="2400" b="0" dirty="0">
                <a:cs typeface="+mn-lt"/>
                <a:sym typeface="+mn-ea"/>
              </a:rPr>
              <a:t>声明式编程</a:t>
            </a:r>
            <a:r>
              <a:rPr lang="en-US" sz="2400" b="0" dirty="0">
                <a:cs typeface="+mn-lt"/>
                <a:sym typeface="+mn-ea"/>
              </a:rPr>
              <a:t>,通过更改数据来自动更新 UI，而不是手动操作 DOM。</a:t>
            </a:r>
            <a:endParaRPr lang="en-US" sz="2400" b="0" dirty="0">
              <a:cs typeface="+mn-lt"/>
              <a:sym typeface="+mn-ea"/>
            </a:endParaRPr>
          </a:p>
          <a:p>
            <a:pPr marL="536575" lvl="1" indent="0">
              <a:spcAft>
                <a:spcPct val="10000"/>
              </a:spcAft>
              <a:buNone/>
            </a:pPr>
            <a:endParaRPr b="0" dirty="0">
              <a:cs typeface="+mn-lt"/>
              <a:sym typeface="+mn-ea"/>
            </a:endParaRPr>
          </a:p>
          <a:p>
            <a:pPr marL="536575" lvl="1" indent="0">
              <a:spcAft>
                <a:spcPct val="10000"/>
              </a:spcAft>
              <a:buNone/>
            </a:pPr>
            <a:endParaRPr lang="zh-CN" altLang="en-US" dirty="0">
              <a:latin typeface="Calibri" panose="020F0502020204030204" pitchFamily="34" charset="0"/>
              <a:sym typeface="+mn-ea"/>
            </a:endParaRPr>
          </a:p>
          <a:p>
            <a:pPr marL="536575" lvl="1" indent="0">
              <a:spcAft>
                <a:spcPct val="10000"/>
              </a:spcAft>
              <a:buNone/>
            </a:pPr>
            <a:endParaRPr lang="zh-CN" altLang="en-US" dirty="0"/>
          </a:p>
          <a:p>
            <a:pPr marL="812800" lvl="1" indent="-276225">
              <a:spcAft>
                <a:spcPct val="10000"/>
              </a:spcAft>
            </a:pP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173059" grpId="0" uiExpand="1" build="p"/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/>
          </p:cNvSpPr>
          <p:nvPr>
            <p:ph type="title"/>
          </p:nvPr>
        </p:nvSpPr>
        <p:spPr>
          <a:xfrm>
            <a:off x="3643313" y="354330"/>
            <a:ext cx="5043487" cy="654050"/>
          </a:xfrm>
        </p:spPr>
        <p:txBody>
          <a:bodyPr vert="horz" wrap="square" lIns="91440" tIns="45720" rIns="91440" bIns="45720" anchor="ctr"/>
          <a:lstStyle/>
          <a:p>
            <a:r>
              <a:rPr dirty="0">
                <a:sym typeface="+mn-ea"/>
              </a:rPr>
              <a:t> Vue.js 的主要特点</a:t>
            </a:r>
            <a:endParaRPr dirty="0">
              <a:sym typeface="+mn-ea"/>
            </a:endParaRPr>
          </a:p>
        </p:txBody>
      </p:sp>
      <p:sp>
        <p:nvSpPr>
          <p:cNvPr id="7172" name="Rectangle 3"/>
          <p:cNvSpPr>
            <a:spLocks noGrp="1"/>
          </p:cNvSpPr>
          <p:nvPr>
            <p:ph idx="1"/>
          </p:nvPr>
        </p:nvSpPr>
        <p:spPr>
          <a:xfrm>
            <a:off x="935355" y="1343660"/>
            <a:ext cx="7273290" cy="6162040"/>
          </a:xfrm>
        </p:spPr>
        <p:txBody>
          <a:bodyPr vert="horz" wrap="square" lIns="91440" tIns="45720" rIns="91440" bIns="45720" anchor="t"/>
          <a:lstStyle/>
          <a:p>
            <a:pPr marL="342900" indent="-34290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r>
              <a:rPr lang="en-US" sz="2800" dirty="0" err="1" smtClean="0">
                <a:latin typeface="Calibri" panose="020F0502020204030204" pitchFamily="34" charset="0"/>
                <a:sym typeface="+mn-ea"/>
              </a:rPr>
              <a:t>Vue</a:t>
            </a:r>
            <a:r>
              <a:rPr lang="zh-CN" altLang="en-US" sz="2800" dirty="0" smtClean="0">
                <a:latin typeface="Calibri" panose="020F0502020204030204" pitchFamily="34" charset="0"/>
                <a:sym typeface="+mn-ea"/>
              </a:rPr>
              <a:t>的特点：</a:t>
            </a:r>
            <a:endParaRPr lang="en-US" altLang="zh-CN" sz="2800" dirty="0" smtClean="0">
              <a:latin typeface="Calibri" panose="020F0502020204030204" pitchFamily="34" charset="0"/>
              <a:sym typeface="+mn-ea"/>
            </a:endParaRPr>
          </a:p>
          <a:p>
            <a:pPr lvl="1" indent="-342900">
              <a:lnSpc>
                <a:spcPct val="125000"/>
              </a:lnSpc>
              <a:spcBef>
                <a:spcPts val="0"/>
              </a:spcBef>
            </a:pPr>
            <a:r>
              <a:rPr sz="2400" dirty="0" err="1" smtClean="0">
                <a:latin typeface="Calibri" panose="020F0502020204030204" pitchFamily="34" charset="0"/>
                <a:sym typeface="+mn-ea"/>
              </a:rPr>
              <a:t>轻量级的框架</a:t>
            </a:r>
            <a:endParaRPr sz="2400" dirty="0">
              <a:latin typeface="Calibri" panose="020F0502020204030204" pitchFamily="34" charset="0"/>
              <a:sym typeface="+mn-ea"/>
            </a:endParaRPr>
          </a:p>
          <a:p>
            <a:pPr lvl="1" indent="-342900">
              <a:lnSpc>
                <a:spcPct val="125000"/>
              </a:lnSpc>
              <a:spcBef>
                <a:spcPts val="0"/>
              </a:spcBef>
            </a:pPr>
            <a:r>
              <a:rPr sz="2400" dirty="0">
                <a:latin typeface="Calibri" panose="020F0502020204030204" pitchFamily="34" charset="0"/>
                <a:sym typeface="+mn-ea"/>
              </a:rPr>
              <a:t>双向数据绑定</a:t>
            </a:r>
            <a:endParaRPr sz="2400" dirty="0"/>
          </a:p>
          <a:p>
            <a:pPr lvl="1" indent="-342900">
              <a:lnSpc>
                <a:spcPct val="125000"/>
              </a:lnSpc>
              <a:spcBef>
                <a:spcPts val="0"/>
              </a:spcBef>
            </a:pPr>
            <a:r>
              <a:rPr sz="2400" dirty="0">
                <a:latin typeface="Calibri" panose="020F0502020204030204" pitchFamily="34" charset="0"/>
                <a:sym typeface="+mn-ea"/>
              </a:rPr>
              <a:t>指令</a:t>
            </a:r>
            <a:endParaRPr sz="2400" dirty="0">
              <a:latin typeface="Calibri" panose="020F0502020204030204" pitchFamily="34" charset="0"/>
              <a:sym typeface="+mn-ea"/>
            </a:endParaRPr>
          </a:p>
          <a:p>
            <a:pPr lvl="1" indent="-342900">
              <a:lnSpc>
                <a:spcPct val="125000"/>
              </a:lnSpc>
              <a:spcBef>
                <a:spcPts val="0"/>
              </a:spcBef>
            </a:pPr>
            <a:r>
              <a:rPr sz="2400" dirty="0">
                <a:latin typeface="Calibri" panose="020F0502020204030204" pitchFamily="34" charset="0"/>
                <a:sym typeface="+mn-ea"/>
              </a:rPr>
              <a:t>组件化</a:t>
            </a:r>
            <a:endParaRPr sz="2400" dirty="0">
              <a:latin typeface="Calibri" panose="020F0502020204030204" pitchFamily="34" charset="0"/>
              <a:sym typeface="+mn-ea"/>
            </a:endParaRPr>
          </a:p>
          <a:p>
            <a:pPr lvl="1" indent="-342900">
              <a:lnSpc>
                <a:spcPct val="125000"/>
              </a:lnSpc>
              <a:spcBef>
                <a:spcPts val="0"/>
              </a:spcBef>
            </a:pPr>
            <a:r>
              <a:rPr sz="2400" dirty="0">
                <a:latin typeface="Calibri" panose="020F0502020204030204" pitchFamily="34" charset="0"/>
                <a:sym typeface="+mn-ea"/>
              </a:rPr>
              <a:t>客户端路由</a:t>
            </a:r>
            <a:endParaRPr sz="2400" dirty="0">
              <a:latin typeface="Calibri" panose="020F0502020204030204" pitchFamily="34" charset="0"/>
              <a:sym typeface="+mn-ea"/>
            </a:endParaRPr>
          </a:p>
          <a:p>
            <a:pPr lvl="1" indent="-342900">
              <a:lnSpc>
                <a:spcPct val="125000"/>
              </a:lnSpc>
              <a:spcBef>
                <a:spcPts val="0"/>
              </a:spcBef>
            </a:pPr>
            <a:r>
              <a:rPr sz="2400" dirty="0">
                <a:latin typeface="Calibri" panose="020F0502020204030204" pitchFamily="34" charset="0"/>
                <a:sym typeface="+mn-ea"/>
              </a:rPr>
              <a:t>状态管理</a:t>
            </a:r>
            <a:endParaRPr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7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7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71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71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71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71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2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/>
          </p:cNvSpPr>
          <p:nvPr>
            <p:ph type="title"/>
          </p:nvPr>
        </p:nvSpPr>
        <p:spPr>
          <a:xfrm>
            <a:off x="3643313" y="285115"/>
            <a:ext cx="5043487" cy="654050"/>
          </a:xfrm>
        </p:spPr>
        <p:txBody>
          <a:bodyPr vert="horz" wrap="square" lIns="91440" tIns="45720" rIns="91440" bIns="45720" anchor="ctr"/>
          <a:lstStyle/>
          <a:p>
            <a:r>
              <a:rPr dirty="0">
                <a:sym typeface="+mn-ea"/>
              </a:rPr>
              <a:t> Vue.js 的优势</a:t>
            </a:r>
            <a:endParaRPr dirty="0">
              <a:sym typeface="+mn-ea"/>
            </a:endParaRPr>
          </a:p>
        </p:txBody>
      </p:sp>
      <p:sp>
        <p:nvSpPr>
          <p:cNvPr id="7172" name="Rectangle 3"/>
          <p:cNvSpPr>
            <a:spLocks noGrp="1"/>
          </p:cNvSpPr>
          <p:nvPr>
            <p:ph idx="1"/>
          </p:nvPr>
        </p:nvSpPr>
        <p:spPr>
          <a:xfrm>
            <a:off x="755576" y="1329690"/>
            <a:ext cx="8016314" cy="8481060"/>
          </a:xfrm>
        </p:spPr>
        <p:txBody>
          <a:bodyPr vert="horz" wrap="square" lIns="91440" tIns="45720" rIns="91440" bIns="45720" anchor="t"/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800" dirty="0" err="1" smtClean="0">
                <a:latin typeface="Calibri" panose="020F0502020204030204" pitchFamily="34" charset="0"/>
                <a:sym typeface="+mn-ea"/>
              </a:rPr>
              <a:t>Vue</a:t>
            </a:r>
            <a:r>
              <a:rPr lang="zh-CN" altLang="en-US" sz="2800" dirty="0" smtClean="0">
                <a:latin typeface="Calibri" panose="020F0502020204030204" pitchFamily="34" charset="0"/>
                <a:sym typeface="+mn-ea"/>
              </a:rPr>
              <a:t>的优势</a:t>
            </a:r>
            <a:r>
              <a:rPr lang="en-US" altLang="zh-CN" sz="2800" dirty="0" smtClean="0">
                <a:latin typeface="Calibri" panose="020F0502020204030204" pitchFamily="34" charset="0"/>
                <a:sym typeface="+mn-ea"/>
              </a:rPr>
              <a:t>:</a:t>
            </a:r>
            <a:endParaRPr lang="en-US" altLang="zh-CN" sz="2800" dirty="0" smtClean="0">
              <a:latin typeface="Calibri" panose="020F0502020204030204" pitchFamily="34" charset="0"/>
              <a:sym typeface="+mn-ea"/>
            </a:endParaRPr>
          </a:p>
          <a:p>
            <a:pPr lvl="1" indent="-342900">
              <a:lnSpc>
                <a:spcPct val="125000"/>
              </a:lnSpc>
              <a:spcBef>
                <a:spcPts val="0"/>
              </a:spcBef>
            </a:pPr>
            <a:r>
              <a:rPr sz="2400" dirty="0" err="1" smtClean="0">
                <a:latin typeface="Calibri" panose="020F0502020204030204" pitchFamily="34" charset="0"/>
                <a:sym typeface="+mn-ea"/>
              </a:rPr>
              <a:t>可进行组件化开发</a:t>
            </a:r>
            <a:r>
              <a:rPr sz="2400" dirty="0" err="1">
                <a:latin typeface="Calibri" panose="020F0502020204030204" pitchFamily="34" charset="0"/>
                <a:sym typeface="+mn-ea"/>
              </a:rPr>
              <a:t>，使代码量减少</a:t>
            </a:r>
            <a:endParaRPr sz="2400" dirty="0">
              <a:latin typeface="Calibri" panose="020F0502020204030204" pitchFamily="34" charset="0"/>
              <a:sym typeface="+mn-ea"/>
            </a:endParaRPr>
          </a:p>
          <a:p>
            <a:pPr lvl="1" indent="-342900">
              <a:lnSpc>
                <a:spcPct val="125000"/>
              </a:lnSpc>
              <a:spcBef>
                <a:spcPts val="0"/>
              </a:spcBef>
            </a:pPr>
            <a:r>
              <a:rPr sz="2400" dirty="0">
                <a:latin typeface="Calibri" panose="020F0502020204030204" pitchFamily="34" charset="0"/>
                <a:sym typeface="+mn-ea"/>
              </a:rPr>
              <a:t>可对数据进行双向绑定</a:t>
            </a:r>
            <a:endParaRPr sz="2400" dirty="0">
              <a:latin typeface="Calibri" panose="020F0502020204030204" pitchFamily="34" charset="0"/>
              <a:sym typeface="+mn-ea"/>
            </a:endParaRPr>
          </a:p>
          <a:p>
            <a:pPr lvl="1" indent="-342900">
              <a:lnSpc>
                <a:spcPct val="125000"/>
              </a:lnSpc>
              <a:spcBef>
                <a:spcPts val="0"/>
              </a:spcBef>
            </a:pPr>
            <a:r>
              <a:rPr sz="2400" dirty="0">
                <a:latin typeface="Calibri" panose="020F0502020204030204" pitchFamily="34" charset="0"/>
                <a:sym typeface="+mn-ea"/>
              </a:rPr>
              <a:t>编写出来界面效果本身是响应式的，使网页</a:t>
            </a:r>
            <a:r>
              <a:rPr lang="zh-CN" sz="2400" dirty="0">
                <a:latin typeface="Calibri" panose="020F0502020204030204" pitchFamily="34" charset="0"/>
                <a:sym typeface="+mn-ea"/>
              </a:rPr>
              <a:t>能</a:t>
            </a:r>
            <a:r>
              <a:rPr sz="2400" dirty="0">
                <a:latin typeface="Calibri" panose="020F0502020204030204" pitchFamily="34" charset="0"/>
                <a:sym typeface="+mn-ea"/>
              </a:rPr>
              <a:t>显示好看效果</a:t>
            </a:r>
            <a:endParaRPr sz="2400" dirty="0">
              <a:latin typeface="Calibri" panose="020F0502020204030204" pitchFamily="34" charset="0"/>
              <a:sym typeface="+mn-ea"/>
            </a:endParaRPr>
          </a:p>
          <a:p>
            <a:pPr lvl="1" indent="-342900">
              <a:lnSpc>
                <a:spcPct val="125000"/>
              </a:lnSpc>
              <a:spcBef>
                <a:spcPts val="0"/>
              </a:spcBef>
            </a:pPr>
            <a:r>
              <a:rPr lang="zh-CN" sz="2400" dirty="0">
                <a:latin typeface="Calibri" panose="020F0502020204030204" pitchFamily="34" charset="0"/>
                <a:sym typeface="+mn-ea"/>
              </a:rPr>
              <a:t>实现</a:t>
            </a:r>
            <a:r>
              <a:rPr sz="2400" dirty="0">
                <a:latin typeface="Calibri" panose="020F0502020204030204" pitchFamily="34" charset="0"/>
                <a:sym typeface="+mn-ea"/>
              </a:rPr>
              <a:t>网络页面之间跳转</a:t>
            </a:r>
            <a:r>
              <a:rPr lang="zh-CN" sz="2400" dirty="0">
                <a:latin typeface="Calibri" panose="020F0502020204030204" pitchFamily="34" charset="0"/>
                <a:sym typeface="+mn-ea"/>
              </a:rPr>
              <a:t>，与</a:t>
            </a:r>
            <a:r>
              <a:rPr sz="2400" dirty="0">
                <a:latin typeface="Calibri" panose="020F0502020204030204" pitchFamily="34" charset="0"/>
                <a:sym typeface="+mn-ea"/>
              </a:rPr>
              <a:t>Vue 路由相比</a:t>
            </a:r>
            <a:r>
              <a:rPr lang="zh-CN" sz="2400" dirty="0">
                <a:latin typeface="Calibri" panose="020F0502020204030204" pitchFamily="34" charset="0"/>
                <a:sym typeface="+mn-ea"/>
              </a:rPr>
              <a:t>，</a:t>
            </a:r>
            <a:r>
              <a:rPr sz="2400" dirty="0">
                <a:latin typeface="Calibri" panose="020F0502020204030204" pitchFamily="34" charset="0"/>
                <a:sym typeface="+mn-ea"/>
              </a:rPr>
              <a:t>超链接不会页面刷新</a:t>
            </a:r>
            <a:endParaRPr dirty="0">
              <a:latin typeface="Calibri" panose="020F0502020204030204" pitchFamily="34" charset="0"/>
              <a:sym typeface="+mn-ea"/>
            </a:endParaRPr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956421" name="AutoShape 5"/>
          <p:cNvSpPr>
            <a:spLocks noChangeArrowheads="1"/>
          </p:cNvSpPr>
          <p:nvPr/>
        </p:nvSpPr>
        <p:spPr bwMode="auto">
          <a:xfrm>
            <a:off x="5723890" y="4509135"/>
            <a:ext cx="3025775" cy="712720"/>
          </a:xfrm>
          <a:prstGeom prst="wedgeRoundRectCallout">
            <a:avLst>
              <a:gd name="adj1" fmla="val -51280"/>
              <a:gd name="adj2" fmla="val -99965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99">
                  <a:gamma/>
                  <a:tint val="0"/>
                  <a:invGamma/>
                </a:srgbClr>
              </a:gs>
            </a:gsLst>
            <a:lin ang="5400000" scaled="1"/>
          </a:gradFill>
          <a:ln w="9525" algn="ctr">
            <a:solidFill>
              <a:srgbClr val="FF6600"/>
            </a:solidFill>
            <a:miter lim="800000"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wrap="square" anchorCtr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sz="1800">
                <a:sym typeface="+mn-ea"/>
              </a:rPr>
              <a:t>传统的页面是通过超链接来实现页面的切换和跳转的</a:t>
            </a:r>
            <a:endParaRPr sz="180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7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7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56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2" grpId="0" uiExpand="1" build="p"/>
      <p:bldP spid="956421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/>
          </p:cNvSpPr>
          <p:nvPr>
            <p:ph type="title"/>
          </p:nvPr>
        </p:nvSpPr>
        <p:spPr>
          <a:xfrm>
            <a:off x="3643313" y="310515"/>
            <a:ext cx="5043487" cy="654050"/>
          </a:xfrm>
        </p:spPr>
        <p:txBody>
          <a:bodyPr vert="horz" wrap="square" lIns="91440" tIns="45720" rIns="91440" bIns="45720" anchor="ctr"/>
          <a:lstStyle/>
          <a:p>
            <a:r>
              <a:rPr dirty="0">
                <a:sym typeface="+mn-ea"/>
              </a:rPr>
              <a:t>Vue.js </a:t>
            </a:r>
            <a:r>
              <a:rPr lang="zh-CN" dirty="0">
                <a:sym typeface="+mn-ea"/>
              </a:rPr>
              <a:t>下载及</a:t>
            </a:r>
            <a:r>
              <a:rPr dirty="0">
                <a:sym typeface="+mn-ea"/>
              </a:rPr>
              <a:t>引用</a:t>
            </a:r>
            <a:endParaRPr dirty="0">
              <a:sym typeface="+mn-ea"/>
            </a:endParaRPr>
          </a:p>
        </p:txBody>
      </p:sp>
      <p:sp>
        <p:nvSpPr>
          <p:cNvPr id="7172" name="Rectangle 3"/>
          <p:cNvSpPr>
            <a:spLocks noGrp="1"/>
          </p:cNvSpPr>
          <p:nvPr>
            <p:ph idx="1"/>
          </p:nvPr>
        </p:nvSpPr>
        <p:spPr>
          <a:xfrm>
            <a:off x="492760" y="1063625"/>
            <a:ext cx="8381365" cy="8481060"/>
          </a:xfrm>
        </p:spPr>
        <p:txBody>
          <a:bodyPr vert="horz" wrap="square" lIns="91440" tIns="45720" rIns="91440" bIns="45720" anchor="t"/>
          <a:lstStyle/>
          <a:p>
            <a:pPr marL="342900" indent="-34290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r>
              <a:rPr sz="2800" dirty="0">
                <a:latin typeface="Calibri" panose="020F0502020204030204" pitchFamily="34" charset="0"/>
                <a:sym typeface="+mn-ea"/>
              </a:rPr>
              <a:t>下载地址：</a:t>
            </a:r>
            <a:endParaRPr dirty="0">
              <a:latin typeface="Calibri" panose="020F0502020204030204" pitchFamily="34" charset="0"/>
              <a:sym typeface="+mn-ea"/>
            </a:endParaRPr>
          </a:p>
          <a:p>
            <a:pPr marL="342900" indent="-34290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endParaRPr lang="en-US" dirty="0" smtClean="0">
              <a:latin typeface="Calibri" panose="020F0502020204030204" pitchFamily="34" charset="0"/>
              <a:sym typeface="+mn-ea"/>
            </a:endParaRPr>
          </a:p>
          <a:p>
            <a:pPr marL="342900" indent="-34290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r>
              <a:rPr sz="2800" dirty="0" smtClean="0">
                <a:latin typeface="Calibri" panose="020F0502020204030204" pitchFamily="34" charset="0"/>
                <a:sym typeface="+mn-ea"/>
              </a:rPr>
              <a:t>&lt;</a:t>
            </a:r>
            <a:r>
              <a:rPr sz="2800" dirty="0">
                <a:latin typeface="Calibri" panose="020F0502020204030204" pitchFamily="34" charset="0"/>
                <a:sym typeface="+mn-ea"/>
              </a:rPr>
              <a:t>script&gt;</a:t>
            </a:r>
            <a:r>
              <a:rPr sz="2800" dirty="0" err="1" smtClean="0">
                <a:latin typeface="Calibri" panose="020F0502020204030204" pitchFamily="34" charset="0"/>
                <a:sym typeface="+mn-ea"/>
              </a:rPr>
              <a:t>标签引入</a:t>
            </a:r>
            <a:endParaRPr dirty="0">
              <a:latin typeface="Calibri" panose="020F0502020204030204" pitchFamily="34" charset="0"/>
              <a:sym typeface="+mn-ea"/>
            </a:endParaRPr>
          </a:p>
          <a:p>
            <a:pPr marL="0" indent="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dirty="0">
                <a:latin typeface="Calibri" panose="020F0502020204030204" pitchFamily="34" charset="0"/>
                <a:sym typeface="+mn-ea"/>
              </a:rPr>
              <a:t>   </a:t>
            </a:r>
            <a:endParaRPr dirty="0">
              <a:latin typeface="Calibri" panose="020F0502020204030204" pitchFamily="34" charset="0"/>
              <a:sym typeface="+mn-ea"/>
            </a:endParaRPr>
          </a:p>
          <a:p>
            <a:pPr marL="342900" indent="-34290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r>
              <a:rPr sz="2800" dirty="0">
                <a:latin typeface="Calibri" panose="020F0502020204030204" pitchFamily="34" charset="0"/>
                <a:sym typeface="+mn-ea"/>
              </a:rPr>
              <a:t>也可使用#CDN 来引入 Vue.js</a:t>
            </a:r>
            <a:r>
              <a:rPr dirty="0">
                <a:latin typeface="Calibri" panose="020F0502020204030204" pitchFamily="34" charset="0"/>
                <a:sym typeface="+mn-ea"/>
              </a:rPr>
              <a:t>。</a:t>
            </a:r>
            <a:endParaRPr dirty="0">
              <a:latin typeface="Calibri" panose="020F0502020204030204" pitchFamily="34" charset="0"/>
              <a:sym typeface="+mn-ea"/>
            </a:endParaRPr>
          </a:p>
          <a:p>
            <a:pPr marL="0" indent="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dirty="0">
                <a:latin typeface="Calibri" panose="020F0502020204030204" pitchFamily="34" charset="0"/>
                <a:sym typeface="+mn-ea"/>
              </a:rPr>
              <a:t>  </a:t>
            </a:r>
            <a:endParaRPr lang="en-US" altLang="zh-CN" dirty="0"/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" name="AutoShape 3"/>
          <p:cNvSpPr/>
          <p:nvPr/>
        </p:nvSpPr>
        <p:spPr>
          <a:xfrm>
            <a:off x="830580" y="1897380"/>
            <a:ext cx="7788275" cy="380602"/>
          </a:xfrm>
          <a:prstGeom prst="roundRect">
            <a:avLst>
              <a:gd name="adj" fmla="val 5861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00808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 algn="l"/>
            <a:r>
              <a:rPr sz="1800" b="0" dirty="0">
                <a:latin typeface="Calibri" panose="020F0502020204030204" pitchFamily="34" charset="0"/>
                <a:sym typeface="+mn-ea"/>
              </a:rPr>
              <a:t>https://cn.vuejs.org/v2/guide/installation.html。</a:t>
            </a:r>
            <a:endParaRPr sz="1800" b="0" dirty="0">
              <a:latin typeface="Calibri" panose="020F0502020204030204" pitchFamily="34" charset="0"/>
              <a:sym typeface="+mn-ea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830580" y="2955290"/>
            <a:ext cx="7788275" cy="380602"/>
          </a:xfrm>
          <a:prstGeom prst="roundRect">
            <a:avLst>
              <a:gd name="adj" fmla="val 5861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00808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 algn="l"/>
            <a:r>
              <a:rPr sz="1800" b="0" dirty="0">
                <a:latin typeface="Calibri" panose="020F0502020204030204" pitchFamily="34" charset="0"/>
                <a:sym typeface="+mn-ea"/>
              </a:rPr>
              <a:t>&lt;script src="文件路径/Vue.js"&gt;&lt;/script&gt;</a:t>
            </a:r>
            <a:endParaRPr sz="1800" b="0" dirty="0">
              <a:latin typeface="Calibri" panose="020F0502020204030204" pitchFamily="34" charset="0"/>
              <a:sym typeface="+mn-ea"/>
            </a:endParaRPr>
          </a:p>
        </p:txBody>
      </p:sp>
      <p:sp>
        <p:nvSpPr>
          <p:cNvPr id="4" name="AutoShape 3"/>
          <p:cNvSpPr/>
          <p:nvPr/>
        </p:nvSpPr>
        <p:spPr>
          <a:xfrm>
            <a:off x="830580" y="4263390"/>
            <a:ext cx="7788275" cy="380602"/>
          </a:xfrm>
          <a:prstGeom prst="roundRect">
            <a:avLst>
              <a:gd name="adj" fmla="val 5861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00808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 algn="l"/>
            <a:r>
              <a:rPr sz="1800" b="0" dirty="0">
                <a:latin typeface="Calibri" panose="020F0502020204030204" pitchFamily="34" charset="0"/>
                <a:sym typeface="+mn-ea"/>
              </a:rPr>
              <a:t>&lt;script src="https://cdn.jsdelivr.net/npm/vue@2.5.13/dist/Vue.js"&gt;&lt;/script&gt;</a:t>
            </a:r>
            <a:endParaRPr sz="1800" b="0" dirty="0">
              <a:latin typeface="Calibri" panose="020F0502020204030204" pitchFamily="34" charset="0"/>
              <a:sym typeface="+mn-ea"/>
            </a:endParaRPr>
          </a:p>
        </p:txBody>
      </p:sp>
      <p:sp>
        <p:nvSpPr>
          <p:cNvPr id="7" name="AutoShape 21"/>
          <p:cNvSpPr>
            <a:spLocks noChangeArrowheads="1"/>
          </p:cNvSpPr>
          <p:nvPr/>
        </p:nvSpPr>
        <p:spPr bwMode="auto">
          <a:xfrm>
            <a:off x="2118995" y="5256530"/>
            <a:ext cx="6177915" cy="563245"/>
          </a:xfrm>
          <a:prstGeom prst="flowChartAlternateProcess">
            <a:avLst/>
          </a:prstGeom>
          <a:gradFill rotWithShape="1">
            <a:gsLst>
              <a:gs pos="0">
                <a:srgbClr val="CC99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chemeClr val="tx1"/>
            </a:solidFill>
            <a:miter lim="800000"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lt"/>
              </a:rPr>
              <a:t>这样就可直接使用 Vue.js 库了</a:t>
            </a: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7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7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2" grpId="0" uiExpand="1" build="p"/>
      <p:bldP spid="2" grpId="0" bldLvl="0" animBg="1"/>
      <p:bldP spid="3" grpId="0" bldLvl="0" animBg="1"/>
      <p:bldP spid="4" grpId="0" bldLvl="0" animBg="1"/>
      <p:bldP spid="7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/>
          </p:cNvSpPr>
          <p:nvPr>
            <p:ph type="title"/>
          </p:nvPr>
        </p:nvSpPr>
        <p:spPr>
          <a:xfrm>
            <a:off x="3643313" y="314960"/>
            <a:ext cx="5043487" cy="654050"/>
          </a:xfrm>
        </p:spPr>
        <p:txBody>
          <a:bodyPr vert="horz" wrap="square" lIns="91440" tIns="45720" rIns="91440" bIns="45720" anchor="ctr"/>
          <a:lstStyle/>
          <a:p>
            <a:r>
              <a:rPr dirty="0">
                <a:sym typeface="+mn-ea"/>
              </a:rPr>
              <a:t>npm 安装</a:t>
            </a:r>
            <a:endParaRPr dirty="0">
              <a:sym typeface="+mn-ea"/>
            </a:endParaRPr>
          </a:p>
        </p:txBody>
      </p:sp>
      <p:sp>
        <p:nvSpPr>
          <p:cNvPr id="7172" name="Rectangle 3"/>
          <p:cNvSpPr>
            <a:spLocks noGrp="1"/>
          </p:cNvSpPr>
          <p:nvPr>
            <p:ph idx="1"/>
          </p:nvPr>
        </p:nvSpPr>
        <p:spPr>
          <a:xfrm>
            <a:off x="492760" y="1261110"/>
            <a:ext cx="8381365" cy="8481060"/>
          </a:xfrm>
        </p:spPr>
        <p:txBody>
          <a:bodyPr vert="horz" wrap="square" lIns="91440" tIns="45720" rIns="91440" bIns="45720" anchor="t"/>
          <a:lstStyle/>
          <a:p>
            <a:pPr marL="342900" indent="-34290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r>
              <a:rPr lang="en-US" sz="2800" dirty="0" err="1" smtClean="0">
                <a:latin typeface="Calibri" panose="020F0502020204030204" pitchFamily="34" charset="0"/>
                <a:sym typeface="+mn-ea"/>
              </a:rPr>
              <a:t>Npm</a:t>
            </a:r>
            <a:r>
              <a:rPr lang="zh-CN" altLang="en-US" sz="2800" dirty="0" smtClean="0">
                <a:latin typeface="Calibri" panose="020F0502020204030204" pitchFamily="34" charset="0"/>
                <a:sym typeface="+mn-ea"/>
              </a:rPr>
              <a:t>安装方式如下：</a:t>
            </a:r>
            <a:endParaRPr lang="en-US" sz="2800" dirty="0" smtClean="0">
              <a:latin typeface="Calibri" panose="020F0502020204030204" pitchFamily="34" charset="0"/>
              <a:sym typeface="+mn-ea"/>
            </a:endParaRPr>
          </a:p>
          <a:p>
            <a:pPr lvl="1" indent="-342900">
              <a:lnSpc>
                <a:spcPct val="125000"/>
              </a:lnSpc>
              <a:spcBef>
                <a:spcPts val="0"/>
              </a:spcBef>
            </a:pPr>
            <a:r>
              <a:rPr sz="2400" dirty="0" smtClean="0">
                <a:latin typeface="Calibri" panose="020F0502020204030204" pitchFamily="34" charset="0"/>
                <a:sym typeface="+mn-ea"/>
              </a:rPr>
              <a:t>用 </a:t>
            </a:r>
            <a:r>
              <a:rPr sz="2400" dirty="0">
                <a:latin typeface="Calibri" panose="020F0502020204030204" pitchFamily="34" charset="0"/>
                <a:sym typeface="+mn-ea"/>
              </a:rPr>
              <a:t>Vue.js 构建大型应用时推荐使用 </a:t>
            </a:r>
            <a:r>
              <a:rPr sz="2400" dirty="0" err="1">
                <a:latin typeface="Calibri" panose="020F0502020204030204" pitchFamily="34" charset="0"/>
                <a:sym typeface="+mn-ea"/>
              </a:rPr>
              <a:t>npm</a:t>
            </a:r>
            <a:r>
              <a:rPr sz="2400" dirty="0">
                <a:latin typeface="Calibri" panose="020F0502020204030204" pitchFamily="34" charset="0"/>
                <a:sym typeface="+mn-ea"/>
              </a:rPr>
              <a:t> </a:t>
            </a:r>
            <a:r>
              <a:rPr sz="2400" dirty="0" err="1" smtClean="0">
                <a:latin typeface="Calibri" panose="020F0502020204030204" pitchFamily="34" charset="0"/>
                <a:sym typeface="+mn-ea"/>
              </a:rPr>
              <a:t>安装</a:t>
            </a:r>
            <a:endParaRPr sz="2400" dirty="0">
              <a:latin typeface="Calibri" panose="020F0502020204030204" pitchFamily="34" charset="0"/>
              <a:sym typeface="+mn-ea"/>
            </a:endParaRPr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55650" y="2348865"/>
            <a:ext cx="7497445" cy="1741170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noAutofit/>
          </a:bodyPr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#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使用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npm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命令创建项目</a:t>
            </a:r>
            <a:endParaRPr lang="zh-CN" altLang="en-US" sz="1600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npm install -g @vue/cli</a:t>
            </a:r>
            <a:endParaRPr lang="en-US" altLang="zh-CN" sz="1800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#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使用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yarn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命令创建项目</a:t>
            </a:r>
            <a:endParaRPr lang="zh-CN" altLang="en-US" sz="1600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zh-CN" altLang="zh-CN" sz="18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yarn global add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@vue/cli</a:t>
            </a:r>
            <a:endParaRPr lang="zh-CN" altLang="zh-CN" sz="1800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lvl="1">
              <a:lnSpc>
                <a:spcPct val="150000"/>
              </a:lnSpc>
            </a:pPr>
            <a:endParaRPr lang="zh-CN" altLang="zh-CN" sz="1800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9840" y="4364990"/>
            <a:ext cx="6692900" cy="11874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  <p:bldLst>
      <p:bldP spid="7172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/>
          </p:cNvSpPr>
          <p:nvPr>
            <p:ph type="title"/>
          </p:nvPr>
        </p:nvSpPr>
        <p:spPr>
          <a:xfrm>
            <a:off x="3643313" y="394335"/>
            <a:ext cx="5043487" cy="654050"/>
          </a:xfrm>
        </p:spPr>
        <p:txBody>
          <a:bodyPr vert="horz" wrap="square" lIns="91440" tIns="45720" rIns="91440" bIns="45720" anchor="ctr"/>
          <a:lstStyle/>
          <a:p>
            <a:r>
              <a:rPr dirty="0">
                <a:sym typeface="+mn-ea"/>
              </a:rPr>
              <a:t>安装过程</a:t>
            </a:r>
            <a:endParaRPr dirty="0">
              <a:sym typeface="+mn-ea"/>
            </a:endParaRPr>
          </a:p>
        </p:txBody>
      </p:sp>
      <p:sp>
        <p:nvSpPr>
          <p:cNvPr id="7172" name="Rectangle 3"/>
          <p:cNvSpPr>
            <a:spLocks noGrp="1"/>
          </p:cNvSpPr>
          <p:nvPr>
            <p:ph idx="1"/>
          </p:nvPr>
        </p:nvSpPr>
        <p:spPr>
          <a:xfrm>
            <a:off x="480060" y="1230630"/>
            <a:ext cx="8381365" cy="8481060"/>
          </a:xfrm>
        </p:spPr>
        <p:txBody>
          <a:bodyPr vert="horz" wrap="square" lIns="91440" tIns="45720" rIns="91440" bIns="45720" anchor="t"/>
          <a:lstStyle/>
          <a:p>
            <a:pPr marL="342900" indent="-34290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r>
              <a:rPr lang="zh-CN" altLang="en-US" sz="2800" dirty="0" smtClean="0">
                <a:latin typeface="Calibri" panose="020F0502020204030204" pitchFamily="34" charset="0"/>
                <a:sym typeface="+mn-ea"/>
              </a:rPr>
              <a:t>安装步骤：</a:t>
            </a:r>
            <a:endParaRPr lang="en-US" altLang="zh-CN" sz="2800" dirty="0" smtClean="0">
              <a:latin typeface="Calibri" panose="020F0502020204030204" pitchFamily="34" charset="0"/>
              <a:sym typeface="+mn-ea"/>
            </a:endParaRPr>
          </a:p>
          <a:p>
            <a:pPr lvl="1" indent="-342900">
              <a:lnSpc>
                <a:spcPct val="125000"/>
              </a:lnSpc>
              <a:spcBef>
                <a:spcPts val="0"/>
              </a:spcBef>
            </a:pPr>
            <a:r>
              <a:rPr sz="2400" dirty="0" err="1" smtClean="0">
                <a:latin typeface="Calibri" panose="020F0502020204030204" pitchFamily="34" charset="0"/>
                <a:sym typeface="+mn-ea"/>
              </a:rPr>
              <a:t>查看</a:t>
            </a:r>
            <a:r>
              <a:rPr sz="2400" dirty="0" smtClean="0">
                <a:latin typeface="Calibri" panose="020F0502020204030204" pitchFamily="34" charset="0"/>
                <a:sym typeface="+mn-ea"/>
              </a:rPr>
              <a:t> </a:t>
            </a:r>
            <a:r>
              <a:rPr sz="2400" dirty="0">
                <a:latin typeface="Calibri" panose="020F0502020204030204" pitchFamily="34" charset="0"/>
                <a:sym typeface="+mn-ea"/>
              </a:rPr>
              <a:t>npm 的版本号并安装 Vue </a:t>
            </a:r>
            <a:endParaRPr sz="2400" dirty="0">
              <a:latin typeface="Calibri" panose="020F0502020204030204" pitchFamily="34" charset="0"/>
              <a:sym typeface="+mn-ea"/>
            </a:endParaRPr>
          </a:p>
          <a:p>
            <a:pPr lvl="1" indent="-342900">
              <a:lnSpc>
                <a:spcPct val="125000"/>
              </a:lnSpc>
              <a:spcBef>
                <a:spcPts val="0"/>
              </a:spcBef>
            </a:pPr>
            <a:endParaRPr sz="2400" dirty="0">
              <a:latin typeface="Calibri" panose="020F0502020204030204" pitchFamily="34" charset="0"/>
              <a:sym typeface="+mn-ea"/>
            </a:endParaRPr>
          </a:p>
          <a:p>
            <a:pPr marL="400050" lvl="1" indent="0">
              <a:lnSpc>
                <a:spcPct val="125000"/>
              </a:lnSpc>
              <a:spcBef>
                <a:spcPts val="0"/>
              </a:spcBef>
              <a:buNone/>
            </a:pPr>
            <a:endParaRPr sz="2400" dirty="0">
              <a:latin typeface="Calibri" panose="020F0502020204030204" pitchFamily="34" charset="0"/>
              <a:sym typeface="+mn-ea"/>
            </a:endParaRPr>
          </a:p>
          <a:p>
            <a:pPr lvl="1" indent="-342900">
              <a:lnSpc>
                <a:spcPct val="125000"/>
              </a:lnSpc>
              <a:spcBef>
                <a:spcPts val="0"/>
              </a:spcBef>
            </a:pPr>
            <a:r>
              <a:rPr sz="2400" dirty="0">
                <a:latin typeface="Calibri" panose="020F0502020204030204" pitchFamily="34" charset="0"/>
                <a:sym typeface="+mn-ea"/>
              </a:rPr>
              <a:t>安装脚手架 vue-cli</a:t>
            </a:r>
            <a:endParaRPr sz="2400" dirty="0">
              <a:latin typeface="Calibri" panose="020F0502020204030204" pitchFamily="34" charset="0"/>
              <a:sym typeface="+mn-ea"/>
            </a:endParaRPr>
          </a:p>
          <a:p>
            <a:pPr lvl="1" indent="-342900">
              <a:lnSpc>
                <a:spcPct val="125000"/>
              </a:lnSpc>
              <a:spcBef>
                <a:spcPts val="0"/>
              </a:spcBef>
            </a:pPr>
            <a:endParaRPr sz="2400" dirty="0">
              <a:latin typeface="Calibri" panose="020F0502020204030204" pitchFamily="34" charset="0"/>
              <a:sym typeface="+mn-ea"/>
            </a:endParaRPr>
          </a:p>
          <a:p>
            <a:pPr lvl="1" indent="-342900">
              <a:lnSpc>
                <a:spcPct val="125000"/>
              </a:lnSpc>
              <a:spcBef>
                <a:spcPts val="0"/>
              </a:spcBef>
            </a:pPr>
            <a:endParaRPr sz="2400" dirty="0">
              <a:latin typeface="Calibri" panose="020F0502020204030204" pitchFamily="34" charset="0"/>
              <a:sym typeface="+mn-ea"/>
            </a:endParaRPr>
          </a:p>
          <a:p>
            <a:pPr lvl="1" indent="-342900">
              <a:lnSpc>
                <a:spcPct val="125000"/>
              </a:lnSpc>
              <a:spcBef>
                <a:spcPts val="0"/>
              </a:spcBef>
            </a:pPr>
            <a:r>
              <a:rPr sz="2400" dirty="0">
                <a:latin typeface="Calibri" panose="020F0502020204030204" pitchFamily="34" charset="0"/>
                <a:sym typeface="+mn-ea"/>
              </a:rPr>
              <a:t>创建一个基于 webpack 模板的新项目</a:t>
            </a:r>
            <a:endParaRPr sz="2400" dirty="0">
              <a:latin typeface="Calibri" panose="020F0502020204030204" pitchFamily="34" charset="0"/>
              <a:sym typeface="+mn-ea"/>
            </a:endParaRPr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1595" y="2265680"/>
            <a:ext cx="4113530" cy="62166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940" y="3776980"/>
            <a:ext cx="7364730" cy="462915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650" y="5085080"/>
            <a:ext cx="7916545" cy="14325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  <p:bldLst>
      <p:bldP spid="7172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/>
          </p:cNvSpPr>
          <p:nvPr>
            <p:ph type="title"/>
          </p:nvPr>
        </p:nvSpPr>
        <p:spPr>
          <a:xfrm>
            <a:off x="3643313" y="394335"/>
            <a:ext cx="5043487" cy="654050"/>
          </a:xfrm>
        </p:spPr>
        <p:txBody>
          <a:bodyPr vert="horz" wrap="square" lIns="91440" tIns="45720" rIns="91440" bIns="45720" anchor="ctr"/>
          <a:lstStyle/>
          <a:p>
            <a:r>
              <a:rPr dirty="0">
                <a:sym typeface="+mn-ea"/>
              </a:rPr>
              <a:t>安装过程</a:t>
            </a:r>
            <a:endParaRPr dirty="0">
              <a:sym typeface="+mn-ea"/>
            </a:endParaRPr>
          </a:p>
        </p:txBody>
      </p:sp>
      <p:sp>
        <p:nvSpPr>
          <p:cNvPr id="7172" name="Rectangle 3"/>
          <p:cNvSpPr>
            <a:spLocks noGrp="1"/>
          </p:cNvSpPr>
          <p:nvPr>
            <p:ph idx="1"/>
          </p:nvPr>
        </p:nvSpPr>
        <p:spPr>
          <a:xfrm>
            <a:off x="480060" y="1230630"/>
            <a:ext cx="8381365" cy="8481060"/>
          </a:xfrm>
        </p:spPr>
        <p:txBody>
          <a:bodyPr vert="horz" wrap="square" lIns="91440" tIns="45720" rIns="91440" bIns="45720" anchor="t"/>
          <a:lstStyle/>
          <a:p>
            <a:pPr marL="342900" indent="-34290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r>
              <a:rPr lang="zh-CN" altLang="en-US" sz="2800" dirty="0" smtClean="0">
                <a:latin typeface="Calibri" panose="020F0502020204030204" pitchFamily="34" charset="0"/>
                <a:sym typeface="+mn-ea"/>
              </a:rPr>
              <a:t>安装步骤：</a:t>
            </a:r>
            <a:endParaRPr lang="en-US" altLang="zh-CN" sz="2800" dirty="0" smtClean="0">
              <a:latin typeface="Calibri" panose="020F0502020204030204" pitchFamily="34" charset="0"/>
              <a:sym typeface="+mn-ea"/>
            </a:endParaRPr>
          </a:p>
          <a:p>
            <a:pPr lvl="1" indent="-342900">
              <a:lnSpc>
                <a:spcPct val="125000"/>
              </a:lnSpc>
              <a:spcBef>
                <a:spcPts val="0"/>
              </a:spcBef>
            </a:pPr>
            <a:r>
              <a:rPr sz="2400" dirty="0">
                <a:latin typeface="Calibri" panose="020F0502020204030204" pitchFamily="34" charset="0"/>
                <a:sym typeface="+mn-ea"/>
              </a:rPr>
              <a:t>使用 cd 命令进入项目 my-project 中，并安装项目依赖项</a:t>
            </a:r>
            <a:endParaRPr sz="2400" dirty="0">
              <a:latin typeface="Calibri" panose="020F0502020204030204" pitchFamily="34" charset="0"/>
              <a:sym typeface="+mn-ea"/>
            </a:endParaRPr>
          </a:p>
          <a:p>
            <a:pPr lvl="1" indent="-342900">
              <a:lnSpc>
                <a:spcPct val="125000"/>
              </a:lnSpc>
              <a:spcBef>
                <a:spcPts val="0"/>
              </a:spcBef>
            </a:pPr>
            <a:endParaRPr sz="2400" dirty="0">
              <a:latin typeface="Calibri" panose="020F0502020204030204" pitchFamily="34" charset="0"/>
              <a:sym typeface="+mn-ea"/>
            </a:endParaRPr>
          </a:p>
          <a:p>
            <a:pPr lvl="1" indent="-342900">
              <a:lnSpc>
                <a:spcPct val="125000"/>
              </a:lnSpc>
              <a:spcBef>
                <a:spcPts val="0"/>
              </a:spcBef>
            </a:pPr>
            <a:endParaRPr sz="2400" dirty="0">
              <a:latin typeface="Calibri" panose="020F0502020204030204" pitchFamily="34" charset="0"/>
              <a:sym typeface="+mn-ea"/>
            </a:endParaRPr>
          </a:p>
          <a:p>
            <a:pPr lvl="1" indent="-342900">
              <a:lnSpc>
                <a:spcPct val="125000"/>
              </a:lnSpc>
              <a:spcBef>
                <a:spcPts val="0"/>
              </a:spcBef>
            </a:pPr>
            <a:endParaRPr sz="2400" dirty="0">
              <a:latin typeface="Calibri" panose="020F0502020204030204" pitchFamily="34" charset="0"/>
              <a:sym typeface="+mn-ea"/>
            </a:endParaRPr>
          </a:p>
          <a:p>
            <a:pPr lvl="1" indent="-342900">
              <a:lnSpc>
                <a:spcPct val="125000"/>
              </a:lnSpc>
              <a:spcBef>
                <a:spcPts val="0"/>
              </a:spcBef>
            </a:pPr>
            <a:endParaRPr sz="2400" dirty="0">
              <a:latin typeface="Calibri" panose="020F0502020204030204" pitchFamily="34" charset="0"/>
              <a:sym typeface="+mn-ea"/>
            </a:endParaRPr>
          </a:p>
          <a:p>
            <a:pPr lvl="1" indent="-342900">
              <a:lnSpc>
                <a:spcPct val="125000"/>
              </a:lnSpc>
              <a:spcBef>
                <a:spcPts val="0"/>
              </a:spcBef>
            </a:pPr>
            <a:r>
              <a:rPr sz="2400" dirty="0">
                <a:latin typeface="Calibri" panose="020F0502020204030204" pitchFamily="34" charset="0"/>
                <a:sym typeface="+mn-ea"/>
              </a:rPr>
              <a:t>使用 cnpm run dev 运行项目</a:t>
            </a:r>
            <a:endParaRPr sz="2400" dirty="0">
              <a:latin typeface="Calibri" panose="020F0502020204030204" pitchFamily="34" charset="0"/>
              <a:sym typeface="+mn-ea"/>
            </a:endParaRPr>
          </a:p>
          <a:p>
            <a:pPr lvl="1" indent="-342900">
              <a:lnSpc>
                <a:spcPct val="125000"/>
              </a:lnSpc>
              <a:spcBef>
                <a:spcPts val="0"/>
              </a:spcBef>
            </a:pPr>
            <a:endParaRPr sz="2400" dirty="0">
              <a:latin typeface="Calibri" panose="020F0502020204030204" pitchFamily="34" charset="0"/>
              <a:sym typeface="+mn-ea"/>
            </a:endParaRPr>
          </a:p>
          <a:p>
            <a:pPr lvl="1" indent="-342900">
              <a:lnSpc>
                <a:spcPct val="125000"/>
              </a:lnSpc>
              <a:spcBef>
                <a:spcPts val="0"/>
              </a:spcBef>
            </a:pPr>
            <a:endParaRPr sz="2400" dirty="0">
              <a:latin typeface="Calibri" panose="020F0502020204030204" pitchFamily="34" charset="0"/>
              <a:sym typeface="+mn-ea"/>
            </a:endParaRPr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1595" y="2420620"/>
            <a:ext cx="4920615" cy="1139825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595" y="3644900"/>
            <a:ext cx="5637530" cy="43370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435" y="4220845"/>
            <a:ext cx="3544570" cy="23431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  <p:bldLst>
      <p:bldP spid="7172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/>
          </p:cNvSpPr>
          <p:nvPr>
            <p:ph type="title"/>
          </p:nvPr>
        </p:nvSpPr>
        <p:spPr>
          <a:xfrm>
            <a:off x="3643313" y="394335"/>
            <a:ext cx="5043487" cy="654050"/>
          </a:xfrm>
        </p:spPr>
        <p:txBody>
          <a:bodyPr vert="horz" wrap="square" lIns="91440" tIns="45720" rIns="91440" bIns="45720" anchor="ctr"/>
          <a:lstStyle/>
          <a:p>
            <a:r>
              <a:rPr dirty="0">
                <a:sym typeface="+mn-ea"/>
              </a:rPr>
              <a:t>安装过程</a:t>
            </a:r>
            <a:endParaRPr dirty="0">
              <a:sym typeface="+mn-ea"/>
            </a:endParaRPr>
          </a:p>
        </p:txBody>
      </p:sp>
      <p:sp>
        <p:nvSpPr>
          <p:cNvPr id="7172" name="Rectangle 3"/>
          <p:cNvSpPr>
            <a:spLocks noGrp="1"/>
          </p:cNvSpPr>
          <p:nvPr>
            <p:ph idx="1"/>
          </p:nvPr>
        </p:nvSpPr>
        <p:spPr>
          <a:xfrm>
            <a:off x="480060" y="1230630"/>
            <a:ext cx="8381365" cy="8481060"/>
          </a:xfrm>
        </p:spPr>
        <p:txBody>
          <a:bodyPr vert="horz" wrap="square" lIns="91440" tIns="45720" rIns="91440" bIns="45720" anchor="t"/>
          <a:lstStyle/>
          <a:p>
            <a:pPr marL="342900" indent="-34290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r>
              <a:rPr lang="zh-CN" altLang="en-US" sz="2800" dirty="0" smtClean="0">
                <a:latin typeface="Calibri" panose="020F0502020204030204" pitchFamily="34" charset="0"/>
                <a:sym typeface="+mn-ea"/>
              </a:rPr>
              <a:t>安装步骤：</a:t>
            </a:r>
            <a:endParaRPr sz="2400" dirty="0">
              <a:latin typeface="Calibri" panose="020F0502020204030204" pitchFamily="34" charset="0"/>
              <a:sym typeface="+mn-ea"/>
            </a:endParaRPr>
          </a:p>
          <a:p>
            <a:pPr lvl="1" indent="-342900">
              <a:lnSpc>
                <a:spcPct val="125000"/>
              </a:lnSpc>
              <a:spcBef>
                <a:spcPts val="0"/>
              </a:spcBef>
            </a:pPr>
            <a:r>
              <a:rPr sz="2400" dirty="0">
                <a:latin typeface="Calibri" panose="020F0502020204030204" pitchFamily="34" charset="0"/>
                <a:sym typeface="+mn-ea"/>
              </a:rPr>
              <a:t>成功执行以上命令后访问 </a:t>
            </a:r>
            <a:r>
              <a:rPr lang="zh-CN" sz="2400" dirty="0">
                <a:latin typeface="Calibri" panose="020F0502020204030204" pitchFamily="34" charset="0"/>
                <a:sym typeface="+mn-ea"/>
              </a:rPr>
              <a:t>：</a:t>
            </a:r>
            <a:endParaRPr dirty="0">
              <a:latin typeface="Calibri" panose="020F0502020204030204" pitchFamily="34" charset="0"/>
              <a:sym typeface="+mn-ea"/>
            </a:endParaRPr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405" y="2426970"/>
            <a:ext cx="6237605" cy="3824605"/>
          </a:xfrm>
          <a:prstGeom prst="rect">
            <a:avLst/>
          </a:prstGeom>
        </p:spPr>
      </p:pic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4932045" y="1844675"/>
            <a:ext cx="3498850" cy="405876"/>
          </a:xfrm>
          <a:prstGeom prst="wedgeRoundRectCallout">
            <a:avLst>
              <a:gd name="adj1" fmla="val -49673"/>
              <a:gd name="adj2" fmla="val -150350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99">
                  <a:gamma/>
                  <a:tint val="0"/>
                  <a:invGamma/>
                </a:srgbClr>
              </a:gs>
            </a:gsLst>
            <a:lin ang="5400000" scaled="1"/>
          </a:gradFill>
          <a:ln w="9525" algn="ctr">
            <a:solidFill>
              <a:srgbClr val="FF6600"/>
            </a:solidFill>
            <a:miter lim="800000"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wrap="square" anchorCtr="1">
            <a:spAutoFit/>
          </a:bodyPr>
          <a:p>
            <a:pPr algn="l"/>
            <a:r>
              <a:rPr sz="1800" b="0" dirty="0">
                <a:latin typeface="Calibri" panose="020F0502020204030204" pitchFamily="34" charset="0"/>
                <a:sym typeface="+mn-ea"/>
              </a:rPr>
              <a:t>http://localhost:8080/</a:t>
            </a:r>
            <a:endParaRPr sz="180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7172" grpId="0" uiExpand="1" build="p"/>
      <p:bldP spid="2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/>
          </p:cNvSpPr>
          <p:nvPr>
            <p:ph type="title"/>
          </p:nvPr>
        </p:nvSpPr>
        <p:spPr>
          <a:xfrm>
            <a:off x="3192145" y="335915"/>
            <a:ext cx="5494655" cy="654050"/>
          </a:xfrm>
        </p:spPr>
        <p:txBody>
          <a:bodyPr vert="horz" wrap="square" lIns="91440" tIns="45720" rIns="91440" bIns="45720" anchor="ctr"/>
          <a:lstStyle/>
          <a:p>
            <a:r>
              <a:rPr dirty="0">
                <a:sym typeface="+mn-ea"/>
              </a:rPr>
              <a:t> Vue 项目目录结</a:t>
            </a:r>
            <a:r>
              <a:rPr lang="zh-CN" dirty="0">
                <a:sym typeface="+mn-ea"/>
              </a:rPr>
              <a:t>钩</a:t>
            </a:r>
            <a:endParaRPr lang="zh-CN" dirty="0">
              <a:sym typeface="+mn-ea"/>
            </a:endParaRPr>
          </a:p>
        </p:txBody>
      </p:sp>
      <p:sp>
        <p:nvSpPr>
          <p:cNvPr id="7172" name="Rectangle 3"/>
          <p:cNvSpPr>
            <a:spLocks noGrp="1"/>
          </p:cNvSpPr>
          <p:nvPr>
            <p:ph idx="1"/>
          </p:nvPr>
        </p:nvSpPr>
        <p:spPr>
          <a:xfrm>
            <a:off x="194945" y="1088390"/>
            <a:ext cx="8754745" cy="8481060"/>
          </a:xfrm>
        </p:spPr>
        <p:txBody>
          <a:bodyPr vert="horz" wrap="square" lIns="91440" tIns="45720" rIns="91440" bIns="45720" anchor="t"/>
          <a:lstStyle/>
          <a:p>
            <a:pPr marL="342900" indent="-34290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endParaRPr dirty="0">
              <a:latin typeface="Calibri" panose="020F0502020204030204" pitchFamily="34" charset="0"/>
              <a:sym typeface="+mn-ea"/>
            </a:endParaRPr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750" y="1196340"/>
            <a:ext cx="1918970" cy="509333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586990" y="1220470"/>
            <a:ext cx="6233160" cy="4808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 err="1">
                <a:solidFill>
                  <a:srgbClr val="1369B2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node_modules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：存放项目的各种依赖和安装的插件。</a:t>
            </a:r>
            <a:endParaRPr lang="zh-CN" altLang="en-US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1369B2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public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：存放不可编译的静态资源文件</a:t>
            </a:r>
            <a:endParaRPr lang="zh-CN" altLang="en-US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 err="1">
                <a:solidFill>
                  <a:srgbClr val="1369B2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src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：源代码目录，保存开发人员编写的项目源代码。</a:t>
            </a:r>
            <a:endParaRPr lang="zh-CN" altLang="en-US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 err="1">
                <a:solidFill>
                  <a:srgbClr val="1369B2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src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\assets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：存放可编译的静态资源文件，例如图片、样式文件等。该目录下的文件需要使用相对路径访问。</a:t>
            </a:r>
            <a:endParaRPr lang="zh-CN" altLang="en-US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 err="1">
                <a:solidFill>
                  <a:srgbClr val="1369B2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src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\components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：存放单文件组件，即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.</a:t>
            </a:r>
            <a:r>
              <a:rPr lang="en-US" altLang="zh-CN" dirty="0" err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vue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文件。</a:t>
            </a:r>
            <a:endParaRPr lang="zh-CN" altLang="en-US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 err="1">
                <a:solidFill>
                  <a:srgbClr val="1369B2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src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\components\</a:t>
            </a:r>
            <a:r>
              <a:rPr lang="en-US" altLang="zh-CN" dirty="0" err="1">
                <a:solidFill>
                  <a:srgbClr val="1369B2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HelloWorld.vue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：一个名称为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HelloWorld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的单文件组件。</a:t>
            </a:r>
            <a:endParaRPr lang="zh-CN" altLang="en-US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 err="1">
                <a:solidFill>
                  <a:srgbClr val="1369B2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src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\</a:t>
            </a:r>
            <a:r>
              <a:rPr lang="en-US" altLang="zh-CN" dirty="0" err="1">
                <a:solidFill>
                  <a:srgbClr val="1369B2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App.vue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：项目的根组件。</a:t>
            </a:r>
            <a:endParaRPr lang="zh-CN" altLang="en-US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/>
          </p:cNvSpPr>
          <p:nvPr>
            <p:ph type="title"/>
          </p:nvPr>
        </p:nvSpPr>
        <p:spPr>
          <a:xfrm>
            <a:off x="3192145" y="335915"/>
            <a:ext cx="5494655" cy="654050"/>
          </a:xfrm>
        </p:spPr>
        <p:txBody>
          <a:bodyPr vert="horz" wrap="square" lIns="91440" tIns="45720" rIns="91440" bIns="45720" anchor="ctr"/>
          <a:lstStyle/>
          <a:p>
            <a:r>
              <a:rPr dirty="0">
                <a:sym typeface="+mn-ea"/>
              </a:rPr>
              <a:t> Vue 项目目录结</a:t>
            </a:r>
            <a:r>
              <a:rPr lang="zh-CN" dirty="0">
                <a:sym typeface="+mn-ea"/>
              </a:rPr>
              <a:t>钩</a:t>
            </a:r>
            <a:endParaRPr lang="zh-CN" dirty="0">
              <a:sym typeface="+mn-ea"/>
            </a:endParaRPr>
          </a:p>
        </p:txBody>
      </p:sp>
      <p:sp>
        <p:nvSpPr>
          <p:cNvPr id="7172" name="Rectangle 3"/>
          <p:cNvSpPr>
            <a:spLocks noGrp="1"/>
          </p:cNvSpPr>
          <p:nvPr>
            <p:ph idx="1"/>
          </p:nvPr>
        </p:nvSpPr>
        <p:spPr>
          <a:xfrm>
            <a:off x="194945" y="1088390"/>
            <a:ext cx="8754745" cy="8481060"/>
          </a:xfrm>
        </p:spPr>
        <p:txBody>
          <a:bodyPr vert="horz" wrap="square" lIns="91440" tIns="45720" rIns="91440" bIns="45720" anchor="t"/>
          <a:lstStyle/>
          <a:p>
            <a:pPr marL="342900" indent="-34290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endParaRPr dirty="0">
              <a:latin typeface="Calibri" panose="020F0502020204030204" pitchFamily="34" charset="0"/>
              <a:sym typeface="+mn-ea"/>
            </a:endParaRPr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750" y="1196340"/>
            <a:ext cx="1918970" cy="509333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586990" y="1220470"/>
            <a:ext cx="6233160" cy="4808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 err="1">
                <a:solidFill>
                  <a:srgbClr val="1369B2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src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\main.js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：项目的入口文件，用于创建</a:t>
            </a:r>
            <a:r>
              <a:rPr lang="en-US" altLang="zh-CN" dirty="0" err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Vue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应用实例。</a:t>
            </a:r>
            <a:endParaRPr lang="zh-CN" altLang="en-US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1369B2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.</a:t>
            </a:r>
            <a:r>
              <a:rPr lang="en-US" altLang="zh-CN" dirty="0" err="1">
                <a:solidFill>
                  <a:srgbClr val="1369B2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gitignore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：向</a:t>
            </a:r>
            <a:r>
              <a:rPr lang="en-US" altLang="zh-CN" dirty="0" err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Git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仓库上传代码时需要忽略的文件列表。</a:t>
            </a:r>
            <a:endParaRPr lang="zh-CN" altLang="en-US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1369B2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index.html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：默认的主渲染页面文件，同时也是页面的入口文件。</a:t>
            </a:r>
            <a:endParaRPr lang="zh-CN" altLang="en-US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 err="1">
                <a:solidFill>
                  <a:srgbClr val="1369B2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package.json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：包配置文件。</a:t>
            </a:r>
            <a:endParaRPr lang="zh-CN" altLang="en-US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1369B2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README.md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：项目使用说明文件。</a:t>
            </a:r>
            <a:endParaRPr lang="zh-CN" altLang="en-US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1369B2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vue.config.js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：存放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vue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的相关配置。</a:t>
            </a:r>
            <a:endParaRPr lang="zh-CN" altLang="en-US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/>
          </p:cNvSpPr>
          <p:nvPr>
            <p:ph type="title"/>
          </p:nvPr>
        </p:nvSpPr>
        <p:spPr>
          <a:xfrm>
            <a:off x="3192145" y="312420"/>
            <a:ext cx="5494655" cy="654050"/>
          </a:xfrm>
        </p:spPr>
        <p:txBody>
          <a:bodyPr vert="horz" wrap="square" lIns="91440" tIns="45720" rIns="91440" bIns="45720" anchor="ctr"/>
          <a:lstStyle/>
          <a:p>
            <a:r>
              <a:rPr lang="zh-CN" dirty="0">
                <a:sym typeface="+mn-ea"/>
              </a:rPr>
              <a:t> 实例化 Vue 对象、数据和方法</a:t>
            </a:r>
            <a:endParaRPr lang="zh-CN" dirty="0">
              <a:sym typeface="+mn-ea"/>
            </a:endParaRPr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73059" name="Rectangle 3"/>
          <p:cNvSpPr>
            <a:spLocks noGrp="1"/>
          </p:cNvSpPr>
          <p:nvPr/>
        </p:nvSpPr>
        <p:spPr>
          <a:xfrm>
            <a:off x="489585" y="579755"/>
            <a:ext cx="8637270" cy="198183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spcAft>
                <a:spcPct val="10000"/>
              </a:spcAft>
              <a:buNone/>
            </a:pPr>
            <a:endParaRPr sz="2800" dirty="0">
              <a:latin typeface="Calibri" panose="020F0502020204030204" pitchFamily="34" charset="0"/>
              <a:sym typeface="+mn-ea"/>
            </a:endParaRPr>
          </a:p>
          <a:p>
            <a:pPr>
              <a:spcAft>
                <a:spcPct val="10000"/>
              </a:spcAft>
            </a:pPr>
            <a:r>
              <a:rPr sz="2800" dirty="0">
                <a:cs typeface="+mn-lt"/>
                <a:sym typeface="+mn-ea"/>
              </a:rPr>
              <a:t> </a:t>
            </a:r>
            <a:r>
              <a:rPr sz="2800" b="0" dirty="0">
                <a:cs typeface="+mn-lt"/>
                <a:sym typeface="+mn-ea"/>
              </a:rPr>
              <a:t>实例化 Vue 对象</a:t>
            </a:r>
            <a:endParaRPr sz="2800" dirty="0">
              <a:cs typeface="+mn-lt"/>
              <a:sym typeface="+mn-ea"/>
            </a:endParaRPr>
          </a:p>
          <a:p>
            <a:pPr marL="812800" lvl="1" indent="-276225">
              <a:spcAft>
                <a:spcPct val="10000"/>
              </a:spcAft>
            </a:pPr>
            <a:r>
              <a:rPr b="0" dirty="0">
                <a:cs typeface="+mn-lt"/>
                <a:sym typeface="+mn-ea"/>
              </a:rPr>
              <a:t>通过构造函数 Vue（）创建一个 Vue 的根实例，每一个 new Vue（）都是一个 Vue 构造函数实例</a:t>
            </a:r>
            <a:endParaRPr dirty="0">
              <a:cs typeface="+mn-lt"/>
              <a:sym typeface="+mn-ea"/>
            </a:endParaRPr>
          </a:p>
          <a:p>
            <a:pPr marL="536575" lvl="1" indent="0">
              <a:spcAft>
                <a:spcPct val="10000"/>
              </a:spcAft>
              <a:buNone/>
            </a:pPr>
            <a:endParaRPr lang="zh-CN" altLang="en-US" dirty="0">
              <a:latin typeface="Calibri" panose="020F0502020204030204" pitchFamily="34" charset="0"/>
              <a:sym typeface="+mn-ea"/>
            </a:endParaRPr>
          </a:p>
          <a:p>
            <a:pPr marL="536575" lvl="1" indent="0">
              <a:spcAft>
                <a:spcPct val="10000"/>
              </a:spcAft>
              <a:buNone/>
            </a:pPr>
            <a:endParaRPr lang="zh-CN" altLang="en-US" dirty="0"/>
          </a:p>
          <a:p>
            <a:pPr marL="812800" lvl="1" indent="-276225">
              <a:spcAft>
                <a:spcPct val="10000"/>
              </a:spcAft>
            </a:pPr>
            <a:endParaRPr lang="en-US" altLang="zh-CN" dirty="0"/>
          </a:p>
        </p:txBody>
      </p:sp>
      <p:sp>
        <p:nvSpPr>
          <p:cNvPr id="4" name="AutoShape 3"/>
          <p:cNvSpPr/>
          <p:nvPr/>
        </p:nvSpPr>
        <p:spPr>
          <a:xfrm>
            <a:off x="1871345" y="2837815"/>
            <a:ext cx="5400675" cy="954014"/>
          </a:xfrm>
          <a:prstGeom prst="roundRect">
            <a:avLst>
              <a:gd name="adj" fmla="val 5861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00808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var vm = new Vue({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//（选项）这里编写我的代码。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}) 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Rectangle 3"/>
          <p:cNvSpPr>
            <a:spLocks noGrp="1"/>
          </p:cNvSpPr>
          <p:nvPr/>
        </p:nvSpPr>
        <p:spPr>
          <a:xfrm>
            <a:off x="489585" y="3468370"/>
            <a:ext cx="8637270" cy="198183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spcAft>
                <a:spcPct val="10000"/>
              </a:spcAft>
              <a:buNone/>
            </a:pPr>
            <a:endParaRPr sz="2800" dirty="0">
              <a:latin typeface="Calibri" panose="020F0502020204030204" pitchFamily="34" charset="0"/>
              <a:sym typeface="+mn-ea"/>
            </a:endParaRPr>
          </a:p>
          <a:p>
            <a:pPr>
              <a:spcAft>
                <a:spcPct val="10000"/>
              </a:spcAft>
            </a:pPr>
            <a:r>
              <a:rPr sz="2800" b="0" dirty="0" err="1">
                <a:latin typeface="Calibri" panose="020F0502020204030204" pitchFamily="34" charset="0"/>
                <a:sym typeface="+mn-ea"/>
              </a:rPr>
              <a:t>Vue</a:t>
            </a:r>
            <a:r>
              <a:rPr sz="2800" b="0" dirty="0">
                <a:latin typeface="Calibri" panose="020F0502020204030204" pitchFamily="34" charset="0"/>
                <a:sym typeface="+mn-ea"/>
              </a:rPr>
              <a:t> </a:t>
            </a:r>
            <a:r>
              <a:rPr sz="2800" b="0" dirty="0" err="1" smtClean="0">
                <a:latin typeface="Calibri" panose="020F0502020204030204" pitchFamily="34" charset="0"/>
                <a:sym typeface="+mn-ea"/>
              </a:rPr>
              <a:t>构造器要求实例化时需传入选项对象</a:t>
            </a:r>
            <a:endParaRPr sz="2800" dirty="0">
              <a:cs typeface="+mn-lt"/>
              <a:sym typeface="+mn-ea"/>
            </a:endParaRPr>
          </a:p>
          <a:p>
            <a:pPr marL="536575" lvl="1" indent="0">
              <a:spcAft>
                <a:spcPct val="10000"/>
              </a:spcAft>
              <a:buNone/>
            </a:pPr>
            <a:endParaRPr dirty="0" smtClean="0">
              <a:latin typeface="Calibri" panose="020F0502020204030204" pitchFamily="34" charset="0"/>
              <a:sym typeface="+mn-ea"/>
            </a:endParaRPr>
          </a:p>
          <a:p>
            <a:pPr marL="812800" lvl="1" indent="-276225">
              <a:spcAft>
                <a:spcPct val="10000"/>
              </a:spcAft>
            </a:pPr>
            <a:endParaRPr dirty="0">
              <a:cs typeface="+mn-lt"/>
              <a:sym typeface="+mn-ea"/>
            </a:endParaRPr>
          </a:p>
          <a:p>
            <a:pPr marL="536575" lvl="1" indent="0">
              <a:spcAft>
                <a:spcPct val="10000"/>
              </a:spcAft>
              <a:buNone/>
            </a:pPr>
            <a:endParaRPr lang="zh-CN" altLang="en-US" dirty="0">
              <a:latin typeface="Calibri" panose="020F0502020204030204" pitchFamily="34" charset="0"/>
              <a:sym typeface="+mn-ea"/>
            </a:endParaRPr>
          </a:p>
          <a:p>
            <a:pPr marL="536575" lvl="1" indent="0">
              <a:spcAft>
                <a:spcPct val="10000"/>
              </a:spcAft>
              <a:buNone/>
            </a:pPr>
            <a:endParaRPr lang="zh-CN" altLang="en-US" dirty="0"/>
          </a:p>
          <a:p>
            <a:pPr marL="812800" lvl="1" indent="-276225">
              <a:spcAft>
                <a:spcPct val="10000"/>
              </a:spcAft>
            </a:pPr>
            <a:endParaRPr lang="en-US" altLang="zh-CN" dirty="0"/>
          </a:p>
        </p:txBody>
      </p:sp>
      <p:sp>
        <p:nvSpPr>
          <p:cNvPr id="5" name="AutoShape 3"/>
          <p:cNvSpPr/>
          <p:nvPr/>
        </p:nvSpPr>
        <p:spPr>
          <a:xfrm>
            <a:off x="1212215" y="4703445"/>
            <a:ext cx="7192645" cy="667316"/>
          </a:xfrm>
          <a:prstGeom prst="roundRect">
            <a:avLst>
              <a:gd name="adj" fmla="val 5861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00808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选项对象包括挂载元素（el）、数据（data）、方法（methods）、模板（tamplate）、生命周期钩子函数等选项。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730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730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059" grpId="0"/>
      <p:bldP spid="4" grpId="0" bldLvl="0" animBg="1"/>
      <p:bldP spid="3" grpId="0"/>
      <p:bldP spid="5" grpId="0" bldLvl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/>
          </p:cNvSpPr>
          <p:nvPr>
            <p:ph type="title"/>
          </p:nvPr>
        </p:nvSpPr>
        <p:spPr>
          <a:xfrm>
            <a:off x="3192145" y="243840"/>
            <a:ext cx="5494655" cy="654050"/>
          </a:xfrm>
        </p:spPr>
        <p:txBody>
          <a:bodyPr vert="horz" wrap="square" lIns="91440" tIns="45720" rIns="91440" bIns="45720" anchor="ctr"/>
          <a:lstStyle/>
          <a:p>
            <a:r>
              <a:rPr dirty="0">
                <a:latin typeface="Calibri" panose="020F0502020204030204" pitchFamily="34" charset="0"/>
                <a:sym typeface="+mn-ea"/>
              </a:rPr>
              <a:t> 演示创建 Vue 实例的过程</a:t>
            </a:r>
            <a:endParaRPr dirty="0">
              <a:latin typeface="Calibri" panose="020F0502020204030204" pitchFamily="34" charset="0"/>
              <a:sym typeface="+mn-ea"/>
            </a:endParaRPr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4" name="AutoShape 3"/>
          <p:cNvSpPr/>
          <p:nvPr/>
        </p:nvSpPr>
        <p:spPr>
          <a:xfrm>
            <a:off x="275590" y="1073785"/>
            <a:ext cx="8593455" cy="5544682"/>
          </a:xfrm>
          <a:prstGeom prst="roundRect">
            <a:avLst>
              <a:gd name="adj" fmla="val 5861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00808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 algn="l"/>
            <a:r>
              <a:rPr lang="en-US" altLang="zh-CN" sz="1800" b="0" dirty="0" smtClean="0">
                <a:latin typeface="Arial" panose="020B0604020202020204" pitchFamily="34" charset="0"/>
                <a:ea typeface="宋体" panose="02010600030101010101" pitchFamily="2" charset="-122"/>
              </a:rPr>
              <a:t>&lt;!</a:t>
            </a:r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DOCTYPE html&gt;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 smtClean="0">
                <a:latin typeface="Arial" panose="020B0604020202020204" pitchFamily="34" charset="0"/>
                <a:ea typeface="宋体" panose="02010600030101010101" pitchFamily="2" charset="-122"/>
              </a:rPr>
              <a:t>&lt;</a:t>
            </a:r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html lang="en"&gt;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 smtClean="0">
                <a:latin typeface="Arial" panose="020B0604020202020204" pitchFamily="34" charset="0"/>
                <a:ea typeface="宋体" panose="02010600030101010101" pitchFamily="2" charset="-122"/>
              </a:rPr>
              <a:t>&lt;</a:t>
            </a:r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head&gt;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 smtClean="0">
                <a:latin typeface="Arial" panose="020B0604020202020204" pitchFamily="34" charset="0"/>
                <a:ea typeface="宋体" panose="02010600030101010101" pitchFamily="2" charset="-122"/>
              </a:rPr>
              <a:t>&lt;</a:t>
            </a:r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meta charset="UTF-8"&gt;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 smtClean="0">
                <a:latin typeface="Arial" panose="020B0604020202020204" pitchFamily="34" charset="0"/>
                <a:ea typeface="宋体" panose="02010600030101010101" pitchFamily="2" charset="-122"/>
              </a:rPr>
              <a:t>&lt;</a:t>
            </a:r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title&gt;实例化 Vue 对象&lt;/title&gt;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 smtClean="0">
                <a:latin typeface="Arial" panose="020B0604020202020204" pitchFamily="34" charset="0"/>
                <a:ea typeface="宋体" panose="02010600030101010101" pitchFamily="2" charset="-122"/>
              </a:rPr>
              <a:t>&lt;/</a:t>
            </a:r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head&gt;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 smtClean="0">
                <a:latin typeface="Arial" panose="020B0604020202020204" pitchFamily="34" charset="0"/>
                <a:ea typeface="宋体" panose="02010600030101010101" pitchFamily="2" charset="-122"/>
              </a:rPr>
              <a:t>&lt;</a:t>
            </a:r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body&gt;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 smtClean="0">
                <a:latin typeface="Arial" panose="020B0604020202020204" pitchFamily="34" charset="0"/>
                <a:ea typeface="宋体" panose="02010600030101010101" pitchFamily="2" charset="-122"/>
              </a:rPr>
              <a:t>&lt;</a:t>
            </a:r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div id="app"&gt;  &lt;div&gt;{{ name }}&lt;/div&gt;   &lt;/div&gt;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 smtClean="0">
                <a:latin typeface="Arial" panose="020B0604020202020204" pitchFamily="34" charset="0"/>
                <a:ea typeface="宋体" panose="02010600030101010101" pitchFamily="2" charset="-122"/>
              </a:rPr>
              <a:t>&lt;</a:t>
            </a:r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script src="js/Vue.js" &gt;&lt;/script&gt;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 smtClean="0">
                <a:latin typeface="Arial" panose="020B0604020202020204" pitchFamily="34" charset="0"/>
                <a:ea typeface="宋体" panose="02010600030101010101" pitchFamily="2" charset="-122"/>
              </a:rPr>
              <a:t>&lt;</a:t>
            </a:r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script&gt;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 smtClean="0">
                <a:latin typeface="Arial" panose="020B0604020202020204" pitchFamily="34" charset="0"/>
                <a:ea typeface="宋体" panose="02010600030101010101" pitchFamily="2" charset="-122"/>
              </a:rPr>
              <a:t>	new </a:t>
            </a:r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Vue({ 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 smtClean="0">
                <a:latin typeface="Arial" panose="020B0604020202020204" pitchFamily="34" charset="0"/>
                <a:ea typeface="宋体" panose="02010600030101010101" pitchFamily="2" charset="-122"/>
              </a:rPr>
              <a:t>		el</a:t>
            </a:r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: '#app',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 smtClean="0">
                <a:latin typeface="Arial" panose="020B0604020202020204" pitchFamily="34" charset="0"/>
                <a:ea typeface="宋体" panose="02010600030101010101" pitchFamily="2" charset="-122"/>
              </a:rPr>
              <a:t>		data</a:t>
            </a:r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: {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 smtClean="0">
                <a:latin typeface="Arial" panose="020B0604020202020204" pitchFamily="34" charset="0"/>
                <a:ea typeface="宋体" panose="02010600030101010101" pitchFamily="2" charset="-122"/>
              </a:rPr>
              <a:t>		      name</a:t>
            </a:r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: '乐美课堂!',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 smtClean="0">
                <a:latin typeface="Arial" panose="020B0604020202020204" pitchFamily="34" charset="0"/>
                <a:ea typeface="宋体" panose="02010600030101010101" pitchFamily="2" charset="-122"/>
              </a:rPr>
              <a:t>		}</a:t>
            </a:r>
            <a:endParaRPr lang="en-US" altLang="zh-CN" sz="1800" b="0" dirty="0" smtClean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 smtClean="0">
                <a:latin typeface="Arial" panose="020B0604020202020204" pitchFamily="34" charset="0"/>
                <a:ea typeface="宋体" panose="02010600030101010101" pitchFamily="2" charset="-122"/>
              </a:rPr>
              <a:t>	})</a:t>
            </a:r>
            <a:endParaRPr lang="en-US" altLang="zh-CN" sz="1800" b="0" dirty="0" smtClean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 smtClean="0">
                <a:latin typeface="Arial" panose="020B0604020202020204" pitchFamily="34" charset="0"/>
                <a:ea typeface="宋体" panose="02010600030101010101" pitchFamily="2" charset="-122"/>
              </a:rPr>
              <a:t>&lt;/</a:t>
            </a:r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script&gt;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 smtClean="0">
                <a:latin typeface="Arial" panose="020B0604020202020204" pitchFamily="34" charset="0"/>
                <a:ea typeface="宋体" panose="02010600030101010101" pitchFamily="2" charset="-122"/>
              </a:rPr>
              <a:t>&lt;/</a:t>
            </a:r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body&gt;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 smtClean="0">
                <a:latin typeface="Arial" panose="020B0604020202020204" pitchFamily="34" charset="0"/>
                <a:ea typeface="宋体" panose="02010600030101010101" pitchFamily="2" charset="-122"/>
              </a:rPr>
              <a:t>&lt;/</a:t>
            </a:r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html&gt; 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56422" name="AutoShape 6"/>
          <p:cNvSpPr>
            <a:spLocks noChangeArrowheads="1"/>
          </p:cNvSpPr>
          <p:nvPr/>
        </p:nvSpPr>
        <p:spPr bwMode="auto">
          <a:xfrm>
            <a:off x="2590800" y="2571750"/>
            <a:ext cx="2660015" cy="405876"/>
          </a:xfrm>
          <a:prstGeom prst="wedgeRoundRectCallout">
            <a:avLst>
              <a:gd name="adj1" fmla="val -77476"/>
              <a:gd name="adj2" fmla="val 111736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99">
                  <a:gamma/>
                  <a:tint val="0"/>
                  <a:invGamma/>
                </a:srgbClr>
              </a:gs>
            </a:gsLst>
            <a:lin ang="5400000" scaled="1"/>
          </a:gradFill>
          <a:ln w="9525" algn="ctr">
            <a:solidFill>
              <a:srgbClr val="FF6600"/>
            </a:solidFill>
            <a:miter lim="800000"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wrap="square" anchorCtr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800" b="0" dirty="0">
                <a:sym typeface="+mn-ea"/>
              </a:rPr>
              <a:t> &lt;!-- app 是根容器--&gt;</a:t>
            </a:r>
            <a:endParaRPr kumimoji="0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2" charset="-122"/>
              <a:cs typeface="+mn-cs"/>
            </a:endParaRPr>
          </a:p>
        </p:txBody>
      </p:sp>
      <p:sp>
        <p:nvSpPr>
          <p:cNvPr id="956421" name="AutoShape 5"/>
          <p:cNvSpPr>
            <a:spLocks noChangeArrowheads="1"/>
          </p:cNvSpPr>
          <p:nvPr/>
        </p:nvSpPr>
        <p:spPr bwMode="auto">
          <a:xfrm>
            <a:off x="4932045" y="4149090"/>
            <a:ext cx="3921125" cy="1259840"/>
          </a:xfrm>
          <a:prstGeom prst="wedgeRoundRectCallout">
            <a:avLst>
              <a:gd name="adj1" fmla="val -80488"/>
              <a:gd name="adj2" fmla="val -54108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99">
                  <a:gamma/>
                  <a:tint val="0"/>
                  <a:invGamma/>
                </a:srgbClr>
              </a:gs>
            </a:gsLst>
            <a:lin ang="5400000" scaled="1"/>
          </a:gradFill>
          <a:ln w="9525" algn="ctr">
            <a:solidFill>
              <a:srgbClr val="FF6600"/>
            </a:solidFill>
            <a:miter lim="800000"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wrap="square" anchorCtr="1">
            <a:noAutofit/>
          </a:bodyPr>
          <a:lstStyle/>
          <a:p>
            <a:pPr algn="l"/>
            <a:r>
              <a:rPr lang="en-US" altLang="zh-CN" sz="1800" b="0" dirty="0">
                <a:sym typeface="+mn-ea"/>
              </a:rPr>
              <a:t>//实例化 vue 对象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sym typeface="+mn-ea"/>
              </a:rPr>
              <a:t>// 每个 Vue.js 应用</a:t>
            </a:r>
            <a:r>
              <a:rPr lang="zh-CN" altLang="en-US" sz="1800" b="0" dirty="0">
                <a:sym typeface="+mn-ea"/>
              </a:rPr>
              <a:t>都</a:t>
            </a:r>
            <a:r>
              <a:rPr lang="en-US" altLang="zh-CN" sz="1800" b="0" dirty="0">
                <a:sym typeface="+mn-ea"/>
              </a:rPr>
              <a:t>通过构造函数 Vue 创建一个 Vue 根实例启动的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sym typeface="+mn-ea"/>
              </a:rPr>
              <a:t>// 实例化 Vue 时，需传入选项对象</a:t>
            </a:r>
            <a:endParaRPr kumimoji="0" lang="zh-CN" altLang="en-US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2" charset="-122"/>
              <a:cs typeface="+mn-cs"/>
            </a:endParaRPr>
          </a:p>
        </p:txBody>
      </p:sp>
      <p:sp>
        <p:nvSpPr>
          <p:cNvPr id="7" name="AutoShape 21"/>
          <p:cNvSpPr>
            <a:spLocks noChangeArrowheads="1"/>
          </p:cNvSpPr>
          <p:nvPr/>
        </p:nvSpPr>
        <p:spPr bwMode="auto">
          <a:xfrm>
            <a:off x="2439670" y="5730240"/>
            <a:ext cx="6177915" cy="563245"/>
          </a:xfrm>
          <a:prstGeom prst="flowChartAlternateProcess">
            <a:avLst/>
          </a:prstGeom>
          <a:gradFill rotWithShape="1">
            <a:gsLst>
              <a:gs pos="0">
                <a:srgbClr val="CC99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chemeClr val="tx1"/>
            </a:solidFill>
            <a:miter lim="800000"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l"/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sym typeface="+mn-ea"/>
              </a:rPr>
              <a:t> el:element 需要获取的元素，一定是 html 中的根容器元素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sym typeface="+mn-ea"/>
              </a:rPr>
              <a:t> data：用于数据的存储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lt"/>
            </a:endParaRPr>
          </a:p>
        </p:txBody>
      </p:sp>
      <p:sp>
        <p:nvSpPr>
          <p:cNvPr id="9" name="AutoShape 21"/>
          <p:cNvSpPr>
            <a:spLocks noChangeArrowheads="1"/>
          </p:cNvSpPr>
          <p:nvPr/>
        </p:nvSpPr>
        <p:spPr bwMode="auto">
          <a:xfrm>
            <a:off x="5363210" y="1846580"/>
            <a:ext cx="3192780" cy="563245"/>
          </a:xfrm>
          <a:prstGeom prst="flowChartAlternateProcess">
            <a:avLst/>
          </a:prstGeom>
          <a:gradFill rotWithShape="1">
            <a:gsLst>
              <a:gs pos="0">
                <a:srgbClr val="CC99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chemeClr val="tx1"/>
            </a:solidFill>
            <a:miter lim="800000"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运行结果：乐美课堂！</a:t>
            </a: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416165" y="2564765"/>
            <a:ext cx="11398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hlinkClick r:id="rId1" action="ppaction://hlinkfile"/>
              </a:rPr>
              <a:t>运行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9564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9564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56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956422" grpId="0" bldLvl="0" animBg="1"/>
      <p:bldP spid="956421" grpId="0" bldLvl="0" animBg="1"/>
      <p:bldP spid="7" grpId="1" bldLvl="0" animBg="1"/>
      <p:bldP spid="9" grpId="1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/>
          </p:cNvSpPr>
          <p:nvPr>
            <p:ph type="title"/>
          </p:nvPr>
        </p:nvSpPr>
        <p:spPr>
          <a:xfrm>
            <a:off x="3192145" y="312420"/>
            <a:ext cx="5494655" cy="654050"/>
          </a:xfrm>
        </p:spPr>
        <p:txBody>
          <a:bodyPr vert="horz" wrap="square" lIns="91440" tIns="45720" rIns="91440" bIns="45720" anchor="ctr"/>
          <a:lstStyle/>
          <a:p>
            <a:r>
              <a:rPr lang="zh-CN" dirty="0">
                <a:sym typeface="+mn-ea"/>
              </a:rPr>
              <a:t> 实例化 Vue 对象、数据和方法</a:t>
            </a:r>
            <a:endParaRPr lang="zh-CN" dirty="0">
              <a:sym typeface="+mn-ea"/>
            </a:endParaRPr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73059" name="Rectangle 3"/>
          <p:cNvSpPr>
            <a:spLocks noGrp="1"/>
          </p:cNvSpPr>
          <p:nvPr/>
        </p:nvSpPr>
        <p:spPr>
          <a:xfrm>
            <a:off x="489585" y="579755"/>
            <a:ext cx="8637270" cy="22288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spcAft>
                <a:spcPct val="10000"/>
              </a:spcAft>
              <a:buNone/>
            </a:pPr>
            <a:endParaRPr sz="2800" dirty="0">
              <a:latin typeface="Calibri" panose="020F0502020204030204" pitchFamily="34" charset="0"/>
              <a:sym typeface="+mn-ea"/>
            </a:endParaRPr>
          </a:p>
          <a:p>
            <a:pPr>
              <a:spcAft>
                <a:spcPct val="10000"/>
              </a:spcAft>
            </a:pPr>
            <a:r>
              <a:rPr sz="2400" dirty="0">
                <a:cs typeface="+mn-lt"/>
                <a:sym typeface="+mn-ea"/>
              </a:rPr>
              <a:t> </a:t>
            </a:r>
            <a:r>
              <a:rPr sz="2400" b="0" dirty="0">
                <a:cs typeface="+mn-lt"/>
                <a:sym typeface="+mn-ea"/>
              </a:rPr>
              <a:t>Vue 数据和方法</a:t>
            </a:r>
            <a:endParaRPr sz="2400" b="0" dirty="0">
              <a:cs typeface="+mn-lt"/>
              <a:sym typeface="+mn-ea"/>
            </a:endParaRPr>
          </a:p>
          <a:p>
            <a:pPr marL="812800" lvl="1" indent="-276225">
              <a:spcAft>
                <a:spcPct val="10000"/>
              </a:spcAft>
            </a:pPr>
            <a:r>
              <a:rPr sz="2400" b="0" dirty="0">
                <a:cs typeface="+mn-lt"/>
                <a:sym typeface="+mn-ea"/>
              </a:rPr>
              <a:t>数据（data）</a:t>
            </a:r>
            <a:endParaRPr sz="2400" b="0" dirty="0">
              <a:cs typeface="+mn-lt"/>
              <a:sym typeface="+mn-ea"/>
            </a:endParaRPr>
          </a:p>
          <a:p>
            <a:pPr marL="812800" lvl="1" indent="-276225">
              <a:spcAft>
                <a:spcPct val="10000"/>
              </a:spcAft>
            </a:pPr>
            <a:r>
              <a:rPr sz="2400" b="0" dirty="0">
                <a:cs typeface="+mn-lt"/>
                <a:sym typeface="+mn-ea"/>
              </a:rPr>
              <a:t>属性方法（methods）</a:t>
            </a:r>
            <a:endParaRPr sz="2400" b="0" dirty="0">
              <a:cs typeface="+mn-lt"/>
              <a:sym typeface="+mn-ea"/>
            </a:endParaRPr>
          </a:p>
          <a:p>
            <a:pPr marL="536575" lvl="1" indent="0">
              <a:spcAft>
                <a:spcPct val="10000"/>
              </a:spcAft>
              <a:buNone/>
            </a:pPr>
            <a:endParaRPr lang="zh-CN" altLang="en-US" dirty="0">
              <a:latin typeface="Calibri" panose="020F0502020204030204" pitchFamily="34" charset="0"/>
              <a:sym typeface="+mn-ea"/>
            </a:endParaRPr>
          </a:p>
          <a:p>
            <a:pPr marL="536575" lvl="1" indent="0">
              <a:spcAft>
                <a:spcPct val="10000"/>
              </a:spcAft>
              <a:buNone/>
            </a:pPr>
            <a:endParaRPr lang="zh-CN" altLang="en-US" dirty="0"/>
          </a:p>
          <a:p>
            <a:pPr marL="812800" lvl="1" indent="-276225">
              <a:spcAft>
                <a:spcPct val="10000"/>
              </a:spcAft>
            </a:pPr>
            <a:endParaRPr lang="en-US" altLang="zh-CN" dirty="0"/>
          </a:p>
        </p:txBody>
      </p:sp>
      <p:sp>
        <p:nvSpPr>
          <p:cNvPr id="4" name="AutoShape 3"/>
          <p:cNvSpPr/>
          <p:nvPr/>
        </p:nvSpPr>
        <p:spPr>
          <a:xfrm>
            <a:off x="945515" y="2636520"/>
            <a:ext cx="7253605" cy="3788410"/>
          </a:xfrm>
          <a:prstGeom prst="roundRect">
            <a:avLst>
              <a:gd name="adj" fmla="val 5861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00808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noAutofit/>
          </a:bodyPr>
          <a:lstStyle/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new Vue(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data:{ 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algn="l"/>
            <a:r>
              <a:rPr lang="en-US" altLang="zh-CN" sz="100" b="0" dirty="0">
                <a:latin typeface="Arial" panose="020B0604020202020204" pitchFamily="34" charset="0"/>
                <a:ea typeface="宋体" panose="02010600030101010101" pitchFamily="2" charset="-122"/>
              </a:rPr>
              <a:t> el: '#app',</a:t>
            </a:r>
            <a:endParaRPr lang="en-US" altLang="zh-CN" sz="1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algn="l"/>
            <a:r>
              <a:rPr lang="en-US" altLang="zh-CN" sz="100" b="0" dirty="0">
                <a:latin typeface="Arial" panose="020B0604020202020204" pitchFamily="34" charset="0"/>
                <a:ea typeface="宋体" panose="02010600030101010101" pitchFamily="2" charset="-122"/>
              </a:rPr>
              <a:t> data: {</a:t>
            </a:r>
            <a:endParaRPr lang="en-US" altLang="zh-CN" sz="1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algn="l"/>
            <a:r>
              <a:rPr lang="en-US" altLang="zh-CN" sz="2000" b="0" dirty="0">
                <a:latin typeface="Arial" panose="020B0604020202020204" pitchFamily="34" charset="0"/>
                <a:ea typeface="宋体" panose="02010600030101010101" pitchFamily="2" charset="-122"/>
              </a:rPr>
              <a:t>name: 'john',</a:t>
            </a:r>
            <a:endParaRPr lang="en-US" altLang="zh-CN" sz="20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algn="l"/>
            <a:r>
              <a:rPr lang="en-US" altLang="zh-CN" sz="2000" b="0" dirty="0">
                <a:latin typeface="Arial" panose="020B0604020202020204" pitchFamily="34" charset="0"/>
                <a:ea typeface="宋体" panose="02010600030101010101" pitchFamily="2" charset="-122"/>
              </a:rPr>
              <a:t>age：22，</a:t>
            </a:r>
            <a:endParaRPr lang="en-US" altLang="zh-CN" sz="20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algn="l"/>
            <a:r>
              <a:rPr lang="en-US" altLang="zh-CN" sz="2000" b="0" dirty="0">
                <a:latin typeface="Arial" panose="020B0604020202020204" pitchFamily="34" charset="0"/>
                <a:ea typeface="宋体" panose="02010600030101010101" pitchFamily="2" charset="-122"/>
              </a:rPr>
              <a:t>email: 'john@163.com'</a:t>
            </a:r>
            <a:endParaRPr lang="en-US" altLang="zh-CN" sz="20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}，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2000" b="0" dirty="0">
                <a:latin typeface="Arial" panose="020B0604020202020204" pitchFamily="34" charset="0"/>
                <a:ea typeface="宋体" panose="02010600030101010101" pitchFamily="2" charset="-122"/>
              </a:rPr>
              <a:t>methods:{</a:t>
            </a:r>
            <a:endParaRPr lang="en-US" altLang="zh-CN" sz="20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algn="l"/>
            <a:r>
              <a:rPr lang="en-US" altLang="zh-CN" sz="2000" b="0" dirty="0">
                <a:latin typeface="Arial" panose="020B0604020202020204" pitchFamily="34" charset="0"/>
                <a:ea typeface="宋体" panose="02010600030101010101" pitchFamily="2" charset="-122"/>
              </a:rPr>
              <a:t> say:function(){</a:t>
            </a:r>
            <a:endParaRPr lang="en-US" altLang="zh-CN" sz="20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algn="l"/>
            <a:r>
              <a:rPr lang="en-US" altLang="zh-CN" sz="2000" b="0" dirty="0">
                <a:latin typeface="Arial" panose="020B0604020202020204" pitchFamily="34" charset="0"/>
                <a:ea typeface="宋体" panose="02010600030101010101" pitchFamily="2" charset="-122"/>
              </a:rPr>
              <a:t> return:"欢迎您："+this.name</a:t>
            </a:r>
            <a:endParaRPr lang="en-US" altLang="zh-CN" sz="20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algn="l"/>
            <a:r>
              <a:rPr lang="en-US" altLang="zh-CN" sz="2000" b="0" dirty="0">
                <a:latin typeface="Arial" panose="020B0604020202020204" pitchFamily="34" charset="0"/>
                <a:ea typeface="宋体" panose="02010600030101010101" pitchFamily="2" charset="-122"/>
              </a:rPr>
              <a:t> } </a:t>
            </a:r>
            <a:endParaRPr lang="en-US" altLang="zh-CN" sz="20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2000" b="0" dirty="0">
                <a:latin typeface="Arial" panose="020B0604020202020204" pitchFamily="34" charset="0"/>
                <a:ea typeface="宋体" panose="02010600030101010101" pitchFamily="2" charset="-122"/>
              </a:rPr>
              <a:t>}</a:t>
            </a:r>
            <a:endParaRPr lang="en-US" altLang="zh-CN" sz="20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})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73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73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73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73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73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73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059" grpId="0" build="p"/>
      <p:bldP spid="4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/>
          </p:cNvSpPr>
          <p:nvPr>
            <p:ph type="title"/>
          </p:nvPr>
        </p:nvSpPr>
        <p:spPr>
          <a:xfrm>
            <a:off x="3192145" y="243840"/>
            <a:ext cx="5494655" cy="654050"/>
          </a:xfrm>
        </p:spPr>
        <p:txBody>
          <a:bodyPr vert="horz" wrap="square" lIns="91440" tIns="45720" rIns="91440" bIns="45720" anchor="ctr"/>
          <a:lstStyle/>
          <a:p>
            <a:r>
              <a:rPr dirty="0">
                <a:latin typeface="Calibri" panose="020F0502020204030204" pitchFamily="34" charset="0"/>
                <a:sym typeface="+mn-ea"/>
              </a:rPr>
              <a:t> </a:t>
            </a:r>
            <a:r>
              <a:rPr lang="zh-CN" dirty="0">
                <a:latin typeface="Calibri" panose="020F0502020204030204" pitchFamily="34" charset="0"/>
                <a:sym typeface="+mn-ea"/>
              </a:rPr>
              <a:t>演示</a:t>
            </a:r>
            <a:r>
              <a:rPr dirty="0">
                <a:latin typeface="Calibri" panose="020F0502020204030204" pitchFamily="34" charset="0"/>
                <a:sym typeface="+mn-ea"/>
              </a:rPr>
              <a:t>数据挂载到 DOM 页面</a:t>
            </a:r>
            <a:endParaRPr lang="zh-CN" dirty="0">
              <a:sym typeface="+mn-ea"/>
            </a:endParaRPr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4" name="AutoShape 3"/>
          <p:cNvSpPr/>
          <p:nvPr/>
        </p:nvSpPr>
        <p:spPr>
          <a:xfrm>
            <a:off x="275590" y="1385570"/>
            <a:ext cx="8593455" cy="4969837"/>
          </a:xfrm>
          <a:prstGeom prst="roundRect">
            <a:avLst>
              <a:gd name="adj" fmla="val 5861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00808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 algn="l"/>
            <a:r>
              <a:rPr lang="en-US" altLang="zh-CN" sz="1800" b="0" dirty="0" smtClean="0">
                <a:latin typeface="Arial" panose="020B0604020202020204" pitchFamily="34" charset="0"/>
                <a:ea typeface="宋体" panose="02010600030101010101" pitchFamily="2" charset="-122"/>
              </a:rPr>
              <a:t>&lt;body</a:t>
            </a:r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 smtClean="0">
                <a:latin typeface="Arial" panose="020B0604020202020204" pitchFamily="34" charset="0"/>
                <a:ea typeface="宋体" panose="02010600030101010101" pitchFamily="2" charset="-122"/>
              </a:rPr>
              <a:t>&lt;script </a:t>
            </a:r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src="https://unpkg.com/vue/dist/Vue.js"&gt;&lt;/script&gt;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 smtClean="0">
                <a:latin typeface="Arial" panose="020B0604020202020204" pitchFamily="34" charset="0"/>
                <a:ea typeface="宋体" panose="02010600030101010101" pitchFamily="2" charset="-122"/>
              </a:rPr>
              <a:t>&lt;div </a:t>
            </a:r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id="app-2"&gt;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 smtClean="0">
                <a:latin typeface="Arial" panose="020B0604020202020204" pitchFamily="34" charset="0"/>
                <a:ea typeface="宋体" panose="02010600030101010101" pitchFamily="2" charset="-122"/>
              </a:rPr>
              <a:t>	&lt;p</a:t>
            </a:r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&gt;{{ message }}&lt;/p&gt;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 smtClean="0">
                <a:latin typeface="Arial" panose="020B0604020202020204" pitchFamily="34" charset="0"/>
                <a:ea typeface="宋体" panose="02010600030101010101" pitchFamily="2" charset="-122"/>
              </a:rPr>
              <a:t>&lt;button </a:t>
            </a:r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onclick="app.message = '乐美欢迎你！未来的工程师。';"&gt;更新！&lt;/button&gt;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 smtClean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&lt;/div&gt;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 smtClean="0">
                <a:latin typeface="Arial" panose="020B0604020202020204" pitchFamily="34" charset="0"/>
                <a:ea typeface="宋体" panose="02010600030101010101" pitchFamily="2" charset="-122"/>
              </a:rPr>
              <a:t>&lt;script</a:t>
            </a:r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 smtClean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800" b="0" dirty="0" err="1" smtClean="0">
                <a:latin typeface="Arial" panose="020B0604020202020204" pitchFamily="34" charset="0"/>
                <a:ea typeface="宋体" panose="02010600030101010101" pitchFamily="2" charset="-122"/>
              </a:rPr>
              <a:t>var</a:t>
            </a:r>
            <a:r>
              <a:rPr lang="en-US" altLang="zh-CN" sz="1800" b="0" dirty="0" smtClean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app = new Vue({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 smtClean="0">
                <a:latin typeface="Arial" panose="020B0604020202020204" pitchFamily="34" charset="0"/>
                <a:ea typeface="宋体" panose="02010600030101010101" pitchFamily="2" charset="-122"/>
              </a:rPr>
              <a:t>	el</a:t>
            </a:r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: '#app-2',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 smtClean="0">
                <a:latin typeface="Arial" panose="020B0604020202020204" pitchFamily="34" charset="0"/>
                <a:ea typeface="宋体" panose="02010600030101010101" pitchFamily="2" charset="-122"/>
              </a:rPr>
              <a:t>	data</a:t>
            </a:r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: {    message: 'Hello Vue.js!'     },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 smtClean="0">
                <a:latin typeface="Arial" panose="020B0604020202020204" pitchFamily="34" charset="0"/>
                <a:ea typeface="宋体" panose="02010600030101010101" pitchFamily="2" charset="-122"/>
              </a:rPr>
              <a:t>	created</a:t>
            </a:r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: function ()  {    console.log('message is: ' + this.message);   },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 smtClean="0">
                <a:latin typeface="Arial" panose="020B0604020202020204" pitchFamily="34" charset="0"/>
                <a:ea typeface="宋体" panose="02010600030101010101" pitchFamily="2" charset="-122"/>
              </a:rPr>
              <a:t>	mounted</a:t>
            </a:r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: function() {   console.log("已挂载到 DOM 页面上。") ;        },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 smtClean="0">
                <a:latin typeface="Arial" panose="020B0604020202020204" pitchFamily="34" charset="0"/>
                <a:ea typeface="宋体" panose="02010600030101010101" pitchFamily="2" charset="-122"/>
              </a:rPr>
              <a:t>	updated</a:t>
            </a:r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: function () {   console.log("已更新 DOM！") ;                       }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 smtClean="0">
                <a:latin typeface="Arial" panose="020B0604020202020204" pitchFamily="34" charset="0"/>
                <a:ea typeface="宋体" panose="02010600030101010101" pitchFamily="2" charset="-122"/>
              </a:rPr>
              <a:t>})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 smtClean="0">
                <a:latin typeface="Arial" panose="020B0604020202020204" pitchFamily="34" charset="0"/>
                <a:ea typeface="宋体" panose="02010600030101010101" pitchFamily="2" charset="-122"/>
              </a:rPr>
              <a:t>&lt;/</a:t>
            </a:r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script&gt;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 smtClean="0">
                <a:latin typeface="Arial" panose="020B0604020202020204" pitchFamily="34" charset="0"/>
                <a:ea typeface="宋体" panose="02010600030101010101" pitchFamily="2" charset="-122"/>
              </a:rPr>
              <a:t>&lt;/</a:t>
            </a:r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body&gt;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56422" name="AutoShape 6"/>
          <p:cNvSpPr>
            <a:spLocks noChangeArrowheads="1"/>
          </p:cNvSpPr>
          <p:nvPr/>
        </p:nvSpPr>
        <p:spPr bwMode="auto">
          <a:xfrm>
            <a:off x="5951220" y="3785235"/>
            <a:ext cx="2660015" cy="408144"/>
          </a:xfrm>
          <a:prstGeom prst="wedgeRoundRectCallout">
            <a:avLst>
              <a:gd name="adj1" fmla="val -43387"/>
              <a:gd name="adj2" fmla="val 126430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99">
                  <a:gamma/>
                  <a:tint val="0"/>
                  <a:invGamma/>
                </a:srgbClr>
              </a:gs>
            </a:gsLst>
            <a:lin ang="5400000" scaled="1"/>
          </a:gradFill>
          <a:ln w="9525" algn="ctr">
            <a:solidFill>
              <a:srgbClr val="FF6600"/>
            </a:solidFill>
            <a:miter lim="800000"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wrap="square" anchorCtr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800" b="0" dirty="0">
                <a:sym typeface="+mn-ea"/>
              </a:rPr>
              <a:t> 'this' 指向 vue 实例</a:t>
            </a:r>
            <a:endParaRPr kumimoji="0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2" charset="-122"/>
              <a:cs typeface="+mn-cs"/>
            </a:endParaRPr>
          </a:p>
        </p:txBody>
      </p:sp>
      <p:sp>
        <p:nvSpPr>
          <p:cNvPr id="2" name="文本框 1">
            <a:hlinkClick r:id="rId1" action="ppaction://hlinkfile"/>
          </p:cNvPr>
          <p:cNvSpPr txBox="1"/>
          <p:nvPr/>
        </p:nvSpPr>
        <p:spPr>
          <a:xfrm>
            <a:off x="7380605" y="2996565"/>
            <a:ext cx="11398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hlinkClick r:id="rId1" action="ppaction://hlinkfile"/>
              </a:rPr>
              <a:t>运行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9564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9564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956422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3"/>
          <p:cNvSpPr>
            <a:spLocks noGrp="1"/>
          </p:cNvSpPr>
          <p:nvPr>
            <p:ph idx="1"/>
          </p:nvPr>
        </p:nvSpPr>
        <p:spPr>
          <a:xfrm>
            <a:off x="327660" y="1124585"/>
            <a:ext cx="8573770" cy="8481060"/>
          </a:xfrm>
        </p:spPr>
        <p:txBody>
          <a:bodyPr vert="horz" wrap="square" lIns="91440" tIns="45720" rIns="91440" bIns="45720" anchor="t"/>
          <a:lstStyle/>
          <a:p>
            <a:pPr marL="342900" indent="-34290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endParaRPr dirty="0">
              <a:latin typeface="Calibri" panose="020F0502020204030204" pitchFamily="34" charset="0"/>
              <a:sym typeface="+mn-ea"/>
            </a:endParaRPr>
          </a:p>
          <a:p>
            <a:pPr marL="0" indent="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dirty="0">
              <a:latin typeface="Calibri" panose="020F0502020204030204" pitchFamily="34" charset="0"/>
              <a:sym typeface="+mn-ea"/>
            </a:endParaRPr>
          </a:p>
          <a:p>
            <a:pPr marL="0" indent="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dirty="0">
                <a:latin typeface="Calibri" panose="020F0502020204030204" pitchFamily="34" charset="0"/>
                <a:sym typeface="+mn-ea"/>
              </a:rPr>
              <a:t> </a:t>
            </a:r>
            <a:endParaRPr dirty="0">
              <a:latin typeface="Calibri" panose="020F0502020204030204" pitchFamily="34" charset="0"/>
              <a:sym typeface="+mn-ea"/>
            </a:endParaRPr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7171" name="Rectangle 2"/>
          <p:cNvSpPr>
            <a:spLocks noGrp="1"/>
          </p:cNvSpPr>
          <p:nvPr>
            <p:ph type="title"/>
          </p:nvPr>
        </p:nvSpPr>
        <p:spPr>
          <a:xfrm>
            <a:off x="3192145" y="243840"/>
            <a:ext cx="5494655" cy="654050"/>
          </a:xfrm>
        </p:spPr>
        <p:txBody>
          <a:bodyPr vert="horz" wrap="square" lIns="91440" tIns="45720" rIns="91440" bIns="45720" anchor="ctr"/>
          <a:lstStyle/>
          <a:p>
            <a:r>
              <a:rPr dirty="0">
                <a:latin typeface="Calibri" panose="020F0502020204030204" pitchFamily="34" charset="0"/>
                <a:sym typeface="+mn-ea"/>
              </a:rPr>
              <a:t> </a:t>
            </a:r>
            <a:r>
              <a:rPr lang="zh-CN" dirty="0">
                <a:latin typeface="Calibri" panose="020F0502020204030204" pitchFamily="34" charset="0"/>
                <a:sym typeface="+mn-ea"/>
              </a:rPr>
              <a:t>演示</a:t>
            </a:r>
            <a:r>
              <a:rPr dirty="0">
                <a:latin typeface="Calibri" panose="020F0502020204030204" pitchFamily="34" charset="0"/>
                <a:sym typeface="+mn-ea"/>
              </a:rPr>
              <a:t>数据挂载到 DOM 页面</a:t>
            </a:r>
            <a:endParaRPr lang="zh-CN" dirty="0">
              <a:sym typeface="+mn-ea"/>
            </a:endParaRPr>
          </a:p>
        </p:txBody>
      </p:sp>
      <p:sp>
        <p:nvSpPr>
          <p:cNvPr id="3" name="Rectangle 3"/>
          <p:cNvSpPr>
            <a:spLocks noGrp="1"/>
          </p:cNvSpPr>
          <p:nvPr/>
        </p:nvSpPr>
        <p:spPr>
          <a:xfrm>
            <a:off x="244475" y="1163955"/>
            <a:ext cx="8654415" cy="848106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indent="-34290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r>
              <a:rPr sz="2800" b="0" dirty="0">
                <a:latin typeface="Calibri" panose="020F0502020204030204" pitchFamily="34" charset="0"/>
                <a:sym typeface="+mn-ea"/>
              </a:rPr>
              <a:t>当用户单击更新按钮时，这时修改app.message 的值</a:t>
            </a:r>
            <a:r>
              <a:rPr lang="zh-CN" sz="2800" b="0" dirty="0">
                <a:latin typeface="Calibri" panose="020F0502020204030204" pitchFamily="34" charset="0"/>
                <a:sym typeface="+mn-ea"/>
              </a:rPr>
              <a:t>，updated 方法被调用了，数据已经被重新挂载到 DOM 中</a:t>
            </a:r>
            <a:endParaRPr lang="zh-CN" dirty="0">
              <a:latin typeface="Calibri" panose="020F0502020204030204" pitchFamily="34" charset="0"/>
              <a:sym typeface="+mn-ea"/>
            </a:endParaRPr>
          </a:p>
          <a:p>
            <a:pPr marL="0" indent="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dirty="0">
              <a:latin typeface="Calibri" panose="020F0502020204030204" pitchFamily="34" charset="0"/>
              <a:sym typeface="+mn-ea"/>
            </a:endParaRPr>
          </a:p>
          <a:p>
            <a:pPr marL="0" indent="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dirty="0">
              <a:latin typeface="Calibri" panose="020F0502020204030204" pitchFamily="34" charset="0"/>
              <a:sym typeface="+mn-ea"/>
            </a:endParaRPr>
          </a:p>
          <a:p>
            <a:pPr marL="0" indent="0">
              <a:buNone/>
            </a:pPr>
            <a:endParaRPr lang="en-US" altLang="zh-CN" dirty="0"/>
          </a:p>
        </p:txBody>
      </p:sp>
      <p:pic>
        <p:nvPicPr>
          <p:cNvPr id="8" name="图片 7" descr="33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043608" y="2996952"/>
            <a:ext cx="7696155" cy="27647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/>
          </p:cNvSpPr>
          <p:nvPr>
            <p:ph type="title"/>
          </p:nvPr>
        </p:nvSpPr>
        <p:spPr>
          <a:xfrm>
            <a:off x="3192145" y="263525"/>
            <a:ext cx="5494655" cy="654050"/>
          </a:xfrm>
        </p:spPr>
        <p:txBody>
          <a:bodyPr vert="horz" wrap="square" lIns="91440" tIns="45720" rIns="91440" bIns="45720" anchor="ctr"/>
          <a:lstStyle/>
          <a:p>
            <a:r>
              <a:rPr lang="zh-CN" dirty="0">
                <a:sym typeface="+mn-ea"/>
              </a:rPr>
              <a:t> MVVM 模式</a:t>
            </a:r>
            <a:endParaRPr lang="zh-CN" dirty="0">
              <a:sym typeface="+mn-ea"/>
            </a:endParaRPr>
          </a:p>
        </p:txBody>
      </p:sp>
      <p:sp>
        <p:nvSpPr>
          <p:cNvPr id="7172" name="Rectangle 3"/>
          <p:cNvSpPr>
            <a:spLocks noGrp="1"/>
          </p:cNvSpPr>
          <p:nvPr>
            <p:ph idx="1"/>
          </p:nvPr>
        </p:nvSpPr>
        <p:spPr>
          <a:xfrm>
            <a:off x="539552" y="1052736"/>
            <a:ext cx="8431981" cy="8481060"/>
          </a:xfrm>
        </p:spPr>
        <p:txBody>
          <a:bodyPr vert="horz" wrap="square" lIns="91440" tIns="45720" rIns="91440" bIns="45720" anchor="t"/>
          <a:lstStyle/>
          <a:p>
            <a:pPr marL="342900" indent="-34290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r>
              <a:rPr sz="2800" dirty="0">
                <a:latin typeface="Calibri" panose="020F0502020204030204" pitchFamily="34" charset="0"/>
                <a:sym typeface="+mn-ea"/>
              </a:rPr>
              <a:t>MVVM</a:t>
            </a:r>
            <a:r>
              <a:rPr sz="2800" dirty="0" smtClean="0">
                <a:latin typeface="Calibri" panose="020F0502020204030204" pitchFamily="34" charset="0"/>
                <a:sym typeface="+mn-ea"/>
              </a:rPr>
              <a:t>是一种基于前端开发的架构模式</a:t>
            </a:r>
            <a:endParaRPr lang="en-US" sz="2800" dirty="0" smtClean="0">
              <a:latin typeface="Calibri" panose="020F0502020204030204" pitchFamily="34" charset="0"/>
              <a:sym typeface="+mn-ea"/>
            </a:endParaRPr>
          </a:p>
          <a:p>
            <a:pPr marL="342900" indent="-34290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r>
              <a:rPr sz="2800" dirty="0" err="1" smtClean="0">
                <a:latin typeface="Calibri" panose="020F0502020204030204" pitchFamily="34" charset="0"/>
                <a:sym typeface="+mn-ea"/>
              </a:rPr>
              <a:t>其核心是提供对</a:t>
            </a:r>
            <a:r>
              <a:rPr sz="2800" dirty="0" smtClean="0">
                <a:latin typeface="Calibri" panose="020F0502020204030204" pitchFamily="34" charset="0"/>
                <a:sym typeface="+mn-ea"/>
              </a:rPr>
              <a:t> </a:t>
            </a:r>
            <a:r>
              <a:rPr sz="2800" dirty="0">
                <a:latin typeface="Calibri" panose="020F0502020204030204" pitchFamily="34" charset="0"/>
                <a:sym typeface="+mn-ea"/>
              </a:rPr>
              <a:t>View 和 ViewModel 的双向数据绑定</a:t>
            </a:r>
            <a:endParaRPr sz="2800" dirty="0">
              <a:latin typeface="Calibri" panose="020F0502020204030204" pitchFamily="34" charset="0"/>
              <a:sym typeface="+mn-ea"/>
            </a:endParaRPr>
          </a:p>
          <a:p>
            <a:pPr marL="342900" indent="-34290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r>
              <a:rPr sz="2800" dirty="0" err="1" smtClean="0">
                <a:latin typeface="Calibri" panose="020F0502020204030204" pitchFamily="34" charset="0"/>
                <a:sym typeface="+mn-ea"/>
              </a:rPr>
              <a:t>ViewModel</a:t>
            </a:r>
            <a:r>
              <a:rPr sz="2800" dirty="0" smtClean="0">
                <a:latin typeface="Calibri" panose="020F0502020204030204" pitchFamily="34" charset="0"/>
                <a:sym typeface="+mn-ea"/>
              </a:rPr>
              <a:t> </a:t>
            </a:r>
            <a:r>
              <a:rPr sz="2800" dirty="0">
                <a:latin typeface="Calibri" panose="020F0502020204030204" pitchFamily="34" charset="0"/>
                <a:sym typeface="+mn-ea"/>
              </a:rPr>
              <a:t>负责连接 View 和 Model，保证视图和数据的一致性</a:t>
            </a:r>
            <a:endParaRPr dirty="0">
              <a:latin typeface="Calibri" panose="020F0502020204030204" pitchFamily="34" charset="0"/>
              <a:sym typeface="+mn-ea"/>
            </a:endParaRPr>
          </a:p>
          <a:p>
            <a:pPr marL="0" indent="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dirty="0">
              <a:latin typeface="Calibri" panose="020F0502020204030204" pitchFamily="34" charset="0"/>
              <a:sym typeface="+mn-ea"/>
            </a:endParaRPr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5" name="AutoShape 3"/>
          <p:cNvSpPr/>
          <p:nvPr/>
        </p:nvSpPr>
        <p:spPr>
          <a:xfrm>
            <a:off x="3419872" y="3194280"/>
            <a:ext cx="5379720" cy="954014"/>
          </a:xfrm>
          <a:prstGeom prst="roundRect">
            <a:avLst>
              <a:gd name="adj" fmla="val 5861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00808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 algn="l"/>
            <a:r>
              <a:rPr sz="1800" b="0" dirty="0">
                <a:latin typeface="Calibri" panose="020F0502020204030204" pitchFamily="34" charset="0"/>
                <a:sym typeface="+mn-ea"/>
              </a:rPr>
              <a:t>Vue.js 是一个提供了 MVVM 风格的双向数据绑定的 Javascript 库，专注于 View 层。它的核心是 MVVM 中</a:t>
            </a:r>
            <a:r>
              <a:rPr lang="zh-CN" sz="1800" b="0" dirty="0">
                <a:latin typeface="Calibri" panose="020F0502020204030204" pitchFamily="34" charset="0"/>
                <a:sym typeface="+mn-ea"/>
              </a:rPr>
              <a:t>的</a:t>
            </a:r>
            <a:r>
              <a:rPr sz="1800" b="0" dirty="0">
                <a:latin typeface="Calibri" panose="020F0502020204030204" pitchFamily="34" charset="0"/>
                <a:sym typeface="+mn-ea"/>
              </a:rPr>
              <a:t> ViewModel。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3" name="图片 2" descr="66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899592" y="4334804"/>
            <a:ext cx="4608810" cy="2523196"/>
          </a:xfrm>
          <a:prstGeom prst="rect">
            <a:avLst/>
          </a:prstGeom>
        </p:spPr>
      </p:pic>
      <p:sp>
        <p:nvSpPr>
          <p:cNvPr id="956422" name="AutoShape 6"/>
          <p:cNvSpPr>
            <a:spLocks noChangeArrowheads="1"/>
          </p:cNvSpPr>
          <p:nvPr/>
        </p:nvSpPr>
        <p:spPr bwMode="auto">
          <a:xfrm>
            <a:off x="4716016" y="4293096"/>
            <a:ext cx="2160588" cy="405876"/>
          </a:xfrm>
          <a:prstGeom prst="wedgeRoundRectCallout">
            <a:avLst>
              <a:gd name="adj1" fmla="val -49338"/>
              <a:gd name="adj2" fmla="val 92106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99">
                  <a:gamma/>
                  <a:tint val="0"/>
                  <a:invGamma/>
                </a:srgbClr>
              </a:gs>
            </a:gsLst>
            <a:lin ang="5400000" scaled="1"/>
          </a:gradFill>
          <a:ln w="9525" algn="ctr">
            <a:solidFill>
              <a:srgbClr val="FF6600"/>
            </a:solidFill>
            <a:miter lim="800000"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wrap="square" anchorCtr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sz="1800" dirty="0">
                <a:sym typeface="+mn-ea"/>
              </a:rPr>
              <a:t>MVVM 模式</a:t>
            </a:r>
            <a:endParaRPr kumimoji="0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7172" grpId="0" uiExpand="1" build="p"/>
      <p:bldP spid="5" grpId="0" bldLvl="0" animBg="1"/>
      <p:bldP spid="956422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pic>
        <p:nvPicPr>
          <p:cNvPr id="3" name="图片 2" descr="捕获99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873250" y="2937510"/>
            <a:ext cx="5267960" cy="982980"/>
          </a:xfrm>
          <a:prstGeom prst="rect">
            <a:avLst/>
          </a:prstGeom>
        </p:spPr>
      </p:pic>
      <p:sp>
        <p:nvSpPr>
          <p:cNvPr id="7171" name="Rectangle 2"/>
          <p:cNvSpPr>
            <a:spLocks noGrp="1"/>
          </p:cNvSpPr>
          <p:nvPr>
            <p:ph type="title"/>
          </p:nvPr>
        </p:nvSpPr>
        <p:spPr>
          <a:xfrm>
            <a:off x="3192145" y="263525"/>
            <a:ext cx="5494655" cy="654050"/>
          </a:xfrm>
        </p:spPr>
        <p:txBody>
          <a:bodyPr vert="horz" wrap="square" lIns="91440" tIns="45720" rIns="91440" bIns="45720" anchor="ctr"/>
          <a:lstStyle/>
          <a:p>
            <a:r>
              <a:rPr lang="zh-CN" dirty="0">
                <a:sym typeface="+mn-ea"/>
              </a:rPr>
              <a:t> 演示 MVVM 模式</a:t>
            </a:r>
            <a:endParaRPr lang="zh-CN" dirty="0">
              <a:sym typeface="+mn-ea"/>
            </a:endParaRPr>
          </a:p>
        </p:txBody>
      </p:sp>
      <p:sp>
        <p:nvSpPr>
          <p:cNvPr id="8" name="AutoShape 3"/>
          <p:cNvSpPr/>
          <p:nvPr/>
        </p:nvSpPr>
        <p:spPr>
          <a:xfrm>
            <a:off x="275590" y="1290320"/>
            <a:ext cx="8593455" cy="4683139"/>
          </a:xfrm>
          <a:prstGeom prst="roundRect">
            <a:avLst>
              <a:gd name="adj" fmla="val 5861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00808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 algn="l"/>
            <a:r>
              <a:rPr lang="en-US" altLang="zh-CN" sz="1800" b="0" dirty="0" smtClean="0">
                <a:latin typeface="Arial" panose="020B0604020202020204" pitchFamily="34" charset="0"/>
                <a:ea typeface="宋体" panose="02010600030101010101" pitchFamily="2" charset="-122"/>
              </a:rPr>
              <a:t>&lt;!--</a:t>
            </a:r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这是我们的 View--&gt;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 smtClean="0">
                <a:latin typeface="Arial" panose="020B0604020202020204" pitchFamily="34" charset="0"/>
                <a:ea typeface="宋体" panose="02010600030101010101" pitchFamily="2" charset="-122"/>
              </a:rPr>
              <a:t>&lt;</a:t>
            </a:r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div id="App"&gt;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 smtClean="0">
                <a:latin typeface="Arial" panose="020B0604020202020204" pitchFamily="34" charset="0"/>
                <a:ea typeface="宋体" panose="02010600030101010101" pitchFamily="2" charset="-122"/>
              </a:rPr>
              <a:t>	{{ </a:t>
            </a:r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property }}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 smtClean="0">
                <a:latin typeface="Arial" panose="020B0604020202020204" pitchFamily="34" charset="0"/>
                <a:ea typeface="宋体" panose="02010600030101010101" pitchFamily="2" charset="-122"/>
              </a:rPr>
              <a:t>	&lt;</a:t>
            </a:r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input type="text" v-model="property"/&gt;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 smtClean="0">
                <a:latin typeface="Arial" panose="020B0604020202020204" pitchFamily="34" charset="0"/>
                <a:ea typeface="宋体" panose="02010600030101010101" pitchFamily="2" charset="-122"/>
              </a:rPr>
              <a:t>&lt;/</a:t>
            </a:r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div&gt;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 smtClean="0">
                <a:latin typeface="Arial" panose="020B0604020202020204" pitchFamily="34" charset="0"/>
                <a:ea typeface="宋体" panose="02010600030101010101" pitchFamily="2" charset="-122"/>
              </a:rPr>
              <a:t>&lt;</a:t>
            </a:r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script src="js/Vue.js"&gt;&lt;/script&gt;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 smtClean="0">
                <a:latin typeface="Arial" panose="020B0604020202020204" pitchFamily="34" charset="0"/>
                <a:ea typeface="宋体" panose="02010600030101010101" pitchFamily="2" charset="-122"/>
              </a:rPr>
              <a:t>&lt;</a:t>
            </a:r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script&gt;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 smtClean="0">
                <a:latin typeface="Arial" panose="020B0604020202020204" pitchFamily="34" charset="0"/>
                <a:ea typeface="宋体" panose="02010600030101010101" pitchFamily="2" charset="-122"/>
              </a:rPr>
              <a:t>// </a:t>
            </a:r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这是我们的 Model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 err="1" smtClean="0">
                <a:latin typeface="Arial" panose="020B0604020202020204" pitchFamily="34" charset="0"/>
                <a:ea typeface="宋体" panose="02010600030101010101" pitchFamily="2" charset="-122"/>
              </a:rPr>
              <a:t>var</a:t>
            </a:r>
            <a:r>
              <a:rPr lang="en-US" altLang="zh-CN" sz="1800" b="0" dirty="0" smtClean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exampleData = {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 smtClean="0">
                <a:latin typeface="Arial" panose="020B0604020202020204" pitchFamily="34" charset="0"/>
                <a:ea typeface="宋体" panose="02010600030101010101" pitchFamily="2" charset="-122"/>
              </a:rPr>
              <a:t>	property</a:t>
            </a:r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: 'Hello World'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 smtClean="0">
                <a:latin typeface="Arial" panose="020B0604020202020204" pitchFamily="34" charset="0"/>
                <a:ea typeface="宋体" panose="02010600030101010101" pitchFamily="2" charset="-122"/>
              </a:rPr>
              <a:t>}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 smtClean="0">
                <a:latin typeface="Arial" panose="020B0604020202020204" pitchFamily="34" charset="0"/>
                <a:ea typeface="宋体" panose="02010600030101010101" pitchFamily="2" charset="-122"/>
              </a:rPr>
              <a:t>new </a:t>
            </a:r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Vue({ // 创建一个 Vue 实例或 "ViewModel" ,它连接 View 与 Model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 smtClean="0">
                <a:latin typeface="Arial" panose="020B0604020202020204" pitchFamily="34" charset="0"/>
                <a:ea typeface="宋体" panose="02010600030101010101" pitchFamily="2" charset="-122"/>
              </a:rPr>
              <a:t>	el</a:t>
            </a:r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: '#App',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smtClean="0">
                <a:latin typeface="Arial" panose="020B0604020202020204" pitchFamily="34" charset="0"/>
                <a:ea typeface="宋体" panose="02010600030101010101" pitchFamily="2" charset="-122"/>
              </a:rPr>
              <a:t>	data</a:t>
            </a:r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: exampleData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 smtClean="0">
                <a:latin typeface="Arial" panose="020B0604020202020204" pitchFamily="34" charset="0"/>
                <a:ea typeface="宋体" panose="02010600030101010101" pitchFamily="2" charset="-122"/>
              </a:rPr>
              <a:t>})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 smtClean="0">
                <a:latin typeface="Arial" panose="020B0604020202020204" pitchFamily="34" charset="0"/>
                <a:ea typeface="宋体" panose="02010600030101010101" pitchFamily="2" charset="-122"/>
              </a:rPr>
              <a:t>&lt;/</a:t>
            </a:r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script&gt;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56422" name="AutoShape 6"/>
          <p:cNvSpPr>
            <a:spLocks noChangeArrowheads="1"/>
          </p:cNvSpPr>
          <p:nvPr/>
        </p:nvSpPr>
        <p:spPr bwMode="auto">
          <a:xfrm>
            <a:off x="5035550" y="1831340"/>
            <a:ext cx="3562350" cy="712720"/>
          </a:xfrm>
          <a:prstGeom prst="wedgeRoundRectCallout">
            <a:avLst>
              <a:gd name="adj1" fmla="val -21122"/>
              <a:gd name="adj2" fmla="val 119563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99">
                  <a:gamma/>
                  <a:tint val="0"/>
                  <a:invGamma/>
                </a:srgbClr>
              </a:gs>
            </a:gsLst>
            <a:lin ang="5400000" scaled="1"/>
          </a:gradFill>
          <a:ln w="9525" algn="ctr">
            <a:solidFill>
              <a:srgbClr val="FF6600"/>
            </a:solidFill>
            <a:miter lim="800000"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wrap="square" anchorCtr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sz="1800" b="0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+mn-ea"/>
              </a:rPr>
              <a:t>代码运行结果发现文本框和属性 property 的值双向绑定</a:t>
            </a:r>
            <a:r>
              <a:rPr lang="zh-CN" sz="1800" dirty="0">
                <a:sym typeface="+mn-ea"/>
              </a:rPr>
              <a:t>。</a:t>
            </a:r>
            <a:endParaRPr lang="zh-CN" sz="1800" dirty="0">
              <a:sym typeface="+mn-ea"/>
            </a:endParaRPr>
          </a:p>
        </p:txBody>
      </p:sp>
      <p:pic>
        <p:nvPicPr>
          <p:cNvPr id="9" name="图片 8" descr="66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213350" y="3111500"/>
            <a:ext cx="3384550" cy="635000"/>
          </a:xfrm>
          <a:prstGeom prst="rect">
            <a:avLst/>
          </a:prstGeom>
        </p:spPr>
      </p:pic>
      <p:sp>
        <p:nvSpPr>
          <p:cNvPr id="2" name="文本框 1">
            <a:hlinkClick r:id="rId3" action="ppaction://hlinkfile"/>
          </p:cNvPr>
          <p:cNvSpPr txBox="1"/>
          <p:nvPr/>
        </p:nvSpPr>
        <p:spPr>
          <a:xfrm>
            <a:off x="7049770" y="3920490"/>
            <a:ext cx="11398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hlinkClick r:id="rId4" action="ppaction://hlinkfile"/>
              </a:rPr>
              <a:t>运行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9564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9564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956422" grpId="0" bldLvl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/>
          </p:cNvSpPr>
          <p:nvPr>
            <p:ph type="title"/>
          </p:nvPr>
        </p:nvSpPr>
        <p:spPr>
          <a:xfrm>
            <a:off x="3541078" y="299720"/>
            <a:ext cx="5043487" cy="654050"/>
          </a:xfrm>
        </p:spPr>
        <p:txBody>
          <a:bodyPr vert="horz" wrap="square" lIns="91440" tIns="45720" rIns="91440" bIns="45720" anchor="ctr"/>
          <a:lstStyle/>
          <a:p>
            <a:r>
              <a:rPr dirty="0"/>
              <a:t>本章小结</a:t>
            </a:r>
            <a:endParaRPr lang="en-US" altLang="zh-CN" dirty="0"/>
          </a:p>
        </p:txBody>
      </p:sp>
      <p:sp>
        <p:nvSpPr>
          <p:cNvPr id="22531" name="Rectangle 3"/>
          <p:cNvSpPr>
            <a:spLocks noGrp="1"/>
          </p:cNvSpPr>
          <p:nvPr>
            <p:ph idx="1"/>
          </p:nvPr>
        </p:nvSpPr>
        <p:spPr>
          <a:xfrm>
            <a:off x="526098" y="1424940"/>
            <a:ext cx="8229600" cy="4321175"/>
          </a:xfrm>
        </p:spPr>
        <p:txBody>
          <a:bodyPr vert="horz" wrap="square" lIns="91440" tIns="45720" rIns="91440" bIns="45720" anchor="t"/>
          <a:lstStyle/>
          <a:p>
            <a:r>
              <a:rPr lang="zh-CN" sz="2800" dirty="0">
                <a:cs typeface="+mn-lt"/>
              </a:rPr>
              <a:t>了解</a:t>
            </a:r>
            <a:r>
              <a:rPr sz="2800" dirty="0">
                <a:cs typeface="+mn-lt"/>
              </a:rPr>
              <a:t>Vue 主要特点，Vue 的优势</a:t>
            </a:r>
            <a:endParaRPr sz="2800" dirty="0">
              <a:cs typeface="+mn-lt"/>
            </a:endParaRPr>
          </a:p>
          <a:p>
            <a:r>
              <a:rPr lang="zh-CN" sz="2800" dirty="0">
                <a:cs typeface="+mn-lt"/>
              </a:rPr>
              <a:t>明白</a:t>
            </a:r>
            <a:r>
              <a:rPr sz="2800" dirty="0">
                <a:cs typeface="+mn-lt"/>
              </a:rPr>
              <a:t>Vue 的下载及使用</a:t>
            </a:r>
            <a:endParaRPr sz="2800" dirty="0">
              <a:cs typeface="+mn-lt"/>
            </a:endParaRPr>
          </a:p>
          <a:p>
            <a:r>
              <a:rPr sz="2800" dirty="0">
                <a:cs typeface="+mn-lt"/>
              </a:rPr>
              <a:t>如何创建 Vue 实例</a:t>
            </a:r>
            <a:r>
              <a:rPr lang="zh-CN" sz="2800" dirty="0">
                <a:cs typeface="+mn-lt"/>
              </a:rPr>
              <a:t>、</a:t>
            </a:r>
            <a:r>
              <a:rPr sz="2800" dirty="0">
                <a:cs typeface="+mn-lt"/>
              </a:rPr>
              <a:t>数据和方法的基本使用</a:t>
            </a:r>
            <a:endParaRPr sz="2800" dirty="0">
              <a:cs typeface="+mn-lt"/>
            </a:endParaRPr>
          </a:p>
          <a:p>
            <a:r>
              <a:rPr sz="2800" dirty="0">
                <a:cs typeface="+mn-lt"/>
              </a:rPr>
              <a:t>数据挂载到 DOM 页面中</a:t>
            </a:r>
            <a:endParaRPr sz="2800" dirty="0">
              <a:cs typeface="+mn-lt"/>
            </a:endParaRPr>
          </a:p>
          <a:p>
            <a:r>
              <a:rPr sz="2800" dirty="0">
                <a:cs typeface="+mn-lt"/>
              </a:rPr>
              <a:t>MVVM 模式理解 Vue 的数据双向绑定</a:t>
            </a:r>
            <a:endParaRPr sz="2800" dirty="0">
              <a:cs typeface="+mn-lt"/>
            </a:endParaRPr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995" y="836295"/>
            <a:ext cx="3778250" cy="56959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874395"/>
            <a:ext cx="3759200" cy="565785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215" y="980440"/>
            <a:ext cx="8632825" cy="535686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27405" y="980440"/>
            <a:ext cx="533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对</a:t>
            </a:r>
            <a:r>
              <a:rPr lang="en-US" altLang="zh-CN"/>
              <a:t>CSS</a:t>
            </a:r>
            <a:r>
              <a:rPr lang="zh-CN" altLang="en-US"/>
              <a:t>中重排（reflow）和重绘（repaint）的理解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95605" y="4652645"/>
            <a:ext cx="6578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localStorage  sessionStorage  cookies 有什么区别?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505" y="5229225"/>
            <a:ext cx="8349615" cy="1120140"/>
          </a:xfrm>
          <a:prstGeom prst="rect">
            <a:avLst/>
          </a:prstGeom>
        </p:spPr>
      </p:pic>
      <p:pic>
        <p:nvPicPr>
          <p:cNvPr id="10" name="内容占位符 9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5650" y="1360805"/>
            <a:ext cx="7339330" cy="33972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SLIDE_MODEL_TYPE" val="cover"/>
</p:tagLst>
</file>

<file path=ppt/tags/tag2.xml><?xml version="1.0" encoding="utf-8"?>
<p:tagLst xmlns:p="http://schemas.openxmlformats.org/presentationml/2006/main">
  <p:tag name="KSO_WM_SLIDE_MODEL_TYPE" val="cover"/>
</p:tagLst>
</file>

<file path=ppt/tags/tag3.xml><?xml version="1.0" encoding="utf-8"?>
<p:tagLst xmlns:p="http://schemas.openxmlformats.org/presentationml/2006/main">
  <p:tag name="KSO_WM_DOC_GUID" val="{c58780ea-0820-40a0-889a-b1f874623c0e}"/>
  <p:tag name="commondata" val="eyJoZGlkIjoiZjBlNDM4ZjU1ZGI3YzQwMDk5ZjExZjgyZTc3ZDI2NDMifQ=="/>
</p:tagLst>
</file>

<file path=ppt/theme/theme1.xml><?xml version="1.0" encoding="utf-8"?>
<a:theme xmlns:a="http://schemas.openxmlformats.org/drawingml/2006/main" name="3_Office 主题">
  <a:themeElements>
    <a:clrScheme name="3_Office 主题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3_Office 主题">
      <a:majorFont>
        <a:latin typeface="黑体"/>
        <a:ea typeface="黑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第1章集合</Template>
  <TotalTime>0</TotalTime>
  <Words>4134</Words>
  <Application>WPS 演示</Application>
  <PresentationFormat>全屏显示(4:3)</PresentationFormat>
  <Paragraphs>399</Paragraphs>
  <Slides>32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1" baseType="lpstr">
      <vt:lpstr>Arial</vt:lpstr>
      <vt:lpstr>宋体</vt:lpstr>
      <vt:lpstr>Wingdings</vt:lpstr>
      <vt:lpstr>Calibri</vt:lpstr>
      <vt:lpstr>黑体</vt:lpstr>
      <vt:lpstr>微软雅黑</vt:lpstr>
      <vt:lpstr>Arial Unicode MS</vt:lpstr>
      <vt:lpstr>Arial Unicode MS</vt:lpstr>
      <vt:lpstr>3_Office 主题</vt:lpstr>
      <vt:lpstr>PowerPoint 演示文稿</vt:lpstr>
      <vt:lpstr>PowerPoint 演示文稿</vt:lpstr>
      <vt:lpstr>课程说明</vt:lpstr>
      <vt:lpstr>Vue 简述</vt:lpstr>
      <vt:lpstr>Vue 简述</vt:lpstr>
      <vt:lpstr>PowerPoint 演示文稿</vt:lpstr>
      <vt:lpstr>课程内容</vt:lpstr>
      <vt:lpstr>前端技术的发展</vt:lpstr>
      <vt:lpstr>前端技术的发展</vt:lpstr>
      <vt:lpstr>前端技术的发展</vt:lpstr>
      <vt:lpstr>  Vue 简述</vt:lpstr>
      <vt:lpstr> 为什么使用 Vue.js</vt:lpstr>
      <vt:lpstr> Vue.js 的主要特点</vt:lpstr>
      <vt:lpstr> Vue.js 的优势</vt:lpstr>
      <vt:lpstr>Vue.js 下载及引用</vt:lpstr>
      <vt:lpstr>npm 安装</vt:lpstr>
      <vt:lpstr>安装过程</vt:lpstr>
      <vt:lpstr>安装过程</vt:lpstr>
      <vt:lpstr>安装过程</vt:lpstr>
      <vt:lpstr> Vue 项目目录结钩</vt:lpstr>
      <vt:lpstr> Vue 项目目录结钩</vt:lpstr>
      <vt:lpstr> 实例化 Vue 对象、数据和方法</vt:lpstr>
      <vt:lpstr> 演示创建 Vue 实例的过程</vt:lpstr>
      <vt:lpstr> 实例化 Vue 对象、数据和方法</vt:lpstr>
      <vt:lpstr> 演示数据挂载到 DOM 页面</vt:lpstr>
      <vt:lpstr> 演示数据挂载到 DOM 页面</vt:lpstr>
      <vt:lpstr> MVVM 模式</vt:lpstr>
      <vt:lpstr> 演示 MVVM 模式</vt:lpstr>
      <vt:lpstr>本章小结</vt:lpstr>
      <vt:lpstr>PowerPoint 演示文稿</vt:lpstr>
      <vt:lpstr>PowerPoint 演示文稿</vt:lpstr>
      <vt:lpstr>本章小结</vt:lpstr>
    </vt:vector>
  </TitlesOfParts>
  <Company>BeiJing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YAOYUAN</dc:creator>
  <cp:lastModifiedBy>章晟昱</cp:lastModifiedBy>
  <cp:revision>913</cp:revision>
  <dcterms:created xsi:type="dcterms:W3CDTF">2005-06-22T06:00:00Z</dcterms:created>
  <dcterms:modified xsi:type="dcterms:W3CDTF">2024-09-03T13:10:40Z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2052-12.1.0.17857</vt:lpwstr>
  </property>
  <property fmtid="{D5CDD505-2E9C-101B-9397-08002B2CF9AE}" pid="3" name="ICV">
    <vt:lpwstr>1C34210E39454E4DB539EE2B1C0103C7_12</vt:lpwstr>
  </property>
</Properties>
</file>