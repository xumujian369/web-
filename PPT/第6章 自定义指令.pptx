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61" r:id="rId3"/>
    <p:sldId id="289" r:id="rId4"/>
    <p:sldId id="257" r:id="rId5"/>
    <p:sldId id="262" r:id="rId6"/>
    <p:sldId id="314" r:id="rId7"/>
    <p:sldId id="312" r:id="rId8"/>
    <p:sldId id="315" r:id="rId9"/>
    <p:sldId id="316" r:id="rId10"/>
    <p:sldId id="317" r:id="rId11"/>
    <p:sldId id="318" r:id="rId12"/>
    <p:sldId id="319" r:id="rId14"/>
    <p:sldId id="358" r:id="rId15"/>
    <p:sldId id="359" r:id="rId16"/>
    <p:sldId id="320" r:id="rId17"/>
    <p:sldId id="321" r:id="rId18"/>
    <p:sldId id="322" r:id="rId19"/>
    <p:sldId id="323" r:id="rId20"/>
    <p:sldId id="324" r:id="rId21"/>
    <p:sldId id="325" r:id="rId22"/>
    <p:sldId id="350" r:id="rId23"/>
    <p:sldId id="327" r:id="rId24"/>
    <p:sldId id="328" r:id="rId25"/>
    <p:sldId id="329" r:id="rId26"/>
    <p:sldId id="330" r:id="rId27"/>
    <p:sldId id="284" r:id="rId28"/>
    <p:sldId id="348" r:id="rId29"/>
  </p:sldIdLst>
  <p:sldSz cx="9144000" cy="6858000" type="screen4x3"/>
  <p:notesSz cx="6858000" cy="9144000"/>
  <p:custDataLst>
    <p:tags r:id="rId33"/>
  </p:custDataLst>
  <p:defaultTextStyle>
    <a:defPPr>
      <a:defRPr lang="zh-CN"/>
    </a:defPPr>
    <a:lvl1pPr marL="0" lvl="0"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2544" userDrawn="1">
          <p15:clr>
            <a:srgbClr val="A4A3A4"/>
          </p15:clr>
        </p15:guide>
        <p15:guide id="3" orient="horz" pos="1995" userDrawn="1">
          <p15:clr>
            <a:srgbClr val="A4A3A4"/>
          </p15:clr>
        </p15:guide>
        <p15:guide id="4" orient="horz" pos="810" userDrawn="1">
          <p15:clr>
            <a:srgbClr val="A4A3A4"/>
          </p15:clr>
        </p15:guide>
        <p15:guide id="5" pos="2880" userDrawn="1">
          <p15:clr>
            <a:srgbClr val="A4A3A4"/>
          </p15:clr>
        </p15:guide>
        <p15:guide id="6" pos="422" userDrawn="1">
          <p15:clr>
            <a:srgbClr val="A4A3A4"/>
          </p15:clr>
        </p15:guide>
        <p15:guide id="7" pos="86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ECB2"/>
    <a:srgbClr val="FFFFCC"/>
    <a:srgbClr val="CDADF1"/>
    <a:srgbClr val="0099FF"/>
    <a:srgbClr val="659B68"/>
    <a:srgbClr val="AAE66E"/>
    <a:srgbClr val="99FF33"/>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8"/>
    <p:restoredTop sz="94585"/>
  </p:normalViewPr>
  <p:slideViewPr>
    <p:cSldViewPr showGuides="1">
      <p:cViewPr varScale="1">
        <p:scale>
          <a:sx n="84" d="100"/>
          <a:sy n="84" d="100"/>
        </p:scale>
        <p:origin x="-1554" y="-72"/>
      </p:cViewPr>
      <p:guideLst>
        <p:guide orient="horz" pos="2160"/>
        <p:guide orient="horz" pos="2544"/>
        <p:guide orient="horz" pos="1995"/>
        <p:guide orient="horz" pos="810"/>
        <p:guide pos="2880"/>
        <p:guide pos="422"/>
        <p:guide pos="86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tags" Target="tags/tag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3556"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1" fontAlgn="base" latinLnBrk="0" hangingPunct="1">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CN" sz="1200" b="0" dirty="0"/>
            </a:fld>
            <a:endParaRPr lang="en-US" altLang="zh-CN" sz="1200" b="0" dirty="0"/>
          </a:p>
        </p:txBody>
      </p:sp>
    </p:spTree>
  </p:cSld>
  <p:clrMap bg1="lt1" tx1="dk1" bg2="lt2" tx2="dk2" accent1="accent1" accent2="accent2" accent3="accent3" accent4="accent4" accent5="accent5" accent6="accent6" hlink="hlink" folHlink="folHlink"/>
  <p:hf sldNum="0" hdr="0" ftr="0" dt="0"/>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23850" y="1268413"/>
            <a:ext cx="4087813" cy="491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564063" y="1268413"/>
            <a:ext cx="4089400" cy="491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99250" y="260350"/>
            <a:ext cx="2124075" cy="59197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23850" y="260350"/>
            <a:ext cx="6223000" cy="59197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779838" y="260350"/>
            <a:ext cx="5043487" cy="65405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23850" y="1268413"/>
            <a:ext cx="4087813" cy="4911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564063" y="1268413"/>
            <a:ext cx="4089400" cy="491172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文本占位符 2"/>
          <p:cNvSpPr>
            <a:spLocks noGrp="1"/>
          </p:cNvSpPr>
          <p:nvPr>
            <p:ph type="body" idx="1"/>
          </p:nvPr>
        </p:nvSpPr>
        <p:spPr>
          <a:xfrm>
            <a:off x="323850" y="1268413"/>
            <a:ext cx="8329613" cy="49117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27" name="标题占位符 1"/>
          <p:cNvSpPr>
            <a:spLocks noGrp="1"/>
          </p:cNvSpPr>
          <p:nvPr>
            <p:ph type="title"/>
          </p:nvPr>
        </p:nvSpPr>
        <p:spPr>
          <a:xfrm>
            <a:off x="3779838" y="260350"/>
            <a:ext cx="5043487" cy="654050"/>
          </a:xfrm>
          <a:prstGeom prst="rect">
            <a:avLst/>
          </a:prstGeom>
          <a:noFill/>
          <a:ln w="9525">
            <a:noFill/>
          </a:ln>
        </p:spPr>
        <p:txBody>
          <a:bodyPr anchor="ctr"/>
          <a:lstStyle/>
          <a:p>
            <a:pPr lvl="0"/>
            <a:r>
              <a:rPr lang="en-US" altLang="zh-CN" dirty="0"/>
              <a:t>Photoshop</a:t>
            </a:r>
            <a:r>
              <a:rPr lang="zh-CN" altLang="en-US" dirty="0"/>
              <a:t>与</a:t>
            </a:r>
            <a:r>
              <a:rPr lang="en-US" altLang="zh-CN" dirty="0"/>
              <a:t>Flash</a:t>
            </a:r>
            <a:endParaRPr lang="en-US" altLang="zh-CN" dirty="0"/>
          </a:p>
        </p:txBody>
      </p:sp>
      <p:sp>
        <p:nvSpPr>
          <p:cNvPr id="9"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b="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0"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fontAlgn="auto">
              <a:spcBef>
                <a:spcPts val="0"/>
              </a:spcBef>
              <a:spcAft>
                <a:spcPts val="0"/>
              </a:spcAft>
              <a:defRPr sz="1200" b="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b="0">
                <a:solidFill>
                  <a:srgbClr val="898989"/>
                </a:solidFill>
                <a:latin typeface="Calibri" panose="020F0502020204030204" pitchFamily="34" charset="0"/>
              </a:defRPr>
            </a:lvl1pPr>
          </a:lstStyle>
          <a:p>
            <a:pPr lvl="0" eaLnBrk="1" hangingPunct="1"/>
            <a:fld id="{9A0DB2DC-4C9A-4742-B13C-FB6460FD3503}" type="slidenum">
              <a:rPr lang="zh-CN" altLang="en-US" dirty="0"/>
            </a:fld>
            <a:endParaRPr lang="zh-CN" altLang="en-US" dirty="0"/>
          </a:p>
        </p:txBody>
      </p:sp>
      <p:pic>
        <p:nvPicPr>
          <p:cNvPr id="3" name="图片 2"/>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55576" y="262186"/>
            <a:ext cx="1280567" cy="652214"/>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r" rtl="0" eaLnBrk="0" fontAlgn="base" hangingPunct="0">
        <a:spcBef>
          <a:spcPct val="0"/>
        </a:spcBef>
        <a:spcAft>
          <a:spcPct val="0"/>
        </a:spcAft>
        <a:defRPr sz="2800">
          <a:solidFill>
            <a:schemeClr val="tx1"/>
          </a:solidFill>
          <a:latin typeface="+mj-lt"/>
          <a:ea typeface="+mj-ea"/>
          <a:cs typeface="+mj-cs"/>
        </a:defRPr>
      </a:lvl1pPr>
      <a:lvl2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2pPr>
      <a:lvl3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3pPr>
      <a:lvl4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4pPr>
      <a:lvl5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5pPr>
      <a:lvl6pPr marL="4572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6pPr>
      <a:lvl7pPr marL="9144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7pPr>
      <a:lvl8pPr marL="13716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8pPr>
      <a:lvl9pPr marL="18288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9pPr>
    </p:titleStyle>
    <p:bodyStyle>
      <a:lvl1pPr marL="342900" indent="-342900" algn="l" rtl="0" eaLnBrk="0" fontAlgn="base" hangingPunct="0">
        <a:spcBef>
          <a:spcPct val="20000"/>
        </a:spcBef>
        <a:spcAft>
          <a:spcPct val="0"/>
        </a:spcAft>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anose="05000000000000000000" pitchFamily="2" charset="2"/>
        <a:buChar char="p"/>
        <a:defRPr sz="2800">
          <a:solidFill>
            <a:schemeClr val="tx1"/>
          </a:solidFill>
          <a:latin typeface="+mn-lt"/>
          <a:ea typeface="+mn-ea"/>
        </a:defRPr>
      </a:lvl2pPr>
      <a:lvl3pPr marL="1143000" indent="-228600" algn="l" rtl="0" eaLnBrk="0" fontAlgn="base" hangingPunct="0">
        <a:spcBef>
          <a:spcPct val="20000"/>
        </a:spcBef>
        <a:spcAft>
          <a:spcPct val="0"/>
        </a:spcAft>
        <a:buFont typeface="Wingdings" panose="05000000000000000000" pitchFamily="2" charset="2"/>
        <a:buChar char="u"/>
        <a:defRPr sz="2400">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hyperlink" Target="..\vuejs&#35838;&#31243;&#28304;&#30721;&#31034;&#20363;\&#35838;&#31243;&#31034;&#20363;\ch06\&#12304;&#20363;6-1&#12305;&#27880;&#20876;&#20840;&#23616;&#33258;&#23450;&#20041;&#25351;&#20196;.html" TargetMode="Externa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hyperlink" Target="..\vuejs&#35838;&#31243;&#28304;&#30721;&#31034;&#20363;\&#35838;&#31243;&#31034;&#20363;\ch06\&#12304;&#20363;6-2&#12305;&#27880;&#20876;&#23616;&#37096;&#33258;&#23450;&#20041;&#25351;&#20196;.html"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hyperlink" Target="..\vuejs&#35838;&#31243;&#28304;&#30721;&#31034;&#20363;\&#35838;&#31243;&#31034;&#20363;\ch06\&#12304;&#20363;6-3&#12305;&#21487;&#25302;&#25341;&#20803;&#32032;.html"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hyperlink" Target="..\vuejs&#35838;&#31243;&#28304;&#30721;&#31034;&#20363;\&#35838;&#31243;&#31034;&#20363;\ch06\&#12304;&#20363;6-4&#12305;&#29992;&#38543;&#26426;&#30340;&#32972;&#26223;&#33394;&#21344;&#20301;.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Grp="1"/>
          </p:cNvSpPr>
          <p:nvPr/>
        </p:nvSpPr>
        <p:spPr>
          <a:xfrm>
            <a:off x="-58420" y="2303463"/>
            <a:ext cx="6551613" cy="863600"/>
          </a:xfrm>
          <a:prstGeom prst="rect">
            <a:avLst/>
          </a:prstGeom>
          <a:noFill/>
          <a:ln w="9525">
            <a:noFill/>
          </a:ln>
        </p:spPr>
        <p:txBody>
          <a:bodyPr vert="horz" wrap="square" lIns="91440" tIns="45720" rIns="91440" bIns="45720" anchor="ctr"/>
          <a:lstStyle>
            <a:lvl1pPr algn="r" rtl="0" eaLnBrk="0" fontAlgn="base" hangingPunct="0">
              <a:spcBef>
                <a:spcPct val="0"/>
              </a:spcBef>
              <a:spcAft>
                <a:spcPct val="0"/>
              </a:spcAft>
              <a:defRPr sz="2800">
                <a:solidFill>
                  <a:schemeClr val="tx1"/>
                </a:solidFill>
                <a:latin typeface="+mj-lt"/>
                <a:ea typeface="+mj-ea"/>
                <a:cs typeface="+mj-cs"/>
              </a:defRPr>
            </a:lvl1pPr>
            <a:lvl2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2pPr>
            <a:lvl3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3pPr>
            <a:lvl4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4pPr>
            <a:lvl5pPr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5pPr>
            <a:lvl6pPr marL="4572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6pPr>
            <a:lvl7pPr marL="9144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7pPr>
            <a:lvl8pPr marL="13716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8pPr>
            <a:lvl9pPr marL="1828800" algn="r" rtl="0" eaLnBrk="0" fontAlgn="base" hangingPunct="0">
              <a:spcBef>
                <a:spcPct val="0"/>
              </a:spcBef>
              <a:spcAft>
                <a:spcPct val="0"/>
              </a:spcAft>
              <a:defRPr sz="2800">
                <a:solidFill>
                  <a:schemeClr val="tx1"/>
                </a:solidFill>
                <a:latin typeface="黑体" panose="02010609060101010101" pitchFamily="2" charset="-122"/>
                <a:ea typeface="黑体" panose="02010609060101010101" pitchFamily="2" charset="-122"/>
              </a:defRPr>
            </a:lvl9pPr>
          </a:lstStyle>
          <a:p>
            <a:pPr algn="ctr"/>
            <a:r>
              <a:rPr lang="en-US" altLang="zh-CN" sz="4000" dirty="0">
                <a:ea typeface="+mj-lt"/>
                <a:cs typeface="+mj-lt"/>
                <a:sym typeface="+mn-ea"/>
              </a:rPr>
              <a:t>   </a:t>
            </a:r>
            <a:r>
              <a:rPr lang="zh-CN" altLang="en-US" sz="4000" dirty="0">
                <a:ea typeface="+mj-lt"/>
                <a:cs typeface="+mj-lt"/>
                <a:sym typeface="+mn-ea"/>
              </a:rPr>
              <a:t>第</a:t>
            </a:r>
            <a:r>
              <a:rPr lang="en-US" altLang="zh-CN" sz="4000" dirty="0">
                <a:ea typeface="+mj-lt"/>
                <a:cs typeface="+mj-lt"/>
                <a:sym typeface="+mn-ea"/>
              </a:rPr>
              <a:t>6</a:t>
            </a:r>
            <a:r>
              <a:rPr lang="zh-CN" altLang="en-US" sz="4000" dirty="0">
                <a:ea typeface="+mj-lt"/>
                <a:cs typeface="+mj-lt"/>
                <a:sym typeface="+mn-ea"/>
              </a:rPr>
              <a:t>章 </a:t>
            </a:r>
            <a:r>
              <a:rPr lang="zh-CN" altLang="en-US" sz="4000" dirty="0">
                <a:ea typeface="+mj-lt"/>
                <a:cs typeface="+mj-lt"/>
                <a:sym typeface="+mn-ea"/>
              </a:rPr>
              <a:t>自定义指令</a:t>
            </a:r>
            <a:endParaRPr sz="4000" b="1" dirty="0">
              <a:ea typeface="+mj-lt"/>
              <a:cs typeface="+mj-lt"/>
            </a:endParaRPr>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p:nvPr>
        </p:nvSpPr>
        <p:spPr/>
        <p:txBody>
          <a:bodyPr vert="horz" wrap="square" lIns="91440" tIns="45720" rIns="91440" bIns="45720" anchor="ctr"/>
          <a:lstStyle/>
          <a:p>
            <a:r>
              <a:rPr lang="en-US" altLang="zh-CN" dirty="0">
                <a:sym typeface="+mn-ea"/>
              </a:rPr>
              <a:t> </a:t>
            </a:r>
            <a:r>
              <a:rPr lang="zh-CN" altLang="en-US" dirty="0">
                <a:sym typeface="+mn-ea"/>
              </a:rPr>
              <a:t>课程目标</a:t>
            </a:r>
            <a:endParaRPr lang="zh-CN" altLang="en-US" dirty="0"/>
          </a:p>
        </p:txBody>
      </p:sp>
      <p:sp>
        <p:nvSpPr>
          <p:cNvPr id="3075" name="Rectangle 3"/>
          <p:cNvSpPr>
            <a:spLocks noGrp="1"/>
          </p:cNvSpPr>
          <p:nvPr>
            <p:ph idx="1"/>
          </p:nvPr>
        </p:nvSpPr>
        <p:spPr>
          <a:xfrm>
            <a:off x="684213" y="1341438"/>
            <a:ext cx="8229600" cy="4525962"/>
          </a:xfrm>
        </p:spPr>
        <p:txBody>
          <a:bodyPr vert="horz" wrap="square" lIns="91440" tIns="45720" rIns="91440" bIns="45720" anchor="t"/>
          <a:lstStyle/>
          <a:p>
            <a:pPr latinLnBrk="0">
              <a:lnSpc>
                <a:spcPct val="125000"/>
              </a:lnSpc>
              <a:spcBef>
                <a:spcPts val="0"/>
              </a:spcBef>
            </a:pPr>
            <a:r>
              <a:rPr lang="en-US" altLang="zh-CN" sz="2800" dirty="0"/>
              <a:t>Vue </a:t>
            </a:r>
            <a:r>
              <a:rPr lang="zh-CN" altLang="en-US" sz="2800" dirty="0"/>
              <a:t>除了基本指令外，允许用户自 定义指令，自定义指令是对基本指令的扩展与补充</a:t>
            </a:r>
            <a:r>
              <a:rPr sz="2800" dirty="0"/>
              <a:t>。</a:t>
            </a:r>
            <a:endParaRPr sz="2800" dirty="0"/>
          </a:p>
          <a:p>
            <a:pPr latinLnBrk="0">
              <a:lnSpc>
                <a:spcPct val="125000"/>
              </a:lnSpc>
              <a:spcBef>
                <a:spcPts val="0"/>
              </a:spcBef>
            </a:pPr>
            <a:r>
              <a:rPr sz="2800" dirty="0" err="1"/>
              <a:t>本章介绍</a:t>
            </a:r>
            <a:r>
              <a:rPr lang="zh-CN" altLang="en-US" sz="2800" dirty="0"/>
              <a:t>自定义指令，注册全局以及局部自定义指令</a:t>
            </a:r>
            <a:r>
              <a:rPr sz="2800" dirty="0"/>
              <a:t>。</a:t>
            </a:r>
            <a:endParaRPr sz="2800" dirty="0"/>
          </a:p>
          <a:p>
            <a:pPr latinLnBrk="0">
              <a:lnSpc>
                <a:spcPct val="125000"/>
              </a:lnSpc>
              <a:spcBef>
                <a:spcPts val="0"/>
              </a:spcBef>
            </a:pPr>
            <a:r>
              <a:rPr lang="zh-CN" altLang="en-US" sz="2800" dirty="0"/>
              <a:t>通过学习自定义指令更加深入了解钩子函数的作用，钩子函数参数在自定义指令的使用。</a:t>
            </a:r>
            <a:endParaRPr lang="en-US" altLang="zh-CN" sz="2800"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fade">
                                      <p:cBhvr>
                                        <p:cTn id="7" dur="500"/>
                                        <p:tgtEl>
                                          <p:spTgt spid="3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fade">
                                      <p:cBhvr>
                                        <p:cTn id="12" dur="500"/>
                                        <p:tgtEl>
                                          <p:spTgt spid="30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75">
                                            <p:txEl>
                                              <p:pRg st="2" end="2"/>
                                            </p:txEl>
                                          </p:spTgt>
                                        </p:tgtEl>
                                        <p:attrNameLst>
                                          <p:attrName>style.visibility</p:attrName>
                                        </p:attrNameLst>
                                      </p:cBhvr>
                                      <p:to>
                                        <p:strVal val="visible"/>
                                      </p:to>
                                    </p:set>
                                    <p:animEffect transition="in" filter="fade">
                                      <p:cBhvr>
                                        <p:cTn id="17" dur="500"/>
                                        <p:tgtEl>
                                          <p:spTgt spid="30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p:txBody>
          <a:bodyPr vert="horz" wrap="square" lIns="91440" tIns="45720" rIns="91440" bIns="45720" anchor="ctr"/>
          <a:lstStyle/>
          <a:p>
            <a:r>
              <a:rPr lang="zh-CN" altLang="en-US" dirty="0">
                <a:sym typeface="+mn-ea"/>
              </a:rPr>
              <a:t>课程内容</a:t>
            </a:r>
            <a:endParaRPr lang="zh-CN" altLang="en-US" dirty="0"/>
          </a:p>
        </p:txBody>
      </p:sp>
      <p:sp>
        <p:nvSpPr>
          <p:cNvPr id="34819" name="Rectangle 3"/>
          <p:cNvSpPr>
            <a:spLocks noGrp="1"/>
          </p:cNvSpPr>
          <p:nvPr>
            <p:ph idx="1"/>
          </p:nvPr>
        </p:nvSpPr>
        <p:spPr>
          <a:xfrm>
            <a:off x="684213" y="1341438"/>
            <a:ext cx="8229600" cy="4525962"/>
          </a:xfrm>
        </p:spPr>
        <p:txBody>
          <a:bodyPr vert="horz" wrap="square" lIns="91440" tIns="45720" rIns="91440" bIns="45720" anchor="t"/>
          <a:lstStyle/>
          <a:p>
            <a:pPr latinLnBrk="0">
              <a:lnSpc>
                <a:spcPct val="120000"/>
              </a:lnSpc>
              <a:spcBef>
                <a:spcPts val="0"/>
              </a:spcBef>
              <a:spcAft>
                <a:spcPts val="0"/>
              </a:spcAft>
            </a:pPr>
            <a:r>
              <a:rPr lang="zh-CN" altLang="en-US" dirty="0"/>
              <a:t> </a:t>
            </a:r>
            <a:r>
              <a:rPr lang="zh-CN" altLang="en-US" sz="2800" dirty="0"/>
              <a:t>自定义指令</a:t>
            </a:r>
            <a:endParaRPr lang="en-US" sz="2800" dirty="0"/>
          </a:p>
          <a:p>
            <a:pPr latinLnBrk="0">
              <a:lnSpc>
                <a:spcPct val="120000"/>
              </a:lnSpc>
              <a:spcBef>
                <a:spcPts val="0"/>
              </a:spcBef>
              <a:spcAft>
                <a:spcPts val="0"/>
              </a:spcAft>
            </a:pPr>
            <a:r>
              <a:rPr lang="zh-CN" altLang="en-US" sz="2800" dirty="0"/>
              <a:t> 注册全局</a:t>
            </a:r>
            <a:endParaRPr lang="en-US" altLang="zh-CN" sz="2800" dirty="0"/>
          </a:p>
          <a:p>
            <a:pPr latinLnBrk="0">
              <a:lnSpc>
                <a:spcPct val="120000"/>
              </a:lnSpc>
              <a:spcBef>
                <a:spcPts val="0"/>
              </a:spcBef>
              <a:spcAft>
                <a:spcPts val="0"/>
              </a:spcAft>
            </a:pPr>
            <a:r>
              <a:rPr lang="zh-CN" altLang="en-US" sz="2800" dirty="0"/>
              <a:t> 局部自定义指令  </a:t>
            </a:r>
            <a:endParaRPr sz="2800" dirty="0"/>
          </a:p>
          <a:p>
            <a:pPr latinLnBrk="0">
              <a:lnSpc>
                <a:spcPct val="120000"/>
              </a:lnSpc>
              <a:spcBef>
                <a:spcPts val="0"/>
              </a:spcBef>
              <a:spcAft>
                <a:spcPts val="0"/>
              </a:spcAft>
            </a:pPr>
            <a:r>
              <a:rPr lang="zh-CN" altLang="en-US" sz="2800" dirty="0"/>
              <a:t> 钩子函数 </a:t>
            </a:r>
            <a:endParaRPr lang="en-US" altLang="zh-CN" sz="2800" dirty="0"/>
          </a:p>
          <a:p>
            <a:pPr latinLnBrk="0">
              <a:lnSpc>
                <a:spcPct val="120000"/>
              </a:lnSpc>
              <a:spcBef>
                <a:spcPts val="0"/>
              </a:spcBef>
              <a:spcAft>
                <a:spcPts val="0"/>
              </a:spcAft>
            </a:pPr>
            <a:r>
              <a:rPr lang="zh-CN" altLang="en-US" sz="2800" dirty="0"/>
              <a:t> 钩子函数参数 </a:t>
            </a:r>
            <a:endParaRPr sz="2800" dirty="0"/>
          </a:p>
          <a:p>
            <a:pPr latinLnBrk="0">
              <a:lnSpc>
                <a:spcPct val="120000"/>
              </a:lnSpc>
              <a:spcBef>
                <a:spcPts val="0"/>
              </a:spcBef>
              <a:spcAft>
                <a:spcPts val="0"/>
              </a:spcAft>
            </a:pPr>
            <a:r>
              <a:rPr sz="2800" dirty="0"/>
              <a:t> </a:t>
            </a:r>
            <a:r>
              <a:rPr lang="zh-CN" altLang="en-US" sz="2800" dirty="0"/>
              <a:t>指令参数 </a:t>
            </a:r>
            <a:endParaRPr lang="en-US" altLang="zh-CN" sz="2800" dirty="0"/>
          </a:p>
          <a:p>
            <a:pPr latinLnBrk="0">
              <a:lnSpc>
                <a:spcPct val="120000"/>
              </a:lnSpc>
              <a:spcBef>
                <a:spcPts val="0"/>
              </a:spcBef>
              <a:spcAft>
                <a:spcPts val="0"/>
              </a:spcAft>
            </a:pPr>
            <a:r>
              <a:rPr lang="zh-CN" altLang="en-US" sz="2800" dirty="0"/>
              <a:t> 对象字面量</a:t>
            </a:r>
            <a:r>
              <a:rPr lang="zh-CN" altLang="en-US" dirty="0"/>
              <a:t> </a:t>
            </a:r>
            <a:endParaRPr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fade">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fade">
                                      <p:cBhvr>
                                        <p:cTn id="12" dur="5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fade">
                                      <p:cBhvr>
                                        <p:cTn id="17" dur="500"/>
                                        <p:tgtEl>
                                          <p:spTgt spid="34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fade">
                                      <p:cBhvr>
                                        <p:cTn id="22" dur="500"/>
                                        <p:tgtEl>
                                          <p:spTgt spid="348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4819">
                                            <p:txEl>
                                              <p:pRg st="4" end="4"/>
                                            </p:txEl>
                                          </p:spTgt>
                                        </p:tgtEl>
                                        <p:attrNameLst>
                                          <p:attrName>style.visibility</p:attrName>
                                        </p:attrNameLst>
                                      </p:cBhvr>
                                      <p:to>
                                        <p:strVal val="visible"/>
                                      </p:to>
                                    </p:set>
                                    <p:animEffect transition="in" filter="fade">
                                      <p:cBhvr>
                                        <p:cTn id="27" dur="500"/>
                                        <p:tgtEl>
                                          <p:spTgt spid="348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4819">
                                            <p:txEl>
                                              <p:pRg st="5" end="5"/>
                                            </p:txEl>
                                          </p:spTgt>
                                        </p:tgtEl>
                                        <p:attrNameLst>
                                          <p:attrName>style.visibility</p:attrName>
                                        </p:attrNameLst>
                                      </p:cBhvr>
                                      <p:to>
                                        <p:strVal val="visible"/>
                                      </p:to>
                                    </p:set>
                                    <p:animEffect transition="in" filter="fade">
                                      <p:cBhvr>
                                        <p:cTn id="32" dur="500"/>
                                        <p:tgtEl>
                                          <p:spTgt spid="348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4819">
                                            <p:txEl>
                                              <p:pRg st="6" end="6"/>
                                            </p:txEl>
                                          </p:spTgt>
                                        </p:tgtEl>
                                        <p:attrNameLst>
                                          <p:attrName>style.visibility</p:attrName>
                                        </p:attrNameLst>
                                      </p:cBhvr>
                                      <p:to>
                                        <p:strVal val="visible"/>
                                      </p:to>
                                    </p:set>
                                    <p:animEffect transition="in" filter="fade">
                                      <p:cBhvr>
                                        <p:cTn id="37" dur="500"/>
                                        <p:tgtEl>
                                          <p:spTgt spid="348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879475" y="260350"/>
            <a:ext cx="8229600" cy="792163"/>
          </a:xfrm>
        </p:spPr>
        <p:txBody>
          <a:bodyPr vert="horz" wrap="square" lIns="91440" tIns="45720" rIns="91440" bIns="45720" anchor="ctr"/>
          <a:lstStyle/>
          <a:p>
            <a:r>
              <a:rPr lang="en-US" dirty="0"/>
              <a:t>  </a:t>
            </a:r>
            <a:r>
              <a:rPr lang="en-US" altLang="zh-CN" dirty="0"/>
              <a:t>6</a:t>
            </a:r>
            <a:r>
              <a:rPr dirty="0"/>
              <a:t>.1 </a:t>
            </a:r>
            <a:r>
              <a:rPr lang="zh-CN" altLang="en-US" dirty="0"/>
              <a:t>自定义指令概述</a:t>
            </a:r>
            <a:endParaRPr dirty="0"/>
          </a:p>
        </p:txBody>
      </p:sp>
      <p:sp>
        <p:nvSpPr>
          <p:cNvPr id="5123" name="Rectangle 3"/>
          <p:cNvSpPr>
            <a:spLocks noGrp="1"/>
          </p:cNvSpPr>
          <p:nvPr>
            <p:ph type="body" sz="half" idx="1"/>
          </p:nvPr>
        </p:nvSpPr>
        <p:spPr/>
        <p:txBody>
          <a:bodyPr vert="horz" wrap="square" lIns="91440" tIns="45720" rIns="91440" bIns="45720" anchor="t"/>
          <a:lstStyle/>
          <a:p>
            <a:endParaRPr lang="en-US" altLang="zh-CN" sz="2800" dirty="0"/>
          </a:p>
          <a:p>
            <a:endParaRPr lang="en-US" altLang="zh-CN" sz="2800" dirty="0"/>
          </a:p>
          <a:p>
            <a:endParaRPr lang="en-US" altLang="zh-CN" sz="2800" dirty="0"/>
          </a:p>
          <a:p>
            <a:endParaRPr lang="en-US" altLang="zh-CN" sz="2800" dirty="0"/>
          </a:p>
          <a:p>
            <a:pPr>
              <a:buNone/>
            </a:pPr>
            <a:endParaRPr lang="en-US" altLang="zh-CN" sz="2800" dirty="0"/>
          </a:p>
        </p:txBody>
      </p:sp>
      <p:sp>
        <p:nvSpPr>
          <p:cNvPr id="16" name="灯片编号占位符 6"/>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5131" name="Rectangle 36"/>
          <p:cNvSpPr/>
          <p:nvPr/>
        </p:nvSpPr>
        <p:spPr>
          <a:xfrm>
            <a:off x="392430" y="1268730"/>
            <a:ext cx="8365490" cy="4523105"/>
          </a:xfrm>
          <a:prstGeom prst="rect">
            <a:avLst/>
          </a:prstGeom>
          <a:noFill/>
          <a:ln w="9525">
            <a:noFill/>
          </a:ln>
        </p:spPr>
        <p:txBody>
          <a:bodyPr/>
          <a:lstStyle/>
          <a:p>
            <a:pPr marL="342900" indent="-342900" algn="l" eaLnBrk="0" hangingPunct="0">
              <a:lnSpc>
                <a:spcPct val="150000"/>
              </a:lnSpc>
              <a:spcBef>
                <a:spcPts val="0"/>
              </a:spcBef>
              <a:buFont typeface="Wingdings" panose="05000000000000000000" pitchFamily="2" charset="2"/>
              <a:buChar char="n"/>
            </a:pPr>
            <a:r>
              <a:rPr lang="zh-CN" altLang="en-US" sz="2800" b="0" dirty="0">
                <a:latin typeface="Calibri" panose="020F0502020204030204" pitchFamily="34" charset="0"/>
              </a:rPr>
              <a:t>除了 </a:t>
            </a:r>
            <a:r>
              <a:rPr lang="en-US" altLang="zh-CN" sz="2800" b="0" dirty="0">
                <a:latin typeface="Calibri" panose="020F0502020204030204" pitchFamily="34" charset="0"/>
              </a:rPr>
              <a:t>Vue </a:t>
            </a:r>
            <a:r>
              <a:rPr lang="zh-CN" altLang="en-US" sz="2800" b="0" dirty="0">
                <a:latin typeface="Calibri" panose="020F0502020204030204" pitchFamily="34" charset="0"/>
              </a:rPr>
              <a:t>提供的基本指令外</a:t>
            </a:r>
            <a:r>
              <a:rPr lang="en-US" altLang="zh-CN" sz="2800" b="0" dirty="0">
                <a:latin typeface="Calibri" panose="020F0502020204030204" pitchFamily="34" charset="0"/>
              </a:rPr>
              <a:t>(</a:t>
            </a:r>
            <a:r>
              <a:rPr lang="zh-CN" altLang="en-US" sz="2800" b="0" dirty="0">
                <a:latin typeface="Calibri" panose="020F0502020204030204" pitchFamily="34" charset="0"/>
              </a:rPr>
              <a:t>如 </a:t>
            </a:r>
            <a:r>
              <a:rPr lang="en-US" altLang="zh-CN" sz="2800" b="0" dirty="0">
                <a:latin typeface="Calibri" panose="020F0502020204030204" pitchFamily="34" charset="0"/>
              </a:rPr>
              <a:t>v-model </a:t>
            </a:r>
            <a:r>
              <a:rPr lang="zh-CN" altLang="en-US" sz="2800" b="0" dirty="0">
                <a:latin typeface="Calibri" panose="020F0502020204030204" pitchFamily="34" charset="0"/>
              </a:rPr>
              <a:t>和 </a:t>
            </a:r>
            <a:r>
              <a:rPr lang="en-US" altLang="zh-CN" sz="2800" b="0" dirty="0">
                <a:latin typeface="Calibri" panose="020F0502020204030204" pitchFamily="34" charset="0"/>
              </a:rPr>
              <a:t>v-show ), Vue </a:t>
            </a:r>
            <a:r>
              <a:rPr lang="zh-CN" altLang="en-US" sz="2800" b="0" dirty="0">
                <a:latin typeface="Calibri" panose="020F0502020204030204" pitchFamily="34" charset="0"/>
              </a:rPr>
              <a:t>也允许注册自定义指令。自定义指令是用来操作 </a:t>
            </a:r>
            <a:r>
              <a:rPr lang="en-US" altLang="zh-CN" sz="2800" b="0" dirty="0">
                <a:latin typeface="Calibri" panose="020F0502020204030204" pitchFamily="34" charset="0"/>
              </a:rPr>
              <a:t>DOM </a:t>
            </a:r>
            <a:r>
              <a:rPr lang="zh-CN" altLang="en-US" sz="2800" b="0" dirty="0">
                <a:latin typeface="Calibri" panose="020F0502020204030204" pitchFamily="34" charset="0"/>
              </a:rPr>
              <a:t>的。自定义指令就是一种有效的补充和扩展，不仅可用于定义任何的 </a:t>
            </a:r>
            <a:r>
              <a:rPr lang="en-US" altLang="zh-CN" sz="2800" b="0" dirty="0">
                <a:latin typeface="Calibri" panose="020F0502020204030204" pitchFamily="34" charset="0"/>
              </a:rPr>
              <a:t>DOM </a:t>
            </a:r>
            <a:r>
              <a:rPr lang="zh-CN" altLang="en-US" sz="2800" b="0" dirty="0">
                <a:latin typeface="Calibri" panose="020F0502020204030204" pitchFamily="34" charset="0"/>
              </a:rPr>
              <a:t>操作，并且是可复用的。</a:t>
            </a:r>
            <a:endParaRPr lang="en-US" altLang="zh-CN" sz="2800" b="0" dirty="0">
              <a:latin typeface="Calibri" panose="020F0502020204030204" pitchFamily="34" charset="0"/>
            </a:endParaRPr>
          </a:p>
          <a:p>
            <a:pPr marL="342900" indent="-342900" algn="l" eaLnBrk="0" hangingPunct="0">
              <a:lnSpc>
                <a:spcPct val="150000"/>
              </a:lnSpc>
              <a:spcBef>
                <a:spcPts val="0"/>
              </a:spcBef>
              <a:buFont typeface="Wingdings" panose="05000000000000000000" pitchFamily="2" charset="2"/>
              <a:buChar char="n"/>
            </a:pPr>
            <a:r>
              <a:rPr lang="zh-CN" altLang="en-US" sz="2800" b="0" dirty="0">
                <a:latin typeface="Calibri" panose="020F0502020204030204" pitchFamily="34" charset="0"/>
              </a:rPr>
              <a:t>自定义指令分为全局指令和局部指令。 </a:t>
            </a:r>
            <a:endParaRPr lang="zh-CN" altLang="en-US" sz="2800" b="0" dirty="0">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31"/>
                                        </p:tgtEl>
                                        <p:attrNameLst>
                                          <p:attrName>style.visibility</p:attrName>
                                        </p:attrNameLst>
                                      </p:cBhvr>
                                      <p:to>
                                        <p:strVal val="visible"/>
                                      </p:to>
                                    </p:set>
                                    <p:animEffect transition="in" filter="fade">
                                      <p:cBhvr>
                                        <p:cTn id="7" dur="500"/>
                                        <p:tgtEl>
                                          <p:spTgt spid="51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31">
                                            <p:txEl>
                                              <p:pRg st="1" end="1"/>
                                            </p:txEl>
                                          </p:spTgt>
                                        </p:tgtEl>
                                        <p:attrNameLst>
                                          <p:attrName>style.visibility</p:attrName>
                                        </p:attrNameLst>
                                      </p:cBhvr>
                                      <p:to>
                                        <p:strVal val="visible"/>
                                      </p:to>
                                    </p:set>
                                    <p:animEffect transition="in" filter="fade">
                                      <p:cBhvr>
                                        <p:cTn id="12" dur="500"/>
                                        <p:tgtEl>
                                          <p:spTgt spid="51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p:cNvSpPr>
          <p:nvPr>
            <p:ph type="title"/>
          </p:nvPr>
        </p:nvSpPr>
        <p:spPr/>
        <p:txBody>
          <a:bodyPr vert="horz" wrap="square" lIns="91440" tIns="45720" rIns="91440" bIns="45720" anchor="ctr"/>
          <a:lstStyle/>
          <a:p>
            <a:r>
              <a:rPr lang="en-US" dirty="0">
                <a:sym typeface="+mn-ea"/>
              </a:rPr>
              <a:t> </a:t>
            </a:r>
            <a:r>
              <a:rPr lang="en-US" altLang="zh-CN" dirty="0">
                <a:sym typeface="+mn-ea"/>
              </a:rPr>
              <a:t>6</a:t>
            </a:r>
            <a:r>
              <a:rPr dirty="0">
                <a:sym typeface="+mn-ea"/>
              </a:rPr>
              <a:t>.1.1 </a:t>
            </a:r>
            <a:r>
              <a:rPr lang="zh-CN" altLang="en-US" dirty="0">
                <a:sym typeface="+mn-ea"/>
              </a:rPr>
              <a:t>自定义全局指令</a:t>
            </a:r>
            <a:endParaRPr lang="zh-CN" altLang="en-US" dirty="0"/>
          </a:p>
        </p:txBody>
      </p:sp>
      <p:sp>
        <p:nvSpPr>
          <p:cNvPr id="7172" name="Rectangle 3"/>
          <p:cNvSpPr>
            <a:spLocks noGrp="1"/>
          </p:cNvSpPr>
          <p:nvPr>
            <p:ph idx="1"/>
          </p:nvPr>
        </p:nvSpPr>
        <p:spPr>
          <a:xfrm>
            <a:off x="492760" y="1261110"/>
            <a:ext cx="8531860" cy="6162040"/>
          </a:xfrm>
        </p:spPr>
        <p:txBody>
          <a:bodyPr vert="horz" wrap="square" lIns="91440" tIns="45720" rIns="91440" bIns="45720" anchor="t"/>
          <a:lstStyle/>
          <a:p>
            <a:r>
              <a:rPr lang="zh-CN" altLang="en-US" sz="2800" dirty="0"/>
              <a:t>打开百度首页，搜索输入框就是直接获取焦点的。如图 </a:t>
            </a:r>
            <a:r>
              <a:rPr lang="en-US" altLang="zh-CN" sz="2800" dirty="0"/>
              <a:t>6-1 </a:t>
            </a:r>
            <a:r>
              <a:rPr lang="zh-CN" altLang="en-US" sz="2800" dirty="0"/>
              <a:t>所示。该功能其实可以通过注册一个全局指令 </a:t>
            </a:r>
            <a:r>
              <a:rPr lang="en-US" altLang="zh-CN" sz="2800" dirty="0"/>
              <a:t>v-focus, </a:t>
            </a:r>
            <a:r>
              <a:rPr lang="zh-CN" altLang="en-US" sz="2800" dirty="0"/>
              <a:t>该指令的功能是在页面加载时，元素获得焦点。</a:t>
            </a:r>
            <a:endParaRPr lang="en-US" altLang="zh-CN" sz="2800" dirty="0"/>
          </a:p>
          <a:p>
            <a:endParaRPr lang="en-US" altLang="zh-CN" dirty="0"/>
          </a:p>
          <a:p>
            <a:endParaRPr lang="en-US" altLang="zh-CN" dirty="0"/>
          </a:p>
          <a:p>
            <a:pPr marL="0" indent="0">
              <a:buNone/>
            </a:pPr>
            <a:r>
              <a:rPr lang="zh-CN" altLang="en-US" dirty="0"/>
              <a:t>                               </a:t>
            </a:r>
            <a:endParaRPr lang="en-US" altLang="zh-CN" dirty="0"/>
          </a:p>
          <a:p>
            <a:pPr marL="0" indent="0">
              <a:buNone/>
            </a:pPr>
            <a:endParaRPr lang="en-US" altLang="zh-CN" sz="2400" dirty="0"/>
          </a:p>
          <a:p>
            <a:pPr marL="0" indent="0">
              <a:buNone/>
            </a:pPr>
            <a:r>
              <a:rPr lang="zh-CN" altLang="en-US" sz="2400" dirty="0"/>
              <a:t>                                       图 </a:t>
            </a:r>
            <a:r>
              <a:rPr lang="en-US" altLang="zh-CN" sz="2400" dirty="0"/>
              <a:t>6-1  </a:t>
            </a:r>
            <a:r>
              <a:rPr lang="zh-CN" altLang="en-US" sz="2400" dirty="0"/>
              <a:t>获取焦点</a:t>
            </a:r>
            <a:endParaRPr lang="zh-CN" altLang="en-US" sz="2400"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pic>
        <p:nvPicPr>
          <p:cNvPr id="4" name="图片 3" descr="1"/>
          <p:cNvPicPr>
            <a:picLocks noChangeAspect="1"/>
          </p:cNvPicPr>
          <p:nvPr/>
        </p:nvPicPr>
        <p:blipFill>
          <a:blip r:embed="rId1" cstate="print"/>
          <a:stretch>
            <a:fillRect/>
          </a:stretch>
        </p:blipFill>
        <p:spPr>
          <a:xfrm>
            <a:off x="1259632" y="3356992"/>
            <a:ext cx="6413482" cy="14645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fade">
                                      <p:cBhvr>
                                        <p:cTn id="7" dur="500"/>
                                        <p:tgtEl>
                                          <p:spTgt spid="71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p:cNvSpPr>
          <p:nvPr>
            <p:ph type="body" sz="half" idx="1"/>
          </p:nvPr>
        </p:nvSpPr>
        <p:spPr/>
        <p:txBody>
          <a:bodyPr vert="horz" wrap="square" lIns="91440" tIns="45720" rIns="91440" bIns="45720" anchor="t"/>
          <a:lstStyle/>
          <a:p>
            <a:endParaRPr lang="en-US" altLang="zh-CN" sz="2800" dirty="0"/>
          </a:p>
          <a:p>
            <a:endParaRPr lang="en-US" altLang="zh-CN" sz="2800" dirty="0"/>
          </a:p>
          <a:p>
            <a:endParaRPr lang="en-US" altLang="zh-CN" sz="2800" dirty="0"/>
          </a:p>
          <a:p>
            <a:endParaRPr lang="en-US" altLang="zh-CN" sz="2800" dirty="0"/>
          </a:p>
          <a:p>
            <a:pPr>
              <a:buNone/>
            </a:pPr>
            <a:endParaRPr lang="en-US" altLang="zh-CN" sz="2800" dirty="0"/>
          </a:p>
        </p:txBody>
      </p:sp>
      <p:sp>
        <p:nvSpPr>
          <p:cNvPr id="16" name="灯片编号占位符 6"/>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5131" name="Rectangle 36"/>
          <p:cNvSpPr/>
          <p:nvPr/>
        </p:nvSpPr>
        <p:spPr>
          <a:xfrm>
            <a:off x="389255" y="1141095"/>
            <a:ext cx="8365490" cy="2143889"/>
          </a:xfrm>
          <a:prstGeom prst="rect">
            <a:avLst/>
          </a:prstGeom>
          <a:noFill/>
          <a:ln w="9525">
            <a:noFill/>
          </a:ln>
        </p:spPr>
        <p:txBody>
          <a:bodyPr/>
          <a:lstStyle/>
          <a:p>
            <a:pPr marL="342900" indent="-342900" algn="l" eaLnBrk="0" hangingPunct="0">
              <a:lnSpc>
                <a:spcPct val="125000"/>
              </a:lnSpc>
              <a:spcBef>
                <a:spcPts val="0"/>
              </a:spcBef>
              <a:buFont typeface="Wingdings" panose="05000000000000000000" pitchFamily="2" charset="2"/>
              <a:buChar char="n"/>
            </a:pPr>
            <a:r>
              <a:rPr lang="zh-CN" altLang="en-US" sz="2800" b="0" dirty="0">
                <a:latin typeface="Calibri" panose="020F0502020204030204" pitchFamily="34" charset="0"/>
              </a:rPr>
              <a:t>自定义全局指令使用 </a:t>
            </a:r>
            <a:r>
              <a:rPr lang="en-US" altLang="zh-CN" sz="2800" b="0" dirty="0" err="1">
                <a:latin typeface="Calibri" panose="020F0502020204030204" pitchFamily="34" charset="0"/>
              </a:rPr>
              <a:t>Vue.directive</a:t>
            </a:r>
            <a:r>
              <a:rPr lang="en-US" altLang="zh-CN" sz="2800" b="0" dirty="0">
                <a:latin typeface="Calibri" panose="020F0502020204030204" pitchFamily="34" charset="0"/>
              </a:rPr>
              <a:t>(</a:t>
            </a:r>
            <a:r>
              <a:rPr lang="zh-CN" altLang="en-US" sz="2800" b="0" dirty="0">
                <a:latin typeface="Calibri" panose="020F0502020204030204" pitchFamily="34" charset="0"/>
              </a:rPr>
              <a:t>指令 </a:t>
            </a:r>
            <a:r>
              <a:rPr lang="en-US" altLang="zh-CN" sz="2800" b="0" dirty="0">
                <a:latin typeface="Calibri" panose="020F0502020204030204" pitchFamily="34" charset="0"/>
              </a:rPr>
              <a:t>ID</a:t>
            </a:r>
            <a:r>
              <a:rPr lang="zh-CN" altLang="en-US" sz="2800" b="0" dirty="0">
                <a:latin typeface="Calibri" panose="020F0502020204030204" pitchFamily="34" charset="0"/>
              </a:rPr>
              <a:t>，定义对象</a:t>
            </a:r>
            <a:r>
              <a:rPr lang="en-US" altLang="zh-CN" sz="2800" b="0" dirty="0">
                <a:latin typeface="Calibri" panose="020F0502020204030204" pitchFamily="34" charset="0"/>
              </a:rPr>
              <a:t>)</a:t>
            </a:r>
            <a:r>
              <a:rPr lang="zh-CN" altLang="en-US" sz="2800" b="0" dirty="0">
                <a:latin typeface="Calibri" panose="020F0502020204030204" pitchFamily="34" charset="0"/>
              </a:rPr>
              <a:t>，在这里“指令 </a:t>
            </a:r>
            <a:r>
              <a:rPr lang="en-US" altLang="zh-CN" sz="2800" b="0" dirty="0">
                <a:latin typeface="Calibri" panose="020F0502020204030204" pitchFamily="34" charset="0"/>
              </a:rPr>
              <a:t>ID”</a:t>
            </a:r>
            <a:r>
              <a:rPr lang="zh-CN" altLang="en-US" sz="2800" b="0" dirty="0">
                <a:latin typeface="Calibri" panose="020F0502020204030204" pitchFamily="34" charset="0"/>
              </a:rPr>
              <a:t>就是指令的名字，“定义对象”就是一个对象，包含有该指令的钩子函数。</a:t>
            </a:r>
            <a:endParaRPr lang="en-US" altLang="zh-CN" sz="2800" b="0" dirty="0">
              <a:latin typeface="Calibri" panose="020F0502020204030204" pitchFamily="34" charset="0"/>
            </a:endParaRPr>
          </a:p>
          <a:p>
            <a:pPr marL="342900" indent="-342900" algn="l" eaLnBrk="0" hangingPunct="0">
              <a:lnSpc>
                <a:spcPct val="125000"/>
              </a:lnSpc>
              <a:spcBef>
                <a:spcPts val="0"/>
              </a:spcBef>
              <a:buFont typeface="Wingdings" panose="05000000000000000000" pitchFamily="2" charset="2"/>
              <a:buChar char="n"/>
            </a:pPr>
            <a:r>
              <a:rPr lang="zh-CN" altLang="en-US" sz="2800" b="0" dirty="0">
                <a:latin typeface="Calibri" panose="020F0502020204030204" pitchFamily="34" charset="0"/>
              </a:rPr>
              <a:t>自定义全局指令语法如下，其中钩子函数均为可选</a:t>
            </a:r>
            <a:endParaRPr sz="2800" b="0" dirty="0">
              <a:latin typeface="Calibri" panose="020F0502020204030204" pitchFamily="34" charset="0"/>
            </a:endParaRPr>
          </a:p>
        </p:txBody>
      </p:sp>
      <p:sp>
        <p:nvSpPr>
          <p:cNvPr id="6" name="Rectangle 3"/>
          <p:cNvSpPr>
            <a:spLocks noGrp="1"/>
          </p:cNvSpPr>
          <p:nvPr>
            <p:ph idx="1"/>
          </p:nvPr>
        </p:nvSpPr>
        <p:spPr>
          <a:xfrm>
            <a:off x="502285" y="1113155"/>
            <a:ext cx="8531860" cy="6162040"/>
          </a:xfrm>
        </p:spPr>
        <p:txBody>
          <a:bodyPr vert="horz" wrap="square" lIns="91440" tIns="45720" rIns="91440" bIns="45720" anchor="t"/>
          <a:lstStyle/>
          <a:p>
            <a:pPr marL="0" indent="0">
              <a:buNone/>
            </a:pPr>
            <a:endParaRPr dirty="0"/>
          </a:p>
          <a:p>
            <a:pPr marL="0" indent="0">
              <a:buNone/>
            </a:pPr>
            <a:endParaRPr lang="en-US" altLang="zh-CN" dirty="0"/>
          </a:p>
        </p:txBody>
      </p:sp>
      <p:sp>
        <p:nvSpPr>
          <p:cNvPr id="8" name="AutoShape 3"/>
          <p:cNvSpPr/>
          <p:nvPr/>
        </p:nvSpPr>
        <p:spPr>
          <a:xfrm>
            <a:off x="502285" y="3284984"/>
            <a:ext cx="8306435" cy="3230404"/>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spAutoFit/>
          </a:bodyPr>
          <a:lstStyle/>
          <a:p>
            <a:pPr algn="l"/>
            <a:r>
              <a:rPr lang="en-US" altLang="zh-CN" dirty="0" err="1"/>
              <a:t>Vue</a:t>
            </a:r>
            <a:r>
              <a:rPr lang="en-US" altLang="zh-CN" dirty="0"/>
              <a:t>. directive(“</a:t>
            </a:r>
            <a:r>
              <a:rPr lang="zh-CN" altLang="en-US" dirty="0"/>
              <a:t>指令</a:t>
            </a:r>
            <a:r>
              <a:rPr lang="en-US" altLang="zh-CN" dirty="0"/>
              <a:t>id”,{</a:t>
            </a:r>
            <a:br>
              <a:rPr lang="en-US" altLang="zh-CN" dirty="0"/>
            </a:br>
            <a:r>
              <a:rPr lang="en-US" altLang="zh-CN" dirty="0"/>
              <a:t>           //</a:t>
            </a:r>
            <a:r>
              <a:rPr lang="zh-CN" altLang="en-US" dirty="0"/>
              <a:t>当该指令第一次绑定到元素上时调用，只调用一次，可以用来执行初始化操作</a:t>
            </a:r>
            <a:r>
              <a:rPr lang="en-US" altLang="zh-CN" dirty="0"/>
              <a:t>(</a:t>
            </a:r>
            <a:r>
              <a:rPr lang="zh-CN" altLang="en-US" dirty="0"/>
              <a:t>简言之，指令绑定到元素</a:t>
            </a:r>
            <a:r>
              <a:rPr lang="en-US" altLang="zh-CN" dirty="0"/>
              <a:t>)</a:t>
            </a:r>
            <a:br>
              <a:rPr lang="en-US" altLang="zh-CN" dirty="0"/>
            </a:br>
            <a:r>
              <a:rPr lang="en-US" altLang="zh-CN" dirty="0"/>
              <a:t>           bind: function(){//</a:t>
            </a:r>
            <a:r>
              <a:rPr lang="zh-CN" altLang="en-US" dirty="0"/>
              <a:t>常用</a:t>
            </a:r>
            <a:r>
              <a:rPr lang="en-US" altLang="zh-CN" dirty="0"/>
              <a:t>!! !</a:t>
            </a:r>
            <a:br>
              <a:rPr lang="en-US" altLang="zh-CN" dirty="0"/>
            </a:br>
            <a:r>
              <a:rPr lang="en-US" altLang="zh-CN" dirty="0"/>
              <a:t>           alert(“bind”)</a:t>
            </a:r>
            <a:br>
              <a:rPr lang="en-US" altLang="zh-CN" dirty="0"/>
            </a:br>
            <a:r>
              <a:rPr lang="en-US" altLang="zh-CN" dirty="0"/>
              <a:t>}</a:t>
            </a:r>
            <a:r>
              <a:rPr lang="zh-CN" altLang="en-US" dirty="0"/>
              <a:t>，</a:t>
            </a:r>
            <a:br>
              <a:rPr lang="zh-CN" altLang="en-US" dirty="0"/>
            </a:br>
            <a:r>
              <a:rPr lang="zh-CN" altLang="en-US" dirty="0"/>
              <a:t>           </a:t>
            </a:r>
            <a:r>
              <a:rPr lang="en-US" altLang="zh-CN" dirty="0"/>
              <a:t>//</a:t>
            </a:r>
            <a:r>
              <a:rPr lang="zh-CN" altLang="en-US" dirty="0"/>
              <a:t>被绑定有自定义指令的元素插入到</a:t>
            </a:r>
            <a:r>
              <a:rPr lang="en-US" altLang="zh-CN" dirty="0"/>
              <a:t>DOM</a:t>
            </a:r>
            <a:r>
              <a:rPr lang="zh-CN" altLang="en-US" dirty="0"/>
              <a:t>中时调用，在这里是插入到了</a:t>
            </a:r>
            <a:r>
              <a:rPr lang="en-US" altLang="zh-CN" dirty="0"/>
              <a:t>#container</a:t>
            </a:r>
            <a:r>
              <a:rPr lang="zh-CN" altLang="en-US" dirty="0"/>
              <a:t>中</a:t>
            </a:r>
            <a:r>
              <a:rPr lang="en-US" altLang="zh-CN" dirty="0"/>
              <a:t>(</a:t>
            </a:r>
            <a:r>
              <a:rPr lang="zh-CN" altLang="en-US" dirty="0"/>
              <a:t>简言之，元素插入到</a:t>
            </a:r>
            <a:r>
              <a:rPr lang="en-US" altLang="zh-CN" dirty="0"/>
              <a:t>DOM</a:t>
            </a:r>
            <a:r>
              <a:rPr lang="zh-CN" altLang="en-US" dirty="0"/>
              <a:t>元素中</a:t>
            </a:r>
            <a:r>
              <a:rPr lang="en-US" altLang="zh-CN" dirty="0"/>
              <a:t>)</a:t>
            </a:r>
            <a:br>
              <a:rPr lang="en-US" altLang="zh-CN" dirty="0"/>
            </a:br>
            <a:r>
              <a:rPr lang="en-US" altLang="zh-CN" dirty="0"/>
              <a:t>           Inserted: function(){</a:t>
            </a:r>
            <a:br>
              <a:rPr lang="en-US" altLang="zh-CN" dirty="0"/>
            </a:br>
            <a:r>
              <a:rPr lang="en-US" altLang="zh-CN" dirty="0"/>
              <a:t>           alert(" inserted ")</a:t>
            </a:r>
            <a:br>
              <a:rPr lang="en-US" altLang="zh-CN" dirty="0"/>
            </a:br>
            <a:r>
              <a:rPr lang="en-US" altLang="zh-CN" dirty="0"/>
              <a: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nodePh="1">
                                  <p:stCondLst>
                                    <p:cond delay="0"/>
                                  </p:stCondLst>
                                  <p:endCondLst>
                                    <p:cond evt="begin" delay="0">
                                      <p:tn val="5"/>
                                    </p:cond>
                                  </p:end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p:cNvSpPr>
          <p:nvPr>
            <p:ph type="body" sz="half" idx="1"/>
          </p:nvPr>
        </p:nvSpPr>
        <p:spPr/>
        <p:txBody>
          <a:bodyPr vert="horz" wrap="square" lIns="91440" tIns="45720" rIns="91440" bIns="45720" anchor="t"/>
          <a:lstStyle/>
          <a:p>
            <a:endParaRPr lang="en-US" altLang="zh-CN" sz="2800" dirty="0"/>
          </a:p>
          <a:p>
            <a:endParaRPr lang="en-US" altLang="zh-CN" sz="2800" dirty="0"/>
          </a:p>
          <a:p>
            <a:endParaRPr lang="en-US" altLang="zh-CN" sz="2800" dirty="0"/>
          </a:p>
          <a:p>
            <a:endParaRPr lang="en-US" altLang="zh-CN" sz="2800" dirty="0"/>
          </a:p>
          <a:p>
            <a:pPr>
              <a:buNone/>
            </a:pPr>
            <a:endParaRPr lang="en-US" altLang="zh-CN" sz="2800" dirty="0"/>
          </a:p>
        </p:txBody>
      </p:sp>
      <p:sp>
        <p:nvSpPr>
          <p:cNvPr id="16" name="灯片编号占位符 6"/>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5131" name="Rectangle 36"/>
          <p:cNvSpPr/>
          <p:nvPr/>
        </p:nvSpPr>
        <p:spPr>
          <a:xfrm>
            <a:off x="389255" y="711200"/>
            <a:ext cx="8365490" cy="6224905"/>
          </a:xfrm>
          <a:prstGeom prst="rect">
            <a:avLst/>
          </a:prstGeom>
          <a:noFill/>
          <a:ln w="9525">
            <a:noFill/>
          </a:ln>
        </p:spPr>
        <p:txBody>
          <a:bodyPr/>
          <a:lstStyle/>
          <a:p>
            <a:pPr algn="l" eaLnBrk="0" hangingPunct="0">
              <a:lnSpc>
                <a:spcPct val="125000"/>
              </a:lnSpc>
              <a:spcBef>
                <a:spcPts val="0"/>
              </a:spcBef>
            </a:pPr>
            <a:endParaRPr lang="en-US" altLang="zh-CN" sz="2800" b="0" dirty="0">
              <a:latin typeface="Calibri" panose="020F0502020204030204" pitchFamily="34" charset="0"/>
            </a:endParaRPr>
          </a:p>
          <a:p>
            <a:pPr marL="342900" indent="-342900" algn="l" eaLnBrk="0" hangingPunct="0">
              <a:lnSpc>
                <a:spcPct val="125000"/>
              </a:lnSpc>
              <a:spcBef>
                <a:spcPts val="0"/>
              </a:spcBef>
              <a:buFont typeface="Wingdings" panose="05000000000000000000" pitchFamily="2" charset="2"/>
              <a:buChar char="n"/>
            </a:pPr>
            <a:endParaRPr lang="en-US" altLang="zh-CN" sz="2800" b="0" dirty="0">
              <a:latin typeface="Calibri" panose="020F0502020204030204" pitchFamily="34" charset="0"/>
            </a:endParaRPr>
          </a:p>
          <a:p>
            <a:pPr marL="342900" indent="-342900" algn="l" eaLnBrk="0" hangingPunct="0">
              <a:lnSpc>
                <a:spcPct val="125000"/>
              </a:lnSpc>
              <a:spcBef>
                <a:spcPts val="0"/>
              </a:spcBef>
              <a:buFont typeface="Wingdings" panose="05000000000000000000" pitchFamily="2" charset="2"/>
              <a:buChar char="n"/>
            </a:pPr>
            <a:endParaRPr lang="en-US" altLang="zh-CN" sz="2800" b="0" dirty="0">
              <a:latin typeface="Calibri" panose="020F0502020204030204" pitchFamily="34" charset="0"/>
            </a:endParaRPr>
          </a:p>
          <a:p>
            <a:pPr marL="342900" indent="-342900" algn="l" eaLnBrk="0" hangingPunct="0">
              <a:lnSpc>
                <a:spcPct val="125000"/>
              </a:lnSpc>
              <a:spcBef>
                <a:spcPts val="0"/>
              </a:spcBef>
              <a:buFont typeface="Wingdings" panose="05000000000000000000" pitchFamily="2" charset="2"/>
              <a:buChar char="n"/>
            </a:pPr>
            <a:endParaRPr lang="en-US" altLang="zh-CN" sz="2800" b="0" dirty="0">
              <a:latin typeface="Calibri" panose="020F0502020204030204" pitchFamily="34" charset="0"/>
            </a:endParaRPr>
          </a:p>
          <a:p>
            <a:pPr marL="342900" indent="-342900" algn="l" eaLnBrk="0" hangingPunct="0">
              <a:lnSpc>
                <a:spcPct val="125000"/>
              </a:lnSpc>
              <a:spcBef>
                <a:spcPts val="0"/>
              </a:spcBef>
              <a:buFont typeface="Wingdings" panose="05000000000000000000" pitchFamily="2" charset="2"/>
              <a:buChar char="n"/>
            </a:pPr>
            <a:endParaRPr lang="en-US" altLang="zh-CN" sz="2800" b="0" dirty="0">
              <a:latin typeface="Calibri" panose="020F0502020204030204" pitchFamily="34" charset="0"/>
            </a:endParaRPr>
          </a:p>
          <a:p>
            <a:pPr marL="342900" indent="-342900" algn="l" eaLnBrk="0" hangingPunct="0">
              <a:lnSpc>
                <a:spcPct val="125000"/>
              </a:lnSpc>
              <a:spcBef>
                <a:spcPts val="0"/>
              </a:spcBef>
              <a:buFont typeface="Wingdings" panose="05000000000000000000" pitchFamily="2" charset="2"/>
              <a:buChar char="n"/>
            </a:pPr>
            <a:endParaRPr lang="en-US" altLang="zh-CN" sz="2800" b="0" dirty="0">
              <a:latin typeface="Calibri" panose="020F0502020204030204" pitchFamily="34" charset="0"/>
            </a:endParaRPr>
          </a:p>
          <a:p>
            <a:pPr algn="l" eaLnBrk="0" hangingPunct="0">
              <a:lnSpc>
                <a:spcPct val="125000"/>
              </a:lnSpc>
              <a:spcBef>
                <a:spcPts val="0"/>
              </a:spcBef>
            </a:pPr>
            <a:endParaRPr lang="en-US" altLang="zh-CN" sz="2800" b="0" dirty="0">
              <a:latin typeface="Calibri" panose="020F0502020204030204" pitchFamily="34" charset="0"/>
            </a:endParaRPr>
          </a:p>
          <a:p>
            <a:pPr algn="l" eaLnBrk="0" hangingPunct="0">
              <a:lnSpc>
                <a:spcPct val="125000"/>
              </a:lnSpc>
              <a:spcBef>
                <a:spcPts val="0"/>
              </a:spcBef>
            </a:pPr>
            <a:r>
              <a:rPr lang="zh-CN" altLang="en-US" sz="2800" b="0" dirty="0">
                <a:latin typeface="Calibri" panose="020F0502020204030204" pitchFamily="34" charset="0"/>
              </a:rPr>
              <a:t>下面通过刚才提到的打开百度首页搜索输入框直接获取焦点来自定义一个全局指令 </a:t>
            </a:r>
            <a:r>
              <a:rPr lang="en-US" altLang="zh-CN" sz="2800" b="0" dirty="0">
                <a:latin typeface="Calibri" panose="020F0502020204030204" pitchFamily="34" charset="0"/>
              </a:rPr>
              <a:t>v-focus</a:t>
            </a:r>
            <a:r>
              <a:rPr lang="zh-CN" altLang="en-US" sz="2800" b="0" dirty="0">
                <a:latin typeface="Calibri" panose="020F0502020204030204" pitchFamily="34" charset="0"/>
              </a:rPr>
              <a:t>。</a:t>
            </a:r>
            <a:endParaRPr lang="zh-CN" altLang="en-US" sz="2800" b="0" dirty="0">
              <a:latin typeface="Calibri" panose="020F0502020204030204" pitchFamily="34" charset="0"/>
            </a:endParaRPr>
          </a:p>
        </p:txBody>
      </p:sp>
      <p:sp>
        <p:nvSpPr>
          <p:cNvPr id="6" name="AutoShape 3"/>
          <p:cNvSpPr/>
          <p:nvPr/>
        </p:nvSpPr>
        <p:spPr>
          <a:xfrm>
            <a:off x="471510" y="1196752"/>
            <a:ext cx="8208912" cy="2945368"/>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spAutoFit/>
          </a:bodyPr>
          <a:lstStyle/>
          <a:p>
            <a:pPr algn="l"/>
            <a:r>
              <a:rPr lang="zh-CN" altLang="en-US" dirty="0"/>
              <a:t> </a:t>
            </a:r>
            <a:r>
              <a:rPr lang="en-US" altLang="zh-CN" dirty="0"/>
              <a:t>//</a:t>
            </a:r>
            <a:r>
              <a:rPr lang="zh-CN" altLang="en-US" dirty="0"/>
              <a:t>当被绑定的元素所在模板更新时调用</a:t>
            </a:r>
            <a:endParaRPr lang="en-US" altLang="zh-CN" dirty="0"/>
          </a:p>
          <a:p>
            <a:pPr algn="l"/>
            <a:r>
              <a:rPr lang="en-US" altLang="zh-CN" dirty="0"/>
              <a:t>                    update: function(){</a:t>
            </a:r>
            <a:br>
              <a:rPr lang="en-US" altLang="zh-CN" dirty="0"/>
            </a:br>
            <a:r>
              <a:rPr lang="en-US" altLang="zh-CN" dirty="0"/>
              <a:t>                    alert(“update”)},</a:t>
            </a:r>
            <a:br>
              <a:rPr lang="en-US" altLang="zh-CN" dirty="0"/>
            </a:br>
            <a:r>
              <a:rPr lang="en-US" altLang="zh-CN" dirty="0"/>
              <a:t>  //</a:t>
            </a:r>
            <a:r>
              <a:rPr lang="zh-CN" altLang="en-US" dirty="0"/>
              <a:t>当被绑定的元素所在模板完成一次更新时调用                                   </a:t>
            </a:r>
            <a:r>
              <a:rPr lang="en-US" altLang="zh-CN" dirty="0" err="1"/>
              <a:t>componentUpdated</a:t>
            </a:r>
            <a:r>
              <a:rPr lang="en-US" altLang="zh-CN" dirty="0"/>
              <a:t>: function(){</a:t>
            </a:r>
            <a:br>
              <a:rPr lang="en-US" altLang="zh-CN" dirty="0"/>
            </a:br>
            <a:r>
              <a:rPr lang="en-US" altLang="zh-CN" dirty="0"/>
              <a:t>              alert(" </a:t>
            </a:r>
            <a:r>
              <a:rPr lang="en-US" altLang="zh-CN" dirty="0" err="1"/>
              <a:t>componentUpdated</a:t>
            </a:r>
            <a:r>
              <a:rPr lang="en-US" altLang="zh-CN" dirty="0"/>
              <a:t>“ )}</a:t>
            </a:r>
            <a:r>
              <a:rPr lang="zh-CN" altLang="en-US" dirty="0"/>
              <a:t>，</a:t>
            </a:r>
            <a:br>
              <a:rPr lang="zh-CN" altLang="en-US" dirty="0"/>
            </a:br>
            <a:r>
              <a:rPr lang="zh-CN" altLang="en-US" dirty="0"/>
              <a:t>  </a:t>
            </a:r>
            <a:r>
              <a:rPr lang="en-US" altLang="zh-CN" dirty="0"/>
              <a:t>//</a:t>
            </a:r>
            <a:r>
              <a:rPr lang="zh-CN" altLang="en-US" dirty="0"/>
              <a:t>当指令和元素解绑的时候调用，只执行一次</a:t>
            </a:r>
            <a:endParaRPr lang="en-US" altLang="zh-CN" dirty="0"/>
          </a:p>
          <a:p>
            <a:pPr algn="l"/>
            <a:r>
              <a:rPr lang="en-US" altLang="zh-CN" dirty="0"/>
              <a:t>              unbind: function(){</a:t>
            </a:r>
            <a:br>
              <a:rPr lang="en-US" altLang="zh-CN" dirty="0"/>
            </a:br>
            <a:r>
              <a:rPr lang="en-US" altLang="zh-CN" dirty="0"/>
              <a:t>              alert(" unbind)")}</a:t>
            </a:r>
            <a:endParaRPr lang="en-US" altLang="zh-CN" dirty="0"/>
          </a:p>
          <a:p>
            <a:pPr algn="l"/>
            <a:r>
              <a:rPr lang="en-US" altLang="zh-CN" dirty="0"/>
              <a: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5131">
                                            <p:txEl>
                                              <p:pRg st="7" end="7"/>
                                            </p:txEl>
                                          </p:spTgt>
                                        </p:tgtEl>
                                        <p:attrNameLst>
                                          <p:attrName>style.visibility</p:attrName>
                                        </p:attrNameLst>
                                      </p:cBhvr>
                                      <p:to>
                                        <p:strVal val="visible"/>
                                      </p:to>
                                    </p:set>
                                    <p:animEffect transition="in" filter="fade">
                                      <p:cBhvr>
                                        <p:cTn id="13" dur="500"/>
                                        <p:tgtEl>
                                          <p:spTgt spid="513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p:cNvSpPr>
          <p:nvPr>
            <p:ph type="body" sz="half" idx="1"/>
          </p:nvPr>
        </p:nvSpPr>
        <p:spPr/>
        <p:txBody>
          <a:bodyPr vert="horz" wrap="square" lIns="91440" tIns="45720" rIns="91440" bIns="45720" anchor="t"/>
          <a:lstStyle/>
          <a:p>
            <a:endParaRPr lang="en-US" altLang="zh-CN" sz="2800" dirty="0"/>
          </a:p>
          <a:p>
            <a:endParaRPr lang="en-US" altLang="zh-CN" sz="2800" dirty="0"/>
          </a:p>
          <a:p>
            <a:endParaRPr lang="en-US" altLang="zh-CN" sz="2800" dirty="0"/>
          </a:p>
          <a:p>
            <a:endParaRPr lang="en-US" altLang="zh-CN" sz="2800" dirty="0"/>
          </a:p>
          <a:p>
            <a:pPr>
              <a:buNone/>
            </a:pPr>
            <a:endParaRPr lang="en-US" altLang="zh-CN" sz="2800" dirty="0"/>
          </a:p>
        </p:txBody>
      </p:sp>
      <p:sp>
        <p:nvSpPr>
          <p:cNvPr id="16" name="灯片编号占位符 6"/>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5131" name="Rectangle 36"/>
          <p:cNvSpPr/>
          <p:nvPr/>
        </p:nvSpPr>
        <p:spPr>
          <a:xfrm>
            <a:off x="549594" y="677862"/>
            <a:ext cx="8365490" cy="6224905"/>
          </a:xfrm>
          <a:prstGeom prst="rect">
            <a:avLst/>
          </a:prstGeom>
          <a:noFill/>
          <a:ln w="9525">
            <a:noFill/>
          </a:ln>
        </p:spPr>
        <p:txBody>
          <a:bodyPr/>
          <a:lstStyle/>
          <a:p>
            <a:pPr algn="l" eaLnBrk="0" hangingPunct="0">
              <a:lnSpc>
                <a:spcPct val="125000"/>
              </a:lnSpc>
              <a:spcBef>
                <a:spcPts val="0"/>
              </a:spcBef>
            </a:pPr>
            <a:endParaRPr lang="en-US" altLang="zh-CN" sz="2000" b="0" dirty="0">
              <a:latin typeface="Calibri" panose="020F0502020204030204" pitchFamily="34" charset="0"/>
            </a:endParaRPr>
          </a:p>
          <a:p>
            <a:pPr algn="l" eaLnBrk="0" hangingPunct="0">
              <a:lnSpc>
                <a:spcPct val="125000"/>
              </a:lnSpc>
              <a:spcBef>
                <a:spcPts val="0"/>
              </a:spcBef>
            </a:pPr>
            <a:r>
              <a:rPr lang="en-US" altLang="zh-CN" sz="2800" b="0" dirty="0">
                <a:latin typeface="Calibri" panose="020F0502020204030204" pitchFamily="34" charset="0"/>
              </a:rPr>
              <a:t>【</a:t>
            </a:r>
            <a:r>
              <a:rPr lang="zh-CN" altLang="en-US" sz="2800" b="0" dirty="0">
                <a:latin typeface="Calibri" panose="020F0502020204030204" pitchFamily="34" charset="0"/>
              </a:rPr>
              <a:t>例</a:t>
            </a:r>
            <a:r>
              <a:rPr lang="en-US" altLang="zh-CN" sz="2800" b="0" dirty="0">
                <a:latin typeface="Calibri" panose="020F0502020204030204" pitchFamily="34" charset="0"/>
              </a:rPr>
              <a:t>6-1】 </a:t>
            </a:r>
            <a:r>
              <a:rPr lang="zh-CN" altLang="en-US" sz="2800" b="0" dirty="0">
                <a:latin typeface="Calibri" panose="020F0502020204030204" pitchFamily="34" charset="0"/>
              </a:rPr>
              <a:t>自定义全局指令</a:t>
            </a:r>
            <a:endParaRPr lang="en-US" altLang="zh-CN" sz="2800" b="0" dirty="0">
              <a:latin typeface="Calibri" panose="020F0502020204030204" pitchFamily="34" charset="0"/>
            </a:endParaRPr>
          </a:p>
          <a:p>
            <a:pPr marL="342900" indent="-342900" algn="l" eaLnBrk="0" hangingPunct="0">
              <a:lnSpc>
                <a:spcPct val="125000"/>
              </a:lnSpc>
              <a:spcBef>
                <a:spcPts val="0"/>
              </a:spcBef>
              <a:buFont typeface="Wingdings" panose="05000000000000000000" pitchFamily="2" charset="2"/>
              <a:buChar char="n"/>
            </a:pPr>
            <a:endParaRPr lang="en-US" altLang="zh-CN" sz="2800" b="0" dirty="0">
              <a:latin typeface="Calibri" panose="020F0502020204030204" pitchFamily="34" charset="0"/>
            </a:endParaRPr>
          </a:p>
          <a:p>
            <a:pPr algn="l" eaLnBrk="0" hangingPunct="0">
              <a:lnSpc>
                <a:spcPct val="125000"/>
              </a:lnSpc>
              <a:spcBef>
                <a:spcPts val="0"/>
              </a:spcBef>
            </a:pPr>
            <a:endParaRPr lang="en-US" altLang="zh-CN" sz="2800" b="0" dirty="0">
              <a:latin typeface="Calibri" panose="020F0502020204030204" pitchFamily="34" charset="0"/>
            </a:endParaRPr>
          </a:p>
          <a:p>
            <a:pPr marL="342900" indent="-342900" algn="l" eaLnBrk="0" hangingPunct="0">
              <a:lnSpc>
                <a:spcPct val="125000"/>
              </a:lnSpc>
              <a:spcBef>
                <a:spcPts val="0"/>
              </a:spcBef>
              <a:buFont typeface="Wingdings" panose="05000000000000000000" pitchFamily="2" charset="2"/>
              <a:buChar char="n"/>
            </a:pPr>
            <a:endParaRPr lang="en-US" altLang="zh-CN" sz="2800" b="0" dirty="0">
              <a:latin typeface="Calibri" panose="020F0502020204030204" pitchFamily="34" charset="0"/>
            </a:endParaRPr>
          </a:p>
          <a:p>
            <a:pPr algn="l" eaLnBrk="0" hangingPunct="0">
              <a:lnSpc>
                <a:spcPct val="125000"/>
              </a:lnSpc>
              <a:spcBef>
                <a:spcPts val="0"/>
              </a:spcBef>
            </a:pPr>
            <a:endParaRPr lang="en-US" altLang="zh-CN" sz="2800" b="0" dirty="0">
              <a:latin typeface="Calibri" panose="020F0502020204030204" pitchFamily="34" charset="0"/>
            </a:endParaRPr>
          </a:p>
          <a:p>
            <a:pPr marL="342900" indent="-342900" algn="l" eaLnBrk="0" hangingPunct="0">
              <a:lnSpc>
                <a:spcPct val="125000"/>
              </a:lnSpc>
              <a:spcBef>
                <a:spcPts val="0"/>
              </a:spcBef>
              <a:buFont typeface="Wingdings" panose="05000000000000000000" pitchFamily="2" charset="2"/>
              <a:buChar char="n"/>
            </a:pPr>
            <a:endParaRPr sz="2800" b="0" dirty="0">
              <a:latin typeface="Calibri" panose="020F0502020204030204" pitchFamily="34" charset="0"/>
            </a:endParaRPr>
          </a:p>
        </p:txBody>
      </p:sp>
      <p:sp>
        <p:nvSpPr>
          <p:cNvPr id="6" name="AutoShape 3"/>
          <p:cNvSpPr/>
          <p:nvPr/>
        </p:nvSpPr>
        <p:spPr>
          <a:xfrm>
            <a:off x="621570" y="1556746"/>
            <a:ext cx="7118781" cy="4655582"/>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spAutoFit/>
          </a:bodyPr>
          <a:lstStyle/>
          <a:p>
            <a:pPr algn="l"/>
            <a:r>
              <a:rPr lang="en-US" altLang="zh-CN" dirty="0"/>
              <a:t> </a:t>
            </a:r>
            <a:r>
              <a:rPr lang="en-US" altLang="zh-CN" dirty="0" smtClean="0"/>
              <a:t>    </a:t>
            </a:r>
            <a:r>
              <a:rPr lang="en-US" altLang="zh-CN" dirty="0"/>
              <a:t>&lt;IDOCTYPE   html&gt;</a:t>
            </a:r>
            <a:endParaRPr lang="en-US" altLang="zh-CN" dirty="0"/>
          </a:p>
          <a:p>
            <a:pPr algn="l"/>
            <a:r>
              <a:rPr lang="en-US" altLang="zh-CN" dirty="0"/>
              <a:t> </a:t>
            </a:r>
            <a:r>
              <a:rPr lang="en-US" altLang="zh-CN" dirty="0" smtClean="0"/>
              <a:t>    </a:t>
            </a:r>
            <a:r>
              <a:rPr lang="en-US" altLang="zh-CN" dirty="0"/>
              <a:t>&lt;html&gt;</a:t>
            </a:r>
            <a:endParaRPr lang="en-US" altLang="zh-CN" dirty="0"/>
          </a:p>
          <a:p>
            <a:pPr algn="l"/>
            <a:r>
              <a:rPr lang="en-US" altLang="zh-CN" dirty="0" smtClean="0"/>
              <a:t>     </a:t>
            </a:r>
            <a:r>
              <a:rPr lang="en-US" altLang="zh-CN" dirty="0"/>
              <a:t>&lt;head&gt;</a:t>
            </a:r>
            <a:br>
              <a:rPr lang="en-US" altLang="zh-CN" dirty="0"/>
            </a:br>
            <a:r>
              <a:rPr lang="en-US" altLang="zh-CN" dirty="0"/>
              <a:t> </a:t>
            </a:r>
            <a:r>
              <a:rPr lang="en-US" altLang="zh-CN" dirty="0" smtClean="0"/>
              <a:t>    </a:t>
            </a:r>
            <a:r>
              <a:rPr lang="en-US" altLang="zh-CN" dirty="0"/>
              <a:t>&lt;meta charset=“utf-8”&gt;</a:t>
            </a:r>
            <a:br>
              <a:rPr lang="en-US" altLang="zh-CN" dirty="0"/>
            </a:br>
            <a:r>
              <a:rPr lang="en-US" altLang="zh-CN" dirty="0"/>
              <a:t> </a:t>
            </a:r>
            <a:r>
              <a:rPr lang="en-US" altLang="zh-CN" dirty="0" smtClean="0"/>
              <a:t>    </a:t>
            </a:r>
            <a:r>
              <a:rPr lang="en-US" altLang="zh-CN" dirty="0"/>
              <a:t>&lt;title&gt;</a:t>
            </a:r>
            <a:r>
              <a:rPr lang="zh-CN" altLang="en-US" dirty="0"/>
              <a:t>斤斗云在线课堂</a:t>
            </a:r>
            <a:r>
              <a:rPr lang="en-US" altLang="zh-CN" dirty="0"/>
              <a:t>&lt;/title&gt;</a:t>
            </a:r>
            <a:endParaRPr lang="en-US" altLang="zh-CN" dirty="0"/>
          </a:p>
          <a:p>
            <a:pPr algn="l"/>
            <a:r>
              <a:rPr lang="en-US" altLang="zh-CN" dirty="0"/>
              <a:t> </a:t>
            </a:r>
            <a:r>
              <a:rPr lang="en-US" altLang="zh-CN" dirty="0" smtClean="0"/>
              <a:t>    </a:t>
            </a:r>
            <a:r>
              <a:rPr lang="en-US" altLang="zh-CN" dirty="0"/>
              <a:t>&lt;/head&gt;</a:t>
            </a:r>
            <a:endParaRPr lang="en-US" altLang="zh-CN" dirty="0"/>
          </a:p>
          <a:p>
            <a:pPr algn="l"/>
            <a:r>
              <a:rPr lang="en-US" altLang="zh-CN" dirty="0"/>
              <a:t> </a:t>
            </a:r>
            <a:r>
              <a:rPr lang="en-US" altLang="zh-CN" dirty="0" smtClean="0"/>
              <a:t>    </a:t>
            </a:r>
            <a:r>
              <a:rPr lang="en-US" altLang="zh-CN" dirty="0"/>
              <a:t>&lt;body&gt;</a:t>
            </a:r>
            <a:br>
              <a:rPr lang="en-US" altLang="zh-CN" dirty="0"/>
            </a:br>
            <a:r>
              <a:rPr lang="en-US" altLang="zh-CN" dirty="0"/>
              <a:t> </a:t>
            </a:r>
            <a:r>
              <a:rPr lang="en-US" altLang="zh-CN" dirty="0" smtClean="0"/>
              <a:t>    </a:t>
            </a:r>
            <a:r>
              <a:rPr lang="en-US" altLang="zh-CN" dirty="0"/>
              <a:t>&lt;div id=“ app”&gt;</a:t>
            </a:r>
            <a:br>
              <a:rPr lang="en-US" altLang="zh-CN" dirty="0"/>
            </a:br>
            <a:r>
              <a:rPr lang="en-US" altLang="zh-CN" dirty="0"/>
              <a:t> </a:t>
            </a:r>
            <a:r>
              <a:rPr lang="en-US" altLang="zh-CN" dirty="0" smtClean="0"/>
              <a:t>           </a:t>
            </a:r>
            <a:r>
              <a:rPr lang="en-US" altLang="zh-CN" dirty="0"/>
              <a:t>&lt;p&gt;</a:t>
            </a:r>
            <a:r>
              <a:rPr lang="zh-CN" altLang="en-US" dirty="0"/>
              <a:t>页面载入时，</a:t>
            </a:r>
            <a:r>
              <a:rPr lang="en-US" altLang="zh-CN" dirty="0"/>
              <a:t> input </a:t>
            </a:r>
            <a:r>
              <a:rPr lang="zh-CN" altLang="en-US" dirty="0"/>
              <a:t>元素自动获取焦点</a:t>
            </a:r>
            <a:r>
              <a:rPr lang="en-US" altLang="zh-CN" dirty="0"/>
              <a:t>: &lt;/p&gt;</a:t>
            </a:r>
            <a:endParaRPr lang="en-US" altLang="zh-CN" dirty="0"/>
          </a:p>
          <a:p>
            <a:pPr algn="l"/>
            <a:r>
              <a:rPr lang="en-US" altLang="zh-CN" dirty="0" smtClean="0"/>
              <a:t>                    </a:t>
            </a:r>
            <a:r>
              <a:rPr lang="en-US" altLang="zh-CN" dirty="0"/>
              <a:t>&lt;input   type=“text” v-focus&gt;</a:t>
            </a:r>
            <a:br>
              <a:rPr lang="en-US" altLang="zh-CN" dirty="0"/>
            </a:br>
            <a:r>
              <a:rPr lang="en-US" altLang="zh-CN" dirty="0" smtClean="0"/>
              <a:t>     </a:t>
            </a:r>
            <a:r>
              <a:rPr lang="en-US" altLang="zh-CN" dirty="0"/>
              <a:t>&lt;/div&gt;</a:t>
            </a:r>
            <a:br>
              <a:rPr lang="en-US" altLang="zh-CN" dirty="0"/>
            </a:br>
            <a:r>
              <a:rPr lang="en-US" altLang="zh-CN" dirty="0" smtClean="0"/>
              <a:t>    </a:t>
            </a:r>
            <a:r>
              <a:rPr lang="en-US" altLang="zh-CN" dirty="0"/>
              <a:t>&lt;script   </a:t>
            </a:r>
            <a:r>
              <a:rPr lang="en-US" altLang="zh-CN" dirty="0" err="1"/>
              <a:t>src</a:t>
            </a:r>
            <a:r>
              <a:rPr lang="en-US" altLang="zh-CN" dirty="0"/>
              <a:t>=“../</a:t>
            </a:r>
            <a:r>
              <a:rPr lang="en-US" altLang="zh-CN" dirty="0" err="1"/>
              <a:t>js</a:t>
            </a:r>
            <a:r>
              <a:rPr lang="en-US" altLang="zh-CN" dirty="0"/>
              <a:t>/</a:t>
            </a:r>
            <a:r>
              <a:rPr lang="en-US" altLang="zh-CN" dirty="0" err="1"/>
              <a:t>Vue</a:t>
            </a:r>
            <a:r>
              <a:rPr lang="en-US" altLang="zh-CN" dirty="0"/>
              <a:t>. </a:t>
            </a:r>
            <a:r>
              <a:rPr lang="en-US" altLang="zh-CN" dirty="0" err="1"/>
              <a:t>js</a:t>
            </a:r>
            <a:r>
              <a:rPr lang="en-US" altLang="zh-CN" dirty="0"/>
              <a:t>” &gt;&lt;/script&gt;</a:t>
            </a:r>
            <a:endParaRPr lang="en-US" altLang="zh-CN" dirty="0"/>
          </a:p>
          <a:p>
            <a:pPr algn="l"/>
            <a:r>
              <a:rPr lang="en-US" altLang="zh-CN" dirty="0" smtClean="0"/>
              <a:t>    </a:t>
            </a:r>
            <a:r>
              <a:rPr lang="en-US" altLang="zh-CN" dirty="0"/>
              <a:t>&lt;script&gt;</a:t>
            </a:r>
            <a:br>
              <a:rPr lang="en-US" altLang="zh-CN" dirty="0"/>
            </a:br>
            <a:r>
              <a:rPr lang="en-US" altLang="zh-CN" dirty="0" smtClean="0"/>
              <a:t>      </a:t>
            </a:r>
            <a:r>
              <a:rPr lang="en-US" altLang="zh-CN" dirty="0" err="1" smtClean="0"/>
              <a:t>Vue</a:t>
            </a:r>
            <a:r>
              <a:rPr lang="en-US" altLang="zh-CN" dirty="0"/>
              <a:t> .directive(‘ focus’, {</a:t>
            </a:r>
            <a:br>
              <a:rPr lang="en-US" altLang="zh-CN" dirty="0"/>
            </a:br>
            <a:r>
              <a:rPr lang="en-US" altLang="zh-CN" dirty="0" smtClean="0"/>
              <a:t>        </a:t>
            </a:r>
            <a:r>
              <a:rPr lang="en-US" altLang="zh-CN" dirty="0"/>
              <a:t> inserted: function (el) {    el. focus()}   </a:t>
            </a:r>
            <a:endParaRPr lang="en-US" altLang="zh-CN" dirty="0"/>
          </a:p>
          <a:p>
            <a:pPr algn="l"/>
            <a:r>
              <a:rPr lang="en-US" altLang="zh-CN" dirty="0" smtClean="0"/>
              <a:t>    </a:t>
            </a:r>
            <a:r>
              <a:rPr lang="en-US" altLang="zh-CN" dirty="0"/>
              <a:t>})</a:t>
            </a:r>
            <a:endParaRPr lang="en-US" altLang="zh-CN" dirty="0"/>
          </a:p>
        </p:txBody>
      </p:sp>
      <p:sp>
        <p:nvSpPr>
          <p:cNvPr id="3" name="圆角矩形标注 2"/>
          <p:cNvSpPr/>
          <p:nvPr/>
        </p:nvSpPr>
        <p:spPr bwMode="auto">
          <a:xfrm>
            <a:off x="3635896" y="5805264"/>
            <a:ext cx="1224136" cy="407064"/>
          </a:xfrm>
          <a:prstGeom prst="wedgeRoundRectCallout">
            <a:avLst/>
          </a:prstGeom>
          <a:no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AutoShape 5"/>
          <p:cNvSpPr>
            <a:spLocks noChangeArrowheads="1"/>
          </p:cNvSpPr>
          <p:nvPr/>
        </p:nvSpPr>
        <p:spPr bwMode="auto">
          <a:xfrm>
            <a:off x="3347144" y="6128855"/>
            <a:ext cx="3673128" cy="340519"/>
          </a:xfrm>
          <a:prstGeom prst="wedgeRoundRectCallout">
            <a:avLst>
              <a:gd name="adj1" fmla="val -44774"/>
              <a:gd name="adj2" fmla="val -119073"/>
              <a:gd name="adj3" fmla="val 16667"/>
            </a:avLst>
          </a:prstGeom>
          <a:gradFill rotWithShape="1">
            <a:gsLst>
              <a:gs pos="0">
                <a:srgbClr val="FFFF99"/>
              </a:gs>
              <a:gs pos="100000">
                <a:srgbClr val="FFFF99">
                  <a:gamma/>
                  <a:tint val="0"/>
                  <a:invGamma/>
                </a:srgbClr>
              </a:gs>
            </a:gsLst>
            <a:lin ang="5400000" scaled="1"/>
          </a:gradFill>
          <a:ln w="9525" algn="ctr">
            <a:solidFill>
              <a:srgbClr val="FF6600"/>
            </a:solidFill>
            <a:miter lim="800000"/>
          </a:ln>
          <a:effectLst>
            <a:outerShdw dist="53882" dir="2700000" algn="ctr" rotWithShape="0">
              <a:schemeClr val="bg2">
                <a:alpha val="50000"/>
              </a:schemeClr>
            </a:outerShdw>
          </a:effectLst>
        </p:spPr>
        <p:txBody>
          <a:bodyPr wrap="square"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400" dirty="0">
                <a:sym typeface="+mn-ea"/>
              </a:rPr>
              <a:t>这里的</a:t>
            </a:r>
            <a:r>
              <a:rPr lang="en-US" altLang="zh-CN" sz="1400" dirty="0">
                <a:sym typeface="+mn-ea"/>
              </a:rPr>
              <a:t>el</a:t>
            </a:r>
            <a:r>
              <a:rPr lang="zh-CN" altLang="en-US" sz="1400" dirty="0">
                <a:sym typeface="+mn-ea"/>
              </a:rPr>
              <a:t>指的就是当前指令绑定的 </a:t>
            </a:r>
            <a:r>
              <a:rPr lang="en-US" altLang="zh-CN" sz="1400" dirty="0">
                <a:sym typeface="+mn-ea"/>
              </a:rPr>
              <a:t>DOM</a:t>
            </a:r>
            <a:r>
              <a:rPr lang="zh-CN" altLang="en-US" sz="1400" dirty="0">
                <a:sym typeface="+mn-ea"/>
              </a:rPr>
              <a:t>元素</a:t>
            </a:r>
            <a:endParaRPr sz="1400" dirty="0">
              <a:sym typeface="+mn-ea"/>
            </a:endParaRPr>
          </a:p>
        </p:txBody>
      </p:sp>
      <p:sp>
        <p:nvSpPr>
          <p:cNvPr id="4" name="圆角矩形标注 3"/>
          <p:cNvSpPr/>
          <p:nvPr/>
        </p:nvSpPr>
        <p:spPr bwMode="auto">
          <a:xfrm>
            <a:off x="4355976" y="4005064"/>
            <a:ext cx="1368152" cy="720080"/>
          </a:xfrm>
          <a:prstGeom prst="wedgeRoundRectCallout">
            <a:avLst/>
          </a:prstGeom>
          <a:no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 name="矩形标注 4"/>
          <p:cNvSpPr/>
          <p:nvPr/>
        </p:nvSpPr>
        <p:spPr bwMode="auto">
          <a:xfrm>
            <a:off x="2529999" y="4869160"/>
            <a:ext cx="3461209" cy="375690"/>
          </a:xfrm>
          <a:prstGeom prst="wedgeRectCallout">
            <a:avLst>
              <a:gd name="adj1" fmla="val -56783"/>
              <a:gd name="adj2" fmla="val 122204"/>
            </a:avLst>
          </a:prstGeom>
          <a:solidFill>
            <a:srgbClr val="EDECB2"/>
          </a:solidFill>
          <a:ln w="12700">
            <a:solidFill>
              <a:srgbClr val="FFC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lang="zh-CN" altLang="en-US" sz="1400" dirty="0">
                <a:solidFill>
                  <a:schemeClr val="tx1"/>
                </a:solidFill>
                <a:latin typeface="Arial" panose="020B0604020202020204" pitchFamily="34" charset="0"/>
                <a:ea typeface="宋体" panose="02010600030101010101" pitchFamily="2" charset="-122"/>
              </a:rPr>
              <a:t>绑定元素插入到</a:t>
            </a:r>
            <a:r>
              <a:rPr lang="en-US" altLang="zh-CN" sz="1400" dirty="0">
                <a:solidFill>
                  <a:schemeClr val="tx1"/>
                </a:solidFill>
                <a:latin typeface="Arial" panose="020B0604020202020204" pitchFamily="34" charset="0"/>
                <a:ea typeface="宋体" panose="02010600030101010101" pitchFamily="2" charset="-122"/>
              </a:rPr>
              <a:t>DOM</a:t>
            </a:r>
            <a:r>
              <a:rPr lang="zh-CN" altLang="en-US" sz="1400" dirty="0">
                <a:solidFill>
                  <a:schemeClr val="tx1"/>
                </a:solidFill>
                <a:latin typeface="Arial" panose="020B0604020202020204" pitchFamily="34" charset="0"/>
                <a:ea typeface="宋体" panose="02010600030101010101" pitchFamily="2" charset="-122"/>
              </a:rPr>
              <a:t>后执行钩子函数</a:t>
            </a:r>
            <a:endParaRPr kumimoji="0" lang="zh-CN" altLang="en-US" sz="14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2" name="文本框 1"/>
          <p:cNvSpPr txBox="1"/>
          <p:nvPr/>
        </p:nvSpPr>
        <p:spPr>
          <a:xfrm>
            <a:off x="6676390" y="5554345"/>
            <a:ext cx="991870" cy="368300"/>
          </a:xfrm>
          <a:prstGeom prst="rect">
            <a:avLst/>
          </a:prstGeom>
          <a:noFill/>
        </p:spPr>
        <p:txBody>
          <a:bodyPr wrap="square" rtlCol="0">
            <a:spAutoFit/>
          </a:bodyPr>
          <a:p>
            <a:r>
              <a:rPr lang="zh-CN" altLang="en-US">
                <a:hlinkClick r:id="rId1" action="ppaction://hlinkfile"/>
              </a:rPr>
              <a:t>运行</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p:cNvSpPr>
          <p:nvPr>
            <p:ph idx="1"/>
          </p:nvPr>
        </p:nvSpPr>
        <p:spPr>
          <a:xfrm>
            <a:off x="492760" y="1261110"/>
            <a:ext cx="8644890" cy="6162040"/>
          </a:xfrm>
        </p:spPr>
        <p:txBody>
          <a:bodyPr vert="horz" wrap="square" lIns="91440" tIns="45720" rIns="91440" bIns="45720" anchor="t"/>
          <a:lstStyle/>
          <a:p>
            <a:pPr marL="0" indent="0" algn="l" eaLnBrk="0" hangingPunct="0">
              <a:lnSpc>
                <a:spcPct val="125000"/>
              </a:lnSpc>
              <a:spcBef>
                <a:spcPts val="0"/>
              </a:spcBef>
              <a:buNone/>
            </a:pPr>
            <a:endParaRPr lang="en-US" altLang="zh-CN" dirty="0">
              <a:latin typeface="Calibri" panose="020F0502020204030204" pitchFamily="34" charset="0"/>
              <a:sym typeface="+mn-ea"/>
            </a:endParaRPr>
          </a:p>
          <a:p>
            <a:pPr marL="0" indent="0" algn="l" eaLnBrk="0" hangingPunct="0">
              <a:lnSpc>
                <a:spcPct val="125000"/>
              </a:lnSpc>
              <a:spcBef>
                <a:spcPts val="0"/>
              </a:spcBef>
              <a:buNone/>
            </a:pPr>
            <a:endParaRPr lang="en-US" altLang="zh-CN" dirty="0">
              <a:latin typeface="Calibri" panose="020F0502020204030204" pitchFamily="34" charset="0"/>
              <a:sym typeface="+mn-ea"/>
            </a:endParaRPr>
          </a:p>
          <a:p>
            <a:pPr>
              <a:lnSpc>
                <a:spcPct val="125000"/>
              </a:lnSpc>
              <a:spcBef>
                <a:spcPts val="0"/>
              </a:spcBef>
            </a:pPr>
            <a:r>
              <a:rPr lang="en-US" altLang="zh-CN" sz="2800" dirty="0">
                <a:latin typeface="Calibri" panose="020F0502020204030204" pitchFamily="34" charset="0"/>
                <a:sym typeface="+mn-ea"/>
              </a:rPr>
              <a:t>【</a:t>
            </a:r>
            <a:r>
              <a:rPr lang="zh-CN" altLang="en-US" sz="2800" dirty="0">
                <a:latin typeface="Calibri" panose="020F0502020204030204" pitchFamily="34" charset="0"/>
                <a:sym typeface="+mn-ea"/>
              </a:rPr>
              <a:t>例 </a:t>
            </a:r>
            <a:r>
              <a:rPr lang="en-US" altLang="zh-CN" sz="2800" dirty="0">
                <a:latin typeface="Calibri" panose="020F0502020204030204" pitchFamily="34" charset="0"/>
                <a:sym typeface="+mn-ea"/>
              </a:rPr>
              <a:t>6-1】</a:t>
            </a:r>
            <a:r>
              <a:rPr lang="zh-CN" altLang="en-US" sz="2800" dirty="0">
                <a:latin typeface="Calibri" panose="020F0502020204030204" pitchFamily="34" charset="0"/>
                <a:sym typeface="+mn-ea"/>
              </a:rPr>
              <a:t>需要说明的是这里的 </a:t>
            </a:r>
            <a:r>
              <a:rPr lang="en-US" altLang="zh-CN" sz="2800" dirty="0">
                <a:latin typeface="Calibri" panose="020F0502020204030204" pitchFamily="34" charset="0"/>
                <a:sym typeface="+mn-ea"/>
              </a:rPr>
              <a:t>el </a:t>
            </a:r>
            <a:r>
              <a:rPr lang="zh-CN" altLang="en-US" sz="2800" dirty="0">
                <a:latin typeface="Calibri" panose="020F0502020204030204" pitchFamily="34" charset="0"/>
                <a:sym typeface="+mn-ea"/>
              </a:rPr>
              <a:t>指的就是当前指令绑定的 </a:t>
            </a:r>
            <a:r>
              <a:rPr lang="en-US" altLang="zh-CN" sz="2800" dirty="0">
                <a:latin typeface="Calibri" panose="020F0502020204030204" pitchFamily="34" charset="0"/>
                <a:sym typeface="+mn-ea"/>
              </a:rPr>
              <a:t>DOM </a:t>
            </a:r>
            <a:r>
              <a:rPr lang="zh-CN" altLang="en-US" sz="2800" dirty="0">
                <a:latin typeface="Calibri" panose="020F0502020204030204" pitchFamily="34" charset="0"/>
                <a:sym typeface="+mn-ea"/>
              </a:rPr>
              <a:t>元素，运行后光标定位在文本框中，直接获取焦点运行结果如图 </a:t>
            </a:r>
            <a:r>
              <a:rPr lang="en-US" altLang="zh-CN" sz="2800" dirty="0">
                <a:latin typeface="Calibri" panose="020F0502020204030204" pitchFamily="34" charset="0"/>
                <a:sym typeface="+mn-ea"/>
              </a:rPr>
              <a:t>6-2 </a:t>
            </a:r>
            <a:r>
              <a:rPr lang="zh-CN" altLang="en-US" sz="2800" dirty="0">
                <a:latin typeface="Calibri" panose="020F0502020204030204" pitchFamily="34" charset="0"/>
                <a:sym typeface="+mn-ea"/>
              </a:rPr>
              <a:t>所示： </a:t>
            </a:r>
            <a:endParaRPr lang="zh-CN" altLang="en-US" sz="2800" dirty="0">
              <a:latin typeface="Calibri" panose="020F0502020204030204" pitchFamily="34" charset="0"/>
              <a:sym typeface="+mn-ea"/>
            </a:endParaRPr>
          </a:p>
          <a:p>
            <a:pPr marL="0" indent="0">
              <a:lnSpc>
                <a:spcPct val="125000"/>
              </a:lnSpc>
              <a:spcBef>
                <a:spcPts val="0"/>
              </a:spcBef>
              <a:buNone/>
            </a:pPr>
            <a:endParaRPr lang="en-US" altLang="zh-CN" dirty="0">
              <a:latin typeface="Calibri" panose="020F0502020204030204" pitchFamily="34" charset="0"/>
              <a:sym typeface="+mn-ea"/>
            </a:endParaRPr>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pic>
        <p:nvPicPr>
          <p:cNvPr id="4" name="图片 3" descr="7"/>
          <p:cNvPicPr>
            <a:picLocks noChangeAspect="1"/>
          </p:cNvPicPr>
          <p:nvPr/>
        </p:nvPicPr>
        <p:blipFill>
          <a:blip r:embed="rId1" cstate="print"/>
          <a:stretch>
            <a:fillRect/>
          </a:stretch>
        </p:blipFill>
        <p:spPr>
          <a:xfrm>
            <a:off x="2551493" y="4174082"/>
            <a:ext cx="3970020" cy="2522220"/>
          </a:xfrm>
          <a:prstGeom prst="rect">
            <a:avLst/>
          </a:prstGeom>
        </p:spPr>
      </p:pic>
      <p:sp>
        <p:nvSpPr>
          <p:cNvPr id="7" name="AutoShape 3"/>
          <p:cNvSpPr/>
          <p:nvPr/>
        </p:nvSpPr>
        <p:spPr>
          <a:xfrm>
            <a:off x="539552" y="903872"/>
            <a:ext cx="8064896" cy="1520190"/>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spAutoFit/>
          </a:bodyPr>
          <a:lstStyle/>
          <a:p>
            <a:pPr algn="l"/>
            <a:r>
              <a:rPr lang="en-US" altLang="zh-CN" dirty="0"/>
              <a:t>  </a:t>
            </a:r>
            <a:r>
              <a:rPr lang="en-US" altLang="zh-CN" dirty="0" smtClean="0"/>
              <a:t>        </a:t>
            </a:r>
            <a:r>
              <a:rPr lang="en-US" altLang="zh-CN" dirty="0"/>
              <a:t>new </a:t>
            </a:r>
            <a:r>
              <a:rPr lang="en-US" altLang="zh-CN" dirty="0" err="1"/>
              <a:t>Vue</a:t>
            </a:r>
            <a:r>
              <a:rPr lang="en-US" altLang="zh-CN" dirty="0"/>
              <a:t>({</a:t>
            </a:r>
            <a:endParaRPr lang="en-US" altLang="zh-CN" dirty="0"/>
          </a:p>
          <a:p>
            <a:pPr algn="l"/>
            <a:r>
              <a:rPr lang="en-US" altLang="zh-CN" dirty="0"/>
              <a:t>  </a:t>
            </a:r>
            <a:r>
              <a:rPr lang="en-US" altLang="zh-CN" dirty="0" smtClean="0"/>
              <a:t>             </a:t>
            </a:r>
            <a:r>
              <a:rPr lang="en-US" altLang="zh-CN" dirty="0"/>
              <a:t>el: ' #app‘     })</a:t>
            </a:r>
            <a:endParaRPr lang="en-US" altLang="zh-CN" dirty="0"/>
          </a:p>
          <a:p>
            <a:pPr algn="l"/>
            <a:r>
              <a:rPr lang="en-US" altLang="zh-CN" dirty="0"/>
              <a:t>  </a:t>
            </a:r>
            <a:r>
              <a:rPr lang="en-US" altLang="zh-CN" dirty="0" smtClean="0"/>
              <a:t>        </a:t>
            </a:r>
            <a:r>
              <a:rPr lang="en-US" altLang="zh-CN" dirty="0"/>
              <a:t>&lt;/script&gt;</a:t>
            </a:r>
            <a:endParaRPr lang="en-US" altLang="zh-CN" dirty="0"/>
          </a:p>
          <a:p>
            <a:pPr algn="l"/>
            <a:r>
              <a:rPr lang="en-US" altLang="zh-CN" dirty="0"/>
              <a:t>  </a:t>
            </a:r>
            <a:r>
              <a:rPr lang="en-US" altLang="zh-CN" dirty="0" smtClean="0"/>
              <a:t>        </a:t>
            </a:r>
            <a:r>
              <a:rPr lang="en-US" altLang="zh-CN" dirty="0"/>
              <a:t>&lt;/body&gt;</a:t>
            </a:r>
            <a:endParaRPr lang="en-US" altLang="zh-CN" dirty="0"/>
          </a:p>
          <a:p>
            <a:pPr algn="l"/>
            <a:r>
              <a:rPr lang="en-US" altLang="zh-CN" dirty="0"/>
              <a:t>  </a:t>
            </a:r>
            <a:r>
              <a:rPr lang="en-US" altLang="zh-CN" dirty="0" smtClean="0"/>
              <a:t>        </a:t>
            </a:r>
            <a:r>
              <a:rPr lang="en-US" altLang="zh-CN" dirty="0"/>
              <a:t>&lt;/html&gt;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7172">
                                            <p:txEl>
                                              <p:pRg st="2" end="2"/>
                                            </p:txEl>
                                          </p:spTgt>
                                        </p:tgtEl>
                                        <p:attrNameLst>
                                          <p:attrName>style.visibility</p:attrName>
                                        </p:attrNameLst>
                                      </p:cBhvr>
                                      <p:to>
                                        <p:strVal val="visible"/>
                                      </p:to>
                                    </p:set>
                                    <p:animEffect transition="in" filter="fade">
                                      <p:cBhvr>
                                        <p:cTn id="13" dur="500"/>
                                        <p:tgtEl>
                                          <p:spTgt spid="717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500" fill="hold"/>
                                        <p:tgtEl>
                                          <p:spTgt spid="4"/>
                                        </p:tgtEl>
                                        <p:attrNameLst>
                                          <p:attrName>ppt_x</p:attrName>
                                        </p:attrNameLst>
                                      </p:cBhvr>
                                      <p:tavLst>
                                        <p:tav tm="0">
                                          <p:val>
                                            <p:strVal val="#ppt_x"/>
                                          </p:val>
                                        </p:tav>
                                        <p:tav tm="100000">
                                          <p:val>
                                            <p:strVal val="#ppt_x"/>
                                          </p:val>
                                        </p:tav>
                                      </p:tavLst>
                                    </p:anim>
                                    <p:anim calcmode="lin" valueType="num">
                                      <p:cBhvr additive="base">
                                        <p:cTn id="1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p:cNvSpPr>
          <p:nvPr>
            <p:ph type="title"/>
          </p:nvPr>
        </p:nvSpPr>
        <p:spPr>
          <a:xfrm>
            <a:off x="3759518" y="423545"/>
            <a:ext cx="5043487" cy="654050"/>
          </a:xfrm>
        </p:spPr>
        <p:txBody>
          <a:bodyPr vert="horz" wrap="square" lIns="91440" tIns="45720" rIns="91440" bIns="45720" anchor="ctr"/>
          <a:lstStyle/>
          <a:p>
            <a:r>
              <a:rPr lang="en-US" altLang="zh-CN" dirty="0">
                <a:sym typeface="+mn-ea"/>
              </a:rPr>
              <a:t>6</a:t>
            </a:r>
            <a:r>
              <a:rPr dirty="0">
                <a:sym typeface="+mn-ea"/>
              </a:rPr>
              <a:t>.1.</a:t>
            </a:r>
            <a:r>
              <a:rPr lang="en-US" altLang="zh-CN" dirty="0">
                <a:sym typeface="+mn-ea"/>
              </a:rPr>
              <a:t>2</a:t>
            </a:r>
            <a:r>
              <a:rPr dirty="0">
                <a:sym typeface="+mn-ea"/>
              </a:rPr>
              <a:t> </a:t>
            </a:r>
            <a:r>
              <a:rPr lang="zh-CN" altLang="en-US" dirty="0">
                <a:sym typeface="+mn-ea"/>
              </a:rPr>
              <a:t> 自定义局部指令 </a:t>
            </a:r>
            <a:endParaRPr dirty="0">
              <a:sym typeface="+mn-ea"/>
            </a:endParaRPr>
          </a:p>
        </p:txBody>
      </p:sp>
      <p:sp>
        <p:nvSpPr>
          <p:cNvPr id="7172" name="Rectangle 3"/>
          <p:cNvSpPr>
            <a:spLocks noGrp="1"/>
          </p:cNvSpPr>
          <p:nvPr>
            <p:ph idx="1"/>
          </p:nvPr>
        </p:nvSpPr>
        <p:spPr>
          <a:xfrm>
            <a:off x="492760" y="1261110"/>
            <a:ext cx="8644890" cy="6162040"/>
          </a:xfrm>
        </p:spPr>
        <p:txBody>
          <a:bodyPr vert="horz" wrap="square" lIns="91440" tIns="45720" rIns="91440" bIns="45720" anchor="t"/>
          <a:lstStyle/>
          <a:p>
            <a:pPr marL="342900" indent="-342900" algn="l" eaLnBrk="0" hangingPunct="0">
              <a:lnSpc>
                <a:spcPct val="125000"/>
              </a:lnSpc>
              <a:spcBef>
                <a:spcPts val="0"/>
              </a:spcBef>
              <a:buFont typeface="Wingdings" panose="05000000000000000000" pitchFamily="2" charset="2"/>
              <a:buChar char="n"/>
            </a:pPr>
            <a:r>
              <a:rPr lang="zh-CN" altLang="en-US" sz="2800" dirty="0">
                <a:latin typeface="Calibri" panose="020F0502020204030204" pitchFamily="34" charset="0"/>
                <a:sym typeface="+mn-ea"/>
              </a:rPr>
              <a:t>局部指令在 </a:t>
            </a:r>
            <a:r>
              <a:rPr lang="en-US" sz="2800" dirty="0">
                <a:latin typeface="Calibri" panose="020F0502020204030204" pitchFamily="34" charset="0"/>
                <a:sym typeface="+mn-ea"/>
              </a:rPr>
              <a:t>Vue </a:t>
            </a:r>
            <a:r>
              <a:rPr lang="zh-CN" altLang="en-US" sz="2800" dirty="0">
                <a:latin typeface="Calibri" panose="020F0502020204030204" pitchFamily="34" charset="0"/>
                <a:sym typeface="+mn-ea"/>
              </a:rPr>
              <a:t>实例中使用 </a:t>
            </a:r>
            <a:r>
              <a:rPr lang="en-US" sz="2800" dirty="0">
                <a:latin typeface="Calibri" panose="020F0502020204030204" pitchFamily="34" charset="0"/>
                <a:sym typeface="+mn-ea"/>
              </a:rPr>
              <a:t>directives </a:t>
            </a:r>
            <a:r>
              <a:rPr lang="zh-CN" altLang="en-US" sz="2800" dirty="0">
                <a:latin typeface="Calibri" panose="020F0502020204030204" pitchFamily="34" charset="0"/>
                <a:sym typeface="+mn-ea"/>
              </a:rPr>
              <a:t>选项来注册局部指令，局部指令只能在这个实例中使用。语法如下：</a:t>
            </a:r>
            <a:endParaRPr lang="en-US" altLang="zh-CN" sz="2800"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0" indent="0">
              <a:lnSpc>
                <a:spcPct val="125000"/>
              </a:lnSpc>
              <a:spcBef>
                <a:spcPts val="0"/>
              </a:spcBef>
              <a:buNone/>
            </a:pPr>
            <a:endParaRPr lang="en-US" altLang="zh-CN" sz="2800"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sz="2800" dirty="0">
              <a:sym typeface="+mn-ea"/>
            </a:endParaRPr>
          </a:p>
          <a:p>
            <a:pPr marL="342900" indent="-342900" algn="l" eaLnBrk="0" hangingPunct="0">
              <a:lnSpc>
                <a:spcPct val="125000"/>
              </a:lnSpc>
              <a:spcBef>
                <a:spcPts val="0"/>
              </a:spcBef>
              <a:buFont typeface="Wingdings" panose="05000000000000000000" pitchFamily="2" charset="2"/>
              <a:buChar char="n"/>
            </a:pPr>
            <a:r>
              <a:rPr lang="zh-CN" altLang="en-US" sz="2800" dirty="0">
                <a:sym typeface="+mn-ea"/>
              </a:rPr>
              <a:t>修改</a:t>
            </a:r>
            <a:r>
              <a:rPr lang="en-US" altLang="zh-CN" sz="2800" dirty="0">
                <a:sym typeface="+mn-ea"/>
              </a:rPr>
              <a:t>【</a:t>
            </a:r>
            <a:r>
              <a:rPr lang="zh-CN" altLang="en-US" sz="2800" dirty="0">
                <a:sym typeface="+mn-ea"/>
              </a:rPr>
              <a:t>例</a:t>
            </a:r>
            <a:r>
              <a:rPr lang="en-US" altLang="zh-CN" sz="2800" dirty="0">
                <a:sym typeface="+mn-ea"/>
              </a:rPr>
              <a:t>6-1】</a:t>
            </a:r>
            <a:r>
              <a:rPr lang="zh-CN" altLang="en-US" sz="2800" dirty="0">
                <a:sym typeface="+mn-ea"/>
              </a:rPr>
              <a:t>使用自定义局部指令实现元素自动获取焦点。 </a:t>
            </a:r>
            <a:endParaRPr lang="zh-CN" altLang="en-US" sz="2800" dirty="0"/>
          </a:p>
          <a:p>
            <a:pPr marL="0" indent="0">
              <a:buNone/>
            </a:pPr>
            <a:endParaRPr lang="en-US" altLang="zh-CN" dirty="0"/>
          </a:p>
          <a:p>
            <a:pPr marL="0" indent="0">
              <a:buNone/>
            </a:pPr>
            <a:endParaRPr lang="en-US" altLang="zh-CN"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7" name="AutoShape 3"/>
          <p:cNvSpPr/>
          <p:nvPr/>
        </p:nvSpPr>
        <p:spPr>
          <a:xfrm>
            <a:off x="622517" y="3068960"/>
            <a:ext cx="7920881" cy="1805226"/>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spAutoFit/>
          </a:bodyPr>
          <a:lstStyle/>
          <a:p>
            <a:pPr algn="l"/>
            <a:r>
              <a:rPr lang="fr-FR" altLang="zh-CN" dirty="0"/>
              <a:t>         new Vue({</a:t>
            </a:r>
            <a:br>
              <a:rPr lang="fr-FR" altLang="zh-CN" dirty="0"/>
            </a:br>
            <a:r>
              <a:rPr lang="fr-FR" altLang="zh-CN" dirty="0"/>
              <a:t>                  el: '#app',</a:t>
            </a:r>
            <a:endParaRPr lang="fr-FR" altLang="zh-CN" dirty="0"/>
          </a:p>
          <a:p>
            <a:pPr algn="l"/>
            <a:r>
              <a:rPr lang="fr-FR" altLang="zh-CN" dirty="0"/>
              <a:t>                  directives:   {</a:t>
            </a:r>
            <a:endParaRPr lang="fr-FR" altLang="zh-CN" dirty="0"/>
          </a:p>
          <a:p>
            <a:pPr algn="l"/>
            <a:r>
              <a:rPr lang="fr-FR" altLang="zh-CN" dirty="0"/>
              <a:t>                         //</a:t>
            </a:r>
            <a:r>
              <a:rPr lang="zh-CN" altLang="en-US" dirty="0"/>
              <a:t>定义局部指令</a:t>
            </a:r>
            <a:br>
              <a:rPr lang="fr-FR" altLang="zh-CN" dirty="0"/>
            </a:br>
            <a:r>
              <a:rPr lang="fr-FR" altLang="zh-CN" dirty="0"/>
              <a:t>               </a:t>
            </a:r>
            <a:r>
              <a:rPr lang="en-US" altLang="zh-CN" dirty="0"/>
              <a:t>}</a:t>
            </a:r>
            <a:endParaRPr lang="en-US" altLang="zh-CN" dirty="0"/>
          </a:p>
          <a:p>
            <a:pPr algn="l"/>
            <a:r>
              <a:rPr lang="en-US" altLang="zh-CN" dirty="0"/>
              <a:t>        })</a:t>
            </a:r>
            <a:endParaRPr lang="fr-FR"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p:cNvSpPr>
          <p:nvPr>
            <p:ph idx="1"/>
          </p:nvPr>
        </p:nvSpPr>
        <p:spPr>
          <a:xfrm>
            <a:off x="492760" y="1261110"/>
            <a:ext cx="8644890" cy="6162040"/>
          </a:xfrm>
        </p:spPr>
        <p:txBody>
          <a:bodyPr vert="horz" wrap="square" lIns="91440" tIns="45720" rIns="91440" bIns="45720" anchor="t"/>
          <a:lstStyle/>
          <a:p>
            <a:pPr marL="0" indent="0" algn="l" eaLnBrk="0" hangingPunct="0">
              <a:lnSpc>
                <a:spcPct val="125000"/>
              </a:lnSpc>
              <a:spcBef>
                <a:spcPts val="0"/>
              </a:spcBef>
              <a:buNone/>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0" indent="0" algn="l" eaLnBrk="0" hangingPunct="0">
              <a:lnSpc>
                <a:spcPct val="125000"/>
              </a:lnSpc>
              <a:spcBef>
                <a:spcPts val="0"/>
              </a:spcBef>
              <a:buFont typeface="Wingdings" panose="05000000000000000000" pitchFamily="2" charset="2"/>
              <a:buNone/>
            </a:pPr>
            <a:r>
              <a:rPr dirty="0">
                <a:latin typeface="Calibri" panose="020F0502020204030204" pitchFamily="34" charset="0"/>
                <a:sym typeface="+mn-ea"/>
              </a:rPr>
              <a:t>    </a:t>
            </a:r>
            <a:endParaRPr lang="en-US" altLang="zh-CN"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3" name="文本框 2"/>
          <p:cNvSpPr txBox="1"/>
          <p:nvPr/>
        </p:nvSpPr>
        <p:spPr>
          <a:xfrm>
            <a:off x="154864" y="1037590"/>
            <a:ext cx="4349268" cy="523220"/>
          </a:xfrm>
          <a:prstGeom prst="rect">
            <a:avLst/>
          </a:prstGeom>
          <a:noFill/>
        </p:spPr>
        <p:txBody>
          <a:bodyPr wrap="none" rtlCol="0" anchor="t">
            <a:spAutoFit/>
          </a:bodyPr>
          <a:lstStyle/>
          <a:p>
            <a:r>
              <a:rPr lang="en-US" altLang="zh-CN" sz="2800" b="0" dirty="0">
                <a:latin typeface="Calibri" panose="020F0502020204030204" pitchFamily="34" charset="0"/>
                <a:sym typeface="+mn-ea"/>
              </a:rPr>
              <a:t>【</a:t>
            </a:r>
            <a:r>
              <a:rPr lang="zh-CN" altLang="en-US" sz="2800" b="0" dirty="0">
                <a:latin typeface="Calibri" panose="020F0502020204030204" pitchFamily="34" charset="0"/>
                <a:sym typeface="+mn-ea"/>
              </a:rPr>
              <a:t>例</a:t>
            </a:r>
            <a:r>
              <a:rPr lang="en-US" altLang="zh-CN" sz="2800" b="0" dirty="0">
                <a:latin typeface="Calibri" panose="020F0502020204030204" pitchFamily="34" charset="0"/>
                <a:sym typeface="+mn-ea"/>
              </a:rPr>
              <a:t>6-2】</a:t>
            </a:r>
            <a:r>
              <a:rPr lang="zh-CN" altLang="en-US" sz="2800" b="0" dirty="0">
                <a:latin typeface="Calibri" panose="020F0502020204030204" pitchFamily="34" charset="0"/>
                <a:sym typeface="+mn-ea"/>
              </a:rPr>
              <a:t>自定义局部指令 </a:t>
            </a:r>
            <a:endParaRPr lang="zh-CN" altLang="en-US" sz="2800" b="0" dirty="0"/>
          </a:p>
        </p:txBody>
      </p:sp>
      <p:sp>
        <p:nvSpPr>
          <p:cNvPr id="7" name="AutoShape 3"/>
          <p:cNvSpPr/>
          <p:nvPr/>
        </p:nvSpPr>
        <p:spPr>
          <a:xfrm>
            <a:off x="452021" y="1517749"/>
            <a:ext cx="7859830" cy="4655582"/>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spAutoFit/>
          </a:bodyPr>
          <a:lstStyle/>
          <a:p>
            <a:pPr algn="l"/>
            <a:r>
              <a:rPr lang="en-US" altLang="zh-CN" dirty="0" smtClean="0"/>
              <a:t> &lt;</a:t>
            </a:r>
            <a:r>
              <a:rPr lang="en-US" altLang="zh-CN" dirty="0"/>
              <a:t>div id="app"&gt;</a:t>
            </a:r>
            <a:endParaRPr lang="en-US" altLang="zh-CN" dirty="0"/>
          </a:p>
          <a:p>
            <a:pPr algn="l"/>
            <a:r>
              <a:rPr lang="en-US" altLang="zh-CN" dirty="0" smtClean="0"/>
              <a:t> &lt;</a:t>
            </a:r>
            <a:r>
              <a:rPr lang="en-US" altLang="zh-CN" dirty="0"/>
              <a:t>p&gt;</a:t>
            </a:r>
            <a:r>
              <a:rPr lang="zh-CN" altLang="en-US" dirty="0"/>
              <a:t>页面载入时，</a:t>
            </a:r>
            <a:r>
              <a:rPr lang="en-US" altLang="zh-CN" dirty="0"/>
              <a:t>input </a:t>
            </a:r>
            <a:r>
              <a:rPr lang="zh-CN" altLang="en-US" dirty="0"/>
              <a:t>元素自动获取焦点</a:t>
            </a:r>
            <a:r>
              <a:rPr lang="en-US" altLang="zh-CN" dirty="0"/>
              <a:t>: &lt;/p&gt;</a:t>
            </a:r>
            <a:endParaRPr lang="en-US" altLang="zh-CN" dirty="0"/>
          </a:p>
          <a:p>
            <a:pPr algn="l"/>
            <a:r>
              <a:rPr lang="en-US" altLang="zh-CN" dirty="0"/>
              <a:t> &lt;input   v-focus&gt;</a:t>
            </a:r>
            <a:endParaRPr lang="en-US" altLang="zh-CN" dirty="0"/>
          </a:p>
          <a:p>
            <a:pPr algn="l"/>
            <a:r>
              <a:rPr lang="en-US" altLang="zh-CN" dirty="0"/>
              <a:t> &lt;/div&gt;</a:t>
            </a:r>
            <a:endParaRPr lang="en-US" altLang="zh-CN" dirty="0"/>
          </a:p>
          <a:p>
            <a:pPr algn="l"/>
            <a:r>
              <a:rPr lang="en-US" altLang="zh-CN" dirty="0"/>
              <a:t> &lt;script&gt;</a:t>
            </a:r>
            <a:endParaRPr lang="en-US" altLang="zh-CN" dirty="0"/>
          </a:p>
          <a:p>
            <a:pPr algn="l"/>
            <a:r>
              <a:rPr lang="en-US" altLang="zh-CN" dirty="0"/>
              <a:t> new </a:t>
            </a:r>
            <a:r>
              <a:rPr lang="en-US" altLang="zh-CN" dirty="0" err="1"/>
              <a:t>Vue</a:t>
            </a:r>
            <a:r>
              <a:rPr lang="en-US" altLang="zh-CN" dirty="0"/>
              <a:t>({</a:t>
            </a:r>
            <a:endParaRPr lang="en-US" altLang="zh-CN" dirty="0"/>
          </a:p>
          <a:p>
            <a:pPr algn="l"/>
            <a:r>
              <a:rPr lang="en-US" altLang="zh-CN" dirty="0"/>
              <a:t>        el: '#app',</a:t>
            </a:r>
            <a:endParaRPr lang="en-US" altLang="zh-CN" dirty="0"/>
          </a:p>
          <a:p>
            <a:pPr algn="l"/>
            <a:r>
              <a:rPr lang="en-US" altLang="zh-CN" dirty="0"/>
              <a:t>        directives: {</a:t>
            </a:r>
            <a:endParaRPr lang="en-US" altLang="zh-CN" dirty="0"/>
          </a:p>
          <a:p>
            <a:pPr algn="l"/>
            <a:r>
              <a:rPr lang="en-US" altLang="zh-CN" dirty="0"/>
              <a:t>                      focus: {</a:t>
            </a:r>
            <a:endParaRPr lang="en-US" altLang="zh-CN" dirty="0"/>
          </a:p>
          <a:p>
            <a:pPr algn="l"/>
            <a:r>
              <a:rPr lang="en-US" altLang="zh-CN" dirty="0"/>
              <a:t>     </a:t>
            </a:r>
            <a:r>
              <a:rPr lang="zh-CN" altLang="en-US" dirty="0"/>
              <a:t>                       </a:t>
            </a:r>
            <a:r>
              <a:rPr lang="en-US" altLang="zh-CN" dirty="0"/>
              <a:t>inserted: function (el) { </a:t>
            </a:r>
            <a:endParaRPr lang="en-US" altLang="zh-CN" dirty="0"/>
          </a:p>
          <a:p>
            <a:pPr algn="l"/>
            <a:r>
              <a:rPr lang="en-US" altLang="zh-CN" dirty="0"/>
              <a:t>                               </a:t>
            </a:r>
            <a:r>
              <a:rPr lang="en-US" altLang="zh-CN" dirty="0" err="1"/>
              <a:t>el.focus</a:t>
            </a:r>
            <a:r>
              <a:rPr lang="en-US" altLang="zh-CN" dirty="0"/>
              <a:t>()</a:t>
            </a:r>
            <a:endParaRPr lang="en-US" altLang="zh-CN" dirty="0"/>
          </a:p>
          <a:p>
            <a:pPr algn="l"/>
            <a:r>
              <a:rPr lang="en-US" altLang="zh-CN" dirty="0"/>
              <a:t>                              }</a:t>
            </a:r>
            <a:endParaRPr lang="en-US" altLang="zh-CN" dirty="0"/>
          </a:p>
          <a:p>
            <a:pPr algn="l"/>
            <a:r>
              <a:rPr lang="en-US" altLang="zh-CN" dirty="0"/>
              <a:t>                       }</a:t>
            </a:r>
            <a:endParaRPr lang="en-US" altLang="zh-CN" dirty="0"/>
          </a:p>
          <a:p>
            <a:pPr algn="l"/>
            <a:r>
              <a:rPr lang="en-US" altLang="zh-CN" dirty="0"/>
              <a:t>            }</a:t>
            </a:r>
            <a:endParaRPr lang="en-US" altLang="zh-CN" dirty="0"/>
          </a:p>
          <a:p>
            <a:pPr algn="l"/>
            <a:r>
              <a:rPr lang="en-US" altLang="zh-CN" dirty="0"/>
              <a:t> })</a:t>
            </a:r>
            <a:endParaRPr lang="en-US" altLang="zh-CN" dirty="0"/>
          </a:p>
          <a:p>
            <a:pPr algn="l"/>
            <a:r>
              <a:rPr lang="en-US" altLang="zh-CN" dirty="0"/>
              <a:t> &lt;/script&gt;</a:t>
            </a:r>
            <a:endParaRPr lang="en-US" altLang="zh-CN" dirty="0"/>
          </a:p>
        </p:txBody>
      </p:sp>
      <p:sp>
        <p:nvSpPr>
          <p:cNvPr id="9" name="AutoShape 5"/>
          <p:cNvSpPr>
            <a:spLocks noChangeArrowheads="1"/>
          </p:cNvSpPr>
          <p:nvPr/>
        </p:nvSpPr>
        <p:spPr bwMode="auto">
          <a:xfrm>
            <a:off x="4638723" y="4653136"/>
            <a:ext cx="3673128" cy="340519"/>
          </a:xfrm>
          <a:prstGeom prst="wedgeRoundRectCallout">
            <a:avLst>
              <a:gd name="adj1" fmla="val -44774"/>
              <a:gd name="adj2" fmla="val -119073"/>
              <a:gd name="adj3" fmla="val 16667"/>
            </a:avLst>
          </a:prstGeom>
          <a:gradFill rotWithShape="1">
            <a:gsLst>
              <a:gs pos="0">
                <a:srgbClr val="FFFF99"/>
              </a:gs>
              <a:gs pos="100000">
                <a:srgbClr val="FFFF99">
                  <a:gamma/>
                  <a:tint val="0"/>
                  <a:invGamma/>
                </a:srgbClr>
              </a:gs>
            </a:gsLst>
            <a:lin ang="5400000" scaled="1"/>
          </a:gradFill>
          <a:ln w="9525" algn="ctr">
            <a:solidFill>
              <a:srgbClr val="FF6600"/>
            </a:solidFill>
            <a:miter lim="800000"/>
          </a:ln>
          <a:effectLst>
            <a:outerShdw dist="53882" dir="2700000" algn="ctr" rotWithShape="0">
              <a:schemeClr val="bg2">
                <a:alpha val="50000"/>
              </a:schemeClr>
            </a:outerShdw>
          </a:effectLst>
        </p:spPr>
        <p:txBody>
          <a:bodyPr wrap="square"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400" dirty="0">
                <a:sym typeface="+mn-ea"/>
              </a:rPr>
              <a:t>这里的</a:t>
            </a:r>
            <a:r>
              <a:rPr lang="en-US" altLang="zh-CN" sz="1400" dirty="0">
                <a:sym typeface="+mn-ea"/>
              </a:rPr>
              <a:t>el</a:t>
            </a:r>
            <a:r>
              <a:rPr lang="zh-CN" altLang="en-US" sz="1400" dirty="0">
                <a:sym typeface="+mn-ea"/>
              </a:rPr>
              <a:t>指的就是当前指令绑定的 </a:t>
            </a:r>
            <a:r>
              <a:rPr lang="en-US" altLang="zh-CN" sz="1400" dirty="0">
                <a:sym typeface="+mn-ea"/>
              </a:rPr>
              <a:t>DOM</a:t>
            </a:r>
            <a:r>
              <a:rPr lang="zh-CN" altLang="en-US" sz="1400" dirty="0">
                <a:sym typeface="+mn-ea"/>
              </a:rPr>
              <a:t>元素</a:t>
            </a:r>
            <a:endParaRPr sz="1400" dirty="0">
              <a:sym typeface="+mn-ea"/>
            </a:endParaRPr>
          </a:p>
        </p:txBody>
      </p:sp>
      <p:sp>
        <p:nvSpPr>
          <p:cNvPr id="2" name="文本框 1"/>
          <p:cNvSpPr txBox="1"/>
          <p:nvPr/>
        </p:nvSpPr>
        <p:spPr>
          <a:xfrm>
            <a:off x="6676390" y="5554345"/>
            <a:ext cx="991870" cy="368300"/>
          </a:xfrm>
          <a:prstGeom prst="rect">
            <a:avLst/>
          </a:prstGeom>
          <a:noFill/>
        </p:spPr>
        <p:txBody>
          <a:bodyPr wrap="square" rtlCol="0">
            <a:spAutoFit/>
          </a:bodyPr>
          <a:p>
            <a:r>
              <a:rPr lang="zh-CN" altLang="en-US">
                <a:hlinkClick r:id="rId1" action="ppaction://hlinkfile"/>
              </a:rPr>
              <a:t>运行</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p:cNvSpPr>
          <p:nvPr>
            <p:ph idx="1"/>
          </p:nvPr>
        </p:nvSpPr>
        <p:spPr>
          <a:xfrm>
            <a:off x="492760" y="1261110"/>
            <a:ext cx="8644890" cy="6162040"/>
          </a:xfrm>
        </p:spPr>
        <p:txBody>
          <a:bodyPr vert="horz" wrap="square" lIns="91440" tIns="45720" rIns="91440" bIns="45720" anchor="t"/>
          <a:lstStyle/>
          <a:p>
            <a:pPr marL="0" indent="0" algn="l" eaLnBrk="0" hangingPunct="0">
              <a:lnSpc>
                <a:spcPct val="125000"/>
              </a:lnSpc>
              <a:spcBef>
                <a:spcPts val="0"/>
              </a:spcBef>
              <a:buNone/>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0" indent="0" algn="l" eaLnBrk="0" hangingPunct="0">
              <a:lnSpc>
                <a:spcPct val="125000"/>
              </a:lnSpc>
              <a:spcBef>
                <a:spcPts val="0"/>
              </a:spcBef>
              <a:buFont typeface="Wingdings" panose="05000000000000000000" pitchFamily="2" charset="2"/>
              <a:buNone/>
            </a:pPr>
            <a:r>
              <a:rPr dirty="0">
                <a:latin typeface="Calibri" panose="020F0502020204030204" pitchFamily="34" charset="0"/>
                <a:sym typeface="+mn-ea"/>
              </a:rPr>
              <a:t>    </a:t>
            </a:r>
            <a:endParaRPr lang="en-US" altLang="zh-CN"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3" name="文本框 2"/>
          <p:cNvSpPr txBox="1"/>
          <p:nvPr/>
        </p:nvSpPr>
        <p:spPr>
          <a:xfrm>
            <a:off x="718503" y="1037590"/>
            <a:ext cx="3221990" cy="521970"/>
          </a:xfrm>
          <a:prstGeom prst="rect">
            <a:avLst/>
          </a:prstGeom>
          <a:noFill/>
        </p:spPr>
        <p:txBody>
          <a:bodyPr wrap="none" rtlCol="0" anchor="t">
            <a:spAutoFit/>
          </a:bodyPr>
          <a:lstStyle/>
          <a:p>
            <a:r>
              <a:rPr lang="en-US" altLang="zh-CN" sz="2800" b="0" dirty="0">
                <a:latin typeface="Calibri" panose="020F0502020204030204" pitchFamily="34" charset="0"/>
                <a:sym typeface="+mn-ea"/>
              </a:rPr>
              <a:t>【</a:t>
            </a:r>
            <a:r>
              <a:rPr lang="zh-CN" altLang="en-US" sz="2800" b="0" dirty="0">
                <a:latin typeface="Calibri" panose="020F0502020204030204" pitchFamily="34" charset="0"/>
                <a:sym typeface="+mn-ea"/>
              </a:rPr>
              <a:t>例</a:t>
            </a:r>
            <a:r>
              <a:rPr lang="en-US" altLang="zh-CN" sz="2800" b="0" dirty="0">
                <a:latin typeface="Calibri" panose="020F0502020204030204" pitchFamily="34" charset="0"/>
                <a:sym typeface="+mn-ea"/>
              </a:rPr>
              <a:t>6-3】</a:t>
            </a:r>
            <a:r>
              <a:rPr lang="zh-CN" altLang="en-US" sz="2800" b="0" dirty="0">
                <a:latin typeface="Calibri" panose="020F0502020204030204" pitchFamily="34" charset="0"/>
                <a:sym typeface="+mn-ea"/>
              </a:rPr>
              <a:t>案例</a:t>
            </a:r>
            <a:r>
              <a:rPr lang="zh-CN" altLang="en-US" sz="2800" b="0" dirty="0">
                <a:latin typeface="Calibri" panose="020F0502020204030204" pitchFamily="34" charset="0"/>
                <a:sym typeface="+mn-ea"/>
              </a:rPr>
              <a:t>分析 </a:t>
            </a:r>
            <a:endParaRPr lang="zh-CN" altLang="en-US" sz="2800" b="0" dirty="0"/>
          </a:p>
        </p:txBody>
      </p:sp>
      <p:sp>
        <p:nvSpPr>
          <p:cNvPr id="7" name="AutoShape 3"/>
          <p:cNvSpPr/>
          <p:nvPr/>
        </p:nvSpPr>
        <p:spPr>
          <a:xfrm>
            <a:off x="452120" y="1517650"/>
            <a:ext cx="7860030" cy="4832985"/>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noAutofit/>
          </a:bodyPr>
          <a:lstStyle/>
          <a:p>
            <a:pPr algn="l"/>
            <a:r>
              <a:rPr lang="en-US" altLang="zh-CN" sz="2000" dirty="0" smtClean="0"/>
              <a:t> &lt;style&gt;</a:t>
            </a:r>
            <a:endParaRPr lang="en-US" altLang="zh-CN" sz="2000" dirty="0" smtClean="0"/>
          </a:p>
          <a:p>
            <a:pPr algn="l"/>
            <a:r>
              <a:rPr lang="en-US" altLang="zh-CN" sz="2000" dirty="0"/>
              <a:t>	.drag{</a:t>
            </a:r>
            <a:endParaRPr lang="en-US" altLang="zh-CN" sz="2000" dirty="0"/>
          </a:p>
          <a:p>
            <a:pPr algn="l"/>
            <a:r>
              <a:rPr lang="en-US" altLang="zh-CN" sz="2000" dirty="0"/>
              <a:t>		position: absolute;</a:t>
            </a:r>
            <a:endParaRPr lang="en-US" altLang="zh-CN" sz="2000" dirty="0"/>
          </a:p>
          <a:p>
            <a:pPr algn="l"/>
            <a:r>
              <a:rPr lang="en-US" altLang="zh-CN" sz="2000" dirty="0"/>
              <a:t>		width:200px;</a:t>
            </a:r>
            <a:endParaRPr lang="en-US" altLang="zh-CN" sz="2000" dirty="0"/>
          </a:p>
          <a:p>
            <a:pPr algn="l"/>
            <a:r>
              <a:rPr lang="en-US" altLang="zh-CN" sz="2000" dirty="0"/>
              <a:t>		height:200px;</a:t>
            </a:r>
            <a:endParaRPr lang="en-US" altLang="zh-CN" sz="2000" dirty="0"/>
          </a:p>
          <a:p>
            <a:pPr algn="l"/>
            <a:r>
              <a:rPr lang="en-US" altLang="zh-CN" sz="2000" dirty="0"/>
              <a:t>		background-color:lightgray;</a:t>
            </a:r>
            <a:endParaRPr lang="en-US" altLang="zh-CN" sz="2000" dirty="0"/>
          </a:p>
          <a:p>
            <a:pPr algn="l"/>
            <a:r>
              <a:rPr lang="en-US" altLang="zh-CN" sz="2000" dirty="0"/>
              <a:t>	}</a:t>
            </a:r>
            <a:endParaRPr lang="en-US" altLang="zh-CN" sz="2000" dirty="0"/>
          </a:p>
          <a:p>
            <a:pPr algn="l"/>
            <a:r>
              <a:rPr lang="en-US" altLang="zh-CN" sz="2000" dirty="0"/>
              <a:t>&lt;/style&gt;</a:t>
            </a:r>
            <a:endParaRPr lang="en-US" altLang="zh-CN" sz="2000" dirty="0"/>
          </a:p>
          <a:p>
            <a:pPr algn="l"/>
            <a:r>
              <a:rPr lang="en-US" altLang="zh-CN" sz="2000" dirty="0"/>
              <a:t>&lt;/head&gt;</a:t>
            </a:r>
            <a:endParaRPr lang="en-US" altLang="zh-CN" sz="2000" dirty="0"/>
          </a:p>
          <a:p>
            <a:pPr algn="l"/>
            <a:r>
              <a:rPr lang="en-US" altLang="zh-CN" sz="2000" dirty="0"/>
              <a:t>&lt;body&gt;</a:t>
            </a:r>
            <a:endParaRPr lang="en-US" altLang="zh-CN" sz="2000" dirty="0"/>
          </a:p>
          <a:p>
            <a:pPr algn="l"/>
            <a:r>
              <a:rPr lang="en-US" altLang="zh-CN" sz="2000" dirty="0"/>
              <a:t>&lt;div id="app"&gt;</a:t>
            </a:r>
            <a:endParaRPr lang="en-US" altLang="zh-CN" sz="2000" dirty="0"/>
          </a:p>
          <a:p>
            <a:pPr algn="l"/>
            <a:r>
              <a:rPr lang="en-US" altLang="zh-CN" sz="2000" dirty="0"/>
              <a:t>	  &lt;p&gt;注意要先给元素加上position定位属性 ,v-drag拖拽是通过更改top和left值来实现的&lt;/p&gt;</a:t>
            </a:r>
            <a:endParaRPr lang="en-US" altLang="zh-CN" sz="2000" dirty="0"/>
          </a:p>
          <a:p>
            <a:pPr algn="l"/>
            <a:r>
              <a:rPr lang="en-US" altLang="zh-CN" sz="2000" dirty="0"/>
              <a:t>	  &lt;div class="drag" v-drag&gt;&lt;/div&gt;</a:t>
            </a:r>
            <a:endParaRPr lang="en-US" altLang="zh-CN" sz="2000" dirty="0"/>
          </a:p>
          <a:p>
            <a:pPr algn="l"/>
            <a:r>
              <a:rPr lang="en-US" altLang="zh-CN" sz="2000" dirty="0"/>
              <a:t>&lt;/div&gt;</a:t>
            </a:r>
            <a:endParaRPr lang="en-US" altLang="zh-CN"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p:cNvSpPr>
          <p:nvPr>
            <p:ph idx="1"/>
          </p:nvPr>
        </p:nvSpPr>
        <p:spPr>
          <a:xfrm>
            <a:off x="492760" y="1261110"/>
            <a:ext cx="8644890" cy="6162040"/>
          </a:xfrm>
        </p:spPr>
        <p:txBody>
          <a:bodyPr vert="horz" wrap="square" lIns="91440" tIns="45720" rIns="91440" bIns="45720" anchor="t"/>
          <a:lstStyle/>
          <a:p>
            <a:pPr marL="0" indent="0" algn="l" eaLnBrk="0" hangingPunct="0">
              <a:lnSpc>
                <a:spcPct val="125000"/>
              </a:lnSpc>
              <a:spcBef>
                <a:spcPts val="0"/>
              </a:spcBef>
              <a:buNone/>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0" indent="0" algn="l" eaLnBrk="0" hangingPunct="0">
              <a:lnSpc>
                <a:spcPct val="125000"/>
              </a:lnSpc>
              <a:spcBef>
                <a:spcPts val="0"/>
              </a:spcBef>
              <a:buFont typeface="Wingdings" panose="05000000000000000000" pitchFamily="2" charset="2"/>
              <a:buNone/>
            </a:pPr>
            <a:r>
              <a:rPr dirty="0">
                <a:latin typeface="Calibri" panose="020F0502020204030204" pitchFamily="34" charset="0"/>
                <a:sym typeface="+mn-ea"/>
              </a:rPr>
              <a:t>    </a:t>
            </a:r>
            <a:endParaRPr lang="en-US" altLang="zh-CN"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3" name="文本框 2"/>
          <p:cNvSpPr txBox="1"/>
          <p:nvPr/>
        </p:nvSpPr>
        <p:spPr>
          <a:xfrm>
            <a:off x="718503" y="1037590"/>
            <a:ext cx="3221990" cy="521970"/>
          </a:xfrm>
          <a:prstGeom prst="rect">
            <a:avLst/>
          </a:prstGeom>
          <a:noFill/>
        </p:spPr>
        <p:txBody>
          <a:bodyPr wrap="none" rtlCol="0" anchor="t">
            <a:spAutoFit/>
          </a:bodyPr>
          <a:lstStyle/>
          <a:p>
            <a:r>
              <a:rPr lang="en-US" altLang="zh-CN" sz="2800" b="0" dirty="0">
                <a:latin typeface="Calibri" panose="020F0502020204030204" pitchFamily="34" charset="0"/>
                <a:sym typeface="+mn-ea"/>
              </a:rPr>
              <a:t>【</a:t>
            </a:r>
            <a:r>
              <a:rPr lang="zh-CN" altLang="en-US" sz="2800" b="0" dirty="0">
                <a:latin typeface="Calibri" panose="020F0502020204030204" pitchFamily="34" charset="0"/>
                <a:sym typeface="+mn-ea"/>
              </a:rPr>
              <a:t>例</a:t>
            </a:r>
            <a:r>
              <a:rPr lang="en-US" altLang="zh-CN" sz="2800" b="0" dirty="0">
                <a:latin typeface="Calibri" panose="020F0502020204030204" pitchFamily="34" charset="0"/>
                <a:sym typeface="+mn-ea"/>
              </a:rPr>
              <a:t>6-3】</a:t>
            </a:r>
            <a:r>
              <a:rPr lang="zh-CN" altLang="en-US" sz="2800" b="0" dirty="0">
                <a:latin typeface="Calibri" panose="020F0502020204030204" pitchFamily="34" charset="0"/>
                <a:sym typeface="+mn-ea"/>
              </a:rPr>
              <a:t>案例</a:t>
            </a:r>
            <a:r>
              <a:rPr lang="zh-CN" altLang="en-US" sz="2800" b="0" dirty="0">
                <a:latin typeface="Calibri" panose="020F0502020204030204" pitchFamily="34" charset="0"/>
                <a:sym typeface="+mn-ea"/>
              </a:rPr>
              <a:t>分析 </a:t>
            </a:r>
            <a:endParaRPr lang="zh-CN" altLang="en-US" sz="2800" b="0" dirty="0"/>
          </a:p>
        </p:txBody>
      </p:sp>
      <p:sp>
        <p:nvSpPr>
          <p:cNvPr id="7" name="AutoShape 3"/>
          <p:cNvSpPr/>
          <p:nvPr/>
        </p:nvSpPr>
        <p:spPr>
          <a:xfrm>
            <a:off x="452120" y="1517650"/>
            <a:ext cx="7860030" cy="4832985"/>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noAutofit/>
          </a:bodyPr>
          <a:lstStyle/>
          <a:p>
            <a:pPr algn="l"/>
            <a:r>
              <a:rPr lang="en-US" altLang="zh-CN" sz="1800" dirty="0" smtClean="0"/>
              <a:t> Vue.directive("drag",function (el) {    //el指的是当前绑定的div</a:t>
            </a:r>
            <a:endParaRPr lang="en-US" altLang="zh-CN" sz="1800" dirty="0" smtClean="0"/>
          </a:p>
          <a:p>
            <a:pPr algn="l"/>
            <a:r>
              <a:rPr lang="en-US" altLang="zh-CN" sz="1800" dirty="0"/>
              <a:t>        el.onmousedown=function (e) {</a:t>
            </a:r>
            <a:endParaRPr lang="en-US" altLang="zh-CN" sz="1800" dirty="0"/>
          </a:p>
          <a:p>
            <a:pPr algn="l"/>
            <a:r>
              <a:rPr lang="en-US" altLang="zh-CN" sz="1800" dirty="0"/>
              <a:t>            var strX=e.pageX-this.offsetLeft;</a:t>
            </a:r>
            <a:endParaRPr lang="en-US" altLang="zh-CN" sz="1800" dirty="0"/>
          </a:p>
          <a:p>
            <a:pPr algn="l"/>
            <a:r>
              <a:rPr lang="en-US" altLang="zh-CN" sz="1800" dirty="0"/>
              <a:t>            var strY=e.pageY-this.offsetTop;</a:t>
            </a:r>
            <a:endParaRPr lang="en-US" altLang="zh-CN" sz="1800" dirty="0"/>
          </a:p>
          <a:p>
            <a:pPr algn="l"/>
            <a:r>
              <a:rPr lang="en-US" altLang="zh-CN" sz="1800" dirty="0"/>
              <a:t>            document.onmousemove=function (e) {</a:t>
            </a:r>
            <a:endParaRPr lang="en-US" altLang="zh-CN" sz="1800" dirty="0"/>
          </a:p>
          <a:p>
            <a:pPr algn="l"/>
            <a:r>
              <a:rPr lang="en-US" altLang="zh-CN" sz="1800" dirty="0"/>
              <a:t>                el.style.left=e.pageX-strX+"px";</a:t>
            </a:r>
            <a:endParaRPr lang="en-US" altLang="zh-CN" sz="1800" dirty="0"/>
          </a:p>
          <a:p>
            <a:pPr algn="l"/>
            <a:r>
              <a:rPr lang="en-US" altLang="zh-CN" sz="1800" dirty="0"/>
              <a:t>                el.style.top=e.pageY-strY+"px";</a:t>
            </a:r>
            <a:endParaRPr lang="en-US" altLang="zh-CN" sz="1800" dirty="0"/>
          </a:p>
          <a:p>
            <a:pPr algn="l"/>
            <a:r>
              <a:rPr lang="en-US" altLang="zh-CN" sz="1800" dirty="0"/>
              <a:t>	            };</a:t>
            </a:r>
            <a:endParaRPr lang="en-US" altLang="zh-CN" sz="1800" dirty="0"/>
          </a:p>
          <a:p>
            <a:pPr algn="l"/>
            <a:r>
              <a:rPr lang="en-US" altLang="zh-CN" sz="1800" dirty="0"/>
              <a:t>            document.onmouseup=function () {</a:t>
            </a:r>
            <a:endParaRPr lang="en-US" altLang="zh-CN" sz="1800" dirty="0"/>
          </a:p>
          <a:p>
            <a:pPr algn="l"/>
            <a:r>
              <a:rPr lang="en-US" altLang="zh-CN" sz="1800" dirty="0"/>
              <a:t>               document.onmousemove=document.onmouseup=null;</a:t>
            </a:r>
            <a:endParaRPr lang="en-US" altLang="zh-CN" sz="1800" dirty="0"/>
          </a:p>
          <a:p>
            <a:pPr algn="l"/>
            <a:r>
              <a:rPr lang="en-US" altLang="zh-CN" sz="1800" dirty="0"/>
              <a:t>            }</a:t>
            </a:r>
            <a:endParaRPr lang="en-US" altLang="zh-CN" sz="1800" dirty="0"/>
          </a:p>
          <a:p>
            <a:pPr algn="l"/>
            <a:r>
              <a:rPr lang="en-US" altLang="zh-CN" sz="1800" dirty="0"/>
              <a:t>        }</a:t>
            </a:r>
            <a:endParaRPr lang="en-US" altLang="zh-CN" sz="1800" dirty="0"/>
          </a:p>
          <a:p>
            <a:pPr algn="l"/>
            <a:r>
              <a:rPr lang="en-US" altLang="zh-CN" sz="1800" dirty="0"/>
              <a:t>	    });</a:t>
            </a:r>
            <a:endParaRPr lang="en-US" altLang="zh-CN" sz="1800" dirty="0"/>
          </a:p>
          <a:p>
            <a:pPr algn="l"/>
            <a:r>
              <a:rPr lang="en-US" altLang="zh-CN" sz="1800" dirty="0"/>
              <a:t>	    var vm=new Vue({</a:t>
            </a:r>
            <a:endParaRPr lang="en-US" altLang="zh-CN" sz="1800" dirty="0"/>
          </a:p>
          <a:p>
            <a:pPr algn="l"/>
            <a:r>
              <a:rPr lang="en-US" altLang="zh-CN" sz="1800" dirty="0"/>
              <a:t>	        el:"#app",</a:t>
            </a:r>
            <a:endParaRPr lang="en-US" altLang="zh-CN" sz="1800" dirty="0"/>
          </a:p>
          <a:p>
            <a:pPr algn="l"/>
            <a:r>
              <a:rPr lang="en-US" altLang="zh-CN" sz="1800" dirty="0"/>
              <a:t>	        data:{}</a:t>
            </a:r>
            <a:endParaRPr lang="en-US" altLang="zh-CN" sz="1800" dirty="0"/>
          </a:p>
          <a:p>
            <a:pPr algn="l"/>
            <a:r>
              <a:rPr lang="en-US" altLang="zh-CN" sz="1800" dirty="0"/>
              <a:t>	})</a:t>
            </a:r>
            <a:endParaRPr lang="en-US" altLang="zh-CN" sz="1800" dirty="0"/>
          </a:p>
        </p:txBody>
      </p:sp>
      <p:sp>
        <p:nvSpPr>
          <p:cNvPr id="2" name="文本框 1"/>
          <p:cNvSpPr txBox="1"/>
          <p:nvPr/>
        </p:nvSpPr>
        <p:spPr>
          <a:xfrm>
            <a:off x="6676390" y="5554345"/>
            <a:ext cx="991870" cy="368300"/>
          </a:xfrm>
          <a:prstGeom prst="rect">
            <a:avLst/>
          </a:prstGeom>
          <a:noFill/>
        </p:spPr>
        <p:txBody>
          <a:bodyPr wrap="square" rtlCol="0">
            <a:spAutoFit/>
          </a:bodyPr>
          <a:p>
            <a:r>
              <a:rPr lang="zh-CN" altLang="en-US">
                <a:hlinkClick r:id="rId1" action="ppaction://hlinkfile"/>
              </a:rPr>
              <a:t>运行</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p:cNvSpPr>
          <p:nvPr>
            <p:ph idx="1"/>
          </p:nvPr>
        </p:nvSpPr>
        <p:spPr>
          <a:xfrm>
            <a:off x="492760" y="1261110"/>
            <a:ext cx="8644890" cy="6162040"/>
          </a:xfrm>
        </p:spPr>
        <p:txBody>
          <a:bodyPr vert="horz" wrap="square" lIns="91440" tIns="45720" rIns="91440" bIns="45720" anchor="t"/>
          <a:lstStyle/>
          <a:p>
            <a:pPr>
              <a:lnSpc>
                <a:spcPct val="125000"/>
              </a:lnSpc>
              <a:spcBef>
                <a:spcPts val="0"/>
              </a:spcBef>
            </a:pPr>
            <a:r>
              <a:rPr lang="zh-CN" altLang="en-US" sz="2800" dirty="0">
                <a:latin typeface="Calibri" panose="020F0502020204030204" pitchFamily="34" charset="0"/>
                <a:sym typeface="+mn-ea"/>
              </a:rPr>
              <a:t>一个指令的定义对象可以提供钩子函数，均为可选 </a:t>
            </a:r>
            <a:r>
              <a:rPr lang="en-US" altLang="zh-CN" sz="2800" dirty="0">
                <a:latin typeface="Calibri" panose="020F0502020204030204" pitchFamily="34" charset="0"/>
                <a:sym typeface="+mn-ea"/>
              </a:rPr>
              <a:t>bind</a:t>
            </a:r>
            <a:r>
              <a:rPr lang="zh-CN" altLang="en-US" sz="2800" dirty="0">
                <a:latin typeface="Calibri" panose="020F0502020204030204" pitchFamily="34" charset="0"/>
                <a:sym typeface="+mn-ea"/>
              </a:rPr>
              <a:t>、</a:t>
            </a:r>
            <a:r>
              <a:rPr lang="en-US" altLang="zh-CN" sz="2800" dirty="0">
                <a:latin typeface="Calibri" panose="020F0502020204030204" pitchFamily="34" charset="0"/>
                <a:sym typeface="+mn-ea"/>
              </a:rPr>
              <a:t>inserted</a:t>
            </a:r>
            <a:r>
              <a:rPr lang="zh-CN" altLang="en-US" sz="2800" dirty="0">
                <a:latin typeface="Calibri" panose="020F0502020204030204" pitchFamily="34" charset="0"/>
                <a:sym typeface="+mn-ea"/>
              </a:rPr>
              <a:t>、</a:t>
            </a:r>
            <a:r>
              <a:rPr lang="en-US" altLang="zh-CN" sz="2800" dirty="0">
                <a:latin typeface="Calibri" panose="020F0502020204030204" pitchFamily="34" charset="0"/>
                <a:sym typeface="+mn-ea"/>
              </a:rPr>
              <a:t>update </a:t>
            </a:r>
            <a:r>
              <a:rPr lang="zh-CN" altLang="en-US" sz="2800" dirty="0">
                <a:latin typeface="Calibri" panose="020F0502020204030204" pitchFamily="34" charset="0"/>
                <a:sym typeface="+mn-ea"/>
              </a:rPr>
              <a:t>、 </a:t>
            </a:r>
            <a:r>
              <a:rPr lang="en-US" altLang="zh-CN" sz="2800" dirty="0">
                <a:latin typeface="Calibri" panose="020F0502020204030204" pitchFamily="34" charset="0"/>
                <a:sym typeface="+mn-ea"/>
              </a:rPr>
              <a:t>unbind </a:t>
            </a:r>
            <a:r>
              <a:rPr lang="zh-CN" altLang="en-US" sz="2800" dirty="0">
                <a:latin typeface="Calibri" panose="020F0502020204030204" pitchFamily="34" charset="0"/>
                <a:sym typeface="+mn-ea"/>
              </a:rPr>
              <a:t>、</a:t>
            </a:r>
            <a:r>
              <a:rPr lang="en-US" altLang="zh-CN" sz="2800" dirty="0" err="1">
                <a:latin typeface="Calibri" panose="020F0502020204030204" pitchFamily="34" charset="0"/>
                <a:sym typeface="+mn-ea"/>
              </a:rPr>
              <a:t>componentUpdated</a:t>
            </a:r>
            <a:r>
              <a:rPr lang="zh-CN" altLang="en-US" sz="2800" dirty="0">
                <a:latin typeface="Calibri" panose="020F0502020204030204" pitchFamily="34" charset="0"/>
                <a:sym typeface="+mn-ea"/>
              </a:rPr>
              <a:t>，每个钩子函数的作用在自定义指令中已经介绍过。</a:t>
            </a:r>
            <a:endParaRPr lang="en-US" altLang="zh-CN" sz="2800" dirty="0">
              <a:latin typeface="Calibri" panose="020F0502020204030204" pitchFamily="34" charset="0"/>
              <a:sym typeface="+mn-ea"/>
            </a:endParaRPr>
          </a:p>
          <a:p>
            <a:pPr>
              <a:lnSpc>
                <a:spcPct val="125000"/>
              </a:lnSpc>
              <a:spcBef>
                <a:spcPts val="0"/>
              </a:spcBef>
            </a:pPr>
            <a:r>
              <a:rPr lang="en-US" altLang="zh-CN" sz="2800" dirty="0">
                <a:latin typeface="Calibri" panose="020F0502020204030204" pitchFamily="34" charset="0"/>
                <a:sym typeface="+mn-ea"/>
              </a:rPr>
              <a:t>6.2.1  </a:t>
            </a:r>
            <a:r>
              <a:rPr lang="zh-CN" altLang="en-US" sz="2800" dirty="0">
                <a:latin typeface="Calibri" panose="020F0502020204030204" pitchFamily="34" charset="0"/>
                <a:sym typeface="+mn-ea"/>
              </a:rPr>
              <a:t>钩子函数参数（下面代码中的 </a:t>
            </a:r>
            <a:r>
              <a:rPr lang="en-US" altLang="zh-CN" sz="2800" dirty="0">
                <a:latin typeface="Calibri" panose="020F0502020204030204" pitchFamily="34" charset="0"/>
                <a:sym typeface="+mn-ea"/>
              </a:rPr>
              <a:t>inserted </a:t>
            </a:r>
            <a:r>
              <a:rPr lang="zh-CN" altLang="en-US" sz="2800" dirty="0">
                <a:latin typeface="Calibri" panose="020F0502020204030204" pitchFamily="34" charset="0"/>
                <a:sym typeface="+mn-ea"/>
              </a:rPr>
              <a:t>钩子函数的参数 </a:t>
            </a:r>
            <a:r>
              <a:rPr lang="en-US" altLang="zh-CN" sz="2800" dirty="0">
                <a:latin typeface="Calibri" panose="020F0502020204030204" pitchFamily="34" charset="0"/>
                <a:sym typeface="+mn-ea"/>
              </a:rPr>
              <a:t>el </a:t>
            </a:r>
            <a:r>
              <a:rPr lang="zh-CN" altLang="en-US" sz="2800" dirty="0">
                <a:latin typeface="Calibri" panose="020F0502020204030204" pitchFamily="34" charset="0"/>
                <a:sym typeface="+mn-ea"/>
              </a:rPr>
              <a:t>）</a:t>
            </a:r>
            <a:endParaRPr lang="en-US" altLang="zh-CN" dirty="0">
              <a:latin typeface="Calibri" panose="020F0502020204030204" pitchFamily="34" charset="0"/>
              <a:sym typeface="+mn-ea"/>
            </a:endParaRPr>
          </a:p>
          <a:p>
            <a:pPr>
              <a:lnSpc>
                <a:spcPct val="125000"/>
              </a:lnSpc>
              <a:spcBef>
                <a:spcPts val="0"/>
              </a:spcBef>
            </a:pPr>
            <a:endParaRPr lang="zh-CN" altLang="en-US" dirty="0">
              <a:latin typeface="Calibri" panose="020F0502020204030204" pitchFamily="34" charset="0"/>
              <a:sym typeface="+mn-ea"/>
            </a:endParaRPr>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4" name="标题 1"/>
          <p:cNvSpPr>
            <a:spLocks noGrp="1"/>
          </p:cNvSpPr>
          <p:nvPr>
            <p:ph type="title"/>
          </p:nvPr>
        </p:nvSpPr>
        <p:spPr>
          <a:xfrm>
            <a:off x="3779838" y="260350"/>
            <a:ext cx="5043487" cy="654050"/>
          </a:xfrm>
        </p:spPr>
        <p:txBody>
          <a:bodyPr/>
          <a:lstStyle/>
          <a:p>
            <a:r>
              <a:rPr lang="en-US" altLang="zh-CN" dirty="0"/>
              <a:t>6.2</a:t>
            </a:r>
            <a:r>
              <a:rPr lang="zh-CN" altLang="en-US" dirty="0"/>
              <a:t> 钩子函数 </a:t>
            </a:r>
            <a:endParaRPr lang="zh-CN" altLang="en-US" dirty="0"/>
          </a:p>
        </p:txBody>
      </p:sp>
      <p:sp>
        <p:nvSpPr>
          <p:cNvPr id="7" name="AutoShape 3"/>
          <p:cNvSpPr/>
          <p:nvPr/>
        </p:nvSpPr>
        <p:spPr>
          <a:xfrm>
            <a:off x="755576" y="4511384"/>
            <a:ext cx="7859830" cy="1520190"/>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spAutoFit/>
          </a:bodyPr>
          <a:lstStyle/>
          <a:p>
            <a:pPr algn="l"/>
            <a:r>
              <a:rPr lang="en-US" altLang="zh-CN" dirty="0"/>
              <a:t>   </a:t>
            </a:r>
            <a:r>
              <a:rPr lang="en-US" altLang="zh-CN" dirty="0" err="1"/>
              <a:t>Vue</a:t>
            </a:r>
            <a:r>
              <a:rPr lang="en-US" altLang="zh-CN" dirty="0"/>
              <a:t>. directive(‘focus’, {</a:t>
            </a:r>
            <a:br>
              <a:rPr lang="en-US" altLang="zh-CN" dirty="0"/>
            </a:br>
            <a:r>
              <a:rPr lang="en-US" altLang="zh-CN" dirty="0"/>
              <a:t>            inserted: function (el) { </a:t>
            </a:r>
            <a:endParaRPr lang="en-US" altLang="zh-CN" dirty="0"/>
          </a:p>
          <a:p>
            <a:pPr algn="l"/>
            <a:r>
              <a:rPr lang="en-US" altLang="zh-CN" dirty="0"/>
              <a:t>                el. focus()</a:t>
            </a:r>
            <a:endParaRPr lang="en-US" altLang="zh-CN" dirty="0"/>
          </a:p>
          <a:p>
            <a:pPr algn="l"/>
            <a:r>
              <a:rPr lang="en-US" altLang="zh-CN" dirty="0"/>
              <a:t>     }</a:t>
            </a:r>
            <a:endParaRPr lang="en-US" altLang="zh-CN" dirty="0"/>
          </a:p>
          <a:p>
            <a:pPr algn="l"/>
            <a:r>
              <a:rPr lang="en-US" altLang="zh-CN" dirty="0"/>
              <a:t>}) </a:t>
            </a:r>
            <a:endParaRPr lang="en-US" altLang="zh-CN" dirty="0"/>
          </a:p>
        </p:txBody>
      </p:sp>
      <p:sp>
        <p:nvSpPr>
          <p:cNvPr id="8" name="AutoShape 5"/>
          <p:cNvSpPr>
            <a:spLocks noChangeArrowheads="1"/>
          </p:cNvSpPr>
          <p:nvPr/>
        </p:nvSpPr>
        <p:spPr bwMode="auto">
          <a:xfrm>
            <a:off x="2393488" y="5271479"/>
            <a:ext cx="4248472" cy="340519"/>
          </a:xfrm>
          <a:prstGeom prst="wedgeRoundRectCallout">
            <a:avLst>
              <a:gd name="adj1" fmla="val -44774"/>
              <a:gd name="adj2" fmla="val -119073"/>
              <a:gd name="adj3" fmla="val 16667"/>
            </a:avLst>
          </a:prstGeom>
          <a:gradFill rotWithShape="1">
            <a:gsLst>
              <a:gs pos="0">
                <a:srgbClr val="FFFF99"/>
              </a:gs>
              <a:gs pos="100000">
                <a:srgbClr val="FFFF99">
                  <a:gamma/>
                  <a:tint val="0"/>
                  <a:invGamma/>
                </a:srgbClr>
              </a:gs>
            </a:gsLst>
            <a:lin ang="5400000" scaled="1"/>
          </a:gradFill>
          <a:ln w="9525" algn="ctr">
            <a:solidFill>
              <a:srgbClr val="FF6600"/>
            </a:solidFill>
            <a:miter lim="800000"/>
          </a:ln>
          <a:effectLst>
            <a:outerShdw dist="53882" dir="2700000" algn="ctr" rotWithShape="0">
              <a:schemeClr val="bg2">
                <a:alpha val="50000"/>
              </a:schemeClr>
            </a:outerShdw>
          </a:effectLst>
        </p:spPr>
        <p:txBody>
          <a:bodyPr wrap="square" anchorCtr="1">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lang="zh-CN" altLang="en-US" sz="1400" dirty="0">
                <a:sym typeface="+mn-ea"/>
              </a:rPr>
              <a:t>绑定元素插入到</a:t>
            </a:r>
            <a:r>
              <a:rPr lang="en-US" altLang="zh-CN" sz="1400" dirty="0">
                <a:sym typeface="+mn-ea"/>
              </a:rPr>
              <a:t>DOM</a:t>
            </a:r>
            <a:r>
              <a:rPr lang="zh-CN" altLang="en-US" sz="1400" dirty="0">
                <a:sym typeface="+mn-ea"/>
              </a:rPr>
              <a:t>后执行钩子函数</a:t>
            </a:r>
            <a:r>
              <a:rPr lang="en-US" altLang="zh-CN" sz="1400" dirty="0">
                <a:sym typeface="+mn-ea"/>
              </a:rPr>
              <a:t>inserted</a:t>
            </a:r>
            <a:endParaRPr sz="1400" dirty="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fade">
                                      <p:cBhvr>
                                        <p:cTn id="7" dur="500"/>
                                        <p:tgtEl>
                                          <p:spTgt spid="71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2">
                                            <p:txEl>
                                              <p:pRg st="1" end="1"/>
                                            </p:txEl>
                                          </p:spTgt>
                                        </p:tgtEl>
                                        <p:attrNameLst>
                                          <p:attrName>style.visibility</p:attrName>
                                        </p:attrNameLst>
                                      </p:cBhvr>
                                      <p:to>
                                        <p:strVal val="visible"/>
                                      </p:to>
                                    </p:set>
                                    <p:animEffect transition="in" filter="fade">
                                      <p:cBhvr>
                                        <p:cTn id="12" dur="500"/>
                                        <p:tgtEl>
                                          <p:spTgt spid="71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p:cNvSpPr>
          <p:nvPr>
            <p:ph idx="1"/>
          </p:nvPr>
        </p:nvSpPr>
        <p:spPr>
          <a:xfrm>
            <a:off x="412632" y="1196752"/>
            <a:ext cx="8623935" cy="6609715"/>
          </a:xfrm>
        </p:spPr>
        <p:txBody>
          <a:bodyPr vert="horz" wrap="square" lIns="91440" tIns="45720" rIns="91440" bIns="45720" anchor="t"/>
          <a:lstStyle/>
          <a:p>
            <a:pPr>
              <a:lnSpc>
                <a:spcPct val="125000"/>
              </a:lnSpc>
              <a:spcBef>
                <a:spcPts val="0"/>
              </a:spcBef>
            </a:pPr>
            <a:endParaRPr lang="en-US" altLang="zh-CN" sz="2800" dirty="0">
              <a:latin typeface="Calibri" panose="020F0502020204030204" pitchFamily="34" charset="0"/>
              <a:sym typeface="+mn-ea"/>
            </a:endParaRPr>
          </a:p>
          <a:p>
            <a:pPr>
              <a:lnSpc>
                <a:spcPct val="125000"/>
              </a:lnSpc>
              <a:spcBef>
                <a:spcPts val="0"/>
              </a:spcBef>
            </a:pPr>
            <a:r>
              <a:rPr lang="zh-CN" altLang="en-US" sz="2800" dirty="0">
                <a:latin typeface="Calibri" panose="020F0502020204030204" pitchFamily="34" charset="0"/>
                <a:sym typeface="+mn-ea"/>
              </a:rPr>
              <a:t>其实除了</a:t>
            </a:r>
            <a:r>
              <a:rPr lang="en-US" altLang="zh-CN" sz="2800" dirty="0">
                <a:latin typeface="Calibri" panose="020F0502020204030204" pitchFamily="34" charset="0"/>
                <a:sym typeface="+mn-ea"/>
              </a:rPr>
              <a:t>el </a:t>
            </a:r>
            <a:r>
              <a:rPr lang="zh-CN" altLang="en-US" sz="2800" dirty="0">
                <a:latin typeface="Calibri" panose="020F0502020204030204" pitchFamily="34" charset="0"/>
                <a:sym typeface="+mn-ea"/>
              </a:rPr>
              <a:t>还有其他的钩子函数参数，指令钩子函数会被传入以下参数</a:t>
            </a:r>
            <a:endParaRPr lang="en-US" altLang="zh-CN" sz="2800" dirty="0">
              <a:latin typeface="Calibri" panose="020F0502020204030204" pitchFamily="34" charset="0"/>
              <a:sym typeface="+mn-ea"/>
            </a:endParaRPr>
          </a:p>
          <a:p>
            <a:pPr>
              <a:lnSpc>
                <a:spcPct val="125000"/>
              </a:lnSpc>
              <a:spcBef>
                <a:spcPts val="0"/>
              </a:spcBef>
            </a:pPr>
            <a:r>
              <a:rPr lang="en-US" altLang="zh-CN" sz="2800" dirty="0">
                <a:latin typeface="Calibri" panose="020F0502020204030204" pitchFamily="34" charset="0"/>
                <a:sym typeface="+mn-ea"/>
              </a:rPr>
              <a:t>el</a:t>
            </a:r>
            <a:r>
              <a:rPr lang="zh-CN" altLang="en-US" sz="2800" dirty="0">
                <a:latin typeface="Calibri" panose="020F0502020204030204" pitchFamily="34" charset="0"/>
                <a:sym typeface="+mn-ea"/>
              </a:rPr>
              <a:t>：指令所绑定的元素，可以用来直接操作 </a:t>
            </a:r>
            <a:r>
              <a:rPr lang="en-US" altLang="zh-CN" sz="2800" dirty="0">
                <a:latin typeface="Calibri" panose="020F0502020204030204" pitchFamily="34" charset="0"/>
                <a:sym typeface="+mn-ea"/>
              </a:rPr>
              <a:t>DOM </a:t>
            </a:r>
            <a:r>
              <a:rPr lang="zh-CN" altLang="en-US" sz="2800" dirty="0">
                <a:latin typeface="Calibri" panose="020F0502020204030204" pitchFamily="34" charset="0"/>
                <a:sym typeface="+mn-ea"/>
              </a:rPr>
              <a:t>。 </a:t>
            </a:r>
            <a:endParaRPr lang="zh-CN" altLang="en-US" sz="2800" dirty="0">
              <a:latin typeface="Calibri" panose="020F0502020204030204" pitchFamily="34" charset="0"/>
              <a:sym typeface="+mn-ea"/>
            </a:endParaRPr>
          </a:p>
          <a:p>
            <a:pPr>
              <a:lnSpc>
                <a:spcPct val="125000"/>
              </a:lnSpc>
              <a:spcBef>
                <a:spcPts val="0"/>
              </a:spcBef>
            </a:pPr>
            <a:r>
              <a:rPr lang="en-US" altLang="zh-CN" sz="2800" dirty="0">
                <a:latin typeface="Calibri" panose="020F0502020204030204" pitchFamily="34" charset="0"/>
                <a:sym typeface="+mn-ea"/>
              </a:rPr>
              <a:t>binding</a:t>
            </a:r>
            <a:r>
              <a:rPr lang="zh-CN" altLang="en-US" sz="2800" dirty="0">
                <a:latin typeface="Calibri" panose="020F0502020204030204" pitchFamily="34" charset="0"/>
                <a:sym typeface="+mn-ea"/>
              </a:rPr>
              <a:t>：一个对象，包含以下属性：  </a:t>
            </a:r>
            <a:endParaRPr lang="zh-CN" altLang="en-US" sz="2800" dirty="0">
              <a:latin typeface="Calibri" panose="020F0502020204030204" pitchFamily="34" charset="0"/>
              <a:sym typeface="+mn-ea"/>
            </a:endParaRPr>
          </a:p>
          <a:p>
            <a:pPr marL="0" indent="0">
              <a:lnSpc>
                <a:spcPct val="125000"/>
              </a:lnSpc>
              <a:spcBef>
                <a:spcPts val="0"/>
              </a:spcBef>
              <a:buNone/>
            </a:pPr>
            <a:r>
              <a:rPr lang="en-US" altLang="zh-CN" sz="2800" dirty="0">
                <a:latin typeface="Calibri" panose="020F0502020204030204" pitchFamily="34" charset="0"/>
                <a:sym typeface="+mn-ea"/>
              </a:rPr>
              <a:t>       1.name</a:t>
            </a:r>
            <a:r>
              <a:rPr lang="zh-CN" altLang="en-US" sz="2800" dirty="0">
                <a:latin typeface="Calibri" panose="020F0502020204030204" pitchFamily="34" charset="0"/>
                <a:sym typeface="+mn-ea"/>
              </a:rPr>
              <a:t>：指令名，不包括 </a:t>
            </a:r>
            <a:r>
              <a:rPr lang="en-US" altLang="zh-CN" sz="2800" dirty="0">
                <a:latin typeface="Calibri" panose="020F0502020204030204" pitchFamily="34" charset="0"/>
                <a:sym typeface="+mn-ea"/>
              </a:rPr>
              <a:t>v- </a:t>
            </a:r>
            <a:r>
              <a:rPr lang="zh-CN" altLang="en-US" sz="2800" dirty="0">
                <a:latin typeface="Calibri" panose="020F0502020204030204" pitchFamily="34" charset="0"/>
                <a:sym typeface="+mn-ea"/>
              </a:rPr>
              <a:t>前缀。 </a:t>
            </a:r>
            <a:endParaRPr lang="zh-CN" altLang="en-US" sz="2800" dirty="0">
              <a:latin typeface="Calibri" panose="020F0502020204030204" pitchFamily="34" charset="0"/>
              <a:sym typeface="+mn-ea"/>
            </a:endParaRPr>
          </a:p>
          <a:p>
            <a:pPr marL="0" indent="0">
              <a:lnSpc>
                <a:spcPct val="125000"/>
              </a:lnSpc>
              <a:spcBef>
                <a:spcPts val="0"/>
              </a:spcBef>
              <a:buNone/>
            </a:pPr>
            <a:r>
              <a:rPr lang="zh-CN" altLang="en-US" sz="2800" dirty="0">
                <a:latin typeface="Calibri" panose="020F0502020204030204" pitchFamily="34" charset="0"/>
                <a:sym typeface="+mn-ea"/>
              </a:rPr>
              <a:t>       </a:t>
            </a:r>
            <a:r>
              <a:rPr lang="en-US" altLang="zh-CN" sz="2800" dirty="0">
                <a:latin typeface="Calibri" panose="020F0502020204030204" pitchFamily="34" charset="0"/>
                <a:sym typeface="+mn-ea"/>
              </a:rPr>
              <a:t>2.value</a:t>
            </a:r>
            <a:r>
              <a:rPr lang="zh-CN" altLang="en-US" sz="2800" dirty="0">
                <a:latin typeface="Calibri" panose="020F0502020204030204" pitchFamily="34" charset="0"/>
                <a:sym typeface="+mn-ea"/>
              </a:rPr>
              <a:t>：指令的绑定值，例如：</a:t>
            </a:r>
            <a:r>
              <a:rPr lang="en-US" altLang="zh-CN" sz="2800" dirty="0">
                <a:latin typeface="Calibri" panose="020F0502020204030204" pitchFamily="34" charset="0"/>
                <a:sym typeface="+mn-ea"/>
              </a:rPr>
              <a:t>v-my-directive="1 + 1" </a:t>
            </a:r>
            <a:r>
              <a:rPr lang="zh-CN" altLang="en-US" sz="2800" dirty="0">
                <a:latin typeface="Calibri" panose="020F0502020204030204" pitchFamily="34" charset="0"/>
                <a:sym typeface="+mn-ea"/>
              </a:rPr>
              <a:t>中，绑定值为 </a:t>
            </a:r>
            <a:r>
              <a:rPr lang="en-US" altLang="zh-CN" sz="2800" dirty="0">
                <a:latin typeface="Calibri" panose="020F0502020204030204" pitchFamily="34" charset="0"/>
                <a:sym typeface="+mn-ea"/>
              </a:rPr>
              <a:t>2</a:t>
            </a:r>
            <a:r>
              <a:rPr lang="zh-CN" altLang="en-US" sz="2800" dirty="0">
                <a:latin typeface="Calibri" panose="020F0502020204030204" pitchFamily="34" charset="0"/>
                <a:sym typeface="+mn-ea"/>
              </a:rPr>
              <a:t>。 </a:t>
            </a:r>
            <a:endParaRPr lang="zh-CN" altLang="en-US" sz="2800" dirty="0">
              <a:latin typeface="Calibri" panose="020F0502020204030204" pitchFamily="34" charset="0"/>
              <a:sym typeface="+mn-ea"/>
            </a:endParaRPr>
          </a:p>
          <a:p>
            <a:pPr marL="0" indent="0">
              <a:lnSpc>
                <a:spcPct val="125000"/>
              </a:lnSpc>
              <a:spcBef>
                <a:spcPts val="0"/>
              </a:spcBef>
              <a:buNone/>
            </a:pPr>
            <a:endParaRPr lang="zh-CN" altLang="en-US" dirty="0">
              <a:latin typeface="Calibri" panose="020F0502020204030204" pitchFamily="34" charset="0"/>
              <a:sym typeface="+mn-ea"/>
            </a:endParaRPr>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2">
                                            <p:txEl>
                                              <p:pRg st="1" end="1"/>
                                            </p:txEl>
                                          </p:spTgt>
                                        </p:tgtEl>
                                        <p:attrNameLst>
                                          <p:attrName>style.visibility</p:attrName>
                                        </p:attrNameLst>
                                      </p:cBhvr>
                                      <p:to>
                                        <p:strVal val="visible"/>
                                      </p:to>
                                    </p:set>
                                    <p:animEffect transition="in" filter="fade">
                                      <p:cBhvr>
                                        <p:cTn id="7" dur="500"/>
                                        <p:tgtEl>
                                          <p:spTgt spid="717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2">
                                            <p:txEl>
                                              <p:pRg st="2" end="2"/>
                                            </p:txEl>
                                          </p:spTgt>
                                        </p:tgtEl>
                                        <p:attrNameLst>
                                          <p:attrName>style.visibility</p:attrName>
                                        </p:attrNameLst>
                                      </p:cBhvr>
                                      <p:to>
                                        <p:strVal val="visible"/>
                                      </p:to>
                                    </p:set>
                                    <p:animEffect transition="in" filter="fade">
                                      <p:cBhvr>
                                        <p:cTn id="12" dur="500"/>
                                        <p:tgtEl>
                                          <p:spTgt spid="717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2">
                                            <p:txEl>
                                              <p:pRg st="3" end="3"/>
                                            </p:txEl>
                                          </p:spTgt>
                                        </p:tgtEl>
                                        <p:attrNameLst>
                                          <p:attrName>style.visibility</p:attrName>
                                        </p:attrNameLst>
                                      </p:cBhvr>
                                      <p:to>
                                        <p:strVal val="visible"/>
                                      </p:to>
                                    </p:set>
                                    <p:animEffect transition="in" filter="fade">
                                      <p:cBhvr>
                                        <p:cTn id="17" dur="500"/>
                                        <p:tgtEl>
                                          <p:spTgt spid="717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172">
                                            <p:txEl>
                                              <p:pRg st="4" end="4"/>
                                            </p:txEl>
                                          </p:spTgt>
                                        </p:tgtEl>
                                        <p:attrNameLst>
                                          <p:attrName>style.visibility</p:attrName>
                                        </p:attrNameLst>
                                      </p:cBhvr>
                                      <p:to>
                                        <p:strVal val="visible"/>
                                      </p:to>
                                    </p:set>
                                    <p:animEffect transition="in" filter="fade">
                                      <p:cBhvr>
                                        <p:cTn id="22" dur="500"/>
                                        <p:tgtEl>
                                          <p:spTgt spid="7172">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172">
                                            <p:txEl>
                                              <p:pRg st="5" end="5"/>
                                            </p:txEl>
                                          </p:spTgt>
                                        </p:tgtEl>
                                        <p:attrNameLst>
                                          <p:attrName>style.visibility</p:attrName>
                                        </p:attrNameLst>
                                      </p:cBhvr>
                                      <p:to>
                                        <p:strVal val="visible"/>
                                      </p:to>
                                    </p:set>
                                    <p:animEffect transition="in" filter="fade">
                                      <p:cBhvr>
                                        <p:cTn id="27" dur="500"/>
                                        <p:tgtEl>
                                          <p:spTgt spid="717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p:cNvSpPr>
          <p:nvPr>
            <p:ph idx="1"/>
          </p:nvPr>
        </p:nvSpPr>
        <p:spPr>
          <a:xfrm>
            <a:off x="492760" y="1261110"/>
            <a:ext cx="8623935" cy="6609715"/>
          </a:xfrm>
        </p:spPr>
        <p:txBody>
          <a:bodyPr vert="horz" wrap="square" lIns="91440" tIns="45720" rIns="91440" bIns="45720" anchor="t"/>
          <a:lstStyle/>
          <a:p>
            <a:pPr marL="0" indent="0">
              <a:lnSpc>
                <a:spcPct val="125000"/>
              </a:lnSpc>
              <a:spcBef>
                <a:spcPts val="0"/>
              </a:spcBef>
              <a:buNone/>
            </a:pPr>
            <a:r>
              <a:rPr lang="en-US" altLang="zh-CN" sz="2800" dirty="0">
                <a:latin typeface="Calibri" panose="020F0502020204030204" pitchFamily="34" charset="0"/>
                <a:sym typeface="+mn-ea"/>
              </a:rPr>
              <a:t>     3. </a:t>
            </a:r>
            <a:r>
              <a:rPr lang="en-US" altLang="zh-CN" sz="2800" dirty="0" err="1">
                <a:latin typeface="Calibri" panose="020F0502020204030204" pitchFamily="34" charset="0"/>
                <a:sym typeface="+mn-ea"/>
              </a:rPr>
              <a:t>oldValue</a:t>
            </a:r>
            <a:r>
              <a:rPr lang="zh-CN" altLang="en-US" sz="2800" dirty="0">
                <a:latin typeface="Calibri" panose="020F0502020204030204" pitchFamily="34" charset="0"/>
                <a:sym typeface="+mn-ea"/>
              </a:rPr>
              <a:t>：指令绑定的前一个值，仅在 </a:t>
            </a:r>
            <a:r>
              <a:rPr lang="en-US" altLang="zh-CN" sz="2800" dirty="0">
                <a:latin typeface="Calibri" panose="020F0502020204030204" pitchFamily="34" charset="0"/>
                <a:sym typeface="+mn-ea"/>
              </a:rPr>
              <a:t>update </a:t>
            </a:r>
            <a:r>
              <a:rPr lang="zh-CN" altLang="en-US" sz="2800" dirty="0">
                <a:latin typeface="Calibri" panose="020F0502020204030204" pitchFamily="34" charset="0"/>
                <a:sym typeface="+mn-ea"/>
              </a:rPr>
              <a:t>和 </a:t>
            </a:r>
            <a:r>
              <a:rPr lang="en-US" altLang="zh-CN" sz="2800" dirty="0" err="1">
                <a:latin typeface="Calibri" panose="020F0502020204030204" pitchFamily="34" charset="0"/>
                <a:sym typeface="+mn-ea"/>
              </a:rPr>
              <a:t>componentUpdated</a:t>
            </a:r>
            <a:r>
              <a:rPr lang="en-US" altLang="zh-CN" sz="2800" dirty="0">
                <a:latin typeface="Calibri" panose="020F0502020204030204" pitchFamily="34" charset="0"/>
                <a:sym typeface="+mn-ea"/>
              </a:rPr>
              <a:t> </a:t>
            </a:r>
            <a:r>
              <a:rPr lang="zh-CN" altLang="en-US" sz="2800" dirty="0">
                <a:latin typeface="Calibri" panose="020F0502020204030204" pitchFamily="34" charset="0"/>
                <a:sym typeface="+mn-ea"/>
              </a:rPr>
              <a:t>钩子中可用。</a:t>
            </a:r>
            <a:endParaRPr lang="zh-CN" altLang="en-US" sz="2800" dirty="0">
              <a:latin typeface="Calibri" panose="020F0502020204030204" pitchFamily="34" charset="0"/>
              <a:sym typeface="+mn-ea"/>
            </a:endParaRPr>
          </a:p>
          <a:p>
            <a:pPr marL="0" indent="0">
              <a:lnSpc>
                <a:spcPct val="125000"/>
              </a:lnSpc>
              <a:spcBef>
                <a:spcPts val="0"/>
              </a:spcBef>
              <a:buNone/>
            </a:pPr>
            <a:r>
              <a:rPr lang="zh-CN" altLang="en-US" sz="2800" dirty="0">
                <a:latin typeface="Calibri" panose="020F0502020204030204" pitchFamily="34" charset="0"/>
                <a:sym typeface="+mn-ea"/>
              </a:rPr>
              <a:t>无论值是否改变都可用。</a:t>
            </a:r>
            <a:endParaRPr lang="en-US" altLang="zh-CN" sz="2800" dirty="0">
              <a:latin typeface="Calibri" panose="020F0502020204030204" pitchFamily="34" charset="0"/>
              <a:sym typeface="+mn-ea"/>
            </a:endParaRPr>
          </a:p>
          <a:p>
            <a:pPr marL="0" indent="0">
              <a:lnSpc>
                <a:spcPct val="125000"/>
              </a:lnSpc>
              <a:spcBef>
                <a:spcPts val="0"/>
              </a:spcBef>
              <a:buNone/>
            </a:pPr>
            <a:r>
              <a:rPr lang="en-US" altLang="zh-CN" sz="2800" dirty="0">
                <a:latin typeface="Calibri" panose="020F0502020204030204" pitchFamily="34" charset="0"/>
                <a:sym typeface="+mn-ea"/>
              </a:rPr>
              <a:t>    4. expression</a:t>
            </a:r>
            <a:r>
              <a:rPr lang="zh-CN" altLang="en-US" sz="2800" dirty="0">
                <a:latin typeface="Calibri" panose="020F0502020204030204" pitchFamily="34" charset="0"/>
                <a:sym typeface="+mn-ea"/>
              </a:rPr>
              <a:t>：字符串形式的指令表达式。例如 </a:t>
            </a:r>
            <a:r>
              <a:rPr lang="en-US" altLang="zh-CN" sz="2800" dirty="0">
                <a:latin typeface="Calibri" panose="020F0502020204030204" pitchFamily="34" charset="0"/>
                <a:sym typeface="+mn-ea"/>
              </a:rPr>
              <a:t>v-my-directive="1 + 1" </a:t>
            </a:r>
            <a:r>
              <a:rPr lang="zh-CN" altLang="en-US" sz="2800" dirty="0">
                <a:latin typeface="Calibri" panose="020F0502020204030204" pitchFamily="34" charset="0"/>
                <a:sym typeface="+mn-ea"/>
              </a:rPr>
              <a:t>中，表达式为 </a:t>
            </a:r>
            <a:r>
              <a:rPr lang="en-US" altLang="zh-CN" sz="2800" dirty="0">
                <a:latin typeface="Calibri" panose="020F0502020204030204" pitchFamily="34" charset="0"/>
                <a:sym typeface="+mn-ea"/>
              </a:rPr>
              <a:t>"1 + 1"</a:t>
            </a:r>
            <a:r>
              <a:rPr lang="zh-CN" altLang="en-US" sz="2800" dirty="0">
                <a:latin typeface="Calibri" panose="020F0502020204030204" pitchFamily="34" charset="0"/>
                <a:sym typeface="+mn-ea"/>
              </a:rPr>
              <a:t>。</a:t>
            </a:r>
            <a:endParaRPr lang="en-US" altLang="zh-CN" sz="2800" dirty="0">
              <a:latin typeface="Calibri" panose="020F0502020204030204" pitchFamily="34" charset="0"/>
              <a:sym typeface="+mn-ea"/>
            </a:endParaRPr>
          </a:p>
          <a:p>
            <a:pPr marL="0" indent="0">
              <a:lnSpc>
                <a:spcPct val="125000"/>
              </a:lnSpc>
              <a:spcBef>
                <a:spcPts val="0"/>
              </a:spcBef>
              <a:buNone/>
            </a:pPr>
            <a:r>
              <a:rPr lang="en-US" altLang="zh-CN" sz="2800" dirty="0">
                <a:latin typeface="Calibri" panose="020F0502020204030204" pitchFamily="34" charset="0"/>
                <a:sym typeface="+mn-ea"/>
              </a:rPr>
              <a:t>    5.</a:t>
            </a:r>
            <a:r>
              <a:rPr lang="zh-CN" altLang="en-US" sz="2800" dirty="0">
                <a:latin typeface="Calibri" panose="020F0502020204030204" pitchFamily="34" charset="0"/>
                <a:sym typeface="+mn-ea"/>
              </a:rPr>
              <a:t> </a:t>
            </a:r>
            <a:r>
              <a:rPr lang="en-US" altLang="zh-CN" sz="2800" dirty="0" err="1">
                <a:latin typeface="Calibri" panose="020F0502020204030204" pitchFamily="34" charset="0"/>
                <a:sym typeface="+mn-ea"/>
              </a:rPr>
              <a:t>arg</a:t>
            </a:r>
            <a:r>
              <a:rPr lang="zh-CN" altLang="en-US" sz="2800" dirty="0">
                <a:latin typeface="Calibri" panose="020F0502020204030204" pitchFamily="34" charset="0"/>
                <a:sym typeface="+mn-ea"/>
              </a:rPr>
              <a:t>：传给指令的参数，可选。例如 </a:t>
            </a:r>
            <a:r>
              <a:rPr lang="en-US" altLang="zh-CN" sz="2800" dirty="0" err="1">
                <a:latin typeface="Calibri" panose="020F0502020204030204" pitchFamily="34" charset="0"/>
                <a:sym typeface="+mn-ea"/>
              </a:rPr>
              <a:t>v-my-directive:foo</a:t>
            </a:r>
            <a:r>
              <a:rPr lang="en-US" altLang="zh-CN" sz="2800" dirty="0">
                <a:latin typeface="Calibri" panose="020F0502020204030204" pitchFamily="34" charset="0"/>
                <a:sym typeface="+mn-ea"/>
              </a:rPr>
              <a:t> </a:t>
            </a:r>
            <a:r>
              <a:rPr lang="zh-CN" altLang="en-US" sz="2800" dirty="0">
                <a:latin typeface="Calibri" panose="020F0502020204030204" pitchFamily="34" charset="0"/>
                <a:sym typeface="+mn-ea"/>
              </a:rPr>
              <a:t>中，参数为 </a:t>
            </a:r>
            <a:r>
              <a:rPr lang="en-US" altLang="zh-CN" sz="2800" dirty="0">
                <a:latin typeface="Calibri" panose="020F0502020204030204" pitchFamily="34" charset="0"/>
                <a:sym typeface="+mn-ea"/>
              </a:rPr>
              <a:t>"foo"</a:t>
            </a:r>
            <a:r>
              <a:rPr lang="zh-CN" altLang="en-US" sz="2800" dirty="0">
                <a:latin typeface="Calibri" panose="020F0502020204030204" pitchFamily="34" charset="0"/>
                <a:sym typeface="+mn-ea"/>
              </a:rPr>
              <a:t>。</a:t>
            </a:r>
            <a:endParaRPr lang="en-US" altLang="zh-CN" sz="2800" dirty="0">
              <a:latin typeface="Calibri" panose="020F0502020204030204" pitchFamily="34" charset="0"/>
              <a:sym typeface="+mn-ea"/>
            </a:endParaRPr>
          </a:p>
          <a:p>
            <a:pPr marL="0" indent="0">
              <a:lnSpc>
                <a:spcPct val="125000"/>
              </a:lnSpc>
              <a:spcBef>
                <a:spcPts val="0"/>
              </a:spcBef>
              <a:buNone/>
            </a:pPr>
            <a:r>
              <a:rPr lang="en-US" altLang="zh-CN" sz="2800" dirty="0">
                <a:latin typeface="Calibri" panose="020F0502020204030204" pitchFamily="34" charset="0"/>
                <a:sym typeface="+mn-ea"/>
              </a:rPr>
              <a:t>    6. modifiers</a:t>
            </a:r>
            <a:r>
              <a:rPr lang="zh-CN" altLang="en-US" sz="2800" dirty="0">
                <a:latin typeface="Calibri" panose="020F0502020204030204" pitchFamily="34" charset="0"/>
                <a:sym typeface="+mn-ea"/>
              </a:rPr>
              <a:t>：一个包含修饰符的对象。例如：</a:t>
            </a:r>
            <a:r>
              <a:rPr lang="en-US" altLang="zh-CN" sz="2800" dirty="0">
                <a:latin typeface="Calibri" panose="020F0502020204030204" pitchFamily="34" charset="0"/>
                <a:sym typeface="+mn-ea"/>
              </a:rPr>
              <a:t>v-my-</a:t>
            </a:r>
            <a:r>
              <a:rPr lang="en-US" altLang="zh-CN" sz="2800" dirty="0" err="1">
                <a:latin typeface="Calibri" panose="020F0502020204030204" pitchFamily="34" charset="0"/>
                <a:sym typeface="+mn-ea"/>
              </a:rPr>
              <a:t>directive.foo.bar</a:t>
            </a:r>
            <a:r>
              <a:rPr lang="en-US" altLang="zh-CN" sz="2800" dirty="0">
                <a:latin typeface="Calibri" panose="020F0502020204030204" pitchFamily="34" charset="0"/>
                <a:sym typeface="+mn-ea"/>
              </a:rPr>
              <a:t> </a:t>
            </a:r>
            <a:r>
              <a:rPr lang="zh-CN" altLang="en-US" sz="2800" dirty="0">
                <a:latin typeface="Calibri" panose="020F0502020204030204" pitchFamily="34" charset="0"/>
                <a:sym typeface="+mn-ea"/>
              </a:rPr>
              <a:t>中，修饰符对象为 </a:t>
            </a:r>
            <a:r>
              <a:rPr lang="en-US" altLang="zh-CN" sz="2800" dirty="0">
                <a:latin typeface="Calibri" panose="020F0502020204030204" pitchFamily="34" charset="0"/>
                <a:sym typeface="+mn-ea"/>
              </a:rPr>
              <a:t>{ foo: true, bar: true }</a:t>
            </a:r>
            <a:r>
              <a:rPr lang="zh-CN" altLang="en-US" sz="2800" dirty="0">
                <a:latin typeface="Calibri" panose="020F0502020204030204" pitchFamily="34" charset="0"/>
                <a:sym typeface="+mn-ea"/>
              </a:rPr>
              <a:t>。 </a:t>
            </a:r>
            <a:endParaRPr lang="en-US" altLang="zh-CN" sz="2800" dirty="0">
              <a:latin typeface="Calibri" panose="020F0502020204030204" pitchFamily="34" charset="0"/>
              <a:sym typeface="+mn-ea"/>
            </a:endParaRPr>
          </a:p>
          <a:p>
            <a:pPr marL="0" indent="0" algn="l" eaLnBrk="0" hangingPunct="0">
              <a:lnSpc>
                <a:spcPct val="125000"/>
              </a:lnSpc>
              <a:spcBef>
                <a:spcPts val="0"/>
              </a:spcBef>
              <a:buNone/>
            </a:pPr>
            <a:endParaRPr lang="en-US" altLang="zh-CN" dirty="0">
              <a:latin typeface="Calibri" panose="020F0502020204030204" pitchFamily="34" charset="0"/>
              <a:sym typeface="+mn-ea"/>
            </a:endParaRPr>
          </a:p>
          <a:p>
            <a:pPr marL="0" indent="0" algn="l" eaLnBrk="0" hangingPunct="0">
              <a:lnSpc>
                <a:spcPct val="125000"/>
              </a:lnSpc>
              <a:spcBef>
                <a:spcPts val="0"/>
              </a:spcBef>
              <a:buNone/>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dirty="0">
              <a:latin typeface="Calibri" panose="020F0502020204030204" pitchFamily="34" charset="0"/>
              <a:sym typeface="+mn-ea"/>
            </a:endParaRPr>
          </a:p>
          <a:p>
            <a:pPr marL="0" indent="0" algn="l" eaLnBrk="0" hangingPunct="0">
              <a:lnSpc>
                <a:spcPct val="125000"/>
              </a:lnSpc>
              <a:spcBef>
                <a:spcPts val="0"/>
              </a:spcBef>
              <a:buFont typeface="Wingdings" panose="05000000000000000000" pitchFamily="2" charset="2"/>
              <a:buNone/>
            </a:pPr>
            <a:endParaRPr dirty="0"/>
          </a:p>
          <a:p>
            <a:pPr marL="0" indent="0">
              <a:buNone/>
            </a:pPr>
            <a:endParaRPr lang="en-US" altLang="zh-CN"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fade">
                                      <p:cBhvr>
                                        <p:cTn id="7" dur="500"/>
                                        <p:tgtEl>
                                          <p:spTgt spid="71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2">
                                            <p:txEl>
                                              <p:pRg st="1" end="1"/>
                                            </p:txEl>
                                          </p:spTgt>
                                        </p:tgtEl>
                                        <p:attrNameLst>
                                          <p:attrName>style.visibility</p:attrName>
                                        </p:attrNameLst>
                                      </p:cBhvr>
                                      <p:to>
                                        <p:strVal val="visible"/>
                                      </p:to>
                                    </p:set>
                                    <p:animEffect transition="in" filter="fade">
                                      <p:cBhvr>
                                        <p:cTn id="12" dur="500"/>
                                        <p:tgtEl>
                                          <p:spTgt spid="71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2">
                                            <p:txEl>
                                              <p:pRg st="2" end="2"/>
                                            </p:txEl>
                                          </p:spTgt>
                                        </p:tgtEl>
                                        <p:attrNameLst>
                                          <p:attrName>style.visibility</p:attrName>
                                        </p:attrNameLst>
                                      </p:cBhvr>
                                      <p:to>
                                        <p:strVal val="visible"/>
                                      </p:to>
                                    </p:set>
                                    <p:animEffect transition="in" filter="fade">
                                      <p:cBhvr>
                                        <p:cTn id="17" dur="500"/>
                                        <p:tgtEl>
                                          <p:spTgt spid="717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172">
                                            <p:txEl>
                                              <p:pRg st="3" end="3"/>
                                            </p:txEl>
                                          </p:spTgt>
                                        </p:tgtEl>
                                        <p:attrNameLst>
                                          <p:attrName>style.visibility</p:attrName>
                                        </p:attrNameLst>
                                      </p:cBhvr>
                                      <p:to>
                                        <p:strVal val="visible"/>
                                      </p:to>
                                    </p:set>
                                    <p:animEffect transition="in" filter="fade">
                                      <p:cBhvr>
                                        <p:cTn id="22" dur="500"/>
                                        <p:tgtEl>
                                          <p:spTgt spid="717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172">
                                            <p:txEl>
                                              <p:pRg st="4" end="4"/>
                                            </p:txEl>
                                          </p:spTgt>
                                        </p:tgtEl>
                                        <p:attrNameLst>
                                          <p:attrName>style.visibility</p:attrName>
                                        </p:attrNameLst>
                                      </p:cBhvr>
                                      <p:to>
                                        <p:strVal val="visible"/>
                                      </p:to>
                                    </p:set>
                                    <p:animEffect transition="in" filter="fade">
                                      <p:cBhvr>
                                        <p:cTn id="27" dur="500"/>
                                        <p:tgtEl>
                                          <p:spTgt spid="717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p:cNvSpPr>
          <p:nvPr>
            <p:ph idx="1"/>
          </p:nvPr>
        </p:nvSpPr>
        <p:spPr>
          <a:xfrm>
            <a:off x="457200" y="1077595"/>
            <a:ext cx="8644890" cy="8481060"/>
          </a:xfrm>
        </p:spPr>
        <p:txBody>
          <a:bodyPr vert="horz" wrap="square" lIns="91440" tIns="45720" rIns="91440" bIns="45720" anchor="t"/>
          <a:lstStyle/>
          <a:p>
            <a:pPr>
              <a:lnSpc>
                <a:spcPct val="125000"/>
              </a:lnSpc>
              <a:spcBef>
                <a:spcPts val="0"/>
              </a:spcBef>
            </a:pPr>
            <a:r>
              <a:rPr lang="en-US" dirty="0">
                <a:latin typeface="Calibri" panose="020F0502020204030204" pitchFamily="34" charset="0"/>
                <a:sym typeface="+mn-ea"/>
              </a:rPr>
              <a:t> </a:t>
            </a:r>
            <a:r>
              <a:rPr lang="en-US" altLang="zh-CN" sz="2800" dirty="0" err="1">
                <a:latin typeface="Calibri" panose="020F0502020204030204" pitchFamily="34" charset="0"/>
                <a:sym typeface="+mn-ea"/>
              </a:rPr>
              <a:t>vnode</a:t>
            </a:r>
            <a:r>
              <a:rPr lang="zh-CN" altLang="en-US" sz="2800" dirty="0">
                <a:latin typeface="Calibri" panose="020F0502020204030204" pitchFamily="34" charset="0"/>
                <a:sym typeface="+mn-ea"/>
              </a:rPr>
              <a:t>：</a:t>
            </a:r>
            <a:r>
              <a:rPr lang="en-US" altLang="zh-CN" sz="2800" dirty="0">
                <a:latin typeface="Calibri" panose="020F0502020204030204" pitchFamily="34" charset="0"/>
                <a:sym typeface="+mn-ea"/>
              </a:rPr>
              <a:t>Vue </a:t>
            </a:r>
            <a:r>
              <a:rPr lang="zh-CN" altLang="en-US" sz="2800" dirty="0">
                <a:latin typeface="Calibri" panose="020F0502020204030204" pitchFamily="34" charset="0"/>
                <a:sym typeface="+mn-ea"/>
              </a:rPr>
              <a:t>编译生成的虚拟节点。</a:t>
            </a:r>
            <a:r>
              <a:rPr sz="2800" dirty="0" err="1">
                <a:latin typeface="Calibri" panose="020F0502020204030204" pitchFamily="34" charset="0"/>
                <a:sym typeface="+mn-ea"/>
              </a:rPr>
              <a:t>可以对数据进行双向绑定</a:t>
            </a:r>
            <a:r>
              <a:rPr lang="zh-CN" altLang="en-US" sz="2800" dirty="0">
                <a:latin typeface="Calibri" panose="020F0502020204030204" pitchFamily="34" charset="0"/>
                <a:sym typeface="+mn-ea"/>
              </a:rPr>
              <a:t>。</a:t>
            </a:r>
            <a:endParaRPr sz="2800" dirty="0">
              <a:latin typeface="Calibri" panose="020F0502020204030204" pitchFamily="34" charset="0"/>
              <a:sym typeface="+mn-ea"/>
            </a:endParaRPr>
          </a:p>
          <a:p>
            <a:pPr>
              <a:lnSpc>
                <a:spcPct val="125000"/>
              </a:lnSpc>
              <a:spcBef>
                <a:spcPts val="0"/>
              </a:spcBef>
            </a:pPr>
            <a:r>
              <a:rPr lang="en-US" sz="2800" dirty="0" err="1">
                <a:latin typeface="Calibri" panose="020F0502020204030204" pitchFamily="34" charset="0"/>
                <a:sym typeface="+mn-ea"/>
              </a:rPr>
              <a:t>oldVnode</a:t>
            </a:r>
            <a:r>
              <a:rPr lang="en-US" sz="2800" dirty="0">
                <a:latin typeface="Calibri" panose="020F0502020204030204" pitchFamily="34" charset="0"/>
                <a:sym typeface="+mn-ea"/>
              </a:rPr>
              <a:t>：</a:t>
            </a:r>
            <a:r>
              <a:rPr lang="zh-CN" altLang="en-US" sz="2800" dirty="0">
                <a:latin typeface="Calibri" panose="020F0502020204030204" pitchFamily="34" charset="0"/>
                <a:sym typeface="+mn-ea"/>
              </a:rPr>
              <a:t>上一个虚拟节点，仅在 </a:t>
            </a:r>
            <a:r>
              <a:rPr lang="en-US" sz="2800" dirty="0">
                <a:latin typeface="Calibri" panose="020F0502020204030204" pitchFamily="34" charset="0"/>
                <a:sym typeface="+mn-ea"/>
              </a:rPr>
              <a:t>update </a:t>
            </a:r>
            <a:r>
              <a:rPr lang="zh-CN" altLang="en-US" sz="2800" dirty="0">
                <a:latin typeface="Calibri" panose="020F0502020204030204" pitchFamily="34" charset="0"/>
                <a:sym typeface="+mn-ea"/>
              </a:rPr>
              <a:t>和 </a:t>
            </a:r>
            <a:r>
              <a:rPr lang="en-US" sz="2800" dirty="0" err="1">
                <a:latin typeface="Calibri" panose="020F0502020204030204" pitchFamily="34" charset="0"/>
                <a:sym typeface="+mn-ea"/>
              </a:rPr>
              <a:t>componentUpdated</a:t>
            </a:r>
            <a:r>
              <a:rPr lang="en-US" sz="2800" dirty="0">
                <a:latin typeface="Calibri" panose="020F0502020204030204" pitchFamily="34" charset="0"/>
                <a:sym typeface="+mn-ea"/>
              </a:rPr>
              <a:t> </a:t>
            </a:r>
            <a:r>
              <a:rPr lang="zh-CN" altLang="en-US" sz="2800" dirty="0">
                <a:latin typeface="Calibri" panose="020F0502020204030204" pitchFamily="34" charset="0"/>
                <a:sym typeface="+mn-ea"/>
              </a:rPr>
              <a:t>钩子中可用。</a:t>
            </a:r>
            <a:endParaRPr lang="en-US" altLang="zh-CN" sz="2800" dirty="0">
              <a:latin typeface="Calibri" panose="020F0502020204030204" pitchFamily="34" charset="0"/>
              <a:sym typeface="+mn-ea"/>
            </a:endParaRPr>
          </a:p>
          <a:p>
            <a:pPr>
              <a:lnSpc>
                <a:spcPct val="125000"/>
              </a:lnSpc>
              <a:spcBef>
                <a:spcPts val="0"/>
              </a:spcBef>
            </a:pPr>
            <a:r>
              <a:rPr lang="en-US" altLang="zh-CN" sz="2800" dirty="0">
                <a:latin typeface="Calibri" panose="020F0502020204030204" pitchFamily="34" charset="0"/>
                <a:sym typeface="+mn-ea"/>
              </a:rPr>
              <a:t>【</a:t>
            </a:r>
            <a:r>
              <a:rPr lang="zh-CN" altLang="en-US" sz="2800" dirty="0">
                <a:latin typeface="Calibri" panose="020F0502020204030204" pitchFamily="34" charset="0"/>
                <a:sym typeface="+mn-ea"/>
              </a:rPr>
              <a:t>例</a:t>
            </a:r>
            <a:r>
              <a:rPr lang="en-US" altLang="zh-CN" sz="2800" dirty="0">
                <a:latin typeface="Calibri" panose="020F0502020204030204" pitchFamily="34" charset="0"/>
                <a:sym typeface="+mn-ea"/>
              </a:rPr>
              <a:t>6-4】</a:t>
            </a:r>
            <a:r>
              <a:rPr lang="zh-CN" altLang="en-US" sz="2800" dirty="0">
                <a:latin typeface="Calibri" panose="020F0502020204030204" pitchFamily="34" charset="0"/>
                <a:sym typeface="+mn-ea"/>
              </a:rPr>
              <a:t>用随机的背景色占位 </a:t>
            </a:r>
            <a:endParaRPr sz="2800" dirty="0">
              <a:latin typeface="Calibri" panose="020F0502020204030204" pitchFamily="34" charset="0"/>
              <a:sym typeface="+mn-ea"/>
            </a:endParaRPr>
          </a:p>
          <a:p>
            <a:pPr marL="0" indent="0">
              <a:buNone/>
            </a:pPr>
            <a:endParaRPr lang="en-US" altLang="zh-CN"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fade">
                                      <p:cBhvr>
                                        <p:cTn id="7" dur="500"/>
                                        <p:tgtEl>
                                          <p:spTgt spid="71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2">
                                            <p:txEl>
                                              <p:pRg st="1" end="1"/>
                                            </p:txEl>
                                          </p:spTgt>
                                        </p:tgtEl>
                                        <p:attrNameLst>
                                          <p:attrName>style.visibility</p:attrName>
                                        </p:attrNameLst>
                                      </p:cBhvr>
                                      <p:to>
                                        <p:strVal val="visible"/>
                                      </p:to>
                                    </p:set>
                                    <p:animEffect transition="in" filter="fade">
                                      <p:cBhvr>
                                        <p:cTn id="12" dur="500"/>
                                        <p:tgtEl>
                                          <p:spTgt spid="71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2">
                                            <p:txEl>
                                              <p:pRg st="2" end="2"/>
                                            </p:txEl>
                                          </p:spTgt>
                                        </p:tgtEl>
                                        <p:attrNameLst>
                                          <p:attrName>style.visibility</p:attrName>
                                        </p:attrNameLst>
                                      </p:cBhvr>
                                      <p:to>
                                        <p:strVal val="visible"/>
                                      </p:to>
                                    </p:set>
                                    <p:animEffect transition="in" filter="fade">
                                      <p:cBhvr>
                                        <p:cTn id="17" dur="500"/>
                                        <p:tgtEl>
                                          <p:spTgt spid="71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p:cNvSpPr>
          <p:nvPr>
            <p:ph idx="1"/>
          </p:nvPr>
        </p:nvSpPr>
        <p:spPr>
          <a:xfrm>
            <a:off x="492760" y="1261110"/>
            <a:ext cx="8644890" cy="8481060"/>
          </a:xfrm>
        </p:spPr>
        <p:txBody>
          <a:bodyPr vert="horz" wrap="square" lIns="91440" tIns="45720" rIns="91440" bIns="45720" anchor="t"/>
          <a:lstStyle/>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0" indent="0" algn="l" eaLnBrk="0" hangingPunct="0">
              <a:lnSpc>
                <a:spcPct val="125000"/>
              </a:lnSpc>
              <a:spcBef>
                <a:spcPts val="0"/>
              </a:spcBef>
              <a:buNone/>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dirty="0">
              <a:latin typeface="Calibri" panose="020F0502020204030204" pitchFamily="34" charset="0"/>
              <a:sym typeface="+mn-ea"/>
            </a:endParaRPr>
          </a:p>
          <a:p>
            <a:pPr marL="0" indent="0" algn="l" eaLnBrk="0" hangingPunct="0">
              <a:lnSpc>
                <a:spcPct val="125000"/>
              </a:lnSpc>
              <a:spcBef>
                <a:spcPts val="0"/>
              </a:spcBef>
              <a:buFont typeface="Wingdings" panose="05000000000000000000" pitchFamily="2" charset="2"/>
              <a:buNone/>
            </a:pPr>
            <a:endParaRPr dirty="0">
              <a:latin typeface="Calibri" panose="020F0502020204030204" pitchFamily="34" charset="0"/>
              <a:sym typeface="+mn-ea"/>
            </a:endParaRPr>
          </a:p>
          <a:p>
            <a:pPr marL="0" indent="0">
              <a:buNone/>
            </a:pPr>
            <a:endParaRPr lang="en-US" altLang="zh-CN"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5" name="AutoShape 3"/>
          <p:cNvSpPr/>
          <p:nvPr/>
        </p:nvSpPr>
        <p:spPr>
          <a:xfrm>
            <a:off x="395536" y="980729"/>
            <a:ext cx="8352928" cy="5831386"/>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spAutoFit/>
          </a:bodyPr>
          <a:lstStyle/>
          <a:p>
            <a:pPr algn="l"/>
            <a:r>
              <a:rPr lang="en-US" altLang="zh-CN" dirty="0"/>
              <a:t>     &lt; !DOCTYPE html&gt;</a:t>
            </a:r>
            <a:endParaRPr lang="en-US" altLang="zh-CN" dirty="0"/>
          </a:p>
          <a:p>
            <a:pPr algn="l"/>
            <a:r>
              <a:rPr lang="en-US" altLang="zh-CN" dirty="0"/>
              <a:t>     &lt;html&gt;</a:t>
            </a:r>
            <a:br>
              <a:rPr lang="en-US" altLang="zh-CN" dirty="0"/>
            </a:br>
            <a:r>
              <a:rPr lang="en-US" altLang="zh-CN" dirty="0"/>
              <a:t>     &lt;head&gt;</a:t>
            </a:r>
            <a:br>
              <a:rPr lang="en-US" altLang="zh-CN" dirty="0"/>
            </a:br>
            <a:r>
              <a:rPr lang="en-US" altLang="zh-CN" dirty="0"/>
              <a:t>     &lt;meta charset=“utf-8”&gt;</a:t>
            </a:r>
            <a:br>
              <a:rPr lang="en-US" altLang="zh-CN" dirty="0"/>
            </a:br>
            <a:r>
              <a:rPr lang="en-US" altLang="zh-CN" dirty="0"/>
              <a:t>     &lt;title&gt;</a:t>
            </a:r>
            <a:r>
              <a:rPr lang="zh-CN" altLang="en-US" dirty="0"/>
              <a:t>斤斗云在线课堂</a:t>
            </a:r>
            <a:r>
              <a:rPr lang="en-US" altLang="zh-CN" dirty="0"/>
              <a:t>&lt;/title&gt;</a:t>
            </a:r>
            <a:endParaRPr lang="en-US" altLang="zh-CN" dirty="0"/>
          </a:p>
          <a:p>
            <a:pPr algn="l"/>
            <a:r>
              <a:rPr lang="en-US" altLang="zh-CN" dirty="0"/>
              <a:t>     &lt;style&gt;</a:t>
            </a:r>
            <a:endParaRPr lang="en-US" altLang="zh-CN" dirty="0"/>
          </a:p>
          <a:p>
            <a:pPr algn="l"/>
            <a:r>
              <a:rPr lang="en-US" altLang="zh-CN" dirty="0"/>
              <a:t>     div{</a:t>
            </a:r>
            <a:br>
              <a:rPr lang="en-US" altLang="zh-CN" dirty="0"/>
            </a:br>
            <a:r>
              <a:rPr lang="en-US" altLang="zh-CN" dirty="0"/>
              <a:t>     width: 200px;</a:t>
            </a:r>
            <a:endParaRPr lang="en-US" altLang="zh-CN" dirty="0"/>
          </a:p>
          <a:p>
            <a:pPr algn="l"/>
            <a:r>
              <a:rPr lang="en-US" altLang="zh-CN" dirty="0"/>
              <a:t>     height: 300px;</a:t>
            </a:r>
            <a:br>
              <a:rPr lang="en-US" altLang="zh-CN" dirty="0"/>
            </a:br>
            <a:r>
              <a:rPr lang="en-US" altLang="zh-CN" dirty="0"/>
              <a:t>     background-size: cover;</a:t>
            </a:r>
            <a:br>
              <a:rPr lang="en-US" altLang="zh-CN" dirty="0"/>
            </a:br>
            <a:r>
              <a:rPr lang="en-US" altLang="zh-CN" dirty="0"/>
              <a:t>      }</a:t>
            </a:r>
            <a:br>
              <a:rPr lang="en-US" altLang="zh-CN" dirty="0"/>
            </a:br>
            <a:r>
              <a:rPr lang="en-US" altLang="zh-CN" dirty="0"/>
              <a:t>      &lt;/style&gt;</a:t>
            </a:r>
            <a:endParaRPr lang="en-US" altLang="zh-CN" dirty="0"/>
          </a:p>
          <a:p>
            <a:pPr algn="l"/>
            <a:r>
              <a:rPr lang="en-US" altLang="zh-CN" dirty="0"/>
              <a:t>      &lt;/head&gt;</a:t>
            </a:r>
            <a:endParaRPr lang="en-US" altLang="zh-CN" dirty="0"/>
          </a:p>
          <a:p>
            <a:pPr algn="l"/>
            <a:r>
              <a:rPr lang="en-US" altLang="zh-CN" dirty="0"/>
              <a:t>      &lt;body&gt;</a:t>
            </a:r>
            <a:br>
              <a:rPr lang="en-US" altLang="zh-CN" dirty="0"/>
            </a:br>
            <a:r>
              <a:rPr lang="en-US" altLang="zh-CN" dirty="0"/>
              <a:t>      &lt;div id=“app”&gt;</a:t>
            </a:r>
            <a:br>
              <a:rPr lang="en-US" altLang="zh-CN" dirty="0"/>
            </a:br>
            <a:r>
              <a:rPr lang="en-US" altLang="zh-CN" dirty="0"/>
              <a:t>           &lt;p&gt;</a:t>
            </a:r>
            <a:r>
              <a:rPr lang="zh-CN" altLang="en-US" dirty="0"/>
              <a:t>在图片未完成加载前，用随机的背景色占位，圏片加载完成后才直接渲染出来。用自定义指令可以非常方便的实现这个功能。</a:t>
            </a:r>
            <a:r>
              <a:rPr lang="en-US" altLang="zh-CN" dirty="0"/>
              <a:t>&lt;/p&gt;</a:t>
            </a:r>
            <a:br>
              <a:rPr lang="en-US" altLang="zh-CN" dirty="0"/>
            </a:br>
            <a:r>
              <a:rPr lang="en-US" altLang="zh-CN" dirty="0"/>
              <a:t>           &lt;div   v- </a:t>
            </a:r>
            <a:r>
              <a:rPr lang="en-US" altLang="zh-CN" dirty="0" err="1"/>
              <a:t>imgurl</a:t>
            </a:r>
            <a:r>
              <a:rPr lang="en-US" altLang="zh-CN" dirty="0"/>
              <a:t>="ur</a:t>
            </a:r>
            <a:r>
              <a:rPr lang="en-US" altLang="zh-CN" dirty="0"/>
              <a:t>l1"&gt;&lt;/div〉</a:t>
            </a:r>
            <a:endParaRPr lang="en-US" altLang="zh-CN" dirty="0"/>
          </a:p>
          <a:p>
            <a:pPr algn="l"/>
            <a:r>
              <a:rPr lang="en-US" altLang="zh-CN" dirty="0"/>
              <a:t>           </a:t>
            </a:r>
            <a:r>
              <a:rPr lang="en-US" altLang="zh-CN" dirty="0">
                <a:sym typeface="+mn-ea"/>
              </a:rPr>
              <a:t>&lt;div   v- </a:t>
            </a:r>
            <a:r>
              <a:rPr lang="en-US" altLang="zh-CN" dirty="0" err="1">
                <a:sym typeface="+mn-ea"/>
              </a:rPr>
              <a:t>imgurl</a:t>
            </a:r>
            <a:r>
              <a:rPr lang="en-US" altLang="zh-CN" dirty="0">
                <a:sym typeface="+mn-ea"/>
              </a:rPr>
              <a:t>="url2"&gt;&lt;/div〉</a:t>
            </a:r>
            <a:br>
              <a:rPr lang="en-US" altLang="zh-CN" dirty="0"/>
            </a:br>
            <a:r>
              <a:rPr lang="en-US" altLang="zh-CN" dirty="0"/>
              <a:t>      &lt;/div&gt;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p:cNvSpPr>
          <p:nvPr>
            <p:ph idx="1"/>
          </p:nvPr>
        </p:nvSpPr>
        <p:spPr>
          <a:xfrm>
            <a:off x="492760" y="1261110"/>
            <a:ext cx="8381365" cy="8481060"/>
          </a:xfrm>
        </p:spPr>
        <p:txBody>
          <a:bodyPr vert="horz" wrap="square" lIns="91440" tIns="45720" rIns="91440" bIns="45720" anchor="t"/>
          <a:lstStyle/>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342900" indent="-342900" algn="l" eaLnBrk="0" hangingPunct="0">
              <a:lnSpc>
                <a:spcPct val="125000"/>
              </a:lnSpc>
              <a:spcBef>
                <a:spcPts val="0"/>
              </a:spcBef>
              <a:buFont typeface="Wingdings" panose="05000000000000000000" pitchFamily="2" charset="2"/>
              <a:buChar char="n"/>
            </a:pPr>
            <a:endParaRPr lang="en-US" altLang="zh-CN" dirty="0">
              <a:latin typeface="Calibri" panose="020F0502020204030204" pitchFamily="34" charset="0"/>
              <a:sym typeface="+mn-ea"/>
            </a:endParaRPr>
          </a:p>
          <a:p>
            <a:pPr marL="0" indent="0" algn="l" eaLnBrk="0" hangingPunct="0">
              <a:lnSpc>
                <a:spcPct val="125000"/>
              </a:lnSpc>
              <a:spcBef>
                <a:spcPts val="0"/>
              </a:spcBef>
              <a:buNone/>
            </a:pPr>
            <a:endParaRPr dirty="0">
              <a:latin typeface="Calibri" panose="020F0502020204030204" pitchFamily="34" charset="0"/>
              <a:sym typeface="+mn-ea"/>
            </a:endParaRPr>
          </a:p>
          <a:p>
            <a:pPr marL="0" indent="0">
              <a:buNone/>
            </a:pPr>
            <a:endParaRPr lang="en-US" altLang="zh-CN"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7" name="AutoShape 3"/>
          <p:cNvSpPr/>
          <p:nvPr/>
        </p:nvSpPr>
        <p:spPr>
          <a:xfrm>
            <a:off x="395536" y="965449"/>
            <a:ext cx="8352928" cy="5544682"/>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spAutoFit/>
          </a:bodyPr>
          <a:lstStyle/>
          <a:p>
            <a:pPr algn="l"/>
            <a:r>
              <a:rPr lang="en-US" altLang="zh-CN" dirty="0"/>
              <a:t>   </a:t>
            </a:r>
            <a:r>
              <a:rPr lang="en-US" altLang="zh-CN" dirty="0"/>
              <a:t> </a:t>
            </a:r>
            <a:r>
              <a:rPr lang="en-US" altLang="zh-CN" dirty="0" smtClean="0"/>
              <a:t> </a:t>
            </a:r>
            <a:r>
              <a:rPr lang="en-US" altLang="zh-CN" dirty="0"/>
              <a:t>&lt;script   </a:t>
            </a:r>
            <a:r>
              <a:rPr lang="en-US" altLang="zh-CN" dirty="0" err="1"/>
              <a:t>src</a:t>
            </a:r>
            <a:r>
              <a:rPr lang="en-US" altLang="zh-CN" dirty="0"/>
              <a:t>=“../</a:t>
            </a:r>
            <a:r>
              <a:rPr lang="en-US" altLang="zh-CN" dirty="0" err="1"/>
              <a:t>js</a:t>
            </a:r>
            <a:r>
              <a:rPr lang="en-US" altLang="zh-CN" dirty="0"/>
              <a:t>/</a:t>
            </a:r>
            <a:r>
              <a:rPr lang="en-US" altLang="zh-CN" dirty="0" err="1"/>
              <a:t>Vue</a:t>
            </a:r>
            <a:r>
              <a:rPr lang="en-US" altLang="zh-CN" dirty="0"/>
              <a:t>. </a:t>
            </a:r>
            <a:r>
              <a:rPr lang="en-US" altLang="zh-CN" dirty="0" err="1"/>
              <a:t>js</a:t>
            </a:r>
            <a:r>
              <a:rPr lang="en-US" altLang="zh-CN" dirty="0"/>
              <a:t>”&gt;&lt;/script&gt;</a:t>
            </a:r>
            <a:br>
              <a:rPr lang="en-US" altLang="zh-CN" dirty="0"/>
            </a:br>
            <a:r>
              <a:rPr lang="en-US" altLang="zh-CN" dirty="0"/>
              <a:t>   </a:t>
            </a:r>
            <a:r>
              <a:rPr lang="en-US" altLang="zh-CN" dirty="0" smtClean="0"/>
              <a:t>  &lt;script</a:t>
            </a:r>
            <a:r>
              <a:rPr lang="en-US" altLang="zh-CN" dirty="0"/>
              <a:t>&gt;</a:t>
            </a:r>
            <a:br>
              <a:rPr lang="en-US" altLang="zh-CN" dirty="0"/>
            </a:br>
            <a:r>
              <a:rPr lang="en-US" altLang="zh-CN" dirty="0"/>
              <a:t>   </a:t>
            </a:r>
            <a:r>
              <a:rPr lang="en-US" altLang="zh-CN" dirty="0" smtClean="0"/>
              <a:t> </a:t>
            </a:r>
            <a:r>
              <a:rPr lang="en-US" altLang="zh-CN" dirty="0"/>
              <a:t>  </a:t>
            </a:r>
            <a:r>
              <a:rPr lang="en-US" altLang="zh-CN" dirty="0" err="1"/>
              <a:t>Vue</a:t>
            </a:r>
            <a:r>
              <a:rPr lang="en-US" altLang="zh-CN" dirty="0"/>
              <a:t> .directive( ‘ </a:t>
            </a:r>
            <a:r>
              <a:rPr lang="en-US" altLang="zh-CN" dirty="0" err="1"/>
              <a:t>imgurl</a:t>
            </a:r>
            <a:r>
              <a:rPr lang="en-US" altLang="zh-CN" dirty="0"/>
              <a:t>’, {</a:t>
            </a:r>
            <a:br>
              <a:rPr lang="en-US" altLang="zh-CN" dirty="0"/>
            </a:br>
            <a:r>
              <a:rPr lang="en-US" altLang="zh-CN" dirty="0"/>
              <a:t>   </a:t>
            </a:r>
            <a:r>
              <a:rPr lang="en-US" altLang="zh-CN" dirty="0" smtClean="0"/>
              <a:t> </a:t>
            </a:r>
            <a:r>
              <a:rPr lang="en-US" altLang="zh-CN" dirty="0"/>
              <a:t> </a:t>
            </a:r>
            <a:r>
              <a:rPr lang="en-US" altLang="zh-CN" dirty="0" smtClean="0"/>
              <a:t> </a:t>
            </a:r>
            <a:r>
              <a:rPr lang="en-US" altLang="zh-CN" dirty="0"/>
              <a:t> //el</a:t>
            </a:r>
            <a:r>
              <a:rPr lang="zh-CN" altLang="en-US" dirty="0"/>
              <a:t>指当前绑定的元素</a:t>
            </a:r>
            <a:r>
              <a:rPr lang="en-US" altLang="zh-CN" dirty="0" err="1"/>
              <a:t>img;binding</a:t>
            </a:r>
            <a:r>
              <a:rPr lang="zh-CN" altLang="en-US" dirty="0"/>
              <a:t>是一一个对象</a:t>
            </a:r>
            <a:br>
              <a:rPr lang="zh-CN" altLang="en-US" dirty="0"/>
            </a:br>
            <a:r>
              <a:rPr lang="zh-CN" altLang="en-US" dirty="0"/>
              <a:t>          </a:t>
            </a:r>
            <a:r>
              <a:rPr lang="en-US" altLang="zh-CN" dirty="0"/>
              <a:t>inserted: function (e1, binding) {</a:t>
            </a:r>
            <a:br>
              <a:rPr lang="en-US" altLang="zh-CN" dirty="0"/>
            </a:br>
            <a:r>
              <a:rPr lang="en-US" altLang="zh-CN" dirty="0"/>
              <a:t>          </a:t>
            </a:r>
            <a:r>
              <a:rPr lang="en-US" altLang="zh-CN" dirty="0" err="1"/>
              <a:t>var</a:t>
            </a:r>
            <a:r>
              <a:rPr lang="en-US" altLang="zh-CN" dirty="0"/>
              <a:t> color=Math. floor(Math. random( )*1000000);//</a:t>
            </a:r>
            <a:r>
              <a:rPr lang="zh-CN" altLang="en-US" dirty="0"/>
              <a:t>设置随机颜色</a:t>
            </a:r>
            <a:br>
              <a:rPr lang="zh-CN" altLang="en-US" dirty="0"/>
            </a:br>
            <a:r>
              <a:rPr lang="zh-CN" altLang="en-US" dirty="0"/>
              <a:t>   </a:t>
            </a:r>
            <a:r>
              <a:rPr lang="zh-CN" altLang="en-US" dirty="0" smtClean="0"/>
              <a:t>                   </a:t>
            </a:r>
            <a:r>
              <a:rPr lang="zh-CN" altLang="en-US" dirty="0"/>
              <a:t> </a:t>
            </a:r>
            <a:r>
              <a:rPr lang="en-US" altLang="zh-CN" dirty="0"/>
              <a:t>//</a:t>
            </a:r>
            <a:r>
              <a:rPr lang="zh-CN" altLang="en-US" dirty="0"/>
              <a:t>为</a:t>
            </a:r>
            <a:r>
              <a:rPr lang="en-US" altLang="zh-CN" dirty="0" err="1"/>
              <a:t>img</a:t>
            </a:r>
            <a:r>
              <a:rPr lang="zh-CN" altLang="en-US" dirty="0"/>
              <a:t>设置背景图片</a:t>
            </a:r>
            <a:br>
              <a:rPr lang="zh-CN" altLang="en-US" dirty="0"/>
            </a:br>
            <a:r>
              <a:rPr lang="zh-CN" altLang="en-US" dirty="0"/>
              <a:t>                         </a:t>
            </a:r>
            <a:r>
              <a:rPr lang="en-US" altLang="zh-CN" dirty="0" err="1"/>
              <a:t>el.style</a:t>
            </a:r>
            <a:r>
              <a:rPr lang="en-US" altLang="zh-CN" dirty="0"/>
              <a:t>.</a:t>
            </a:r>
            <a:r>
              <a:rPr lang="en-US" altLang="zh-CN" dirty="0" err="1"/>
              <a:t>backgroundColor</a:t>
            </a:r>
            <a:r>
              <a:rPr lang="en-US" altLang="zh-CN" dirty="0"/>
              <a:t>= ' #'+color;</a:t>
            </a:r>
            <a:br>
              <a:rPr lang="en-US" altLang="zh-CN" dirty="0"/>
            </a:br>
            <a:r>
              <a:rPr lang="en-US" altLang="zh-CN" dirty="0"/>
              <a:t>                           </a:t>
            </a:r>
            <a:r>
              <a:rPr lang="en-US" altLang="zh-CN" dirty="0" smtClean="0"/>
              <a:t> </a:t>
            </a:r>
            <a:r>
              <a:rPr lang="en-US" altLang="zh-CN" dirty="0" err="1" smtClean="0"/>
              <a:t>var</a:t>
            </a:r>
            <a:r>
              <a:rPr lang="en-US" altLang="zh-CN" dirty="0"/>
              <a:t>  </a:t>
            </a:r>
            <a:r>
              <a:rPr lang="en-US" altLang="zh-CN" dirty="0" err="1"/>
              <a:t>img</a:t>
            </a:r>
            <a:r>
              <a:rPr lang="en-US" altLang="zh-CN" dirty="0"/>
              <a:t>=new  Image();</a:t>
            </a:r>
            <a:br>
              <a:rPr lang="en-US" altLang="zh-CN" dirty="0"/>
            </a:br>
            <a:r>
              <a:rPr lang="en-US" altLang="zh-CN" dirty="0"/>
              <a:t>                          </a:t>
            </a:r>
            <a:r>
              <a:rPr lang="en-US" altLang="zh-CN" dirty="0" err="1"/>
              <a:t>img</a:t>
            </a:r>
            <a:r>
              <a:rPr lang="en-US" altLang="zh-CN" dirty="0"/>
              <a:t>.</a:t>
            </a:r>
            <a:r>
              <a:rPr lang="en-US" altLang="zh-CN" dirty="0" err="1"/>
              <a:t>src</a:t>
            </a:r>
            <a:r>
              <a:rPr lang="en-US" altLang="zh-CN" dirty="0"/>
              <a:t>=binding. Value;</a:t>
            </a:r>
            <a:endParaRPr lang="en-US" altLang="zh-CN" dirty="0"/>
          </a:p>
          <a:p>
            <a:pPr algn="l"/>
            <a:r>
              <a:rPr lang="en-US" altLang="zh-CN" dirty="0"/>
              <a:t> </a:t>
            </a:r>
            <a:r>
              <a:rPr lang="en-US" altLang="zh-CN" dirty="0" smtClean="0"/>
              <a:t>                        </a:t>
            </a:r>
            <a:r>
              <a:rPr lang="en-US" altLang="zh-CN" dirty="0" err="1"/>
              <a:t>img</a:t>
            </a:r>
            <a:r>
              <a:rPr lang="en-US" altLang="zh-CN" dirty="0"/>
              <a:t>.</a:t>
            </a:r>
            <a:r>
              <a:rPr lang="en-US" altLang="zh-CN" dirty="0" err="1"/>
              <a:t>onload</a:t>
            </a:r>
            <a:r>
              <a:rPr lang="en-US" altLang="zh-CN" dirty="0"/>
              <a:t>=function(){</a:t>
            </a:r>
            <a:br>
              <a:rPr lang="en-US" altLang="zh-CN" dirty="0"/>
            </a:br>
            <a:r>
              <a:rPr lang="en-US" altLang="zh-CN" dirty="0"/>
              <a:t>  </a:t>
            </a:r>
            <a:r>
              <a:rPr lang="en-US" altLang="zh-CN" dirty="0" smtClean="0"/>
              <a:t>                         </a:t>
            </a:r>
            <a:r>
              <a:rPr lang="en-US" altLang="zh-CN" dirty="0"/>
              <a:t>el.style.</a:t>
            </a:r>
            <a:r>
              <a:rPr lang="en-US" altLang="zh-CN" dirty="0" err="1"/>
              <a:t>backgroundColor</a:t>
            </a:r>
            <a:r>
              <a:rPr lang="en-US" altLang="zh-CN" dirty="0"/>
              <a:t>='  ';</a:t>
            </a:r>
            <a:br>
              <a:rPr lang="en-US" altLang="zh-CN" dirty="0"/>
            </a:br>
            <a:r>
              <a:rPr lang="en-US" altLang="zh-CN" dirty="0"/>
              <a:t>  </a:t>
            </a:r>
            <a:r>
              <a:rPr lang="en-US" altLang="zh-CN" dirty="0" smtClean="0"/>
              <a:t> </a:t>
            </a:r>
            <a:r>
              <a:rPr lang="en-US" altLang="zh-CN" dirty="0"/>
              <a:t>                          el.style.</a:t>
            </a:r>
            <a:r>
              <a:rPr lang="en-US" altLang="zh-CN" dirty="0" err="1"/>
              <a:t>backgroundImage</a:t>
            </a:r>
            <a:r>
              <a:rPr lang="en-US" altLang="zh-CN" dirty="0"/>
              <a:t>=" </a:t>
            </a:r>
            <a:r>
              <a:rPr lang="en-US" altLang="zh-CN" dirty="0" err="1"/>
              <a:t>url</a:t>
            </a:r>
            <a:r>
              <a:rPr lang="en-US" altLang="zh-CN" dirty="0"/>
              <a:t>(" +binding . value+"</a:t>
            </a:r>
            <a:r>
              <a:rPr lang="zh-CN" altLang="en-US" dirty="0"/>
              <a:t>）</a:t>
            </a:r>
            <a:r>
              <a:rPr lang="en-US" altLang="zh-CN" dirty="0"/>
              <a:t>";</a:t>
            </a:r>
            <a:br>
              <a:rPr lang="en-US" altLang="zh-CN" dirty="0"/>
            </a:br>
            <a:r>
              <a:rPr lang="en-US" altLang="zh-CN" dirty="0"/>
              <a:t>  </a:t>
            </a:r>
            <a:r>
              <a:rPr lang="en-US" altLang="zh-CN" dirty="0" smtClean="0"/>
              <a:t>  </a:t>
            </a:r>
            <a:r>
              <a:rPr lang="en-US" altLang="zh-CN" dirty="0"/>
              <a:t>                        }</a:t>
            </a:r>
            <a:endParaRPr lang="en-US" altLang="zh-CN" dirty="0"/>
          </a:p>
          <a:p>
            <a:pPr algn="l"/>
            <a:r>
              <a:rPr lang="en-US" altLang="zh-CN" dirty="0" smtClean="0"/>
              <a:t>              </a:t>
            </a:r>
            <a:r>
              <a:rPr lang="en-US" altLang="zh-CN" dirty="0"/>
              <a:t>} </a:t>
            </a:r>
            <a:endParaRPr lang="en-US" altLang="zh-CN" dirty="0"/>
          </a:p>
          <a:p>
            <a:pPr algn="l"/>
            <a:r>
              <a:rPr lang="en-US" altLang="zh-CN" dirty="0" smtClean="0"/>
              <a:t>  </a:t>
            </a:r>
            <a:r>
              <a:rPr lang="en-US" altLang="zh-CN" dirty="0"/>
              <a:t>})</a:t>
            </a:r>
            <a:br>
              <a:rPr lang="en-US" altLang="zh-CN" dirty="0"/>
            </a:br>
            <a:r>
              <a:rPr lang="en-US" altLang="zh-CN" dirty="0"/>
              <a:t>      new </a:t>
            </a:r>
            <a:r>
              <a:rPr lang="en-US" altLang="zh-CN" dirty="0" err="1"/>
              <a:t>Vue</a:t>
            </a:r>
            <a:r>
              <a:rPr lang="en-US" altLang="zh-CN" dirty="0"/>
              <a:t>({</a:t>
            </a:r>
            <a:br>
              <a:rPr lang="en-US" altLang="zh-CN" dirty="0"/>
            </a:br>
            <a:r>
              <a:rPr lang="en-US" altLang="zh-CN" dirty="0"/>
              <a:t>  </a:t>
            </a:r>
            <a:r>
              <a:rPr lang="en-US" altLang="zh-CN" dirty="0" smtClean="0"/>
              <a:t>  </a:t>
            </a:r>
            <a:r>
              <a:rPr lang="en-US" altLang="zh-CN" dirty="0"/>
              <a:t>            el: '#app',</a:t>
            </a:r>
            <a:endParaRPr lang="en-US" altLang="zh-CN" dirty="0"/>
          </a:p>
          <a:p>
            <a:pPr algn="l"/>
            <a:r>
              <a:rPr lang="en-US" altLang="zh-CN" dirty="0"/>
              <a:t>  </a:t>
            </a:r>
            <a:r>
              <a:rPr lang="en-US" altLang="zh-CN" dirty="0" smtClean="0"/>
              <a:t>              </a:t>
            </a:r>
            <a:r>
              <a:rPr lang="en-US" altLang="zh-CN" dirty="0"/>
              <a:t>data:{</a:t>
            </a:r>
            <a:endParaRPr lang="en-US" altLang="zh-CN" dirty="0"/>
          </a:p>
        </p:txBody>
      </p:sp>
      <p:sp>
        <p:nvSpPr>
          <p:cNvPr id="2" name="文本框 1"/>
          <p:cNvSpPr txBox="1"/>
          <p:nvPr/>
        </p:nvSpPr>
        <p:spPr>
          <a:xfrm>
            <a:off x="6804660" y="5554345"/>
            <a:ext cx="991870" cy="368300"/>
          </a:xfrm>
          <a:prstGeom prst="rect">
            <a:avLst/>
          </a:prstGeom>
          <a:noFill/>
        </p:spPr>
        <p:txBody>
          <a:bodyPr wrap="square" rtlCol="0">
            <a:spAutoFit/>
          </a:bodyPr>
          <a:p>
            <a:r>
              <a:rPr lang="zh-CN" altLang="en-US">
                <a:hlinkClick r:id="rId1" tooltip="" action="ppaction://hlinkfile"/>
              </a:rPr>
              <a:t>运行</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219440" y="6364605"/>
            <a:ext cx="422275" cy="275590"/>
          </a:xfrm>
          <a:prstGeom prst="rect">
            <a:avLst/>
          </a:prstGeom>
          <a:noFill/>
        </p:spPr>
        <p:txBody>
          <a:bodyPr wrap="square" rtlCol="0" anchor="t">
            <a:spAutoFit/>
          </a:body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5" name="文本框 4"/>
          <p:cNvSpPr txBox="1"/>
          <p:nvPr/>
        </p:nvSpPr>
        <p:spPr>
          <a:xfrm>
            <a:off x="774700" y="3716655"/>
            <a:ext cx="7970520" cy="2399665"/>
          </a:xfrm>
          <a:prstGeom prst="rect">
            <a:avLst/>
          </a:prstGeom>
          <a:noFill/>
        </p:spPr>
        <p:txBody>
          <a:bodyPr wrap="square" rtlCol="0" anchor="t">
            <a:spAutoFit/>
          </a:bodyPr>
          <a:lstStyle/>
          <a:p>
            <a:pPr marL="457200" indent="-457200" algn="l">
              <a:lnSpc>
                <a:spcPct val="125000"/>
              </a:lnSpc>
              <a:spcBef>
                <a:spcPts val="0"/>
              </a:spcBef>
              <a:buFont typeface="Wingdings" panose="05000000000000000000" charset="0"/>
              <a:buChar char="n"/>
            </a:pPr>
            <a:r>
              <a:rPr lang="zh-CN" altLang="en-US" sz="2800" b="0" dirty="0">
                <a:latin typeface="+mn-ea"/>
                <a:ea typeface="+mn-ea"/>
                <a:cs typeface="+mn-ea"/>
                <a:sym typeface="+mn-ea"/>
              </a:rPr>
              <a:t>运行后图片未加载完成前，用随机背景色占位如图 </a:t>
            </a:r>
            <a:r>
              <a:rPr lang="en-US" altLang="zh-CN" sz="2800" b="0" dirty="0">
                <a:latin typeface="+mn-ea"/>
                <a:ea typeface="+mn-ea"/>
                <a:cs typeface="+mn-ea"/>
                <a:sym typeface="+mn-ea"/>
              </a:rPr>
              <a:t>6-5 </a:t>
            </a:r>
            <a:r>
              <a:rPr lang="zh-CN" altLang="en-US" sz="2800" b="0" dirty="0">
                <a:latin typeface="+mn-ea"/>
                <a:ea typeface="+mn-ea"/>
                <a:cs typeface="+mn-ea"/>
                <a:sym typeface="+mn-ea"/>
              </a:rPr>
              <a:t>所示。图片加载完成后如图 </a:t>
            </a:r>
            <a:r>
              <a:rPr lang="en-US" altLang="zh-CN" sz="2800" b="0" dirty="0">
                <a:latin typeface="+mn-ea"/>
                <a:ea typeface="+mn-ea"/>
                <a:cs typeface="+mn-ea"/>
                <a:sym typeface="+mn-ea"/>
              </a:rPr>
              <a:t>6-6 </a:t>
            </a:r>
            <a:r>
              <a:rPr lang="zh-CN" altLang="en-US" sz="2800" b="0" dirty="0">
                <a:latin typeface="+mn-ea"/>
                <a:ea typeface="+mn-ea"/>
                <a:cs typeface="+mn-ea"/>
                <a:sym typeface="+mn-ea"/>
              </a:rPr>
              <a:t>所示。</a:t>
            </a:r>
            <a:r>
              <a:rPr lang="zh-CN" altLang="en-US" b="0" dirty="0">
                <a:latin typeface="Calibri" panose="020F0502020204030204" pitchFamily="34" charset="0"/>
                <a:sym typeface="+mn-ea"/>
              </a:rPr>
              <a:t> </a:t>
            </a:r>
            <a:endParaRPr lang="en-US" altLang="zh-CN" dirty="0">
              <a:latin typeface="Calibri" panose="020F0502020204030204" pitchFamily="34" charset="0"/>
              <a:sym typeface="+mn-ea"/>
            </a:endParaRPr>
          </a:p>
          <a:p>
            <a:pPr marL="342900" indent="-342900" algn="r">
              <a:lnSpc>
                <a:spcPct val="125000"/>
              </a:lnSpc>
              <a:spcBef>
                <a:spcPts val="0"/>
              </a:spcBef>
              <a:buFont typeface="Arial" panose="020B0604020202020204" pitchFamily="34" charset="0"/>
              <a:buChar char="•"/>
            </a:pPr>
            <a:endParaRPr lang="en-US" altLang="zh-CN" dirty="0">
              <a:latin typeface="Calibri" panose="020F0502020204030204" pitchFamily="34" charset="0"/>
              <a:sym typeface="+mn-ea"/>
            </a:endParaRPr>
          </a:p>
          <a:p>
            <a:pPr marL="342900" indent="-342900" algn="r">
              <a:lnSpc>
                <a:spcPct val="125000"/>
              </a:lnSpc>
              <a:spcBef>
                <a:spcPts val="0"/>
              </a:spcBef>
              <a:buFont typeface="Arial" panose="020B0604020202020204" pitchFamily="34" charset="0"/>
              <a:buAutoNum type="arabicPeriod"/>
            </a:pPr>
            <a:endParaRPr lang="zh-CN" altLang="en-US" dirty="0"/>
          </a:p>
        </p:txBody>
      </p:sp>
      <p:sp>
        <p:nvSpPr>
          <p:cNvPr id="6" name="AutoShape 3"/>
          <p:cNvSpPr/>
          <p:nvPr/>
        </p:nvSpPr>
        <p:spPr>
          <a:xfrm>
            <a:off x="774700" y="1124744"/>
            <a:ext cx="7655877" cy="2388973"/>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spAutoFit/>
          </a:bodyPr>
          <a:lstStyle/>
          <a:p>
            <a:pPr algn="l"/>
            <a:endParaRPr lang="en-US" altLang="zh-CN" dirty="0"/>
          </a:p>
          <a:p>
            <a:pPr marL="457200" lvl="1" indent="457200" algn="l"/>
            <a:r>
              <a:rPr lang="en-US" altLang="zh-CN" dirty="0"/>
              <a:t>url1: "1.jpg",</a:t>
            </a:r>
            <a:endParaRPr lang="en-US" altLang="zh-CN" dirty="0"/>
          </a:p>
          <a:p>
            <a:pPr algn="l"/>
            <a:r>
              <a:rPr lang="en-US" altLang="zh-CN" dirty="0"/>
              <a:t>	url2: "2.jpg" </a:t>
            </a:r>
            <a:endParaRPr lang="en-US" altLang="zh-CN" dirty="0"/>
          </a:p>
          <a:p>
            <a:pPr algn="l"/>
            <a:r>
              <a:rPr lang="en-US" altLang="zh-CN" dirty="0"/>
              <a:t>          } </a:t>
            </a:r>
            <a:endParaRPr lang="en-US" altLang="zh-CN" dirty="0"/>
          </a:p>
          <a:p>
            <a:pPr algn="l"/>
            <a:r>
              <a:rPr lang="en-US" altLang="zh-CN" dirty="0"/>
              <a:t>     ))</a:t>
            </a:r>
            <a:br>
              <a:rPr lang="en-US" altLang="zh-CN" dirty="0"/>
            </a:br>
            <a:r>
              <a:rPr lang="en-US" altLang="zh-CN" dirty="0"/>
              <a:t>     &lt;/script&gt;</a:t>
            </a:r>
            <a:endParaRPr lang="en-US" altLang="zh-CN" dirty="0"/>
          </a:p>
          <a:p>
            <a:pPr algn="l"/>
            <a:r>
              <a:rPr lang="en-US" altLang="zh-CN" dirty="0"/>
              <a:t>     &lt;/body&gt;</a:t>
            </a:r>
            <a:endParaRPr lang="en-US" altLang="zh-CN" dirty="0"/>
          </a:p>
          <a:p>
            <a:pPr algn="l"/>
            <a:r>
              <a:rPr lang="en-US" altLang="zh-CN" dirty="0"/>
              <a:t>     &lt;/html&gt;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p:cNvSpPr>
          <p:nvPr>
            <p:ph type="title"/>
          </p:nvPr>
        </p:nvSpPr>
        <p:spPr>
          <a:xfrm>
            <a:off x="3759518" y="423545"/>
            <a:ext cx="5043487" cy="654050"/>
          </a:xfrm>
        </p:spPr>
        <p:txBody>
          <a:bodyPr vert="horz" wrap="square" lIns="91440" tIns="45720" rIns="91440" bIns="45720" anchor="ctr"/>
          <a:lstStyle/>
          <a:p>
            <a:r>
              <a:rPr lang="en-US" altLang="zh-CN" dirty="0">
                <a:sym typeface="+mn-ea"/>
              </a:rPr>
              <a:t>6.2.2  </a:t>
            </a:r>
            <a:r>
              <a:rPr lang="zh-CN" altLang="en-US" dirty="0">
                <a:sym typeface="+mn-ea"/>
              </a:rPr>
              <a:t>函数简写</a:t>
            </a:r>
            <a:endParaRPr dirty="0">
              <a:sym typeface="+mn-ea"/>
            </a:endParaRPr>
          </a:p>
        </p:txBody>
      </p:sp>
      <p:sp>
        <p:nvSpPr>
          <p:cNvPr id="7172" name="Rectangle 3"/>
          <p:cNvSpPr>
            <a:spLocks noGrp="1"/>
          </p:cNvSpPr>
          <p:nvPr>
            <p:ph idx="1"/>
          </p:nvPr>
        </p:nvSpPr>
        <p:spPr>
          <a:xfrm>
            <a:off x="492760" y="1261110"/>
            <a:ext cx="8381365" cy="8481060"/>
          </a:xfrm>
        </p:spPr>
        <p:txBody>
          <a:bodyPr vert="horz" wrap="square" lIns="91440" tIns="45720" rIns="91440" bIns="45720" anchor="t"/>
          <a:lstStyle/>
          <a:p>
            <a:pPr>
              <a:lnSpc>
                <a:spcPct val="125000"/>
              </a:lnSpc>
              <a:spcBef>
                <a:spcPts val="0"/>
              </a:spcBef>
            </a:pPr>
            <a:r>
              <a:rPr lang="zh-CN" altLang="en-US" sz="2800" dirty="0">
                <a:latin typeface="Calibri" panose="020F0502020204030204" pitchFamily="34" charset="0"/>
                <a:sym typeface="+mn-ea"/>
              </a:rPr>
              <a:t>在学习的钩子函数中，几乎都会存在</a:t>
            </a:r>
            <a:r>
              <a:rPr lang="en-US" altLang="zh-CN" sz="2800" dirty="0">
                <a:latin typeface="Calibri" panose="020F0502020204030204" pitchFamily="34" charset="0"/>
                <a:sym typeface="+mn-ea"/>
              </a:rPr>
              <a:t>el</a:t>
            </a:r>
            <a:r>
              <a:rPr lang="zh-CN" altLang="en-US" sz="2800" dirty="0">
                <a:latin typeface="Calibri" panose="020F0502020204030204" pitchFamily="34" charset="0"/>
                <a:sym typeface="+mn-ea"/>
              </a:rPr>
              <a:t>，</a:t>
            </a:r>
            <a:r>
              <a:rPr lang="en-US" altLang="zh-CN" sz="2800" dirty="0">
                <a:latin typeface="Calibri" panose="020F0502020204030204" pitchFamily="34" charset="0"/>
                <a:sym typeface="+mn-ea"/>
              </a:rPr>
              <a:t>binding </a:t>
            </a:r>
            <a:r>
              <a:rPr lang="zh-CN" altLang="en-US" sz="2800" dirty="0">
                <a:latin typeface="Calibri" panose="020F0502020204030204" pitchFamily="34" charset="0"/>
                <a:sym typeface="+mn-ea"/>
              </a:rPr>
              <a:t>这两个函数。当不需要其他钩子函数时，可以简写函数。</a:t>
            </a:r>
            <a:endParaRPr lang="en-US" altLang="zh-CN" sz="2800" dirty="0">
              <a:latin typeface="Calibri" panose="020F0502020204030204" pitchFamily="34" charset="0"/>
              <a:sym typeface="+mn-ea"/>
            </a:endParaRPr>
          </a:p>
          <a:p>
            <a:pPr>
              <a:lnSpc>
                <a:spcPct val="125000"/>
              </a:lnSpc>
              <a:spcBef>
                <a:spcPts val="0"/>
              </a:spcBef>
            </a:pPr>
            <a:endParaRPr dirty="0">
              <a:latin typeface="Calibri" panose="020F0502020204030204" pitchFamily="34" charset="0"/>
              <a:sym typeface="+mn-ea"/>
            </a:endParaRPr>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7" name="AutoShape 3"/>
          <p:cNvSpPr/>
          <p:nvPr/>
        </p:nvSpPr>
        <p:spPr>
          <a:xfrm>
            <a:off x="827584" y="3284984"/>
            <a:ext cx="7655877" cy="2090261"/>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spAutoFit/>
          </a:bodyPr>
          <a:lstStyle/>
          <a:p>
            <a:pPr algn="l"/>
            <a:r>
              <a:rPr lang="en-US" altLang="zh-CN" dirty="0"/>
              <a:t>     </a:t>
            </a:r>
            <a:endParaRPr lang="en-US" altLang="zh-CN" dirty="0"/>
          </a:p>
          <a:p>
            <a:pPr algn="l"/>
            <a:r>
              <a:rPr lang="en-US" altLang="zh-CN" dirty="0" err="1"/>
              <a:t>Vue</a:t>
            </a:r>
            <a:r>
              <a:rPr lang="en-US" altLang="zh-CN" dirty="0"/>
              <a:t>. directive( ‘ </a:t>
            </a:r>
            <a:r>
              <a:rPr lang="en-US" altLang="zh-CN" dirty="0" err="1"/>
              <a:t>runoob</a:t>
            </a:r>
            <a:r>
              <a:rPr lang="en-US" altLang="zh-CN" dirty="0"/>
              <a:t>’</a:t>
            </a:r>
            <a:r>
              <a:rPr lang="zh-CN" altLang="en-US" dirty="0"/>
              <a:t>，</a:t>
            </a:r>
            <a:r>
              <a:rPr lang="en-US" altLang="zh-CN" dirty="0"/>
              <a:t>function (el, binding) {</a:t>
            </a:r>
            <a:br>
              <a:rPr lang="en-US" altLang="zh-CN" dirty="0"/>
            </a:br>
            <a:r>
              <a:rPr lang="en-US" altLang="zh-CN" dirty="0"/>
              <a:t>              //</a:t>
            </a:r>
            <a:r>
              <a:rPr lang="zh-CN" altLang="en-US" dirty="0"/>
              <a:t>设置指令的背景颜色</a:t>
            </a:r>
            <a:br>
              <a:rPr lang="zh-CN" altLang="en-US" dirty="0"/>
            </a:br>
            <a:r>
              <a:rPr lang="zh-CN" altLang="en-US" dirty="0"/>
              <a:t>              </a:t>
            </a:r>
            <a:r>
              <a:rPr lang="en-US" altLang="zh-CN" dirty="0"/>
              <a:t>el. style. </a:t>
            </a:r>
            <a:r>
              <a:rPr lang="en-US" altLang="zh-CN" dirty="0" err="1"/>
              <a:t>backgroundColor</a:t>
            </a:r>
            <a:r>
              <a:rPr lang="en-US" altLang="zh-CN" dirty="0"/>
              <a:t> = binding . value. color</a:t>
            </a:r>
            <a:br>
              <a:rPr lang="en-US" altLang="zh-CN" dirty="0"/>
            </a:br>
            <a:br>
              <a:rPr lang="en-US" altLang="zh-CN" dirty="0"/>
            </a:br>
            <a:r>
              <a:rPr lang="en-US" altLang="zh-CN" dirty="0"/>
              <a:t>     })</a:t>
            </a:r>
            <a:br>
              <a:rPr lang="en-US" altLang="zh-CN" dirty="0"/>
            </a:b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fade">
                                      <p:cBhvr>
                                        <p:cTn id="7" dur="500"/>
                                        <p:tgtEl>
                                          <p:spTgt spid="71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p:cNvSpPr>
          <p:nvPr>
            <p:ph type="title"/>
          </p:nvPr>
        </p:nvSpPr>
        <p:spPr>
          <a:xfrm>
            <a:off x="3223895" y="443230"/>
            <a:ext cx="5765165" cy="654050"/>
          </a:xfrm>
        </p:spPr>
        <p:txBody>
          <a:bodyPr vert="horz" wrap="square" lIns="91440" tIns="45720" rIns="91440" bIns="45720" anchor="ctr"/>
          <a:lstStyle/>
          <a:p>
            <a:r>
              <a:rPr lang="en-US" altLang="zh-CN" dirty="0">
                <a:sym typeface="+mn-ea"/>
              </a:rPr>
              <a:t>6.3  </a:t>
            </a:r>
            <a:r>
              <a:rPr lang="zh-CN" altLang="en-US" dirty="0">
                <a:sym typeface="+mn-ea"/>
              </a:rPr>
              <a:t>对象字面量 </a:t>
            </a:r>
            <a:endParaRPr dirty="0">
              <a:sym typeface="+mn-ea"/>
            </a:endParaRPr>
          </a:p>
        </p:txBody>
      </p:sp>
      <p:sp>
        <p:nvSpPr>
          <p:cNvPr id="7172" name="Rectangle 3"/>
          <p:cNvSpPr>
            <a:spLocks noGrp="1"/>
          </p:cNvSpPr>
          <p:nvPr>
            <p:ph idx="1"/>
          </p:nvPr>
        </p:nvSpPr>
        <p:spPr>
          <a:xfrm>
            <a:off x="492760" y="1261110"/>
            <a:ext cx="8381365" cy="8481060"/>
          </a:xfrm>
        </p:spPr>
        <p:txBody>
          <a:bodyPr vert="horz" wrap="square" lIns="91440" tIns="45720" rIns="91440" bIns="45720" anchor="t"/>
          <a:lstStyle/>
          <a:p>
            <a:pPr>
              <a:lnSpc>
                <a:spcPct val="125000"/>
              </a:lnSpc>
              <a:spcBef>
                <a:spcPts val="0"/>
              </a:spcBef>
            </a:pPr>
            <a:r>
              <a:rPr lang="zh-CN" altLang="en-US" sz="2800" dirty="0" err="1">
                <a:latin typeface="Calibri" panose="020F0502020204030204" pitchFamily="34" charset="0"/>
                <a:sym typeface="+mn-ea"/>
              </a:rPr>
              <a:t>如果指令需要多个值，可以传递一个</a:t>
            </a:r>
            <a:r>
              <a:rPr lang="en-US" altLang="zh-CN" sz="2800" dirty="0" err="1">
                <a:latin typeface="Calibri" panose="020F0502020204030204" pitchFamily="34" charset="0"/>
                <a:sym typeface="+mn-ea"/>
              </a:rPr>
              <a:t>JS</a:t>
            </a:r>
            <a:r>
              <a:rPr lang="zh-CN" altLang="en-US" sz="2800" dirty="0" err="1">
                <a:latin typeface="Calibri" panose="020F0502020204030204" pitchFamily="34" charset="0"/>
                <a:sym typeface="+mn-ea"/>
              </a:rPr>
              <a:t>对象字面量</a:t>
            </a:r>
            <a:endParaRPr lang="en-US" altLang="zh-CN" sz="2800" dirty="0" err="1">
              <a:latin typeface="Calibri" panose="020F0502020204030204" pitchFamily="34" charset="0"/>
              <a:sym typeface="+mn-ea"/>
            </a:endParaRPr>
          </a:p>
          <a:p>
            <a:pPr>
              <a:lnSpc>
                <a:spcPct val="125000"/>
              </a:lnSpc>
              <a:spcBef>
                <a:spcPts val="0"/>
              </a:spcBef>
            </a:pPr>
            <a:r>
              <a:rPr lang="en-US" altLang="zh-CN" sz="2800" dirty="0">
                <a:latin typeface="Calibri" panose="020F0502020204030204" pitchFamily="34" charset="0"/>
                <a:sym typeface="+mn-ea"/>
              </a:rPr>
              <a:t>JS</a:t>
            </a:r>
            <a:r>
              <a:rPr lang="zh-CN" altLang="en-US" sz="2800" dirty="0">
                <a:latin typeface="Calibri" panose="020F0502020204030204" pitchFamily="34" charset="0"/>
                <a:sym typeface="+mn-ea"/>
              </a:rPr>
              <a:t>对象字面量，又称为映射，是键值对的集合。它的语法是用一对大括号包着用逗号分隔的键值对，其中键和值分别用单引号括起来，键和值之间用冒号分隔。</a:t>
            </a:r>
            <a:endParaRPr lang="en-US" altLang="zh-CN" sz="2800" dirty="0">
              <a:latin typeface="Calibri" panose="020F0502020204030204" pitchFamily="34" charset="0"/>
              <a:sym typeface="+mn-ea"/>
            </a:endParaRPr>
          </a:p>
          <a:p>
            <a:pPr>
              <a:lnSpc>
                <a:spcPct val="125000"/>
              </a:lnSpc>
              <a:spcBef>
                <a:spcPts val="0"/>
              </a:spcBef>
            </a:pPr>
            <a:r>
              <a:rPr lang="zh-CN" altLang="en-US" sz="2800" dirty="0">
                <a:latin typeface="Calibri" panose="020F0502020204030204" pitchFamily="34" charset="0"/>
                <a:sym typeface="+mn-ea"/>
              </a:rPr>
              <a:t>在编程语言中，字面量是一种表示值的记法。</a:t>
            </a:r>
            <a:r>
              <a:rPr lang="en-US" altLang="zh-CN" sz="2800" dirty="0">
                <a:latin typeface="Calibri" panose="020F0502020204030204" pitchFamily="34" charset="0"/>
                <a:sym typeface="+mn-ea"/>
              </a:rPr>
              <a:t>JavaScript </a:t>
            </a:r>
            <a:r>
              <a:rPr lang="zh-CN" altLang="en-US" sz="2800" dirty="0">
                <a:latin typeface="Calibri" panose="020F0502020204030204" pitchFamily="34" charset="0"/>
                <a:sym typeface="+mn-ea"/>
              </a:rPr>
              <a:t>还支持对象和数组字面量，允许使用一种简洁而可读的记法来创建数组和对象</a:t>
            </a:r>
            <a:endParaRPr lang="en-US" altLang="zh-CN" sz="2800"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fade">
                                      <p:cBhvr>
                                        <p:cTn id="7" dur="500"/>
                                        <p:tgtEl>
                                          <p:spTgt spid="71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2">
                                            <p:txEl>
                                              <p:pRg st="1" end="1"/>
                                            </p:txEl>
                                          </p:spTgt>
                                        </p:tgtEl>
                                        <p:attrNameLst>
                                          <p:attrName>style.visibility</p:attrName>
                                        </p:attrNameLst>
                                      </p:cBhvr>
                                      <p:to>
                                        <p:strVal val="visible"/>
                                      </p:to>
                                    </p:set>
                                    <p:animEffect transition="in" filter="fade">
                                      <p:cBhvr>
                                        <p:cTn id="12" dur="500"/>
                                        <p:tgtEl>
                                          <p:spTgt spid="71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172">
                                            <p:txEl>
                                              <p:pRg st="2" end="2"/>
                                            </p:txEl>
                                          </p:spTgt>
                                        </p:tgtEl>
                                        <p:attrNameLst>
                                          <p:attrName>style.visibility</p:attrName>
                                        </p:attrNameLst>
                                      </p:cBhvr>
                                      <p:to>
                                        <p:strVal val="visible"/>
                                      </p:to>
                                    </p:set>
                                    <p:animEffect transition="in" filter="fade">
                                      <p:cBhvr>
                                        <p:cTn id="17" dur="500"/>
                                        <p:tgtEl>
                                          <p:spTgt spid="71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
        <p:nvSpPr>
          <p:cNvPr id="5" name="AutoShape 3"/>
          <p:cNvSpPr/>
          <p:nvPr/>
        </p:nvSpPr>
        <p:spPr>
          <a:xfrm>
            <a:off x="457200" y="925751"/>
            <a:ext cx="8352928" cy="5510689"/>
          </a:xfrm>
          <a:prstGeom prst="roundRect">
            <a:avLst>
              <a:gd name="adj" fmla="val 5861"/>
            </a:avLst>
          </a:prstGeom>
          <a:gradFill rotWithShape="1">
            <a:gsLst>
              <a:gs pos="0">
                <a:srgbClr val="CCFFFF"/>
              </a:gs>
              <a:gs pos="100000">
                <a:srgbClr val="FFFFFF"/>
              </a:gs>
            </a:gsLst>
            <a:lin ang="5400000" scaled="1"/>
            <a:tileRect/>
          </a:gradFill>
          <a:ln w="9525" cap="flat" cmpd="sng">
            <a:solidFill>
              <a:srgbClr val="008080"/>
            </a:solidFill>
            <a:prstDash val="solid"/>
            <a:round/>
            <a:headEnd type="none" w="med" len="med"/>
            <a:tailEnd type="none" w="med" len="med"/>
          </a:ln>
        </p:spPr>
        <p:txBody>
          <a:bodyPr wrap="square" anchor="t">
            <a:spAutoFit/>
          </a:bodyPr>
          <a:lstStyle/>
          <a:p>
            <a:pPr algn="l"/>
            <a:r>
              <a:rPr lang="en-US" altLang="zh-CN" dirty="0"/>
              <a:t>&lt;!DOCTYPE html &gt;</a:t>
            </a:r>
            <a:br>
              <a:rPr lang="en-US" altLang="zh-CN" dirty="0"/>
            </a:br>
            <a:r>
              <a:rPr lang="en-US" altLang="zh-CN" dirty="0"/>
              <a:t>   &lt;html&gt;</a:t>
            </a:r>
            <a:br>
              <a:rPr lang="en-US" altLang="zh-CN" dirty="0"/>
            </a:br>
            <a:r>
              <a:rPr lang="en-US" altLang="zh-CN" dirty="0"/>
              <a:t>      &lt;head </a:t>
            </a:r>
            <a:r>
              <a:rPr lang="en-US" altLang="zh-CN" dirty="0" err="1"/>
              <a:t>lang</a:t>
            </a:r>
            <a:r>
              <a:rPr lang="en-US" altLang="zh-CN" dirty="0"/>
              <a:t>="</a:t>
            </a:r>
            <a:r>
              <a:rPr lang="en-US" altLang="zh-CN" dirty="0" err="1"/>
              <a:t>en</a:t>
            </a:r>
            <a:r>
              <a:rPr lang="en-US" altLang="zh-CN" dirty="0"/>
              <a:t>"&gt;&lt;meta charset: ="UTF-8"&gt;</a:t>
            </a:r>
            <a:br>
              <a:rPr lang="en-US" altLang="zh-CN" dirty="0"/>
            </a:br>
            <a:r>
              <a:rPr lang="en-US" altLang="zh-CN" dirty="0"/>
              <a:t>      &lt;script </a:t>
            </a:r>
            <a:r>
              <a:rPr lang="en-US" altLang="zh-CN" dirty="0" err="1"/>
              <a:t>src</a:t>
            </a:r>
            <a:r>
              <a:rPr lang="en-US" altLang="zh-CN" dirty="0"/>
              <a:t>=". ./</a:t>
            </a:r>
            <a:r>
              <a:rPr lang="en-US" altLang="zh-CN" dirty="0" err="1"/>
              <a:t>js</a:t>
            </a:r>
            <a:r>
              <a:rPr lang="en-US" altLang="zh-CN" dirty="0"/>
              <a:t>/Vue.js"&gt;&lt;/script&gt;</a:t>
            </a:r>
            <a:endParaRPr lang="en-US" altLang="zh-CN" dirty="0"/>
          </a:p>
          <a:p>
            <a:pPr algn="l"/>
            <a:r>
              <a:rPr lang="en-US" altLang="zh-CN" dirty="0"/>
              <a:t>      &lt;/head&gt;</a:t>
            </a:r>
            <a:endParaRPr lang="en-US" altLang="zh-CN" dirty="0"/>
          </a:p>
          <a:p>
            <a:pPr algn="l"/>
            <a:r>
              <a:rPr lang="en-US" altLang="zh-CN" dirty="0"/>
              <a:t>      &lt;body&gt;</a:t>
            </a:r>
            <a:br>
              <a:rPr lang="en-US" altLang="zh-CN" dirty="0"/>
            </a:br>
            <a:r>
              <a:rPr lang="en-US" altLang="zh-CN" dirty="0"/>
              <a:t>          &lt;div id="hook -arguments - example" v-demo-directive=</a:t>
            </a:r>
            <a:r>
              <a:rPr lang="en-US" altLang="zh-CN" dirty="0">
                <a:solidFill>
                  <a:srgbClr val="FF0000"/>
                </a:solidFill>
              </a:rPr>
              <a:t>(color: 'white', text: ' hello!' )</a:t>
            </a:r>
            <a:r>
              <a:rPr lang="en-US" altLang="zh-CN" dirty="0"/>
              <a:t>"&gt;</a:t>
            </a:r>
            <a:endParaRPr lang="en-US" altLang="zh-CN" dirty="0"/>
          </a:p>
          <a:p>
            <a:pPr algn="l"/>
            <a:r>
              <a:rPr lang="en-US" altLang="zh-CN" dirty="0"/>
              <a:t>&lt;/</a:t>
            </a:r>
            <a:r>
              <a:rPr lang="en-US" altLang="zh-CN" dirty="0" err="1"/>
              <a:t>d¡v</a:t>
            </a:r>
            <a:r>
              <a:rPr lang="en-US" altLang="zh-CN" dirty="0"/>
              <a:t>&gt;</a:t>
            </a:r>
            <a:endParaRPr lang="en-US" altLang="zh-CN" dirty="0"/>
          </a:p>
          <a:p>
            <a:pPr algn="l"/>
            <a:r>
              <a:rPr lang="en-US" altLang="zh-CN" dirty="0"/>
              <a:t>          &lt;script&gt;</a:t>
            </a:r>
            <a:br>
              <a:rPr lang="en-US" altLang="zh-CN" dirty="0"/>
            </a:br>
            <a:r>
              <a:rPr lang="en-US" altLang="zh-CN" dirty="0"/>
              <a:t>            Vue. directive( ' </a:t>
            </a:r>
            <a:r>
              <a:rPr lang="en-US" altLang="zh-CN" dirty="0" err="1"/>
              <a:t>demoDirective</a:t>
            </a:r>
            <a:r>
              <a:rPr lang="en-US" altLang="zh-CN" dirty="0"/>
              <a:t>', function(el, </a:t>
            </a:r>
            <a:r>
              <a:rPr lang="en-US" altLang="zh-CN" dirty="0">
                <a:solidFill>
                  <a:srgbClr val="FF0000"/>
                </a:solidFill>
              </a:rPr>
              <a:t>binding</a:t>
            </a:r>
            <a:r>
              <a:rPr lang="en-US" altLang="zh-CN" dirty="0"/>
              <a:t>, </a:t>
            </a:r>
            <a:r>
              <a:rPr lang="en-US" altLang="zh-CN" dirty="0" err="1"/>
              <a:t>vnode</a:t>
            </a:r>
            <a:r>
              <a:rPr lang="en-US" altLang="zh-CN" dirty="0"/>
              <a:t>)(</a:t>
            </a:r>
            <a:br>
              <a:rPr lang="en-US" altLang="zh-CN" dirty="0"/>
            </a:br>
            <a:r>
              <a:rPr lang="en-US" altLang="zh-CN" dirty="0"/>
              <a:t>               console. log(</a:t>
            </a:r>
            <a:r>
              <a:rPr lang="en-US" altLang="zh-CN" dirty="0">
                <a:solidFill>
                  <a:srgbClr val="FF0000"/>
                </a:solidFill>
              </a:rPr>
              <a:t>binding. value</a:t>
            </a:r>
            <a:r>
              <a:rPr lang="en-US" altLang="zh-CN" dirty="0"/>
              <a:t> . color);</a:t>
            </a:r>
            <a:endParaRPr lang="en-US" altLang="zh-CN" dirty="0"/>
          </a:p>
          <a:p>
            <a:pPr algn="l"/>
            <a:r>
              <a:rPr lang="en-US" altLang="zh-CN" dirty="0"/>
              <a:t>               console. log(binding. value . text);</a:t>
            </a:r>
            <a:br>
              <a:rPr lang="en-US" altLang="zh-CN" dirty="0"/>
            </a:br>
            <a:r>
              <a:rPr lang="en-US" altLang="zh-CN" dirty="0"/>
              <a:t>      });</a:t>
            </a:r>
            <a:br>
              <a:rPr lang="en-US" altLang="zh-CN" dirty="0"/>
            </a:br>
            <a:r>
              <a:rPr lang="en-US" altLang="zh-CN" dirty="0"/>
              <a:t>           var demo = new Vue({</a:t>
            </a:r>
            <a:br>
              <a:rPr lang="en-US" altLang="zh-CN" dirty="0"/>
            </a:br>
            <a:r>
              <a:rPr lang="en-US" altLang="zh-CN" dirty="0"/>
              <a:t>                 el: ' #hook-arguments -example ’ })</a:t>
            </a:r>
            <a:br>
              <a:rPr lang="en-US" altLang="zh-CN" dirty="0"/>
            </a:br>
            <a:r>
              <a:rPr lang="en-US" altLang="zh-CN" dirty="0"/>
              <a:t>          &lt;/script&gt;</a:t>
            </a:r>
            <a:endParaRPr lang="en-US" altLang="zh-CN" dirty="0"/>
          </a:p>
          <a:p>
            <a:pPr algn="l"/>
            <a:r>
              <a:rPr lang="en-US" altLang="zh-CN" dirty="0"/>
              <a:t>      &lt;/body&gt;</a:t>
            </a:r>
            <a:endParaRPr lang="en-US" altLang="zh-CN" dirty="0"/>
          </a:p>
          <a:p>
            <a:pPr algn="l"/>
            <a:r>
              <a:rPr lang="en-US" altLang="zh-CN" dirty="0"/>
              <a:t>  &lt;/html&gt;</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p:cNvSpPr>
          <p:nvPr>
            <p:ph idx="1"/>
          </p:nvPr>
        </p:nvSpPr>
        <p:spPr>
          <a:xfrm>
            <a:off x="492760" y="1417955"/>
            <a:ext cx="8381365" cy="8481060"/>
          </a:xfrm>
        </p:spPr>
        <p:txBody>
          <a:bodyPr vert="horz" wrap="square" lIns="91440" tIns="45720" rIns="91440" bIns="45720" anchor="t"/>
          <a:lstStyle/>
          <a:p>
            <a:pPr>
              <a:lnSpc>
                <a:spcPct val="125000"/>
              </a:lnSpc>
              <a:spcBef>
                <a:spcPts val="0"/>
              </a:spcBef>
            </a:pPr>
            <a:r>
              <a:rPr lang="en-US" sz="2800" dirty="0">
                <a:latin typeface="Calibri" panose="020F0502020204030204" pitchFamily="34" charset="0"/>
                <a:sym typeface="+mn-ea"/>
              </a:rPr>
              <a:t>binding </a:t>
            </a:r>
            <a:r>
              <a:rPr lang="zh-CN" altLang="en-US" sz="2800" dirty="0">
                <a:latin typeface="Calibri" panose="020F0502020204030204" pitchFamily="34" charset="0"/>
                <a:sym typeface="+mn-ea"/>
              </a:rPr>
              <a:t>是一个对象，</a:t>
            </a:r>
            <a:r>
              <a:rPr lang="en-US" sz="2800" dirty="0" err="1">
                <a:latin typeface="Calibri" panose="020F0502020204030204" pitchFamily="34" charset="0"/>
                <a:sym typeface="+mn-ea"/>
              </a:rPr>
              <a:t>binding.value</a:t>
            </a:r>
            <a:r>
              <a:rPr lang="en-US" sz="2800" dirty="0">
                <a:latin typeface="Calibri" panose="020F0502020204030204" pitchFamily="34" charset="0"/>
                <a:sym typeface="+mn-ea"/>
              </a:rPr>
              <a:t> </a:t>
            </a:r>
            <a:r>
              <a:rPr lang="zh-CN" altLang="en-US" sz="2800" dirty="0">
                <a:latin typeface="Calibri" panose="020F0502020204030204" pitchFamily="34" charset="0"/>
                <a:sym typeface="+mn-ea"/>
              </a:rPr>
              <a:t>是对象子面量</a:t>
            </a:r>
            <a:r>
              <a:rPr lang="en-US" altLang="zh-CN" sz="2800" dirty="0">
                <a:latin typeface="Calibri" panose="020F0502020204030204" pitchFamily="34" charset="0"/>
                <a:sym typeface="+mn-ea"/>
              </a:rPr>
              <a:t>{ </a:t>
            </a:r>
            <a:r>
              <a:rPr lang="en-US" sz="2800" dirty="0">
                <a:latin typeface="Calibri" panose="020F0502020204030204" pitchFamily="34" charset="0"/>
                <a:sym typeface="+mn-ea"/>
              </a:rPr>
              <a:t>color: 'white', text: 'hello!' }，</a:t>
            </a:r>
            <a:r>
              <a:rPr lang="zh-CN" altLang="en-US" sz="2800" dirty="0">
                <a:latin typeface="Calibri" panose="020F0502020204030204" pitchFamily="34" charset="0"/>
                <a:sym typeface="+mn-ea"/>
              </a:rPr>
              <a:t>代码运行后</a:t>
            </a:r>
            <a:r>
              <a:rPr lang="en-US" sz="2800" dirty="0" err="1">
                <a:latin typeface="Calibri" panose="020F0502020204030204" pitchFamily="34" charset="0"/>
                <a:sym typeface="+mn-ea"/>
              </a:rPr>
              <a:t>binding.value.color</a:t>
            </a:r>
            <a:r>
              <a:rPr lang="en-US" sz="2800" dirty="0">
                <a:latin typeface="Calibri" panose="020F0502020204030204" pitchFamily="34" charset="0"/>
                <a:sym typeface="+mn-ea"/>
              </a:rPr>
              <a:t> </a:t>
            </a:r>
            <a:r>
              <a:rPr lang="zh-CN" altLang="en-US" sz="2800" dirty="0">
                <a:latin typeface="Calibri" panose="020F0502020204030204" pitchFamily="34" charset="0"/>
                <a:sym typeface="+mn-ea"/>
              </a:rPr>
              <a:t>获取</a:t>
            </a:r>
            <a:r>
              <a:rPr lang="en-US" sz="2800" dirty="0" err="1">
                <a:latin typeface="Calibri" panose="020F0502020204030204" pitchFamily="34" charset="0"/>
                <a:sym typeface="+mn-ea"/>
              </a:rPr>
              <a:t>white，binding.value.text</a:t>
            </a:r>
            <a:r>
              <a:rPr lang="en-US" sz="2800" dirty="0">
                <a:latin typeface="Calibri" panose="020F0502020204030204" pitchFamily="34" charset="0"/>
                <a:sym typeface="+mn-ea"/>
              </a:rPr>
              <a:t> </a:t>
            </a:r>
            <a:r>
              <a:rPr lang="zh-CN" altLang="en-US" sz="2800" dirty="0">
                <a:latin typeface="Calibri" panose="020F0502020204030204" pitchFamily="34" charset="0"/>
                <a:sym typeface="+mn-ea"/>
              </a:rPr>
              <a:t>获取</a:t>
            </a:r>
            <a:r>
              <a:rPr lang="en-US" sz="2800" dirty="0">
                <a:latin typeface="Calibri" panose="020F0502020204030204" pitchFamily="34" charset="0"/>
                <a:sym typeface="+mn-ea"/>
              </a:rPr>
              <a:t>hello! </a:t>
            </a:r>
            <a:endParaRPr sz="2800" dirty="0">
              <a:latin typeface="Calibri" panose="020F0502020204030204" pitchFamily="34" charset="0"/>
              <a:sym typeface="+mn-ea"/>
            </a:endParaRPr>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Effect transition="in" filter="fade">
                                      <p:cBhvr>
                                        <p:cTn id="7" dur="500"/>
                                        <p:tgtEl>
                                          <p:spTgt spid="717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p:txBody>
          <a:bodyPr vert="horz" wrap="square" lIns="91440" tIns="45720" rIns="91440" bIns="45720" anchor="ctr"/>
          <a:lstStyle/>
          <a:p>
            <a:r>
              <a:rPr dirty="0"/>
              <a:t>本章小结</a:t>
            </a:r>
            <a:endParaRPr lang="en-US" altLang="zh-CN" dirty="0"/>
          </a:p>
        </p:txBody>
      </p:sp>
      <p:sp>
        <p:nvSpPr>
          <p:cNvPr id="22531" name="Rectangle 3"/>
          <p:cNvSpPr>
            <a:spLocks noGrp="1"/>
          </p:cNvSpPr>
          <p:nvPr>
            <p:ph idx="1"/>
          </p:nvPr>
        </p:nvSpPr>
        <p:spPr>
          <a:xfrm>
            <a:off x="611188" y="1412875"/>
            <a:ext cx="8229600" cy="4321175"/>
          </a:xfrm>
        </p:spPr>
        <p:txBody>
          <a:bodyPr vert="horz" wrap="square" lIns="91440" tIns="45720" rIns="91440" bIns="45720" anchor="t"/>
          <a:lstStyle/>
          <a:p>
            <a:r>
              <a:rPr lang="zh-CN" altLang="en-US" sz="2800" dirty="0"/>
              <a:t>本章主要讲了什么是自定义指令，注册全局自定义指令和局部自定义指令。自定义指令中用到的钩子函数 </a:t>
            </a:r>
            <a:r>
              <a:rPr lang="en-US" altLang="zh-CN" sz="2800" dirty="0"/>
              <a:t>bind</a:t>
            </a:r>
            <a:r>
              <a:rPr lang="zh-CN" altLang="en-US" sz="2800" dirty="0"/>
              <a:t>、</a:t>
            </a:r>
            <a:r>
              <a:rPr lang="en-US" altLang="zh-CN" sz="2800" dirty="0"/>
              <a:t>inserted</a:t>
            </a:r>
            <a:r>
              <a:rPr lang="zh-CN" altLang="en-US" sz="2800" dirty="0"/>
              <a:t>、</a:t>
            </a:r>
            <a:r>
              <a:rPr lang="en-US" altLang="zh-CN" sz="2800" dirty="0"/>
              <a:t>update</a:t>
            </a:r>
            <a:r>
              <a:rPr lang="zh-CN" altLang="en-US" sz="2800" dirty="0"/>
              <a:t>、</a:t>
            </a:r>
            <a:r>
              <a:rPr lang="en-US" altLang="zh-CN" sz="2800" dirty="0" err="1"/>
              <a:t>componentUpdated</a:t>
            </a:r>
            <a:r>
              <a:rPr lang="zh-CN" altLang="en-US" sz="2800" dirty="0"/>
              <a:t>、</a:t>
            </a:r>
            <a:r>
              <a:rPr lang="en-US" altLang="zh-CN" sz="2800" dirty="0"/>
              <a:t>unbind</a:t>
            </a:r>
            <a:r>
              <a:rPr lang="zh-CN" altLang="en-US" sz="2800" dirty="0"/>
              <a:t>，钩子函数参数</a:t>
            </a:r>
            <a:r>
              <a:rPr lang="en-US" altLang="zh-CN" sz="2800" dirty="0"/>
              <a:t>el</a:t>
            </a:r>
            <a:r>
              <a:rPr lang="zh-CN" altLang="en-US" sz="2800" dirty="0"/>
              <a:t>、</a:t>
            </a:r>
            <a:r>
              <a:rPr lang="en-US" altLang="zh-CN" sz="2800" dirty="0"/>
              <a:t>binding </a:t>
            </a:r>
            <a:r>
              <a:rPr lang="zh-CN" altLang="en-US" sz="2800" dirty="0"/>
              <a:t>等，指令参数，函数简写及对象字面量。  </a:t>
            </a:r>
            <a:endParaRPr lang="zh-CN" altLang="en-US" sz="2800" dirty="0"/>
          </a:p>
          <a:p>
            <a:pPr marL="0" indent="0">
              <a:buNone/>
            </a:pPr>
            <a:endParaRPr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fade">
                                      <p:cBhvr>
                                        <p:cTn id="7" dur="500"/>
                                        <p:tgtEl>
                                          <p:spTgt spid="225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p:txBody>
          <a:bodyPr vert="horz" wrap="square" lIns="91440" tIns="45720" rIns="91440" bIns="45720" anchor="ctr"/>
          <a:lstStyle/>
          <a:p>
            <a:r>
              <a:rPr lang="en-US" altLang="zh-CN" dirty="0"/>
              <a:t>习题</a:t>
            </a:r>
            <a:endParaRPr lang="en-US" altLang="zh-CN" dirty="0"/>
          </a:p>
        </p:txBody>
      </p:sp>
      <p:sp>
        <p:nvSpPr>
          <p:cNvPr id="22531" name="Rectangle 3"/>
          <p:cNvSpPr>
            <a:spLocks noGrp="1"/>
          </p:cNvSpPr>
          <p:nvPr>
            <p:ph idx="1"/>
          </p:nvPr>
        </p:nvSpPr>
        <p:spPr>
          <a:xfrm>
            <a:off x="611188" y="1412875"/>
            <a:ext cx="8229600" cy="4321175"/>
          </a:xfrm>
        </p:spPr>
        <p:txBody>
          <a:bodyPr vert="horz" wrap="square" lIns="91440" tIns="45720" rIns="91440" bIns="45720" anchor="t"/>
          <a:lstStyle/>
          <a:p>
            <a:r>
              <a:rPr lang="en-US" altLang="zh-CN" sz="2800" dirty="0"/>
              <a:t>6-1  </a:t>
            </a:r>
            <a:r>
              <a:rPr lang="zh-CN" altLang="en-US" sz="2800" dirty="0"/>
              <a:t>请说明有那些钩子函数。</a:t>
            </a:r>
            <a:endParaRPr lang="en-US" altLang="zh-CN" sz="2800" dirty="0"/>
          </a:p>
          <a:p>
            <a:r>
              <a:rPr lang="en-US" altLang="zh-CN" sz="2800" dirty="0"/>
              <a:t>6-2  </a:t>
            </a:r>
            <a:r>
              <a:rPr lang="zh-CN" altLang="en-US" sz="2800" dirty="0"/>
              <a:t>简述什么是对象字面量。 </a:t>
            </a:r>
            <a:endParaRPr lang="en-US" altLang="zh-CN" sz="2800" dirty="0"/>
          </a:p>
          <a:p>
            <a:r>
              <a:rPr lang="en-US" altLang="zh-CN" sz="2800" dirty="0"/>
              <a:t>6-3  </a:t>
            </a:r>
            <a:r>
              <a:rPr lang="zh-CN" altLang="en-US" sz="2800" dirty="0"/>
              <a:t>编写一个自定义指令的案例。 </a:t>
            </a:r>
            <a:endParaRPr lang="en-US" altLang="zh-CN" sz="2800" dirty="0"/>
          </a:p>
        </p:txBody>
      </p:sp>
      <p:sp>
        <p:nvSpPr>
          <p:cNvPr id="6" name="灯片编号占位符 5"/>
          <p:cNvSpPr txBox="1">
            <a:spLocks noGrp="1"/>
          </p:cNvSpPr>
          <p:nvPr>
            <p:ph type="sldNum" sz="quarter" idx="12"/>
          </p:nvPr>
        </p:nvSpPr>
        <p:spPr>
          <a:noFill/>
        </p:spPr>
        <p:txBody>
          <a:bodyPr vert="horz" lIns="91440" tIns="45720" rIns="91440" bIns="45720" rtlCol="0" anchor="ctr"/>
          <a:lstStyle>
            <a:lvl1pPr marL="0" lvl="0" indent="0" algn="ctr" defTabSz="914400" rtl="0" eaLnBrk="0" fontAlgn="base" latinLnBrk="0" hangingPunct="0">
              <a:lnSpc>
                <a:spcPct val="100000"/>
              </a:lnSpc>
              <a:spcBef>
                <a:spcPct val="0"/>
              </a:spcBef>
              <a:spcAft>
                <a:spcPct val="0"/>
              </a:spcAft>
              <a:buNone/>
              <a:defRPr sz="1800" b="1"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zh-CN" altLang="en-US" sz="1200" b="0" dirty="0">
                <a:solidFill>
                  <a:srgbClr val="898989"/>
                </a:solidFill>
                <a:latin typeface="Calibri" panose="020F0502020204030204" pitchFamily="34" charset="0"/>
              </a:rPr>
            </a:fld>
            <a:endParaRPr lang="zh-CN" altLang="en-US" sz="1200" b="0" dirty="0">
              <a:solidFill>
                <a:srgbClr val="898989"/>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fade">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531">
                                            <p:txEl>
                                              <p:pRg st="1" end="1"/>
                                            </p:txEl>
                                          </p:spTgt>
                                        </p:tgtEl>
                                        <p:attrNameLst>
                                          <p:attrName>style.visibility</p:attrName>
                                        </p:attrNameLst>
                                      </p:cBhvr>
                                      <p:to>
                                        <p:strVal val="visible"/>
                                      </p:to>
                                    </p:set>
                                    <p:animEffect transition="in" filter="fade">
                                      <p:cBhvr>
                                        <p:cTn id="12" dur="500"/>
                                        <p:tgtEl>
                                          <p:spTgt spid="225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531">
                                            <p:txEl>
                                              <p:pRg st="2" end="2"/>
                                            </p:txEl>
                                          </p:spTgt>
                                        </p:tgtEl>
                                        <p:attrNameLst>
                                          <p:attrName>style.visibility</p:attrName>
                                        </p:attrNameLst>
                                      </p:cBhvr>
                                      <p:to>
                                        <p:strVal val="visible"/>
                                      </p:to>
                                    </p:set>
                                    <p:animEffect transition="in" filter="fade">
                                      <p:cBhvr>
                                        <p:cTn id="17" dur="500"/>
                                        <p:tgtEl>
                                          <p:spTgt spid="225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tags/tag1.xml><?xml version="1.0" encoding="utf-8"?>
<p:tagLst xmlns:p="http://schemas.openxmlformats.org/presentationml/2006/main">
  <p:tag name="KSO_WM_SLIDE_MODEL_TYPE" val="cover"/>
</p:tagLst>
</file>

<file path=ppt/tags/tag2.xml><?xml version="1.0" encoding="utf-8"?>
<p:tagLst xmlns:p="http://schemas.openxmlformats.org/presentationml/2006/main">
  <p:tag name="KSO_WM_DOC_GUID" val="{9735b09e-370e-4ad1-bc67-0c8e24a6d35e}"/>
  <p:tag name="commondata" val="eyJoZGlkIjoiZjBlNDM4ZjU1ZGI3YzQwMDk5ZjExZjgyZTc3ZDI2NDMifQ=="/>
</p:tagLst>
</file>

<file path=ppt/theme/theme1.xml><?xml version="1.0" encoding="utf-8"?>
<a:theme xmlns:a="http://schemas.openxmlformats.org/drawingml/2006/main" name="3_Office 主题">
  <a:themeElements>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3_Office 主题">
      <a:majorFont>
        <a:latin typeface="黑体"/>
        <a:ea typeface="黑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第1章集合</Template>
  <TotalTime>0</TotalTime>
  <Words>6764</Words>
  <Application>WPS 演示</Application>
  <PresentationFormat>全屏显示(4:3)</PresentationFormat>
  <Paragraphs>373</Paragraphs>
  <Slides>26</Slides>
  <Notes>13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26</vt:i4>
      </vt:variant>
    </vt:vector>
  </HeadingPairs>
  <TitlesOfParts>
    <vt:vector size="35" baseType="lpstr">
      <vt:lpstr>Arial</vt:lpstr>
      <vt:lpstr>宋体</vt:lpstr>
      <vt:lpstr>Wingdings</vt:lpstr>
      <vt:lpstr>Calibri</vt:lpstr>
      <vt:lpstr>黑体</vt:lpstr>
      <vt:lpstr>微软雅黑</vt:lpstr>
      <vt:lpstr>Arial Unicode MS</vt:lpstr>
      <vt:lpstr>Wingdings</vt:lpstr>
      <vt:lpstr>3_Office 主题</vt:lpstr>
      <vt:lpstr>PowerPoint 演示文稿</vt:lpstr>
      <vt:lpstr> 课程目标</vt:lpstr>
      <vt:lpstr>课程内容</vt:lpstr>
      <vt:lpstr>  6.1 自定义指令概述</vt:lpstr>
      <vt:lpstr> 6.1.1 自定义全局指令</vt:lpstr>
      <vt:lpstr>PowerPoint 演示文稿</vt:lpstr>
      <vt:lpstr>PowerPoint 演示文稿</vt:lpstr>
      <vt:lpstr>PowerPoint 演示文稿</vt:lpstr>
      <vt:lpstr>PowerPoint 演示文稿</vt:lpstr>
      <vt:lpstr>6.1.2  自定义局部指令 </vt:lpstr>
      <vt:lpstr>PowerPoint 演示文稿</vt:lpstr>
      <vt:lpstr>PowerPoint 演示文稿</vt:lpstr>
      <vt:lpstr>PowerPoint 演示文稿</vt:lpstr>
      <vt:lpstr>6.2 钩子函数 </vt:lpstr>
      <vt:lpstr>PowerPoint 演示文稿</vt:lpstr>
      <vt:lpstr>PowerPoint 演示文稿</vt:lpstr>
      <vt:lpstr>PowerPoint 演示文稿</vt:lpstr>
      <vt:lpstr>PowerPoint 演示文稿</vt:lpstr>
      <vt:lpstr>PowerPoint 演示文稿</vt:lpstr>
      <vt:lpstr>PowerPoint 演示文稿</vt:lpstr>
      <vt:lpstr>6.2.2  函数简写</vt:lpstr>
      <vt:lpstr>6.3  对象字面量 </vt:lpstr>
      <vt:lpstr>PowerPoint 演示文稿</vt:lpstr>
      <vt:lpstr>PowerPoint 演示文稿</vt:lpstr>
      <vt:lpstr>本章小结</vt:lpstr>
      <vt:lpstr>习题</vt:lpstr>
    </vt:vector>
  </TitlesOfParts>
  <Company>BeiJing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YAOYUAN</dc:creator>
  <cp:lastModifiedBy>章晟昱</cp:lastModifiedBy>
  <cp:revision>926</cp:revision>
  <dcterms:created xsi:type="dcterms:W3CDTF">2005-06-22T06:00:00Z</dcterms:created>
  <dcterms:modified xsi:type="dcterms:W3CDTF">2024-10-08T13:50:34Z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F0D7D7EED28F4E25839B155E7743C2D2_12</vt:lpwstr>
  </property>
</Properties>
</file>