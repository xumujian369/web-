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25" r:id="rId3"/>
    <p:sldId id="327" r:id="rId4"/>
    <p:sldId id="329" r:id="rId5"/>
    <p:sldId id="394" r:id="rId6"/>
    <p:sldId id="395" r:id="rId7"/>
    <p:sldId id="330" r:id="rId9"/>
    <p:sldId id="396" r:id="rId10"/>
    <p:sldId id="431" r:id="rId11"/>
    <p:sldId id="397" r:id="rId12"/>
    <p:sldId id="398" r:id="rId13"/>
    <p:sldId id="399" r:id="rId14"/>
    <p:sldId id="400" r:id="rId15"/>
    <p:sldId id="379" r:id="rId16"/>
    <p:sldId id="401" r:id="rId17"/>
    <p:sldId id="339" r:id="rId18"/>
    <p:sldId id="342" r:id="rId19"/>
    <p:sldId id="346" r:id="rId20"/>
    <p:sldId id="402" r:id="rId21"/>
    <p:sldId id="403" r:id="rId22"/>
    <p:sldId id="349" r:id="rId23"/>
    <p:sldId id="404" r:id="rId24"/>
    <p:sldId id="380" r:id="rId25"/>
    <p:sldId id="353" r:id="rId26"/>
    <p:sldId id="405" r:id="rId27"/>
    <p:sldId id="358" r:id="rId28"/>
    <p:sldId id="406" r:id="rId29"/>
    <p:sldId id="407" r:id="rId30"/>
    <p:sldId id="459" r:id="rId31"/>
    <p:sldId id="361" r:id="rId32"/>
    <p:sldId id="424" r:id="rId33"/>
    <p:sldId id="363" r:id="rId34"/>
    <p:sldId id="371" r:id="rId35"/>
    <p:sldId id="372" r:id="rId36"/>
    <p:sldId id="460" r:id="rId37"/>
    <p:sldId id="461" r:id="rId38"/>
    <p:sldId id="374" r:id="rId39"/>
    <p:sldId id="462" r:id="rId40"/>
    <p:sldId id="463" r:id="rId41"/>
    <p:sldId id="376" r:id="rId42"/>
    <p:sldId id="464" r:id="rId43"/>
    <p:sldId id="465" r:id="rId44"/>
    <p:sldId id="466" r:id="rId45"/>
  </p:sldIdLst>
  <p:sldSz cx="12192000" cy="6858000"/>
  <p:notesSz cx="6858000" cy="9144000"/>
  <p:custDataLst>
    <p:tags r:id="rId50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orient="horz" pos="2489" userDrawn="1">
          <p15:clr>
            <a:srgbClr val="A4A3A4"/>
          </p15:clr>
        </p15:guide>
        <p15:guide id="3" orient="horz" pos="2059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pos="3919" userDrawn="1">
          <p15:clr>
            <a:srgbClr val="A4A3A4"/>
          </p15:clr>
        </p15:guide>
        <p15:guide id="6" pos="620" userDrawn="1">
          <p15:clr>
            <a:srgbClr val="A4A3A4"/>
          </p15:clr>
        </p15:guide>
        <p15:guide id="7" pos="11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FFF"/>
    <a:srgbClr val="FFFFCC"/>
    <a:srgbClr val="CDADF1"/>
    <a:srgbClr val="EDECB2"/>
    <a:srgbClr val="0099FF"/>
    <a:srgbClr val="659B68"/>
    <a:srgbClr val="AAE66E"/>
    <a:srgbClr val="99FF33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 autoAdjust="0"/>
    <p:restoredTop sz="94585"/>
  </p:normalViewPr>
  <p:slideViewPr>
    <p:cSldViewPr showGuides="1">
      <p:cViewPr varScale="1">
        <p:scale>
          <a:sx n="65" d="100"/>
          <a:sy n="65" d="100"/>
        </p:scale>
        <p:origin x="-594" y="-84"/>
      </p:cViewPr>
      <p:guideLst>
        <p:guide orient="horz" pos="2203"/>
        <p:guide orient="horz" pos="2489"/>
        <p:guide orient="horz" pos="2059"/>
        <p:guide orient="horz" pos="799"/>
        <p:guide pos="3919"/>
        <p:guide pos="620"/>
        <p:guide pos="11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2.xml"/><Relationship Id="rId5" Type="http://schemas.openxmlformats.org/officeDocument/2006/relationships/slide" Target="slides/slide3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8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488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8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8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3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71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0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6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8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51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5450417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52" name="内容占位符 3"/>
          <p:cNvSpPr>
            <a:spLocks noGrp="1"/>
          </p:cNvSpPr>
          <p:nvPr>
            <p:ph sz="half" idx="2"/>
          </p:nvPr>
        </p:nvSpPr>
        <p:spPr>
          <a:xfrm>
            <a:off x="6085417" y="1268413"/>
            <a:ext cx="5452533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5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58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5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60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6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6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9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9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9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77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8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竖排标题 1"/>
          <p:cNvSpPr>
            <a:spLocks noGrp="1"/>
          </p:cNvSpPr>
          <p:nvPr>
            <p:ph type="title" orient="vert"/>
          </p:nvPr>
        </p:nvSpPr>
        <p:spPr>
          <a:xfrm>
            <a:off x="8932333" y="260350"/>
            <a:ext cx="2832100" cy="59197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69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1800" y="260350"/>
            <a:ext cx="8297333" cy="59197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77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标题 1"/>
          <p:cNvSpPr>
            <a:spLocks noGrp="1"/>
          </p:cNvSpPr>
          <p:nvPr>
            <p:ph type="title"/>
          </p:nvPr>
        </p:nvSpPr>
        <p:spPr>
          <a:xfrm>
            <a:off x="5039784" y="260350"/>
            <a:ext cx="6724649" cy="654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6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450417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17" name="内容占位符 3"/>
          <p:cNvSpPr>
            <a:spLocks noGrp="1"/>
          </p:cNvSpPr>
          <p:nvPr>
            <p:ph sz="half" idx="2"/>
          </p:nvPr>
        </p:nvSpPr>
        <p:spPr>
          <a:xfrm>
            <a:off x="6085417" y="1268413"/>
            <a:ext cx="5452533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2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文本占位符 2"/>
          <p:cNvSpPr>
            <a:spLocks noGrp="1"/>
          </p:cNvSpPr>
          <p:nvPr>
            <p:ph type="body" idx="1"/>
          </p:nvPr>
        </p:nvSpPr>
        <p:spPr>
          <a:xfrm>
            <a:off x="431800" y="1268413"/>
            <a:ext cx="11106151" cy="4911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577" name="标题占位符 1"/>
          <p:cNvSpPr>
            <a:spLocks noGrp="1"/>
          </p:cNvSpPr>
          <p:nvPr>
            <p:ph type="title"/>
          </p:nvPr>
        </p:nvSpPr>
        <p:spPr>
          <a:xfrm>
            <a:off x="5039784" y="260350"/>
            <a:ext cx="6724649" cy="6540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Photoshop</a:t>
            </a:r>
            <a:r>
              <a:rPr lang="zh-CN" altLang="en-US" dirty="0"/>
              <a:t>与</a:t>
            </a:r>
            <a:r>
              <a:rPr lang="en-US" altLang="zh-CN" dirty="0"/>
              <a:t>Flash</a:t>
            </a:r>
            <a:endParaRPr lang="en-US" altLang="zh-CN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pic>
        <p:nvPicPr>
          <p:cNvPr id="2097152" name="图片 2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007435" y="262186"/>
            <a:ext cx="1707423" cy="652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file:///D:\vuejs&#35838;&#31243;&#28304;&#30721;&#31034;&#20363;\&#35838;&#31243;&#31034;&#20363;\ch05\&#12304;&#20363;5-1&#12305;&#20307;&#39564;&#33258;&#23450;&#20041;&#32452;&#20214;.html" TargetMode="Externa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hyperlink" Target="file:///D:\vuejs&#35838;&#31243;&#28304;&#30721;&#31034;&#20363;\&#35838;&#31243;&#31034;&#20363;\ch05\&#12304;&#20363;5-2&#12305;&#28436;&#31034;&#33258;&#23450;&#20041;&#32452;&#20214;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hyperlink" Target="file:///D:\vuejs&#35838;&#31243;&#28304;&#30721;&#31034;&#20363;\&#35838;&#31243;&#31034;&#20363;\ch05\&#12304;&#20363;5-2&#12305;&#28436;&#31034;&#33258;&#23450;&#20041;&#32452;&#20214;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hyperlink" Target="file:///D:\vuejs&#35838;&#31243;&#28304;&#30721;&#31034;&#20363;\&#35838;&#31243;&#31034;&#20363;\ch05\&#12304;&#20363;5-4&#12305;&#32452;&#20214;&#30340;&#20316;&#29992;&#22495;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hyperlink" Target="file:///D:\vuejs&#35838;&#31243;&#28304;&#30721;&#31034;&#20363;\&#35838;&#31243;&#31034;&#20363;\ch05\&#12304;&#20363;5-5&#12305;&#28436;&#31034;&#32452;&#20214;&#20013;&#30340;data&#24517;&#39035;&#26159;&#20989;&#25968;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hyperlink" Target="file:///D:\vuejs&#35838;&#31243;&#28304;&#30721;&#31034;&#20363;\&#35838;&#31243;&#31034;&#20363;\ch05\&#12304;&#20363;5-6&#12305;&#28436;&#31034;&#23884;&#22871;&#32452;&#20214;.htm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7&#12305;&#20351;&#29992;%20Prop%20&#21521;&#32452;&#20214;&#20256;&#36882;&#25968;&#25454;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8&#12305;&#21629;&#21517;&#32422;&#23450;.htm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9&#12305;&#21160;&#24577;%20prop%20&#21521;&#23376;&#32452;&#20214;&#21160;&#24577;&#20256;&#36882;&#25968;&#25454;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10&#12305;props&#39564;&#35777;.html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slot&#25554;&#27133;.html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11&#12305;&#21333;slot&#25554;&#27133;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11&#12305;&#21333;slot&#25554;&#27133;.html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12&#12305;&#20855;&#21517;slot&#25554;&#27133;.htm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5\&#12304;&#20363;5-13&#12305;slot&#20316;&#29992;&#22495;&#25554;&#27133;.html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..\vuejs&#35838;&#31243;&#28304;&#30721;&#31034;&#20363;\&#35838;&#31243;&#31034;&#20363;\ch05\&#12304;&#20363;5-16&#12305;&#23376;&#32452;&#20214;&#21521;&#29238;&#32452;&#20214;&#36890;&#20449;.html" TargetMode="Externa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..\vuejs&#35838;&#31243;&#28304;&#30721;&#31034;&#20363;\&#35838;&#31243;&#31034;&#20363;\ch05\&#12304;&#20363;5-18&#12305;&#20219;&#24847;&#32452;&#20214;&#21450;&#24179;&#34892;&#32452;&#20214;&#36890;&#20449;.html" TargetMode="External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/>
        </p:nvSpPr>
        <p:spPr>
          <a:xfrm>
            <a:off x="1465580" y="2303463"/>
            <a:ext cx="6551613" cy="863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ctr"/>
            <a:r>
              <a:rPr lang="en-US" altLang="zh-CN" sz="4000" b="1" dirty="0">
                <a:ea typeface="+mj-lt"/>
                <a:cs typeface="+mj-lt"/>
                <a:sym typeface="+mn-ea"/>
              </a:rPr>
              <a:t> 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第</a:t>
            </a:r>
            <a:r>
              <a:rPr lang="en-US" altLang="zh-CN" sz="4000" dirty="0">
                <a:ea typeface="+mj-lt"/>
                <a:cs typeface="+mj-lt"/>
                <a:sym typeface="+mn-ea"/>
              </a:rPr>
              <a:t>5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章 </a:t>
            </a:r>
            <a:r>
              <a:rPr sz="4000" dirty="0" err="1">
                <a:ea typeface="+mj-lt"/>
                <a:cs typeface="+mj-lt"/>
                <a:sym typeface="+mn-ea"/>
              </a:rPr>
              <a:t>Vue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组件</a:t>
            </a:r>
            <a:endParaRPr sz="4000" b="1" dirty="0">
              <a:ea typeface="+mj-lt"/>
              <a:cs typeface="+mj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Rectangle 2"/>
          <p:cNvSpPr>
            <a:spLocks noGrp="1"/>
          </p:cNvSpPr>
          <p:nvPr>
            <p:ph type="title"/>
          </p:nvPr>
        </p:nvSpPr>
        <p:spPr>
          <a:xfrm>
            <a:off x="7608168" y="365127"/>
            <a:ext cx="2431182" cy="759617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课程内容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613" name="Rectangle 3"/>
          <p:cNvSpPr>
            <a:spLocks noGrp="1"/>
          </p:cNvSpPr>
          <p:nvPr>
            <p:ph idx="1"/>
          </p:nvPr>
        </p:nvSpPr>
        <p:spPr>
          <a:xfrm>
            <a:off x="2208213" y="1341438"/>
            <a:ext cx="8229600" cy="4525962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组件的基本使用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ue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组件嵌套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父组件向子组件通信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子组件向父组件通信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任意组件及平行组件通信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创建组件并发布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14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4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4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4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4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4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4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04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04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4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4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4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4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2"/>
          <p:cNvSpPr>
            <a:spLocks noGrp="1"/>
          </p:cNvSpPr>
          <p:nvPr>
            <p:ph type="title"/>
          </p:nvPr>
        </p:nvSpPr>
        <p:spPr>
          <a:xfrm>
            <a:off x="6672064" y="297393"/>
            <a:ext cx="3367286" cy="873877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sz="3600" dirty="0" err="1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什么是</a:t>
            </a:r>
            <a:r>
              <a:rPr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组件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626" name="Rectangle 3"/>
          <p:cNvSpPr>
            <a:spLocks noGrp="1"/>
          </p:cNvSpPr>
          <p:nvPr>
            <p:ph idx="1"/>
          </p:nvPr>
        </p:nvSpPr>
        <p:spPr>
          <a:xfrm>
            <a:off x="713105" y="836930"/>
            <a:ext cx="10537190" cy="584835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None/>
            </a:pPr>
            <a:endParaRPr lang="en-US" altLang="zh-CN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组件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(Component)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是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Vue.js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最强大的功能之一。组件是可复用的 </a:t>
            </a:r>
            <a:r>
              <a:rPr lang="zh-CN" altLang="en-US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 实例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，拥有一个名字，并且可以有自己的模板和逻辑。组件可以扩展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HTML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元素，封装可重用的代码。使得复杂的应用程序能够模块化，易于管理和维护。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在大型的应用中为了分工、代码复用、提高维护性不可避免地需要将应用抽象为多个相对独立的模块</a:t>
            </a:r>
            <a:r>
              <a:rPr lang="zh-CN" alt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27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2"/>
          <p:cNvSpPr>
            <a:spLocks noGrp="1"/>
          </p:cNvSpPr>
          <p:nvPr>
            <p:ph type="title"/>
          </p:nvPr>
        </p:nvSpPr>
        <p:spPr>
          <a:xfrm>
            <a:off x="6672064" y="297393"/>
            <a:ext cx="3367286" cy="873877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sz="3600" dirty="0" err="1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什么是</a:t>
            </a:r>
            <a:r>
              <a:rPr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组件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626" name="Rectangle 3"/>
          <p:cNvSpPr>
            <a:spLocks noGrp="1"/>
          </p:cNvSpPr>
          <p:nvPr>
            <p:ph idx="1"/>
          </p:nvPr>
        </p:nvSpPr>
        <p:spPr>
          <a:xfrm>
            <a:off x="655320" y="836930"/>
            <a:ext cx="10363835" cy="5848350"/>
          </a:xfrm>
        </p:spPr>
        <p:txBody>
          <a:bodyPr vert="horz" wrap="square" lIns="91440" tIns="45720" rIns="91440" bIns="45720" anchor="t">
            <a:normAutofit lnSpcReduction="20000"/>
          </a:bodyPr>
          <a:lstStyle/>
          <a:p>
            <a:pPr marL="0" indent="0">
              <a:buNone/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组件的作用：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重用性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：通过创建组件，你可以编写一次代码并在不同的地方多次使用它。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封装性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：组件可以将样式和脚本封装在一起，使得它们不会影响到其他部分的样式或脚本。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隔离作用域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：组件内部的数据绑定只影响该组件本身，不会影响到全局作用域。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提高开发效率：通过构建小而专注的组件，开发者可以更容易地理解和维护应用程序。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便于测试：组件通常是独立的，这意味着你可以单独对它们进行单元测试。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27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097161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208145" y="4084320"/>
            <a:ext cx="5982970" cy="2528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title"/>
          </p:nvPr>
        </p:nvSpPr>
        <p:spPr>
          <a:xfrm>
            <a:off x="6528048" y="305242"/>
            <a:ext cx="3655318" cy="799244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组件使用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048635" name="Rectangle 3"/>
          <p:cNvSpPr>
            <a:spLocks noGrp="1"/>
          </p:cNvSpPr>
          <p:nvPr>
            <p:ph idx="1"/>
          </p:nvPr>
        </p:nvSpPr>
        <p:spPr>
          <a:xfrm>
            <a:off x="1416050" y="981358"/>
            <a:ext cx="8644890" cy="616204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Vue.js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的组件使用有三个步骤，具体步骤如下： 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3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097164" name="图片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983615" y="2277110"/>
            <a:ext cx="2262505" cy="39712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39425" y="1988840"/>
            <a:ext cx="29271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ym typeface="+mn-ea"/>
            </a:endParaRPr>
          </a:p>
          <a:p>
            <a:endParaRPr lang="zh-CN" altLang="en-US" dirty="0"/>
          </a:p>
        </p:txBody>
      </p:sp>
      <p:sp>
        <p:nvSpPr>
          <p:cNvPr id="19" name="矩形: 圆角 18"/>
          <p:cNvSpPr/>
          <p:nvPr/>
        </p:nvSpPr>
        <p:spPr>
          <a:xfrm>
            <a:off x="4008413" y="1925515"/>
            <a:ext cx="3312368" cy="1690264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调用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Vue.extend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方法创建组件构造器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MyComponent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Vue.extend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({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//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选项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007912" y="3710074"/>
            <a:ext cx="3182094" cy="115138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调用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方法注册组件。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('my-component',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MyComponent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3943142" y="5013529"/>
            <a:ext cx="3312368" cy="1565749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在 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实例的作用范围使用组件。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 id="app"&gt;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&lt;my-component&gt;&lt;/my-component&gt;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&lt;/div&gt;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: 圆角 18"/>
          <p:cNvSpPr/>
          <p:nvPr/>
        </p:nvSpPr>
        <p:spPr>
          <a:xfrm>
            <a:off x="7679690" y="1526540"/>
            <a:ext cx="3902710" cy="502856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MyComponent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Vue.extend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({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// 组件的模板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template: '&lt;div&gt;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hello&lt;/div&gt;',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// 数据选项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data: function () {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return {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message: 'Hello world!'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},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methods: {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sayHello: function () {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alert(this.message);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}}})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0" grpId="0" bldLvl="0" animBg="1"/>
      <p:bldP spid="21" grpId="0" bldLvl="0" animBg="1"/>
      <p:bldP spid="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048629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30" name="Rectangle 36"/>
          <p:cNvSpPr/>
          <p:nvPr/>
        </p:nvSpPr>
        <p:spPr>
          <a:xfrm>
            <a:off x="1913255" y="711200"/>
            <a:ext cx="836549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endParaRPr lang="zh-CN" altLang="en-US" sz="24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5800" y="476672"/>
            <a:ext cx="62646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体验自定义组件 </a:t>
            </a:r>
            <a:endParaRPr lang="zh-CN" altLang="en-US" sz="2800" b="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  <a:p>
            <a:pPr algn="r"/>
            <a:endParaRPr lang="zh-CN" altLang="en-US" sz="280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150" y="880745"/>
            <a:ext cx="10164445" cy="590804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2.   &lt;html&gt;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AutoNum type="arabicPeriod" startAt="3"/>
            </a:pP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&lt;meta charset="UTF-8"&gt;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4.   &lt;title&gt;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组件系统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&lt;/title&gt;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5.   &lt;body&gt;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AutoNum type="arabicPeriod" startAt="6"/>
            </a:pP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&lt;div id="app"&gt;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7.          &lt;!-- 3. #app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是 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Vue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实例挂载的元素，应该在挂载元素范围内使用组件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--&gt;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8.          &lt;my-component&gt;&lt;/my-component&gt;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9.     &lt;/div&gt;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10.  &lt;/body&gt;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11.  &lt;script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="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js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/Vue.js"&gt;&lt;/script&gt;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AutoNum type="arabicPeriod" startAt="12"/>
            </a:pP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&lt;script&gt;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13.      // 1.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创建一个组件构造器 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14.      var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myComponent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Vue.extend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({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15.           template: '&lt;div&gt;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欢迎来到斤斗云在线教育云平台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&lt;/div&gt;'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AutoNum type="arabicPeriod" startAt="16"/>
            </a:pP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})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17.      // 2.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注册组件，并指定组件的标签，组件的 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HTML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标签为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&lt;my-component&gt;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18.     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('my-component',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myComponent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);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19.      new Vue({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20.           el: '#app'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21.      });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22.  &lt;/script&gt; 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095" y="2954655"/>
            <a:ext cx="3978275" cy="1499870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5303912" y="63214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272270" y="568134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048629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30" name="Rectangle 36"/>
          <p:cNvSpPr/>
          <p:nvPr/>
        </p:nvSpPr>
        <p:spPr>
          <a:xfrm>
            <a:off x="1913255" y="711200"/>
            <a:ext cx="836549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endParaRPr lang="zh-CN" altLang="en-US" sz="24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5800" y="476672"/>
            <a:ext cx="62646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演示自定义组件 </a:t>
            </a:r>
            <a:endParaRPr lang="zh-CN" altLang="en-US" sz="2800" b="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  <a:p>
            <a:pPr algn="r"/>
            <a:endParaRPr lang="zh-CN" altLang="en-US" sz="280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150" y="880745"/>
            <a:ext cx="10164445" cy="590804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&lt;div id="app"&gt;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&lt;ol&gt;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&lt;!-- 创建一个 todo-item 组件的实例 --&gt;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&lt;todo-item ref="t1"&gt;&lt;/todo-item&gt;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&lt;todo-item ref="t2"&gt;&lt;/todo-item&gt;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&lt;todo-item ref="t3"&gt;&lt;/todo-item&gt;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&lt;/ol&gt;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// 定义名为 todo-item 的新组件. 组件实质上是对一个HTML片段的抽象。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Vue.component('todo-item',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template: `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&lt;div&gt;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&lt;li&gt;这是个待办项&lt;/li&gt;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&lt;p&gt;代办人：{{name}}，代办详情：{{memo}}&lt;/p&gt;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&lt;/div&gt;`,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data: function(){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var data =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name: "李四",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memo: "办理大学毕业证"}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return data ;}})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303912" y="63214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272270" y="568134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  <p:bldP spid="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048629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30" name="Rectangle 36"/>
          <p:cNvSpPr/>
          <p:nvPr/>
        </p:nvSpPr>
        <p:spPr>
          <a:xfrm>
            <a:off x="1913255" y="711200"/>
            <a:ext cx="836549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endParaRPr lang="zh-CN" altLang="en-US" sz="24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5800" y="476672"/>
            <a:ext cx="62646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演示自定义组件 </a:t>
            </a:r>
            <a:endParaRPr lang="zh-CN" altLang="en-US" sz="2800" b="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  <a:p>
            <a:pPr algn="r"/>
            <a:endParaRPr lang="zh-CN" altLang="en-US" sz="280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150" y="880745"/>
            <a:ext cx="10164445" cy="2030095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/*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* new Vue() 此代码必须有，否则DOM元素无法通过Vue进行渲染操作和捆绑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*/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var app = new Vue({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el: '#app'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})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303912" y="63214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272270" y="568134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  <p:bldP spid="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2"/>
          <p:cNvSpPr>
            <a:spLocks noGrp="1"/>
          </p:cNvSpPr>
          <p:nvPr>
            <p:ph type="title"/>
          </p:nvPr>
        </p:nvSpPr>
        <p:spPr>
          <a:xfrm>
            <a:off x="6887964" y="117053"/>
            <a:ext cx="3367286" cy="873877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组件的作用域</a:t>
            </a:r>
            <a:endParaRPr lang="en-US" altLang="zh-CN" sz="36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1048626" name="Rectangle 3"/>
          <p:cNvSpPr>
            <a:spLocks noGrp="1"/>
          </p:cNvSpPr>
          <p:nvPr>
            <p:ph idx="1"/>
          </p:nvPr>
        </p:nvSpPr>
        <p:spPr>
          <a:xfrm>
            <a:off x="655320" y="836930"/>
            <a:ext cx="10363835" cy="5848350"/>
          </a:xfrm>
        </p:spPr>
        <p:txBody>
          <a:bodyPr vert="horz" wrap="square" lIns="91440" tIns="45720" rIns="91440" bIns="45720" anchor="t">
            <a:normAutofit lnSpcReduction="20000"/>
          </a:bodyPr>
          <a:lstStyle/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在 Vue.js 中，组件可以根据其注册方式分为两类：全局组件和局部组件。这两种组件的注册和使用方式有所不同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全局组件</a:t>
            </a:r>
            <a:r>
              <a:rPr lang="zh-CN" altLang="en-US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28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全局组件是指在整个 Vue 应用中都可以使用的组件。一旦注册为全局组件，它就可以在任何 Vue 实例中使用，而无需在每个实例中重复注册。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注册一个全局组件，需要使用 Vue 的 Vue.component() 方法。这个方法接受两个参数：第一个参数是组件的名字，第二个参数是组件的定义对象。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27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551815" y="4293235"/>
            <a:ext cx="4578350" cy="2354580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使用 Vue.extend 创建一个组件构造器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 TodoItem = Vue.extend({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template: `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&lt;div&gt; 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hello world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&lt;/div&gt;`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: 圆角 18"/>
          <p:cNvSpPr/>
          <p:nvPr/>
        </p:nvSpPr>
        <p:spPr>
          <a:xfrm>
            <a:off x="5664200" y="4293235"/>
            <a:ext cx="5318125" cy="2354580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注册为全局组件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Vue.component('todo-item', TodoItem);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2"/>
          <p:cNvSpPr>
            <a:spLocks noGrp="1"/>
          </p:cNvSpPr>
          <p:nvPr>
            <p:ph type="title"/>
          </p:nvPr>
        </p:nvSpPr>
        <p:spPr>
          <a:xfrm>
            <a:off x="7248644" y="117053"/>
            <a:ext cx="3367286" cy="873877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组件的作用域</a:t>
            </a:r>
            <a:endParaRPr lang="en-US" altLang="zh-CN" sz="36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1048626" name="Rectangle 3"/>
          <p:cNvSpPr>
            <a:spLocks noGrp="1"/>
          </p:cNvSpPr>
          <p:nvPr>
            <p:ph idx="1"/>
          </p:nvPr>
        </p:nvSpPr>
        <p:spPr>
          <a:xfrm>
            <a:off x="655320" y="836930"/>
            <a:ext cx="10363835" cy="5848350"/>
          </a:xfrm>
        </p:spPr>
        <p:txBody>
          <a:bodyPr vert="horz" wrap="square" lIns="91440" tIns="45720" rIns="91440" bIns="45720" anchor="t">
            <a:normAutofit lnSpcReduction="20000"/>
          </a:bodyPr>
          <a:lstStyle/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在 Vue.js 中，组件可以根据其注册方式分为两类：全局组件和局部组件。这两种组件的注册和使用方式有所不同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局部</a:t>
            </a:r>
            <a:r>
              <a:rPr lang="en-US" altLang="zh-C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组件</a:t>
            </a:r>
            <a:r>
              <a:rPr lang="zh-CN" altLang="en-US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28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局部组件是指只在某个特定的 Vue 实例中可用的组件。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注册一个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局部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组件，需要在 Vue 实例的 components 选项中指定组件的名称和定义对象。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27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767715" y="3861435"/>
            <a:ext cx="4578350" cy="2354580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使用 Vue.extend 创建一个组件构造器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 TodoItem = Vue.extend({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template: `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&lt;div&gt; 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hello world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&lt;/div&gt;`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: 圆角 18"/>
          <p:cNvSpPr/>
          <p:nvPr/>
        </p:nvSpPr>
        <p:spPr>
          <a:xfrm>
            <a:off x="5735955" y="3933190"/>
            <a:ext cx="5318125" cy="2354580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创建 Vue 实例并注册局部组件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Vue({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el: '#app',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components: {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'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item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':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TodoItem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}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});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048629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30" name="Rectangle 36"/>
          <p:cNvSpPr/>
          <p:nvPr/>
        </p:nvSpPr>
        <p:spPr>
          <a:xfrm>
            <a:off x="1913255" y="711200"/>
            <a:ext cx="836549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endParaRPr lang="zh-CN" altLang="en-US" sz="24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5800" y="476672"/>
            <a:ext cx="62646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演示组件</a:t>
            </a:r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作用域 </a:t>
            </a:r>
            <a:endParaRPr lang="zh-CN" altLang="en-US" sz="2800" b="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  <a:p>
            <a:pPr algn="r"/>
            <a:endParaRPr lang="zh-CN" altLang="en-US" sz="280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150" y="880745"/>
            <a:ext cx="10164445" cy="5459095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&lt;div id="app"&gt;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&lt;h2&gt;全局注册的组件，能在每个实例中使用&lt;/h2&gt;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&lt;global-component&gt;&lt;/global-component&gt;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&lt;h2&gt;局部注册的组件，只能在自己实例中使用&lt;/h2&gt;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&lt;my-component&gt;&lt;/my-component&gt;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&lt;div id="app-other"&gt;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&lt;h2&gt;全局注册的组件，能在每个实例中使用&lt;/h2&gt;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&lt;global-component&gt;&lt;/global-component&gt;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&lt;h2&gt;局部注册的组件，无法用在其他实例中&lt;/h2&gt;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&lt;my-component&gt;&lt;/my-component&gt;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303912" y="63214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048629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30" name="Rectangle 36"/>
          <p:cNvSpPr/>
          <p:nvPr/>
        </p:nvSpPr>
        <p:spPr>
          <a:xfrm>
            <a:off x="1913255" y="711200"/>
            <a:ext cx="836549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endParaRPr lang="zh-CN" altLang="en-US" sz="24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5800" y="476672"/>
            <a:ext cx="62646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演示组件</a:t>
            </a:r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作用域 </a:t>
            </a:r>
            <a:endParaRPr lang="zh-CN" altLang="en-US" sz="2800" b="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  <a:p>
            <a:pPr algn="r"/>
            <a:endParaRPr lang="zh-CN" altLang="en-US" sz="280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150" y="880745"/>
            <a:ext cx="10164445" cy="571881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Vue.component('global-component', {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template: '&lt;b&gt;这是个全局组件&lt;/b&gt;'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})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var Child = {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template: '&lt;div&gt;A local custom component!&lt;/div&gt;'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//  初始化根实例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var app = new Vue({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el: '#app',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components: { 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// 局部注册,my-component是标签名称&lt;my-component&gt; 将只在父模板可用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'my-component': Child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})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var appOther = new Vue({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    el: '#app-other'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   })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zh-CN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303912" y="63214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272270" y="568134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  <p:bldP spid="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188640"/>
            <a:ext cx="5835575" cy="864096"/>
          </a:xfrm>
        </p:spPr>
        <p:txBody>
          <a:bodyPr>
            <a:no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组件中的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data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必须是函数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0265" y="1052830"/>
            <a:ext cx="10513695" cy="5416550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组件的 data 选项必须是一个函数，而不是一个简单的对象，这是因为 Vue 需要为每个组件实例创建一个独立的作用域。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1. 确保每个组件实例拥有独立的数据副本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如果 data 是一个对象而不是一个函数，那么每次创建新的组件实例时，都会共享同一个对象引用。这意味着所有的组件实例都将共享相同的数据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2. 创建独立的数据对象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每次创建一个新的组件实例时，都会调用这个函数来生成一个新的数据对象。这个新的对象是独立的，不会与其他实例共享数据。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188640"/>
            <a:ext cx="5835575" cy="864096"/>
          </a:xfrm>
        </p:spPr>
        <p:txBody>
          <a:bodyPr>
            <a:no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组件中的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data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Calibri" panose="020F0502020204030204" pitchFamily="34" charset="0"/>
              </a:rPr>
              <a:t>必须是函数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99515" y="980440"/>
            <a:ext cx="8507095" cy="5609590"/>
          </a:xfrm>
          <a:prstGeom prst="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&lt;h1&gt;组件声明中，data必须是 &lt;b&gt;函数&lt;/b&gt;&lt;/h1&gt;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&lt;div id="app"&gt;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&lt;h2&gt;错误用法：data不是函数时&lt;/h2&gt;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&lt;error-counter&gt;&lt;/error-counter&gt;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&lt;error-counter&gt;&lt;/error-counter&gt;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&lt;error-counter&gt;&lt;/error-counter&gt;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&lt;h2&gt;正确用法：data是函数时&lt;/h2&gt;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&lt;right-counter&gt;&lt;/right-counter&gt;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&lt;right-counter&gt;&lt;/right-counter&gt;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&lt;right-counter&gt;&lt;/right-counter&gt;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&lt;/div&gt;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3"/>
          <p:cNvSpPr>
            <a:spLocks noGrp="1"/>
          </p:cNvSpPr>
          <p:nvPr>
            <p:ph idx="1"/>
          </p:nvPr>
        </p:nvSpPr>
        <p:spPr>
          <a:xfrm>
            <a:off x="1851660" y="1124585"/>
            <a:ext cx="8573770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dirty="0">
                <a:latin typeface="Calibri" panose="020F0502020204030204" pitchFamily="34" charset="0"/>
                <a:sym typeface="+mn-ea"/>
              </a:rPr>
              <a:t> 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048668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69" name="文本框 3"/>
          <p:cNvSpPr txBox="1"/>
          <p:nvPr/>
        </p:nvSpPr>
        <p:spPr>
          <a:xfrm>
            <a:off x="3071664" y="359289"/>
            <a:ext cx="71391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【</a:t>
            </a:r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例</a:t>
            </a:r>
            <a:r>
              <a:rPr lang="en-US" altLang="zh-CN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5-5】</a:t>
            </a:r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演示组件中的 </a:t>
            </a:r>
            <a:r>
              <a:rPr lang="en-US" altLang="zh-CN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data </a:t>
            </a:r>
            <a:r>
              <a:rPr lang="zh-CN" altLang="en-US" sz="2800" b="0" dirty="0"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必须是函数</a:t>
            </a:r>
            <a:endParaRPr lang="zh-CN" altLang="en-US" sz="2800" b="0" dirty="0">
              <a:latin typeface="Calibri" panose="020F0502020204030204" pitchFamily="34" charset="0"/>
              <a:ea typeface="黑体" panose="0201060906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2180" y="936625"/>
            <a:ext cx="9995535" cy="590804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indent="457200"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var data =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counter: 0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zh-CN" altLang="en-US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Vue.component('error-counter'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,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template: '&lt;button v-on:click="counter += 1"&gt;{{ counter }}&lt;/button&gt;',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// 技术上 data 的确是一个函数了，因此 Vue 不会警告，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// 但是我们返回给每个组件的实例的却引用了同一个data对象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data: function ()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return data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}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})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zh-CN" altLang="en-US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Vue.component('right-counter'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,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template: '&lt;button v-on:click="counter += 1"&gt;{{ counter }}&lt;/button&gt;',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data: function ()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return 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counter: 0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}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}})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var app = new Vue({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el: '#app'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})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88705" y="598805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Rectangle 3"/>
          <p:cNvSpPr>
            <a:spLocks noGrp="1"/>
          </p:cNvSpPr>
          <p:nvPr>
            <p:ph idx="1"/>
          </p:nvPr>
        </p:nvSpPr>
        <p:spPr>
          <a:xfrm>
            <a:off x="1703512" y="913674"/>
            <a:ext cx="8572058" cy="3307414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Vue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两大核心思想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组件化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数据驱动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组件本身也可以包含组件  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83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84" name="文本框 1"/>
          <p:cNvSpPr txBox="1"/>
          <p:nvPr/>
        </p:nvSpPr>
        <p:spPr>
          <a:xfrm>
            <a:off x="5862886" y="404664"/>
            <a:ext cx="417646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Vue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组件嵌套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92630" y="3041650"/>
            <a:ext cx="8376920" cy="3816350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Child =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Vue.extend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({     template: '&lt;div&gt;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我是子组件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!&lt;/div&gt;'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});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Parent =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Vue.extend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({     template: '&lt;div&gt;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我是父组件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&lt;child-component&gt;&lt;/child-component&gt;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&lt;/div&gt;',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components: {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'child-component': Child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});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("parent-component", Parent); 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88705" y="598805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2" grpId="0" build="p"/>
      <p:bldP spid="2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标题 1"/>
          <p:cNvSpPr>
            <a:spLocks noGrp="1"/>
          </p:cNvSpPr>
          <p:nvPr>
            <p:ph type="title"/>
          </p:nvPr>
        </p:nvSpPr>
        <p:spPr>
          <a:xfrm>
            <a:off x="6197892" y="222601"/>
            <a:ext cx="3876774" cy="759617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使用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props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传递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数据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3275" y="1124585"/>
            <a:ext cx="9236075" cy="5118735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因为组件实例的作用域是孤立的。这意味着不能并且不应该在子组件的模板内</a:t>
            </a:r>
            <a:r>
              <a:rPr lang="zh-CN" alt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直接引用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父组件的数据。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在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vue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中，props 是父组件向子组件传递数据的一种方式，通过 props，父组件可以向子组件传递任意类型的数据，这些数据只能由子组件接收并用于展示或计算，不能直接修改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标题 1"/>
          <p:cNvSpPr>
            <a:spLocks noGrp="1"/>
          </p:cNvSpPr>
          <p:nvPr>
            <p:ph type="title"/>
          </p:nvPr>
        </p:nvSpPr>
        <p:spPr>
          <a:xfrm>
            <a:off x="6197892" y="222601"/>
            <a:ext cx="3876774" cy="759617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使用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props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传递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数据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1860" y="1018540"/>
            <a:ext cx="8336280" cy="5594350"/>
          </a:xfrm>
          <a:prstGeom prst="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 id="app-7"&gt;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&lt;child </a:t>
            </a:r>
            <a:r>
              <a:rPr lang="zh-CN" altLang="en-US" sz="20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message="hello!"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ref="child1"&gt;&lt;/child&gt;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使用 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向组件传递数据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&lt;script&gt;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0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('child', {        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声明 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props        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就像 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一样，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可以用在模板内         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同样也可以在组件实例中像 “</a:t>
            </a:r>
            <a:r>
              <a:rPr lang="en-US" altLang="zh-CN" sz="20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this.message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这样使用 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20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props: ['message']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template: '&lt;span&gt;{{ message }}&lt;/span&gt;'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})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 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初始化根实例 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app7 = new Vue({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el: '#app-7'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})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&lt;/script&gt; 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36405" y="530161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标题 1"/>
          <p:cNvSpPr>
            <a:spLocks noGrp="1"/>
          </p:cNvSpPr>
          <p:nvPr>
            <p:ph type="title"/>
          </p:nvPr>
        </p:nvSpPr>
        <p:spPr>
          <a:xfrm>
            <a:off x="6197892" y="222601"/>
            <a:ext cx="3876774" cy="759617"/>
          </a:xfrm>
        </p:spPr>
        <p:txBody>
          <a:bodyPr>
            <a:normAutofit/>
          </a:bodyPr>
          <a:lstStyle/>
          <a:p>
            <a:pPr algn="r"/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props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命名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约定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3275" y="1124585"/>
            <a:ext cx="9236075" cy="5118735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需注意的是在子组件中定义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prop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时，使用了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camelCase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命名法。由于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HTML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特性不区分大小写，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camelCase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的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prop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用于特性时，需要转为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kebab-case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（短横线隔开）定义子组件的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HTML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模板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： 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1860" y="2383155"/>
            <a:ext cx="8265795" cy="4048760"/>
          </a:xfrm>
          <a:prstGeom prst="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vm = new Vue({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el: '#app',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data: {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name: 'keepfool',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age: 28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},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components: {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'my-component': {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template: '#myComponent',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props: ['</a:t>
            </a:r>
            <a:r>
              <a:rPr lang="en-US" altLang="zh-CN" sz="20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myName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altLang="zh-CN" sz="20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myAge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']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}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}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</a:t>
            </a:r>
            <a:endParaRPr lang="en-US" altLang="zh-CN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内容占位符 2"/>
          <p:cNvSpPr>
            <a:spLocks noGrp="1"/>
          </p:cNvSpPr>
          <p:nvPr>
            <p:ph idx="1"/>
          </p:nvPr>
        </p:nvSpPr>
        <p:spPr>
          <a:xfrm>
            <a:off x="1386840" y="941705"/>
            <a:ext cx="9794875" cy="5543550"/>
          </a:xfrm>
          <a:solidFill>
            <a:srgbClr val="D9FFFF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&lt;div id="app"&gt;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&lt;my-component v-bind:</a:t>
            </a: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my-name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="name" v-bind:</a:t>
            </a: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my-age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="age"&gt;&lt;/my-component&gt;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&lt;template id="myComponent"&gt;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&lt;table&gt;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&lt;tr&gt;&lt;th colspan="2"&gt;子组件数据&lt;/th&gt;&lt;/tr&gt;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&lt;tr&gt;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	&lt;td&gt;my name&lt;/td&gt;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	&lt;td&gt;{{ myName }}&lt;/td&gt;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&lt;/tr&gt;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&lt;tr&gt;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	&lt;td&gt;my age&lt;/td&gt;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	&lt;td&gt;{{ myAge }}&lt;/td&gt;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&lt;/tr&gt;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	&lt;/table&gt;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	&lt;/template&gt;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36405" y="530161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  <p:sp>
        <p:nvSpPr>
          <p:cNvPr id="1048699" name="标题 1"/>
          <p:cNvSpPr>
            <a:spLocks noGrp="1"/>
          </p:cNvSpPr>
          <p:nvPr>
            <p:ph type="title"/>
          </p:nvPr>
        </p:nvSpPr>
        <p:spPr>
          <a:xfrm>
            <a:off x="6197892" y="222601"/>
            <a:ext cx="3876774" cy="759617"/>
          </a:xfrm>
        </p:spPr>
        <p:txBody>
          <a:bodyPr>
            <a:normAutofit/>
          </a:bodyPr>
          <a:p>
            <a:pPr algn="r"/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props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命名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约定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48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8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48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8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48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48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8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48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48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48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48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8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8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8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48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48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48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48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48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48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48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48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48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48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48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48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48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48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48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048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48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48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48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48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48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48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48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48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48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48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48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标题 1"/>
          <p:cNvSpPr>
            <a:spLocks noGrp="1"/>
          </p:cNvSpPr>
          <p:nvPr>
            <p:ph type="title"/>
          </p:nvPr>
        </p:nvSpPr>
        <p:spPr>
          <a:xfrm>
            <a:off x="6197892" y="222601"/>
            <a:ext cx="3876774" cy="759617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动态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props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3275" y="1124585"/>
            <a:ext cx="9236075" cy="5118735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动态地向子组件传递数据可以通过动态绑定 props 来实现。动态绑定 props 允许你根据条件或者状态来改变传递给子组件的数据。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我们使用</a:t>
            </a:r>
            <a:r>
              <a:rPr lang="zh-CN" alt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v-bind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绑定 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HTML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特性到一个表达式，可以用 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v-bind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动态绑定 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props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的值到父组件的数据中。每当父组件的数据变化时，该变化也会传导给子组件，使用 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v-model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动态 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Prop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向组件动态传递数据。 </a:t>
            </a:r>
            <a:endParaRPr lang="zh-CN" altLang="en-US" sz="28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65150" y="1124585"/>
            <a:ext cx="10786745" cy="561594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&lt;h1&gt;动态 Prop 向子组件动态传递数据&lt;/h1&gt;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&lt;div id="app-7"&gt;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输入信息：&lt;input type="text" v-model="msg"&gt;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&lt;child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v-bind:message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="msg"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v-bind:name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="person" ref="child1"&gt;&lt;/child&gt;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Vue.component('child', {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// 声明 props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props: ['message','name'],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template: '&lt;span&gt;{{ message }} 发送者：{{name}}&lt;/span&gt;'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})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//  初始化根实例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var app7 = new Vue({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el: '#app-7',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data: {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msg: 'hello',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person: '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张三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'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})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80550" y="594931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71864" y="404664"/>
            <a:ext cx="52565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【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例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5-10】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演示 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props 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验证 </a:t>
            </a:r>
            <a:endParaRPr lang="zh-CN" altLang="en-US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1277620"/>
            <a:ext cx="10589895" cy="4422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0" kern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props 可以进行验证以确保传递给子组件的数据符合预期的格式。这样可以帮助开发者捕捉潜在的问题，并确保应用程序的稳定性和一致性</a:t>
            </a:r>
            <a:endParaRPr lang="en-US" altLang="zh-CN" sz="2400" b="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矩形: 圆角 3"/>
          <p:cNvSpPr/>
          <p:nvPr/>
        </p:nvSpPr>
        <p:spPr>
          <a:xfrm>
            <a:off x="767080" y="2060575"/>
            <a:ext cx="5884545" cy="4599940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Vue.component('example', {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props: {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// 基本类型检查 (`null` 和 `undefined` 会通过任何类型验证)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propA: Number,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// 多种类型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propB: [String, Number],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// 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对象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propC: {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type: String,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required: true  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71864" y="404664"/>
            <a:ext cx="52565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【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例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5-10】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演示 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props 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验证 </a:t>
            </a:r>
            <a:endParaRPr lang="zh-CN" altLang="en-US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1277620"/>
            <a:ext cx="10589895" cy="4422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endParaRPr lang="en-US" altLang="zh-CN" sz="2400" b="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矩形: 圆角 3"/>
          <p:cNvSpPr/>
          <p:nvPr/>
        </p:nvSpPr>
        <p:spPr>
          <a:xfrm>
            <a:off x="408305" y="927100"/>
            <a:ext cx="9091295" cy="573341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 id="app"&gt;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&lt;child :message="message"&gt;&lt;/child&gt;  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&lt;/div&gt;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child = {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props: {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message: Number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},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template: '&lt;div&gt; {{ message }} &lt;/div&gt;'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var vm = new Vue({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components: {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'child': child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},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el: '#app',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data: {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message: "123"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zh-CN" alt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});</a:t>
            </a:r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36405" y="594931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标题 1"/>
          <p:cNvSpPr>
            <a:spLocks noGrp="1"/>
          </p:cNvSpPr>
          <p:nvPr>
            <p:ph type="title"/>
          </p:nvPr>
        </p:nvSpPr>
        <p:spPr>
          <a:xfrm>
            <a:off x="4269632" y="188640"/>
            <a:ext cx="5763493" cy="751332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使用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Slot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插槽内容分发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2920" y="1049655"/>
            <a:ext cx="10986770" cy="5111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Font typeface="Wingdings" panose="05000000000000000000" pitchFamily="2" charset="2"/>
            </a:pP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slot（插槽）是一种用于实现父组件向子组件</a:t>
            </a:r>
            <a:r>
              <a:rPr lang="zh-CN" altLang="en-US" sz="2800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传递内容</a:t>
            </a: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的机制。它允许你在子组件内部定义一个占位符，这个占位符可以被父组件的内容替换。这样可以实现更加灵活的组件复用，特别是在不知道具体需要展示哪些内容的情况下，可以让父组件来决定子组件内部的部分内容。</a:t>
            </a:r>
            <a:endParaRPr lang="zh-CN" altLang="en-US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</a:pPr>
            <a:endParaRPr lang="zh-CN" altLang="en-US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</a:pPr>
            <a:r>
              <a:rPr lang="zh-CN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插槽分类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zh-CN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</a:pPr>
            <a:r>
              <a:rPr lang="en-US" altLang="zh-CN" sz="2800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默认插槽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：最简单的形式，没有明确命名的插槽。</a:t>
            </a:r>
            <a:endParaRPr lang="en-US" altLang="zh-CN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</a:pPr>
            <a:r>
              <a:rPr lang="en-US" altLang="zh-CN" sz="2800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具名插槽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：允许你在子组件内定义多个不同的插槽区域，并且每个区域都可以有自己的名字。</a:t>
            </a:r>
            <a:endParaRPr lang="en-US" altLang="zh-CN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</a:pPr>
            <a:r>
              <a:rPr lang="en-US" altLang="zh-CN" sz="2800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作用域插槽</a:t>
            </a:r>
            <a:r>
              <a:rPr lang="en-US" altLang="zh-CN" sz="2800" b="0" dirty="0">
                <a:latin typeface="Calibri" panose="020F0502020204030204" pitchFamily="34" charset="0"/>
                <a:cs typeface="Calibri" panose="020F0502020204030204" pitchFamily="34" charset="0"/>
              </a:rPr>
              <a:t>：允许子组件向父组件传递数据，父组件可以在使用插槽的时候访问这些数据。</a:t>
            </a:r>
            <a:endParaRPr lang="en-US" altLang="zh-CN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</a:pPr>
            <a:endParaRPr lang="en-US" altLang="zh-CN"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标题 1"/>
          <p:cNvSpPr>
            <a:spLocks noGrp="1"/>
          </p:cNvSpPr>
          <p:nvPr>
            <p:ph type="title"/>
          </p:nvPr>
        </p:nvSpPr>
        <p:spPr>
          <a:xfrm>
            <a:off x="4269632" y="188640"/>
            <a:ext cx="5763493" cy="751332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默认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Slot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插槽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679450" y="1046480"/>
            <a:ext cx="9645015" cy="580961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 id="app"&gt;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&lt;children&gt;           </a:t>
            </a:r>
            <a:endParaRPr lang="en-US" altLang="zh-CN" sz="2400" b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/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&lt;!--span </a:t>
            </a:r>
            <a:r>
              <a:rPr lang="zh-CN" alt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这行不会显示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--&gt;           </a:t>
            </a:r>
            <a:endParaRPr lang="en-US" altLang="zh-CN" sz="2400" b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/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&lt;span&gt;</a:t>
            </a:r>
            <a:r>
              <a:rPr lang="zh-CN" alt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注册成功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&lt;/span&gt;   </a:t>
            </a:r>
            <a:endParaRPr lang="en-US" altLang="zh-CN" sz="2400" b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&lt;/children&gt;  </a:t>
            </a: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&lt;/div&gt;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&lt;script&gt;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var </a:t>
            </a:r>
            <a:r>
              <a:rPr lang="en-US" altLang="zh-CN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vm</a:t>
            </a: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Vue({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el: '#app',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components: {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children: {                    </a:t>
            </a:r>
            <a:endParaRPr lang="en-US" altLang="zh-CN" sz="2400" b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2" indent="457200" algn="l"/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template: "&lt;button&gt;</a:t>
            </a:r>
            <a:r>
              <a:rPr lang="zh-CN" alt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这是子组件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&lt;/button&gt;"   </a:t>
            </a:r>
            <a:endParaRPr lang="en-US" altLang="zh-CN" sz="2400" b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} </a:t>
            </a: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}); 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&lt;/script&gt; </a:t>
            </a:r>
            <a:r>
              <a:rPr lang="zh-CN" altLang="en-US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zh-CN" altLang="en-US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43925" y="573278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679450" y="1046480"/>
            <a:ext cx="9645015" cy="580961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 id="app"&gt;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&lt;children&gt;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&lt;!-- 默认效果 --&gt;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&lt;!-- &lt;span&gt;注册成功&lt;/span&gt; --&gt;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&lt;/children&gt;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&lt;hr&gt;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&lt;children&gt;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&lt;span&gt;注册成功&lt;/span&gt;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&lt;/children&gt;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&lt;/div&gt;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76585" y="609346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4269632" y="188640"/>
            <a:ext cx="5763493" cy="75133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r"/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默认</a:t>
            </a:r>
            <a:r>
              <a:rPr lang="en-US" altLang="zh-CN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Slot</a:t>
            </a:r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插槽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679450" y="1046480"/>
            <a:ext cx="9645015" cy="580961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 vm = new Vue({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el: '#app',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components: {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children: {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// template: "&lt;button&gt;这是子组件&lt;/button&gt;" 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template: "&lt;div&gt;&lt;slot&gt;&lt;p&gt;默认效果&lt;/p&gt;&lt;/slot&gt;这里是子组件&lt;/div&gt;"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}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}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}); 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76585" y="609346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4269632" y="188640"/>
            <a:ext cx="5763493" cy="75133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r"/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默认</a:t>
            </a:r>
            <a:r>
              <a:rPr lang="en-US" altLang="zh-CN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Slot</a:t>
            </a:r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插槽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内容占位符 2"/>
          <p:cNvSpPr>
            <a:spLocks noGrp="1"/>
          </p:cNvSpPr>
          <p:nvPr>
            <p:ph idx="1"/>
          </p:nvPr>
        </p:nvSpPr>
        <p:spPr>
          <a:xfrm>
            <a:off x="2027548" y="926502"/>
            <a:ext cx="7886700" cy="4947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具名</a:t>
            </a:r>
            <a:r>
              <a:rPr lang="en-US" altLang="zh-CN" sz="3200" b="0" dirty="0">
                <a:latin typeface="Calibri" panose="020F0502020204030204" pitchFamily="34" charset="0"/>
                <a:cs typeface="Calibri" panose="020F0502020204030204" pitchFamily="34" charset="0"/>
              </a:rPr>
              <a:t>Slot </a:t>
            </a: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插槽 </a:t>
            </a:r>
            <a:endParaRPr lang="zh-CN" altLang="en-US" sz="32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3280" y="1421130"/>
            <a:ext cx="9571355" cy="5207635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&lt;h1&gt;具名slot插槽&lt;/h1&gt;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&lt;p&gt;slot 元素可以用一个特殊的属性 name 来配置如何接收父组件的分发内容。多个 slot 可以有不同的名字。具名 slot 将匹配内容片段中有对应 slot 特性的元素。 仍然可以有一个匿名 slot ，它是默认 slot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，作为找不到匹配的内容片段的备用插槽。如果没有默认的 slot ，这些找不到匹配的内容片段将被抛弃。&lt;/p&gt;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&lt;div id="app-7"&gt;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&lt;my-component&gt;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&lt;h1 slot="header"&gt;页面标题&lt;/h1&gt;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&lt;p&gt;主要内容的一个段落。&lt;/p&gt;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&lt;p&gt;另一个主要段落。&lt;/p&gt;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 slot="footer"&gt;</a:t>
            </a:r>
            <a:endParaRPr lang="en-US" altLang="zh-CN" b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    &lt;address&gt;这里有一些联系信息&lt;/address&gt;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&lt;/div&gt;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&lt;/my-component&gt;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&lt;/div&gt;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5663457" y="260395"/>
            <a:ext cx="5763493" cy="75133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r"/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具名</a:t>
            </a:r>
            <a:r>
              <a:rPr lang="en-US" altLang="zh-CN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Slot</a:t>
            </a:r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插槽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08380" y="1005840"/>
            <a:ext cx="9406255" cy="5833745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&lt;script&gt;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my-component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', {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: `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&lt;div class="container"&gt;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&lt;header&gt;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&lt;slot name="header"&gt;&lt;/slot&gt;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&lt;/header&gt;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&lt;main&gt;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&lt;slot&gt;&lt;/slot&gt;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&lt;/main&gt;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&lt;footer&gt;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&lt;slot name="footer"&gt;&lt;/slot&gt;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&lt;/footer&gt;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&lt;/div&gt;`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})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// 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初始化根实例 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var app7 = new Vue({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el: '#app-7'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})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&lt;/script&gt;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5663457" y="260395"/>
            <a:ext cx="5763493" cy="75133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r"/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具名</a:t>
            </a:r>
            <a:r>
              <a:rPr lang="en-US" altLang="zh-CN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Slot</a:t>
            </a:r>
            <a:r>
              <a:rPr lang="zh-CN" altLang="en-US" sz="3600" b="0" dirty="0">
                <a:latin typeface="黑体" panose="02010609060101010101" pitchFamily="2" charset="-122"/>
                <a:ea typeface="黑体" panose="02010609060101010101" pitchFamily="2" charset="-122"/>
              </a:rPr>
              <a:t>插槽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04195" y="602107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/>
          <p:nvPr>
            <p:ph idx="1"/>
          </p:nvPr>
        </p:nvSpPr>
        <p:spPr>
          <a:xfrm>
            <a:off x="431800" y="1268730"/>
            <a:ext cx="11106150" cy="977265"/>
          </a:xfrm>
        </p:spPr>
        <p:txBody>
          <a:bodyPr/>
          <a:p>
            <a:pPr marL="0" indent="0">
              <a:buNone/>
            </a:pPr>
            <a:r>
              <a:rPr lang="zh-CN" altLang="en-US" sz="2400"/>
              <a:t>在父级中，具有特殊属性 scope 的 template 元素，表示它是作用域插槽的模板。scope 的值对应一个临时变量名，此变量接收从子组件中传递的 prop 对象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280670" y="2420620"/>
            <a:ext cx="6109335" cy="415163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&lt;div id="app-7"&gt; 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&lt;my-component&gt;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&lt;template 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scope="</a:t>
            </a:r>
            <a:r>
              <a:rPr lang="en-US" altLang="zh-CN" sz="2400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myProps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"&gt;             &lt;span&gt;</a:t>
            </a: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这里是父组件传入的信息！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&lt;/span&gt;             &lt;p&gt;</a:t>
            </a: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这里是父组件从子组件接收到的数据，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{{ </a:t>
            </a:r>
            <a:r>
              <a:rPr lang="en-US" altLang="zh-CN" sz="2400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myProps.text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}}</a:t>
            </a: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&lt;/p&gt; 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&lt;/template&gt; 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&lt;/my-component&gt; 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&lt;/div&gt;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88480" y="2637155"/>
            <a:ext cx="4605655" cy="3829685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noAutofit/>
          </a:bodyPr>
          <a:lstStyle/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&lt;script&gt;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000" b="0" dirty="0" err="1">
                <a:latin typeface="Calibri" panose="020F0502020204030204" pitchFamily="34" charset="0"/>
                <a:cs typeface="Calibri" panose="020F0502020204030204" pitchFamily="34" charset="0"/>
              </a:rPr>
              <a:t>Vue.component</a:t>
            </a:r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altLang="zh-CN" sz="20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my-component</a:t>
            </a:r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', {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    template: `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   &lt;div class="container"&gt;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20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&lt;slot text="hello from child"&gt;&lt;/slot&gt;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    &lt;/div&gt;`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}) //  </a:t>
            </a:r>
            <a:r>
              <a:rPr lang="zh-CN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初始化根实例 </a:t>
            </a:r>
            <a:endParaRPr lang="zh-CN" alt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var app7 = new Vue({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    el: '#app-7'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  })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b="0" dirty="0">
                <a:latin typeface="Calibri" panose="020F0502020204030204" pitchFamily="34" charset="0"/>
                <a:cs typeface="Calibri" panose="020F0502020204030204" pitchFamily="34" charset="0"/>
              </a:rPr>
              <a:t>&lt;/script&gt; </a:t>
            </a:r>
            <a:endParaRPr lang="en-US" altLang="zh-CN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对话气泡: 矩形 4"/>
          <p:cNvSpPr/>
          <p:nvPr/>
        </p:nvSpPr>
        <p:spPr>
          <a:xfrm>
            <a:off x="3719738" y="476672"/>
            <a:ext cx="2664296" cy="1944216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这里是父组件从子组件接收到的数据，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{{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myProps.text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}}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，格式化后再分发给插槽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对话气泡: 矩形 7"/>
          <p:cNvSpPr/>
          <p:nvPr/>
        </p:nvSpPr>
        <p:spPr>
          <a:xfrm>
            <a:off x="7225135" y="476672"/>
            <a:ext cx="3240360" cy="1944216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通过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{{ </a:t>
            </a:r>
            <a:r>
              <a:rPr lang="en-US" altLang="zh-CN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myProps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}}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就可以调用组件模板中的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&lt;slot text="hello from child"&gt;&lt;/slot&gt;</a:t>
            </a:r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绑定的数据，所以作用域插槽是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一种子向父传参的方式</a:t>
            </a:r>
            <a:endParaRPr lang="zh-CN" altLang="en-US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32400" y="6021705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89782" y="217051"/>
            <a:ext cx="38884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组件通信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2650" y="866611"/>
            <a:ext cx="788670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n"/>
            </a:pP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组件间的通信主要有 </a:t>
            </a:r>
            <a:r>
              <a:rPr lang="en-US" altLang="zh-CN" sz="3200" b="0" dirty="0">
                <a:latin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种 </a:t>
            </a:r>
            <a:r>
              <a:rPr lang="en-US" altLang="zh-CN" sz="3200" b="0" dirty="0">
                <a:latin typeface="Calibri" panose="020F0502020204030204" pitchFamily="34" charset="0"/>
                <a:cs typeface="Calibri" panose="020F0502020204030204" pitchFamily="34" charset="0"/>
              </a:rPr>
              <a:t>Vue </a:t>
            </a: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组件通信方式</a:t>
            </a:r>
            <a:endParaRPr lang="en-US" altLang="zh-CN" sz="3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父子组件的通信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非父子组件的 </a:t>
            </a:r>
            <a:r>
              <a:rPr lang="en-US" altLang="zh-CN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eventBus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通信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利用本地缓存实现组件通信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en-US" altLang="zh-CN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Vuex</a:t>
            </a: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通信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n"/>
            </a:pP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父组件向子组件通信 </a:t>
            </a:r>
            <a:endParaRPr lang="en-US" altLang="zh-CN" sz="3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传递数据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Props</a:t>
            </a: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（默认是单向绑定）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en-US" altLang="zh-CN" sz="2400" b="0" dirty="0">
                <a:latin typeface="Calibri" panose="020F0502020204030204" pitchFamily="34" charset="0"/>
                <a:cs typeface="Calibri" panose="020F0502020204030204" pitchFamily="34" charset="0"/>
              </a:rPr>
              <a:t>$parent</a:t>
            </a:r>
            <a:endParaRPr lang="zh-CN" alt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31604" y="5021595"/>
            <a:ext cx="7128792" cy="119888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b="0" dirty="0"/>
              <a:t>1</a:t>
            </a:r>
            <a:r>
              <a:rPr lang="zh-CN" altLang="en-US" b="0" dirty="0"/>
              <a:t>、使用 </a:t>
            </a:r>
            <a:r>
              <a:rPr lang="en-US" altLang="zh-CN" b="0" dirty="0"/>
              <a:t>props </a:t>
            </a:r>
            <a:r>
              <a:rPr lang="zh-CN" altLang="en-US" b="0" dirty="0"/>
              <a:t>属性父组件向子组件传值可以使用如下代码：</a:t>
            </a:r>
            <a:endParaRPr lang="en-US" altLang="zh-CN" b="0" dirty="0"/>
          </a:p>
          <a:p>
            <a:pPr algn="l"/>
            <a:r>
              <a:rPr lang="zh-CN" altLang="en-US" b="0" dirty="0"/>
              <a:t> </a:t>
            </a:r>
            <a:endParaRPr lang="en-US" altLang="zh-CN" b="0" dirty="0"/>
          </a:p>
          <a:p>
            <a:pPr algn="l"/>
            <a:r>
              <a:rPr lang="en-US" altLang="zh-CN" b="0" dirty="0"/>
              <a:t>&lt;child-component v-bind:</a:t>
            </a:r>
            <a:r>
              <a:rPr lang="zh-CN" altLang="en-US" b="0" dirty="0"/>
              <a:t>子组件属性</a:t>
            </a:r>
            <a:r>
              <a:rPr lang="en-US" altLang="zh-CN" b="0" dirty="0"/>
              <a:t>="</a:t>
            </a:r>
            <a:r>
              <a:rPr lang="zh-CN" altLang="en-US" b="0" dirty="0"/>
              <a:t>父组件数据属性</a:t>
            </a:r>
            <a:r>
              <a:rPr lang="en-US" altLang="zh-CN" b="0" dirty="0"/>
              <a:t>"&gt;&lt;/child-component&gt; </a:t>
            </a:r>
            <a:endParaRPr lang="zh-CN" altLang="en-US" b="0" dirty="0"/>
          </a:p>
        </p:txBody>
      </p:sp>
      <p:sp>
        <p:nvSpPr>
          <p:cNvPr id="9" name="文本框 8"/>
          <p:cNvSpPr txBox="1"/>
          <p:nvPr/>
        </p:nvSpPr>
        <p:spPr>
          <a:xfrm>
            <a:off x="2531604" y="6221924"/>
            <a:ext cx="7128792" cy="64516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b="0" dirty="0"/>
              <a:t>2</a:t>
            </a:r>
            <a:r>
              <a:rPr lang="zh-CN" altLang="en-US" b="0" dirty="0"/>
              <a:t>、通过</a:t>
            </a:r>
            <a:r>
              <a:rPr lang="en-US" altLang="zh-CN" b="0" dirty="0"/>
              <a:t>$parent </a:t>
            </a:r>
            <a:r>
              <a:rPr lang="zh-CN" altLang="en-US" b="0" dirty="0"/>
              <a:t>直接在子组件中通过</a:t>
            </a:r>
            <a:r>
              <a:rPr lang="en-US" altLang="zh-CN" b="0" dirty="0" err="1"/>
              <a:t>this.$parent</a:t>
            </a:r>
            <a:r>
              <a:rPr lang="en-US" altLang="zh-CN" b="0" dirty="0"/>
              <a:t> </a:t>
            </a:r>
            <a:r>
              <a:rPr lang="zh-CN" altLang="en-US" b="0" dirty="0"/>
              <a:t>的到调用其父组件，但并不建议使用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>
          <a:xfrm>
            <a:off x="5502846" y="139538"/>
            <a:ext cx="4447406" cy="759617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子组件向父组件通信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587" name="内容占位符 2"/>
          <p:cNvSpPr>
            <a:spLocks noGrp="1"/>
          </p:cNvSpPr>
          <p:nvPr>
            <p:ph idx="1"/>
          </p:nvPr>
        </p:nvSpPr>
        <p:spPr>
          <a:xfrm>
            <a:off x="2063552" y="908721"/>
            <a:ext cx="7886700" cy="136815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使用自定义事件 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在父组件中调用子组建的时候，绑定一个自定义事件和对应的处理函数。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63552" y="2286439"/>
            <a:ext cx="7668344" cy="2306955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在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templete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里应用子组件时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定义事件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&lt;counter   @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changeMsgEvent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="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"&gt;&lt;/counter&gt; // 2.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用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监听事件是否触发 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methods: {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changeMsg:function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(msg){     //msg 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就是传递来的数据 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}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       } </a:t>
            </a:r>
            <a:endParaRPr lang="en-US" altLang="zh-C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63552" y="4770465"/>
            <a:ext cx="766834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l">
              <a:buFont typeface="Wingdings" panose="05000000000000000000" pitchFamily="2" charset="2"/>
              <a:buChar char="p"/>
            </a:pPr>
            <a:r>
              <a:rPr lang="zh-CN" alt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在子组件中把要发送的数据通过触发自定义事件传递给父组件。 </a:t>
            </a:r>
            <a:endParaRPr lang="en-US" altLang="zh-CN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35306" y="5922592"/>
            <a:ext cx="7524836" cy="368300"/>
          </a:xfrm>
          <a:prstGeom prst="rect">
            <a:avLst/>
          </a:prstGeom>
          <a:solidFill>
            <a:srgbClr val="D9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this.$emit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(“</a:t>
            </a:r>
            <a:r>
              <a:rPr lang="en-US" altLang="zh-CN" b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 ”,“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这是子组件传过来的值</a:t>
            </a:r>
            <a:r>
              <a:rPr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”)</a:t>
            </a:r>
            <a:r>
              <a:rPr lang="zh-CN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 build="p"/>
      <p:bldP spid="2" grpId="0" bldLvl="0" animBg="1"/>
      <p:bldP spid="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>
          <a:xfrm>
            <a:off x="5502846" y="139538"/>
            <a:ext cx="4447406" cy="759617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子组件向父组件通信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矩形: 圆角 3"/>
          <p:cNvSpPr/>
          <p:nvPr/>
        </p:nvSpPr>
        <p:spPr>
          <a:xfrm>
            <a:off x="408305" y="927100"/>
            <a:ext cx="9091295" cy="573341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/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269365"/>
            <a:ext cx="7650480" cy="5074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>
          <a:xfrm>
            <a:off x="5502846" y="139538"/>
            <a:ext cx="4447406" cy="759617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子组件向父组件通信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矩形: 圆角 3"/>
          <p:cNvSpPr/>
          <p:nvPr/>
        </p:nvSpPr>
        <p:spPr>
          <a:xfrm>
            <a:off x="408305" y="927100"/>
            <a:ext cx="9091295" cy="5733415"/>
          </a:xfrm>
          <a:prstGeom prst="roundRect">
            <a:avLst/>
          </a:prstGeom>
          <a:solidFill>
            <a:srgbClr val="D9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/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endParaRPr lang="zh-CN" alt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629410"/>
            <a:ext cx="7508240" cy="4218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28885" y="587756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标题 1"/>
          <p:cNvSpPr>
            <a:spLocks noGrp="1"/>
          </p:cNvSpPr>
          <p:nvPr>
            <p:ph type="title"/>
          </p:nvPr>
        </p:nvSpPr>
        <p:spPr>
          <a:xfrm>
            <a:off x="4079776" y="254305"/>
            <a:ext cx="5979517" cy="654050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任意组件及平行组件通信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594" name="内容占位符 2"/>
          <p:cNvSpPr txBox="1"/>
          <p:nvPr/>
        </p:nvSpPr>
        <p:spPr>
          <a:xfrm>
            <a:off x="2639616" y="1412776"/>
            <a:ext cx="6696744" cy="4608512"/>
          </a:xfrm>
          <a:prstGeom prst="rect">
            <a:avLst/>
          </a:prstGeom>
          <a:solidFill>
            <a:srgbClr val="D9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使用</a:t>
            </a:r>
            <a:r>
              <a:rPr lang="en-US" altLang="zh-CN" sz="18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eventBus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传递数据具体三个步骤。 </a:t>
            </a:r>
            <a:endParaRPr lang="zh-CN" altLang="en-US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// 1. 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创建一个 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Vue 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实例        </a:t>
            </a:r>
            <a:endParaRPr lang="zh-CN" altLang="en-US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bus : new Vue() </a:t>
            </a:r>
            <a:endParaRPr lang="en-US" altLang="zh-CN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// 2.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在子组件触发自定义的事件 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$emit()——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把事件沿着作用域链向上派送    </a:t>
            </a:r>
            <a:endParaRPr lang="en-US" altLang="zh-CN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bus.$emit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altLang="zh-CN" sz="18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changeMsgEvent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需要传递的数据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') </a:t>
            </a:r>
            <a:endParaRPr lang="en-US" altLang="zh-CN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// 3.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在接收组件监听事件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接受数据 </a:t>
            </a:r>
            <a:endParaRPr lang="zh-CN" altLang="en-US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     mounted(){     </a:t>
            </a:r>
            <a:endParaRPr lang="en-US" altLang="zh-CN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altLang="zh-CN" sz="18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bus.$on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altLang="zh-CN" sz="18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changeMsgEvent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', function(msg){  //msg  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是通过事件传递来的数据 </a:t>
            </a:r>
            <a:endParaRPr lang="zh-CN" altLang="en-US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}) </a:t>
            </a:r>
            <a:endParaRPr lang="en-US" altLang="zh-CN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} </a:t>
            </a: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标题 1"/>
          <p:cNvSpPr>
            <a:spLocks noGrp="1"/>
          </p:cNvSpPr>
          <p:nvPr>
            <p:ph type="title"/>
          </p:nvPr>
        </p:nvSpPr>
        <p:spPr>
          <a:xfrm>
            <a:off x="4079776" y="254305"/>
            <a:ext cx="5979517" cy="654050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任意组件及平行组件通信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845310"/>
            <a:ext cx="10612120" cy="3639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标题 1"/>
          <p:cNvSpPr>
            <a:spLocks noGrp="1"/>
          </p:cNvSpPr>
          <p:nvPr>
            <p:ph type="title"/>
          </p:nvPr>
        </p:nvSpPr>
        <p:spPr>
          <a:xfrm>
            <a:off x="4079776" y="254305"/>
            <a:ext cx="5979517" cy="654050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任意组件及平行组件通信 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269365"/>
            <a:ext cx="8282940" cy="4566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28885" y="5877560"/>
            <a:ext cx="92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Rectangle 2"/>
          <p:cNvSpPr>
            <a:spLocks noGrp="1"/>
          </p:cNvSpPr>
          <p:nvPr>
            <p:ph type="title"/>
          </p:nvPr>
        </p:nvSpPr>
        <p:spPr>
          <a:xfrm>
            <a:off x="7680176" y="407773"/>
            <a:ext cx="2359174" cy="644962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sz="3600" dirty="0">
                <a:latin typeface="黑体" panose="02010609060101010101" pitchFamily="2" charset="-122"/>
                <a:ea typeface="黑体" panose="02010609060101010101" pitchFamily="2" charset="-122"/>
              </a:rPr>
              <a:t>本章小结</a:t>
            </a:r>
            <a:endParaRPr lang="en-US" altLang="zh-CN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743" name="Rectangle 3"/>
          <p:cNvSpPr>
            <a:spLocks noGrp="1"/>
          </p:cNvSpPr>
          <p:nvPr>
            <p:ph idx="1"/>
          </p:nvPr>
        </p:nvSpPr>
        <p:spPr>
          <a:xfrm>
            <a:off x="2207568" y="1268760"/>
            <a:ext cx="8229600" cy="4896544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本章主要介绍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Vue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组件知识，包括组件的定义，组件的作用域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组件中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必须是函数，组件嵌套，使用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props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向子组件传值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props 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验证数据的类型是否合法。组件之间的通信方式，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$emit()——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把事件沿着作用域链向上派送，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$on()——</a:t>
            </a: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监听事件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通过自定义组件并把组件打包发布深入学习了组件，为以后工程化项目开发积累了更多的经验。 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744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r>
              <a:rPr lang="zh-CN" altLang="en-US" sz="4400"/>
              <a:t>康文军老师</a:t>
            </a:r>
            <a:endParaRPr lang="zh-CN" altLang="en-US" sz="4400"/>
          </a:p>
          <a:p>
            <a:r>
              <a:rPr lang="zh-CN" altLang="en-US" sz="4400"/>
              <a:t>微信号：</a:t>
            </a:r>
            <a:r>
              <a:rPr lang="en-US" altLang="zh-CN" sz="4400"/>
              <a:t>kwj18307966315</a:t>
            </a:r>
            <a:endParaRPr lang="en-US" altLang="zh-CN" sz="4400"/>
          </a:p>
        </p:txBody>
      </p:sp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Rectangle 2"/>
          <p:cNvSpPr>
            <a:spLocks noGrp="1"/>
          </p:cNvSpPr>
          <p:nvPr>
            <p:ph type="title"/>
          </p:nvPr>
        </p:nvSpPr>
        <p:spPr>
          <a:xfrm>
            <a:off x="7680176" y="407773"/>
            <a:ext cx="2359174" cy="644962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作业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744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1800"/>
              <a:t>第一次作业 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1. Vue组件中，如果需要在组件销毁时执行清理操作（如取消定时器、移除事件监听器等），应该使用哪个生命周期钩子？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A. created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B. mounted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C. beforeDestroy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D. destroyed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2： Vue中的____属性可以用来将复杂逻辑返回的值存储起来以供多次使用，并且当依赖的数据发生变化时会重新计算。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3： 请简述Vue的生命周期，并解释Vue实例从创建到销毁过程中经历的关键阶段。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Rectangle 2"/>
          <p:cNvSpPr>
            <a:spLocks noGrp="1"/>
          </p:cNvSpPr>
          <p:nvPr>
            <p:ph type="title"/>
          </p:nvPr>
        </p:nvSpPr>
        <p:spPr>
          <a:xfrm>
            <a:off x="7680176" y="407773"/>
            <a:ext cx="2359174" cy="644962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r"/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作业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744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1800"/>
              <a:t>1.以下哪个不是Vue提供的内置指令？ 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A.v-if 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B. v-for 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C. v-model 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D. v-custom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2.Vue中用于动态绑定类名或样式对象的指令是____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3.请列举并解释Vue中用于表单输入绑定的指令及其作用。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DOC_GUID" val="{13d7a61c-539a-4c88-aef4-63a405389f90}"/>
  <p:tag name="commondata" val="eyJoZGlkIjoiZjBlNDM4ZjU1ZGI3YzQwMDk5ZjExZjgyZTc3ZDI2NDMifQ==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黑体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11728</Words>
  <Application>WPS 演示</Application>
  <PresentationFormat>全屏显示(4:3)</PresentationFormat>
  <Paragraphs>714</Paragraphs>
  <Slides>42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黑体</vt:lpstr>
      <vt:lpstr>微软雅黑</vt:lpstr>
      <vt:lpstr>Arial Unicode MS</vt:lpstr>
      <vt:lpstr>3_Office 主题</vt:lpstr>
      <vt:lpstr>PowerPoint 演示文稿</vt:lpstr>
      <vt:lpstr>课程内容</vt:lpstr>
      <vt:lpstr> 什么是 组件</vt:lpstr>
      <vt:lpstr> 什么是 组件</vt:lpstr>
      <vt:lpstr>组件使用</vt:lpstr>
      <vt:lpstr>PowerPoint 演示文稿</vt:lpstr>
      <vt:lpstr>PowerPoint 演示文稿</vt:lpstr>
      <vt:lpstr>PowerPoint 演示文稿</vt:lpstr>
      <vt:lpstr> 组件的作用域</vt:lpstr>
      <vt:lpstr> 组件的作用域</vt:lpstr>
      <vt:lpstr>PowerPoint 演示文稿</vt:lpstr>
      <vt:lpstr>PowerPoint 演示文稿</vt:lpstr>
      <vt:lpstr>组件中的 data 必须是函数 </vt:lpstr>
      <vt:lpstr>组件中的 data 必须是函数 </vt:lpstr>
      <vt:lpstr>PowerPoint 演示文稿</vt:lpstr>
      <vt:lpstr>PowerPoint 演示文稿</vt:lpstr>
      <vt:lpstr> 使用props传递数据</vt:lpstr>
      <vt:lpstr> 使用props传递数据</vt:lpstr>
      <vt:lpstr>props命名约定</vt:lpstr>
      <vt:lpstr>props命名约定</vt:lpstr>
      <vt:lpstr>动态props</vt:lpstr>
      <vt:lpstr>PowerPoint 演示文稿</vt:lpstr>
      <vt:lpstr>PowerPoint 演示文稿</vt:lpstr>
      <vt:lpstr>PowerPoint 演示文稿</vt:lpstr>
      <vt:lpstr>使用 Slot 插槽内容分发 </vt:lpstr>
      <vt:lpstr>默认Slot插槽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子组件向父组件通信</vt:lpstr>
      <vt:lpstr>子组件向父组件通信</vt:lpstr>
      <vt:lpstr>子组件向父组件通信</vt:lpstr>
      <vt:lpstr>任意组件及平行组件通信 </vt:lpstr>
      <vt:lpstr>任意组件及平行组件通信 </vt:lpstr>
      <vt:lpstr>任意组件及平行组件通信 </vt:lpstr>
      <vt:lpstr>本章小结</vt:lpstr>
      <vt:lpstr>PowerPoint 演示文稿</vt:lpstr>
      <vt:lpstr>作业</vt:lpstr>
      <vt:lpstr>作业</vt:lpstr>
    </vt:vector>
  </TitlesOfParts>
  <Company>BeiJing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YAOYUAN</dc:creator>
  <cp:lastModifiedBy>章晟昱</cp:lastModifiedBy>
  <cp:revision>254</cp:revision>
  <dcterms:created xsi:type="dcterms:W3CDTF">2005-06-21T14:00:00Z</dcterms:created>
  <dcterms:modified xsi:type="dcterms:W3CDTF">2024-09-29T15:11:02Z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48F3E1DBBB7C444B9755BD75C4785945_12</vt:lpwstr>
  </property>
</Properties>
</file>